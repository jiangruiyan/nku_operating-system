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6" r:id="rId1"/>
    <p:sldMasterId id="2147484007" r:id="rId2"/>
  </p:sldMasterIdLst>
  <p:notesMasterIdLst>
    <p:notesMasterId r:id="rId36"/>
  </p:notesMasterIdLst>
  <p:handoutMasterIdLst>
    <p:handoutMasterId r:id="rId37"/>
  </p:handoutMasterIdLst>
  <p:sldIdLst>
    <p:sldId id="1962" r:id="rId3"/>
    <p:sldId id="730" r:id="rId4"/>
    <p:sldId id="705" r:id="rId5"/>
    <p:sldId id="706" r:id="rId6"/>
    <p:sldId id="707" r:id="rId7"/>
    <p:sldId id="704" r:id="rId8"/>
    <p:sldId id="703" r:id="rId9"/>
    <p:sldId id="715" r:id="rId10"/>
    <p:sldId id="731" r:id="rId11"/>
    <p:sldId id="649" r:id="rId12"/>
    <p:sldId id="535" r:id="rId13"/>
    <p:sldId id="536" r:id="rId14"/>
    <p:sldId id="568" r:id="rId15"/>
    <p:sldId id="669" r:id="rId16"/>
    <p:sldId id="595" r:id="rId17"/>
    <p:sldId id="553" r:id="rId18"/>
    <p:sldId id="554" r:id="rId19"/>
    <p:sldId id="596" r:id="rId20"/>
    <p:sldId id="555" r:id="rId21"/>
    <p:sldId id="556" r:id="rId22"/>
    <p:sldId id="676" r:id="rId23"/>
    <p:sldId id="559" r:id="rId24"/>
    <p:sldId id="560" r:id="rId25"/>
    <p:sldId id="561" r:id="rId26"/>
    <p:sldId id="1963" r:id="rId27"/>
    <p:sldId id="654" r:id="rId28"/>
    <p:sldId id="655" r:id="rId29"/>
    <p:sldId id="656" r:id="rId30"/>
    <p:sldId id="657" r:id="rId31"/>
    <p:sldId id="658" r:id="rId32"/>
    <p:sldId id="1964" r:id="rId33"/>
    <p:sldId id="597" r:id="rId34"/>
    <p:sldId id="281" r:id="rId35"/>
  </p:sldIdLst>
  <p:sldSz cx="12192000" cy="6858000"/>
  <p:notesSz cx="6858000" cy="9144000"/>
  <p:defaultTextStyle>
    <a:defPPr>
      <a:defRPr lang="en-US"/>
    </a:defPPr>
    <a:lvl1pPr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80000"/>
      <a:buFont typeface="Wingdings" panose="05000000000000000000" pitchFamily="2" charset="2"/>
      <a:buChar char="•"/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8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FFCC"/>
    <a:srgbClr val="F5ED5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96" autoAdjust="0"/>
    <p:restoredTop sz="85198" autoAdjust="0"/>
  </p:normalViewPr>
  <p:slideViewPr>
    <p:cSldViewPr>
      <p:cViewPr varScale="1">
        <p:scale>
          <a:sx n="100" d="100"/>
          <a:sy n="100" d="100"/>
        </p:scale>
        <p:origin x="1027" y="67"/>
      </p:cViewPr>
      <p:guideLst>
        <p:guide orient="horz" pos="1253"/>
        <p:guide pos="3840"/>
        <p:guide pos="801"/>
      </p:guideLst>
    </p:cSldViewPr>
  </p:slideViewPr>
  <p:outlineViewPr>
    <p:cViewPr>
      <p:scale>
        <a:sx n="33" d="100"/>
        <a:sy n="33" d="100"/>
      </p:scale>
      <p:origin x="0" y="231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204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3F76284-487D-4B32-B3F6-3D37AE83692A}" type="datetimeFigureOut">
              <a:rPr lang="zh-CN" altLang="en-US"/>
              <a:pPr>
                <a:defRPr/>
              </a:pPr>
              <a:t>2025/11/4</a:t>
            </a:fld>
            <a:endParaRPr lang="en-US" altLang="zh-CN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fld id="{A4E10AC0-FECC-4ECE-891D-19BC0B63CF7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BA1F4EE4-25C1-46B1-B6E5-29A9C72CD7E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1F4EE4-25C1-46B1-B6E5-29A9C72CD7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222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1F4EE4-25C1-46B1-B6E5-29A9C72CD7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8034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1F4EE4-25C1-46B1-B6E5-29A9C72CD7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678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2282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5020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1F4EE4-25C1-46B1-B6E5-29A9C72CD7EF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514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F4EE4-25C1-46B1-B6E5-29A9C72CD7EF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7083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F4EE4-25C1-46B1-B6E5-29A9C72CD7EF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5381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370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0202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575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9FEAC-2858-416F-A4F6-E1735B7522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9639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2"/>
          <p:cNvSpPr>
            <a:spLocks noChangeArrowheads="1"/>
          </p:cNvSpPr>
          <p:nvPr/>
        </p:nvSpPr>
        <p:spPr bwMode="ltGray">
          <a:xfrm>
            <a:off x="1102784" y="1196975"/>
            <a:ext cx="11074400" cy="9144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endParaRPr lang="zh-CN" altLang="en-US">
              <a:latin typeface="Times New Roman" pitchFamily="18" charset="0"/>
            </a:endParaRPr>
          </a:p>
        </p:txBody>
      </p:sp>
      <p:pic>
        <p:nvPicPr>
          <p:cNvPr id="5" name="Picture 31" descr="psh3_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143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33" name="Rectangle 21"/>
          <p:cNvSpPr>
            <a:spLocks noGrp="1" noChangeArrowheads="1"/>
          </p:cNvSpPr>
          <p:nvPr>
            <p:ph type="ctrTitle" sz="quarter"/>
          </p:nvPr>
        </p:nvSpPr>
        <p:spPr bwMode="white">
          <a:xfrm>
            <a:off x="1295401" y="1125541"/>
            <a:ext cx="10752667" cy="1081087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单击此处编辑母版标题样式</a:t>
            </a:r>
          </a:p>
        </p:txBody>
      </p:sp>
      <p:sp>
        <p:nvSpPr>
          <p:cNvPr id="13334" name="Rectangle 2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95401" y="3810000"/>
            <a:ext cx="10752667" cy="5334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z="2400" i="1">
                <a:solidFill>
                  <a:schemeClr val="tx1"/>
                </a:solidFill>
                <a:latin typeface="Arial" charset="0"/>
              </a:defRPr>
            </a:lvl1pPr>
          </a:lstStyle>
          <a:p>
            <a:r>
              <a:rPr lang="ko-KR" altLang="en-US"/>
              <a:t>单击此处编辑母版副标题样式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553200"/>
            <a:ext cx="2844800" cy="152400"/>
          </a:xfrm>
          <a:prstGeom prst="rect">
            <a:avLst/>
          </a:prstGeom>
        </p:spPr>
        <p:txBody>
          <a:bodyPr/>
          <a:lstStyle>
            <a:lvl1pPr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553200"/>
            <a:ext cx="3860800" cy="152400"/>
          </a:xfrm>
          <a:prstGeom prst="rect">
            <a:avLst/>
          </a:prstGeom>
        </p:spPr>
        <p:txBody>
          <a:bodyPr/>
          <a:lstStyle>
            <a:lvl1pPr algn="ctr"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ko-KR"/>
              <a:t>CITS, NanKai University</a:t>
            </a:r>
          </a:p>
        </p:txBody>
      </p:sp>
      <p:sp>
        <p:nvSpPr>
          <p:cNvPr id="8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553200"/>
            <a:ext cx="2844800" cy="152400"/>
          </a:xfrm>
          <a:prstGeom prst="rect">
            <a:avLst/>
          </a:prstGeom>
        </p:spPr>
        <p:txBody>
          <a:bodyPr/>
          <a:lstStyle>
            <a:lvl1pPr algn="r">
              <a:defRPr sz="14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fld id="{80AC5814-5CA3-408A-9260-AC574452359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96540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C044BFF-DA73-B2DC-D4E6-79A2C4F0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1368730-9EB3-86DF-BD43-AB15442B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D3EEC6D0-8677-62EF-AB76-B3721D782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46A1D22-F226-2837-E96B-AC2D7456820F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1" name="任意多边形: 形状 7">
              <a:extLst>
                <a:ext uri="{FF2B5EF4-FFF2-40B4-BE49-F238E27FC236}">
                  <a16:creationId xmlns:a16="http://schemas.microsoft.com/office/drawing/2014/main" id="{320E78A4-DE66-1852-88CE-6FEC79FE3E9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248046D-045F-9729-1D7F-A91B22E59859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A15A3F2A-AA50-551B-D74F-1487BE07C97D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：文件管理</a:t>
            </a:r>
          </a:p>
        </p:txBody>
      </p:sp>
    </p:spTree>
    <p:extLst>
      <p:ext uri="{BB962C8B-B14F-4D97-AF65-F5344CB8AC3E}">
        <p14:creationId xmlns:p14="http://schemas.microsoft.com/office/powerpoint/2010/main" val="346946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047D318-0735-D6D7-2CB5-20C27003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‹#›</a:t>
            </a:fld>
            <a:endParaRPr lang="zh-CN" altLang="en-US" dirty="0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7BE5FA1D-8EE8-17E5-156A-769E04D60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8D14A260-67EA-A87F-D3B1-B2AFB0BC8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F77B53-9D60-4EF3-F62B-E9B317775EC6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：文件管理</a:t>
            </a:r>
          </a:p>
        </p:txBody>
      </p:sp>
    </p:spTree>
    <p:extLst>
      <p:ext uri="{BB962C8B-B14F-4D97-AF65-F5344CB8AC3E}">
        <p14:creationId xmlns:p14="http://schemas.microsoft.com/office/powerpoint/2010/main" val="14668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5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06E8D8FA-1FAA-4669-85F5-1369F8E4458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7216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0955442-AAEE-48F5-88BF-6994C81C4C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775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8B4222E-8486-448E-BA6C-05363C5A462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268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3E5303B-8A3A-477A-93B0-1543526987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148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5E38285-AEC6-4325-9BE2-2498450B005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837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C9F6213-1008-42A4-9F93-64A8F44EA91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356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88C574B0-1D19-44D2-9C7D-BFE3A871EA3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978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2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2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EE4EC84-1CEF-40C2-8964-DC7BA04E7DD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7815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2" y="304803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5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DE58688-3171-448B-A580-A5C9113ABB2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4612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C4110-0674-257C-1C16-B9DF709C7896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FE5488-1327-9634-2B4F-D2EC75B0B6F7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2FC802-994A-4E6D-AA97-4A3F677E9B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2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E39AD132-9025-B649-2FF7-C791B47D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8FA0D2-0551-6F69-A21B-0E0742C82111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DB9FD-33AE-137C-506F-DF8415209A89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FA3FBFE-CDD0-DEDD-A515-0F780B1E4329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2" name="任意多边形: 形状 7">
              <a:extLst>
                <a:ext uri="{FF2B5EF4-FFF2-40B4-BE49-F238E27FC236}">
                  <a16:creationId xmlns:a16="http://schemas.microsoft.com/office/drawing/2014/main" id="{4A4D3142-22D6-E8B7-F2FA-F359659A88B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A38D73E-7364-BC91-D18F-FC11D9C7013C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C12A52DE-A688-48B9-8F40-550CA4C4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01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57937-D044-40D3-B149-FE790039AD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7003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01C8D-F48E-4B3B-A82A-9DF190D291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4303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0555A-678E-4120-AD32-FAA365076F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7484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7C86CC-E29A-4B7F-9161-8455BE71F5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3807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A544E-9D50-4332-8923-0BA5321B5C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4761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56BEB-C95B-4C0B-94DA-EDA643827E1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32478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A88C7-09FF-4FD1-87DF-99F417C2D2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59995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A0300-CF50-42F2-9EBF-81970CF2F9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43814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1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AE246-102D-4E7D-8EA8-59F249E1F4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7685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B9FA4-E30C-4290-9AC0-61F4C6186E7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971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174A42-3524-63A3-2C79-B40655B149AB}"/>
              </a:ext>
            </a:extLst>
          </p:cNvPr>
          <p:cNvSpPr/>
          <p:nvPr userDrawn="1"/>
        </p:nvSpPr>
        <p:spPr>
          <a:xfrm>
            <a:off x="0" y="6536157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82ECCF-C647-0675-D5C5-33E981887A80}"/>
              </a:ext>
            </a:extLst>
          </p:cNvPr>
          <p:cNvSpPr/>
          <p:nvPr userDrawn="1"/>
        </p:nvSpPr>
        <p:spPr>
          <a:xfrm>
            <a:off x="-1" y="-2802"/>
            <a:ext cx="12191365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947088-FDE6-4740-B961-C2BE016BB5D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15367"/>
            <a:ext cx="3238500" cy="714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5" r:id="rId2"/>
    <p:sldLayoutId id="2147484004" r:id="rId3"/>
    <p:sldLayoutId id="2147484003" r:id="rId4"/>
    <p:sldLayoutId id="2147484002" r:id="rId5"/>
    <p:sldLayoutId id="2147484001" r:id="rId6"/>
    <p:sldLayoutId id="2147484000" r:id="rId7"/>
    <p:sldLayoutId id="2147483999" r:id="rId8"/>
    <p:sldLayoutId id="2147483998" r:id="rId9"/>
    <p:sldLayoutId id="2147483997" r:id="rId10"/>
    <p:sldLayoutId id="2147483996" r:id="rId11"/>
    <p:sldLayoutId id="2147483995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01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09" r:id="rId2"/>
    <p:sldLayoutId id="2147484010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16" r:id="rId9"/>
    <p:sldLayoutId id="2147484017" r:id="rId10"/>
    <p:sldLayoutId id="2147484018" r:id="rId11"/>
    <p:sldLayoutId id="2147484019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.tencent.com/developer/news/244988" TargetMode="Externa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8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492826"/>
            <a:ext cx="12192000" cy="119221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</a:t>
            </a:r>
            <a: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：文件管理</a:t>
            </a:r>
            <a:endParaRPr lang="en-US" altLang="zh-CN" sz="6000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54175D-19B0-4A61-73C6-EE3B7FCFF37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文件系统的性能思考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8E507B0-547A-B8AC-B9B2-3E53402B8363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OS</a:t>
            </a:r>
            <a:r>
              <a:rPr lang="zh-CN" altLang="en-US" dirty="0"/>
              <a:t>喜欢做顺序的读写以改进性能，为什么？</a:t>
            </a:r>
            <a:endParaRPr lang="en-US" altLang="zh-CN" dirty="0"/>
          </a:p>
          <a:p>
            <a:pPr lvl="1"/>
            <a:r>
              <a:rPr lang="zh-CN" altLang="en-US" dirty="0"/>
              <a:t>简单</a:t>
            </a:r>
            <a:endParaRPr lang="en-US" altLang="zh-CN" dirty="0"/>
          </a:p>
          <a:p>
            <a:pPr lvl="1"/>
            <a:r>
              <a:rPr lang="zh-CN" altLang="en-US" dirty="0"/>
              <a:t>尊重磁盘的物理特性</a:t>
            </a:r>
            <a:endParaRPr lang="en-US" altLang="zh-CN" dirty="0"/>
          </a:p>
          <a:p>
            <a:r>
              <a:rPr lang="zh-CN" altLang="en-US" dirty="0"/>
              <a:t>用户会按照什么样的方式读写磁盘呢？</a:t>
            </a:r>
            <a:endParaRPr lang="en-US" altLang="zh-CN" dirty="0"/>
          </a:p>
          <a:p>
            <a:pPr lvl="1"/>
            <a:r>
              <a:rPr lang="zh-CN" altLang="en-US" dirty="0"/>
              <a:t>执行程序</a:t>
            </a:r>
            <a:endParaRPr lang="en-US" altLang="zh-CN" dirty="0"/>
          </a:p>
          <a:p>
            <a:pPr lvl="1"/>
            <a:r>
              <a:rPr lang="zh-CN" altLang="en-US" dirty="0"/>
              <a:t>播放电影</a:t>
            </a:r>
            <a:endParaRPr lang="en-US" altLang="zh-CN" dirty="0"/>
          </a:p>
          <a:p>
            <a:pPr lvl="1"/>
            <a:r>
              <a:rPr lang="zh-CN" altLang="en-US" dirty="0"/>
              <a:t>读写数据库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A684A2-943D-1ABD-2FF2-8EECA859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205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56752-4723-40A1-A2FE-18AD5C5D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fld id="{5EEFC526-8A43-41C1-B1D0-B3D20E53516B}" type="slidenum">
              <a:rPr lang="en-US" altLang="ko-KR">
                <a:solidFill>
                  <a:srgbClr val="FFFFFF"/>
                </a:solidFill>
              </a:rPr>
              <a:pPr>
                <a:buNone/>
                <a:defRPr/>
              </a:pPr>
              <a:t>3</a:t>
            </a:fld>
            <a:endParaRPr lang="en-US" altLang="ko-KR" dirty="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D895647-3F7B-46E1-8CF4-AA095C478E8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示例：</a:t>
            </a:r>
            <a:r>
              <a:rPr lang="en-US" altLang="zh-CN" dirty="0"/>
              <a:t>elf</a:t>
            </a:r>
            <a:r>
              <a:rPr lang="zh-CN" altLang="en-US" dirty="0"/>
              <a:t>文件格式</a:t>
            </a:r>
          </a:p>
        </p:txBody>
      </p:sp>
      <p:pic>
        <p:nvPicPr>
          <p:cNvPr id="81922" name="Picture 2">
            <a:extLst>
              <a:ext uri="{FF2B5EF4-FFF2-40B4-BE49-F238E27FC236}">
                <a16:creationId xmlns:a16="http://schemas.microsoft.com/office/drawing/2014/main" id="{832FC708-541C-4DEA-92F5-A5F7F7217F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1464" y="1988840"/>
            <a:ext cx="40386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24" name="Picture 4">
            <a:extLst>
              <a:ext uri="{FF2B5EF4-FFF2-40B4-BE49-F238E27FC236}">
                <a16:creationId xmlns:a16="http://schemas.microsoft.com/office/drawing/2014/main" id="{55A81A18-96E3-4511-8D7F-DC89062C9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57338"/>
            <a:ext cx="4991100" cy="461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96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56752-4723-40A1-A2FE-18AD5C5D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fld id="{5EEFC526-8A43-41C1-B1D0-B3D20E53516B}" type="slidenum">
              <a:rPr lang="en-US" altLang="ko-KR">
                <a:solidFill>
                  <a:srgbClr val="FFFFFF"/>
                </a:solidFill>
              </a:rPr>
              <a:pPr>
                <a:buNone/>
                <a:defRPr/>
              </a:pPr>
              <a:t>4</a:t>
            </a:fld>
            <a:endParaRPr lang="en-US" altLang="ko-KR" dirty="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D895647-3F7B-46E1-8CF4-AA095C478E8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示例：</a:t>
            </a:r>
            <a:r>
              <a:rPr lang="en-US" altLang="zh-CN" dirty="0"/>
              <a:t>elf</a:t>
            </a:r>
            <a:r>
              <a:rPr lang="zh-CN" altLang="en-US" dirty="0"/>
              <a:t>文件格式</a:t>
            </a:r>
          </a:p>
        </p:txBody>
      </p:sp>
      <p:pic>
        <p:nvPicPr>
          <p:cNvPr id="81922" name="Picture 2">
            <a:extLst>
              <a:ext uri="{FF2B5EF4-FFF2-40B4-BE49-F238E27FC236}">
                <a16:creationId xmlns:a16="http://schemas.microsoft.com/office/drawing/2014/main" id="{832FC708-541C-4DEA-92F5-A5F7F7217F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1464" y="1988840"/>
            <a:ext cx="40386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970" name="Picture 2">
            <a:extLst>
              <a:ext uri="{FF2B5EF4-FFF2-40B4-BE49-F238E27FC236}">
                <a16:creationId xmlns:a16="http://schemas.microsoft.com/office/drawing/2014/main" id="{BF3E8312-A98B-42F1-9FCC-43B33E72D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89138"/>
            <a:ext cx="5105069" cy="334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2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56752-4723-40A1-A2FE-18AD5C5D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  <a:defRPr/>
            </a:pPr>
            <a:fld id="{5EEFC526-8A43-41C1-B1D0-B3D20E53516B}" type="slidenum">
              <a:rPr lang="en-US" altLang="ko-KR">
                <a:solidFill>
                  <a:srgbClr val="FFFFFF"/>
                </a:solidFill>
              </a:rPr>
              <a:pPr>
                <a:buNone/>
                <a:defRPr/>
              </a:pPr>
              <a:t>5</a:t>
            </a:fld>
            <a:endParaRPr lang="en-US" altLang="ko-KR" dirty="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D895647-3F7B-46E1-8CF4-AA095C478E8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示例：</a:t>
            </a:r>
            <a:r>
              <a:rPr lang="en-US" altLang="zh-CN" dirty="0"/>
              <a:t>elf</a:t>
            </a:r>
            <a:r>
              <a:rPr lang="zh-CN" altLang="en-US" dirty="0"/>
              <a:t>文件格式</a:t>
            </a:r>
          </a:p>
        </p:txBody>
      </p:sp>
      <p:pic>
        <p:nvPicPr>
          <p:cNvPr id="81922" name="Picture 2">
            <a:extLst>
              <a:ext uri="{FF2B5EF4-FFF2-40B4-BE49-F238E27FC236}">
                <a16:creationId xmlns:a16="http://schemas.microsoft.com/office/drawing/2014/main" id="{832FC708-541C-4DEA-92F5-A5F7F7217F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1464" y="1988840"/>
            <a:ext cx="40386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946" name="Picture 2">
            <a:extLst>
              <a:ext uri="{FF2B5EF4-FFF2-40B4-BE49-F238E27FC236}">
                <a16:creationId xmlns:a16="http://schemas.microsoft.com/office/drawing/2014/main" id="{0C51BEF2-7FF1-403D-94B9-8ABA19D73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88840"/>
            <a:ext cx="4295775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F34A779-D5D4-4630-99F0-4E8467D6975D}"/>
              </a:ext>
            </a:extLst>
          </p:cNvPr>
          <p:cNvSpPr txBox="1"/>
          <p:nvPr/>
        </p:nvSpPr>
        <p:spPr>
          <a:xfrm>
            <a:off x="2855640" y="5877272"/>
            <a:ext cx="6984776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defRPr/>
            </a:pPr>
            <a:r>
              <a:rPr lang="en-US" altLang="zh-CN" dirty="0">
                <a:solidFill>
                  <a:srgbClr val="000000"/>
                </a:solidFill>
                <a:hlinkClick r:id="rId5"/>
              </a:rPr>
              <a:t>https://cloud.tencent.com/developer/news/244988</a:t>
            </a:r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18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fld id="{12F8587B-AA89-4747-B60B-D0DD4506EC06}" type="slidenum">
              <a:rPr lang="en-US" altLang="ko-KR">
                <a:solidFill>
                  <a:srgbClr val="FFFFFF"/>
                </a:solidFill>
                <a:ea typeface="굴림" pitchFamily="34" charset="-127"/>
              </a:rPr>
              <a:pPr>
                <a:buNone/>
                <a:defRPr/>
              </a:pPr>
              <a:t>6</a:t>
            </a:fld>
            <a:endParaRPr lang="en-US" altLang="ko-KR" dirty="0">
              <a:solidFill>
                <a:srgbClr val="FFFFFF"/>
              </a:solidFill>
              <a:ea typeface="굴림" pitchFamily="34" charset="-127"/>
            </a:endParaRPr>
          </a:p>
        </p:txBody>
      </p:sp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Description of Media File format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pic>
        <p:nvPicPr>
          <p:cNvPr id="84994" name="Picture 2" descr="https://images2018.cnblogs.com/blog/1177848/201711/1177848-20171124105430750-155831166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1916835"/>
            <a:ext cx="2447925" cy="369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996" name="Picture 4" descr="https://images2018.cnblogs.com/blog/1177848/201711/1177848-20171124105354187-597951417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178" y="1484784"/>
            <a:ext cx="3387253" cy="501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210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•"/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fld id="{6C1B54AB-8530-450D-A931-984F379DBD7E}" type="slidenum">
              <a:rPr lang="en-US" altLang="ko-KR">
                <a:solidFill>
                  <a:srgbClr val="FFFFFF"/>
                </a:solidFill>
                <a:ea typeface="굴림" pitchFamily="34" charset="-127"/>
              </a:rPr>
              <a:pPr>
                <a:buNone/>
                <a:defRPr/>
              </a:pPr>
              <a:t>7</a:t>
            </a:fld>
            <a:endParaRPr lang="en-US" altLang="ko-KR" dirty="0">
              <a:solidFill>
                <a:srgbClr val="FFFFFF"/>
              </a:solidFill>
              <a:ea typeface="굴림" pitchFamily="34" charset="-127"/>
            </a:endParaRPr>
          </a:p>
        </p:txBody>
      </p:sp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Logical structure of file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pic>
        <p:nvPicPr>
          <p:cNvPr id="8200" name="Picture 11" descr="6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1772819"/>
            <a:ext cx="7704138" cy="354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5783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None/>
            </a:pPr>
            <a:fld id="{5EEFC526-8A43-41C1-B1D0-B3D20E53516B}" type="slidenum">
              <a:rPr lang="en-US" altLang="ko-KR" smtClean="0"/>
              <a:pPr>
                <a:buNone/>
              </a:pPr>
              <a:t>8</a:t>
            </a:fld>
            <a:endParaRPr lang="en-US" altLang="ko-KR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关于文件性能的思考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OS</a:t>
            </a:r>
            <a:r>
              <a:rPr lang="zh-CN" altLang="en-US" dirty="0"/>
              <a:t>喜欢做顺序的预取以改进性能</a:t>
            </a:r>
            <a:endParaRPr lang="en-US" altLang="zh-CN" dirty="0"/>
          </a:p>
          <a:p>
            <a:pPr lvl="1"/>
            <a:r>
              <a:rPr lang="zh-CN" altLang="en-US" dirty="0"/>
              <a:t>简单</a:t>
            </a:r>
            <a:endParaRPr lang="en-US" altLang="zh-CN" dirty="0"/>
          </a:p>
          <a:p>
            <a:pPr lvl="1"/>
            <a:r>
              <a:rPr lang="zh-CN" altLang="en-US" dirty="0"/>
              <a:t>尊重磁盘的物理特性</a:t>
            </a:r>
            <a:endParaRPr lang="en-US" altLang="zh-CN" dirty="0"/>
          </a:p>
          <a:p>
            <a:r>
              <a:rPr lang="zh-CN" altLang="en-US" dirty="0"/>
              <a:t>数据文件的读取顺序是由文件格式决定的</a:t>
            </a:r>
            <a:endParaRPr lang="en-US" altLang="zh-CN" dirty="0"/>
          </a:p>
          <a:p>
            <a:pPr lvl="1"/>
            <a:r>
              <a:rPr lang="zh-CN" altLang="en-US" dirty="0"/>
              <a:t>应用程序决定使用顺序</a:t>
            </a:r>
            <a:endParaRPr lang="en-US" altLang="zh-CN" dirty="0"/>
          </a:p>
          <a:p>
            <a:pPr lvl="1"/>
            <a:r>
              <a:rPr lang="zh-CN" altLang="en-US" dirty="0"/>
              <a:t>格式的标准化以实现通用性</a:t>
            </a:r>
            <a:endParaRPr lang="en-US" altLang="zh-CN" dirty="0"/>
          </a:p>
          <a:p>
            <a:pPr lvl="1"/>
            <a:r>
              <a:rPr lang="zh-CN" altLang="en-US" dirty="0"/>
              <a:t>合理使用内存，减少</a:t>
            </a:r>
            <a:r>
              <a:rPr lang="en-US" altLang="zh-CN" dirty="0"/>
              <a:t>IO</a:t>
            </a:r>
            <a:r>
              <a:rPr lang="zh-CN" altLang="en-US" dirty="0"/>
              <a:t>访问是程序员的主要优化目标</a:t>
            </a:r>
            <a:endParaRPr lang="en-US" altLang="zh-CN" dirty="0"/>
          </a:p>
          <a:p>
            <a:r>
              <a:rPr lang="zh-CN" altLang="en-US" dirty="0"/>
              <a:t>如果二者之间存在矛盾，如何解决？</a:t>
            </a:r>
            <a:endParaRPr lang="en-US" altLang="zh-CN" dirty="0"/>
          </a:p>
          <a:p>
            <a:pPr lvl="1"/>
            <a:r>
              <a:rPr lang="zh-CN" altLang="en-US" dirty="0"/>
              <a:t>训练程序员</a:t>
            </a:r>
            <a:endParaRPr lang="en-US" altLang="zh-CN" dirty="0"/>
          </a:p>
          <a:p>
            <a:pPr lvl="1"/>
            <a:r>
              <a:rPr lang="zh-CN" altLang="en-US" dirty="0"/>
              <a:t>提供更多的程序逻辑信息（</a:t>
            </a:r>
            <a:r>
              <a:rPr lang="en-US" altLang="zh-CN" dirty="0" err="1"/>
              <a:t>fadvice</a:t>
            </a:r>
            <a:r>
              <a:rPr lang="en-US" altLang="zh-CN" dirty="0"/>
              <a:t>, </a:t>
            </a:r>
            <a:r>
              <a:rPr lang="en-US" altLang="zh-CN" dirty="0" err="1"/>
              <a:t>madvice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Bypass OS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400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037720-BC28-0C09-A52D-75BF60B85DD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文件系统的一些特殊问题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85B79D-F0B9-5588-3A14-085C7D57CEF2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磁盘空间管理与容错</a:t>
            </a:r>
            <a:endParaRPr lang="en-US" altLang="zh-CN" dirty="0"/>
          </a:p>
          <a:p>
            <a:r>
              <a:rPr lang="zh-CN" altLang="en-US" dirty="0"/>
              <a:t>文件去重</a:t>
            </a:r>
            <a:endParaRPr lang="en-US" altLang="zh-CN" dirty="0"/>
          </a:p>
          <a:p>
            <a:r>
              <a:rPr lang="zh-CN" altLang="en-US" dirty="0"/>
              <a:t>多文件系统兼容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23BBC3-D366-D2F4-459B-2F3B84B9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4743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Disk space management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How to allocate disk space?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Block/sector: base unit of disk space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Bitmap or list: empty blocks management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The size of sector and the data structure of empty blocks  is very important for system performance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How to distribute the content of file/directory?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Continuous and intersectant distribution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Fragment management</a:t>
            </a: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How to improve data security and stability?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RAID(0~5): redundant data storage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Check the consistency of file system </a:t>
            </a:r>
          </a:p>
        </p:txBody>
      </p:sp>
      <p:sp>
        <p:nvSpPr>
          <p:cNvPr id="2" name="灯片编号占位符 6">
            <a:extLst>
              <a:ext uri="{FF2B5EF4-FFF2-40B4-BE49-F238E27FC236}">
                <a16:creationId xmlns:a16="http://schemas.microsoft.com/office/drawing/2014/main" id="{9441424B-B3CF-0B55-CA5F-550BA05FA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586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Disk space allocation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pic>
        <p:nvPicPr>
          <p:cNvPr id="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238" y="2198087"/>
            <a:ext cx="6409524" cy="3095238"/>
          </a:xfrm>
          <a:prstGeom prst="rect">
            <a:avLst/>
          </a:prstGeom>
          <a:noFill/>
        </p:spPr>
      </p:pic>
      <p:sp>
        <p:nvSpPr>
          <p:cNvPr id="2" name="灯片编号占位符 6">
            <a:extLst>
              <a:ext uri="{FF2B5EF4-FFF2-40B4-BE49-F238E27FC236}">
                <a16:creationId xmlns:a16="http://schemas.microsoft.com/office/drawing/2014/main" id="{1A94BC9B-B693-3D36-9128-177EFB7B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11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9236F6-4781-4520-8B81-C6BFADFF0FA9}"/>
              </a:ext>
            </a:extLst>
          </p:cNvPr>
          <p:cNvSpPr txBox="1"/>
          <p:nvPr/>
        </p:nvSpPr>
        <p:spPr>
          <a:xfrm>
            <a:off x="2135560" y="5589240"/>
            <a:ext cx="842493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文件系统的数据块越大，单次传输时的磁盘控制动作就越简单，传输效率越高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但数据本身并不可能总是能够与数据块对齐，因此存储效率就越低</a:t>
            </a:r>
          </a:p>
        </p:txBody>
      </p:sp>
    </p:spTree>
    <p:extLst>
      <p:ext uri="{BB962C8B-B14F-4D97-AF65-F5344CB8AC3E}">
        <p14:creationId xmlns:p14="http://schemas.microsoft.com/office/powerpoint/2010/main" val="111222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Empty disk blocks management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1AC3D9-DE50-BD14-4B1E-79CF67408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458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58" t="42467" r="17830" b="26407"/>
          <a:stretch>
            <a:fillRect/>
          </a:stretch>
        </p:blipFill>
        <p:spPr bwMode="auto">
          <a:xfrm>
            <a:off x="2495600" y="1417300"/>
            <a:ext cx="6767785" cy="4814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CE55C6-FF06-4406-17A3-4469A759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2657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12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4E23413-E9D8-4CF0-9379-3E94B39A1C08}"/>
              </a:ext>
            </a:extLst>
          </p:cNvPr>
          <p:cNvSpPr txBox="1"/>
          <p:nvPr/>
        </p:nvSpPr>
        <p:spPr>
          <a:xfrm>
            <a:off x="1775520" y="6237312"/>
            <a:ext cx="9145016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与内存管理类似，可以将空闲的块号串成链表，也可以存成位图</a:t>
            </a:r>
          </a:p>
        </p:txBody>
      </p:sp>
    </p:spTree>
    <p:extLst>
      <p:ext uri="{BB962C8B-B14F-4D97-AF65-F5344CB8AC3E}">
        <p14:creationId xmlns:p14="http://schemas.microsoft.com/office/powerpoint/2010/main" val="342032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5"/>
          <p:cNvSpPr txBox="1">
            <a:spLocks noChangeArrowheads="1"/>
          </p:cNvSpPr>
          <p:nvPr/>
        </p:nvSpPr>
        <p:spPr bwMode="auto">
          <a:xfrm>
            <a:off x="2710802" y="1634868"/>
            <a:ext cx="64087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用检查文件系统状态的方法检查一致性．</a:t>
            </a:r>
          </a:p>
        </p:txBody>
      </p:sp>
      <p:pic>
        <p:nvPicPr>
          <p:cNvPr id="86020" name="Picture 6" descr="6-2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9"/>
          <a:stretch/>
        </p:blipFill>
        <p:spPr bwMode="auto">
          <a:xfrm>
            <a:off x="2207568" y="1561843"/>
            <a:ext cx="7908925" cy="280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1" name="Rectangle 7"/>
          <p:cNvSpPr>
            <a:spLocks noChangeArrowheads="1"/>
          </p:cNvSpPr>
          <p:nvPr/>
        </p:nvSpPr>
        <p:spPr bwMode="auto">
          <a:xfrm>
            <a:off x="2063750" y="4508503"/>
            <a:ext cx="8243888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sz="2000"/>
              <a:t>通过对磁盘块的检测，发现文件系统是否正确。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000"/>
              <a:t>(a) </a:t>
            </a:r>
            <a:r>
              <a:rPr lang="zh-CN" altLang="en-US" sz="2000"/>
              <a:t>一致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000"/>
              <a:t>(b) </a:t>
            </a:r>
            <a:r>
              <a:rPr lang="zh-CN" altLang="en-US" sz="2000"/>
              <a:t>块丢失</a:t>
            </a:r>
            <a:r>
              <a:rPr lang="en-US" altLang="zh-CN" sz="2000"/>
              <a:t>----</a:t>
            </a:r>
            <a:r>
              <a:rPr lang="zh-CN" altLang="en-US" sz="2000"/>
              <a:t>添加到空闲块中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000"/>
              <a:t>(c) </a:t>
            </a:r>
            <a:r>
              <a:rPr lang="zh-CN" altLang="en-US" sz="2000"/>
              <a:t>空闲表中有重复块</a:t>
            </a:r>
            <a:r>
              <a:rPr lang="en-US" altLang="zh-CN" sz="2000"/>
              <a:t>----</a:t>
            </a:r>
            <a:r>
              <a:rPr lang="zh-CN" altLang="en-US" sz="2000"/>
              <a:t>重置空闲表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z="2000"/>
              <a:t>(d) </a:t>
            </a:r>
            <a:r>
              <a:rPr lang="zh-CN" altLang="en-US" sz="2000"/>
              <a:t>有重复的数据块</a:t>
            </a:r>
            <a:r>
              <a:rPr lang="en-US" altLang="zh-CN" sz="2000"/>
              <a:t>----</a:t>
            </a:r>
            <a:r>
              <a:rPr lang="zh-CN" altLang="en-US" sz="2000"/>
              <a:t>拷贝到一文件中，提交用户认可</a:t>
            </a:r>
          </a:p>
        </p:txBody>
      </p:sp>
      <p:sp>
        <p:nvSpPr>
          <p:cNvPr id="86022" name="Oval 8"/>
          <p:cNvSpPr>
            <a:spLocks noChangeArrowheads="1"/>
          </p:cNvSpPr>
          <p:nvPr/>
        </p:nvSpPr>
        <p:spPr bwMode="auto">
          <a:xfrm>
            <a:off x="6527155" y="1706308"/>
            <a:ext cx="360363" cy="1152525"/>
          </a:xfrm>
          <a:prstGeom prst="ellipse">
            <a:avLst/>
          </a:prstGeom>
          <a:noFill/>
          <a:ln w="25400" cap="rnd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86023" name="Oval 9"/>
          <p:cNvSpPr>
            <a:spLocks noChangeArrowheads="1"/>
          </p:cNvSpPr>
          <p:nvPr/>
        </p:nvSpPr>
        <p:spPr bwMode="auto">
          <a:xfrm>
            <a:off x="2782240" y="3217608"/>
            <a:ext cx="360362" cy="1152525"/>
          </a:xfrm>
          <a:prstGeom prst="ellipse">
            <a:avLst/>
          </a:prstGeom>
          <a:noFill/>
          <a:ln w="25400" cap="rnd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86024" name="Oval 10"/>
          <p:cNvSpPr>
            <a:spLocks noChangeArrowheads="1"/>
          </p:cNvSpPr>
          <p:nvPr/>
        </p:nvSpPr>
        <p:spPr bwMode="auto">
          <a:xfrm>
            <a:off x="7103415" y="3217608"/>
            <a:ext cx="360362" cy="1152525"/>
          </a:xfrm>
          <a:prstGeom prst="ellipse">
            <a:avLst/>
          </a:prstGeom>
          <a:noFill/>
          <a:ln w="25400" cap="rnd">
            <a:solidFill>
              <a:srgbClr val="FF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012AC9-F924-EB8B-EDCE-E289CFF52E68}"/>
              </a:ext>
            </a:extLst>
          </p:cNvPr>
          <p:cNvSpPr txBox="1"/>
          <p:nvPr/>
        </p:nvSpPr>
        <p:spPr>
          <a:xfrm>
            <a:off x="8400256" y="4536392"/>
            <a:ext cx="23049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>
                <a:solidFill>
                  <a:srgbClr val="FF0000"/>
                </a:solidFill>
              </a:rPr>
              <a:t>注意：一旦出现检测结果不一致时，</a:t>
            </a:r>
            <a:r>
              <a:rPr lang="en-US" altLang="zh-CN" dirty="0">
                <a:solidFill>
                  <a:srgbClr val="FF0000"/>
                </a:solidFill>
              </a:rPr>
              <a:t>OS</a:t>
            </a:r>
            <a:r>
              <a:rPr lang="zh-CN" altLang="en-US" dirty="0">
                <a:solidFill>
                  <a:srgbClr val="FF0000"/>
                </a:solidFill>
              </a:rPr>
              <a:t>也无法保障完全正确的修复过程，有时候修复只能靠“猜”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91B0670-E101-BEC2-78F5-183257F2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b)</a:t>
            </a:r>
            <a:r>
              <a:rPr lang="zh-CN" altLang="en-US" dirty="0"/>
              <a:t>文件系统的一致性检查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54F4A9-337A-2A0E-EC37-64CF6D47B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386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961327"/>
            <a:ext cx="10801200" cy="590931"/>
          </a:xfrm>
          <a:prstGeom prst="rect">
            <a:avLst/>
          </a:prstGeom>
        </p:spPr>
        <p:txBody>
          <a:bodyPr anchor="b">
            <a:spAutoFit/>
          </a:bodyPr>
          <a:lstStyle/>
          <a:p>
            <a:pPr algn="l" eaLnBrk="1" hangingPunct="1"/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５．共享文件管理实现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B95E42-9C70-03DC-BE0C-2E9071978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当文件系统中用链接实现共享时，系统目录树结构会发生变化：</a:t>
            </a:r>
          </a:p>
          <a:p>
            <a:endParaRPr lang="zh-CN" altLang="en-US" dirty="0"/>
          </a:p>
        </p:txBody>
      </p:sp>
      <p:sp>
        <p:nvSpPr>
          <p:cNvPr id="69635" name="Text Box 6"/>
          <p:cNvSpPr txBox="1">
            <a:spLocks noChangeArrowheads="1"/>
          </p:cNvSpPr>
          <p:nvPr/>
        </p:nvSpPr>
        <p:spPr bwMode="auto">
          <a:xfrm>
            <a:off x="2479146" y="5804877"/>
            <a:ext cx="82073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这时树变成了“有向无环图”，增加了文件系统复杂性．</a:t>
            </a:r>
          </a:p>
        </p:txBody>
      </p:sp>
      <p:pic>
        <p:nvPicPr>
          <p:cNvPr id="69636" name="Picture 7" descr="6-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8" y="2225734"/>
            <a:ext cx="3857011" cy="350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8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64230FCE-66F3-49EB-873C-FF3397358EE5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678D36-BE38-52CC-9D0B-836063CEC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10221" y="1798540"/>
            <a:ext cx="4370049" cy="450131"/>
            <a:chOff x="844893" y="941286"/>
            <a:chExt cx="4370049" cy="450131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962789"/>
              <a:ext cx="407196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两个或多个文件名关联同一个文件</a:t>
              </a:r>
              <a:endParaRPr lang="en-US" altLang="zh-CN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941286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3410221" y="5175142"/>
            <a:ext cx="7726339" cy="702130"/>
            <a:chOff x="844893" y="4317892"/>
            <a:chExt cx="7726339" cy="702130"/>
          </a:xfrm>
        </p:grpSpPr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142976" y="4317892"/>
              <a:ext cx="742825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软链接</a:t>
              </a:r>
              <a:r>
                <a:rPr lang="en-US" altLang="zh-CN" dirty="0"/>
                <a:t>: </a:t>
              </a:r>
              <a:r>
                <a:rPr lang="zh-CN" altLang="en-US" dirty="0"/>
                <a:t>以“快捷方式”指向其他文件，快捷方式也是一个文件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44893" y="431789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8" name="图片 27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475967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1" name="内容占位符 2"/>
            <p:cNvSpPr txBox="1">
              <a:spLocks/>
            </p:cNvSpPr>
            <p:nvPr/>
          </p:nvSpPr>
          <p:spPr>
            <a:xfrm>
              <a:off x="1394985" y="4654900"/>
              <a:ext cx="4248585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通过存储真实文件的逻辑名称来实现</a:t>
              </a:r>
              <a:endParaRPr lang="en-US" altLang="zh-CN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410221" y="4873514"/>
            <a:ext cx="7582315" cy="428628"/>
            <a:chOff x="844893" y="4016264"/>
            <a:chExt cx="7582315" cy="428628"/>
          </a:xfrm>
        </p:grpSpPr>
        <p:sp>
          <p:nvSpPr>
            <p:cNvPr id="18" name="内容占位符 2"/>
            <p:cNvSpPr txBox="1">
              <a:spLocks/>
            </p:cNvSpPr>
            <p:nvPr/>
          </p:nvSpPr>
          <p:spPr>
            <a:xfrm>
              <a:off x="1142975" y="4016264"/>
              <a:ext cx="7284233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>
                  <a:solidFill>
                    <a:srgbClr val="C00000"/>
                  </a:solidFill>
                </a:rPr>
                <a:t>硬链接</a:t>
              </a:r>
              <a:r>
                <a:rPr lang="en-US" altLang="zh-CN" dirty="0"/>
                <a:t>: </a:t>
              </a:r>
              <a:r>
                <a:rPr lang="zh-CN" altLang="en-US" dirty="0"/>
                <a:t>多个文件夹中存储指向同一个文件的“链表头”（树根）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4893" y="40162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1" name="TextBox 4"/>
          <p:cNvSpPr txBox="1">
            <a:spLocks noChangeArrowheads="1"/>
          </p:cNvSpPr>
          <p:nvPr/>
        </p:nvSpPr>
        <p:spPr bwMode="auto">
          <a:xfrm>
            <a:off x="7065890" y="2593181"/>
            <a:ext cx="166584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</a:t>
            </a:r>
            <a:r>
              <a:rPr lang="en-US" altLang="zh-CN" sz="1600" b="1" dirty="0" err="1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dict</a:t>
            </a: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/count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/spell/count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en-US" altLang="zh-CN" sz="1600" b="1" dirty="0">
              <a:solidFill>
                <a:prstClr val="black"/>
              </a:solidFill>
              <a:latin typeface="Courier New" panose="02070309020205020404" pitchFamily="49" charset="0"/>
              <a:ea typeface="微软雅黑"/>
              <a:cs typeface="Courier New" panose="02070309020205020404" pitchFamily="49" charset="0"/>
            </a:endParaRP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en-US" altLang="zh-CN" sz="1600" b="1" dirty="0">
              <a:solidFill>
                <a:prstClr val="black"/>
              </a:solidFill>
              <a:latin typeface="Courier New" panose="02070309020205020404" pitchFamily="49" charset="0"/>
              <a:ea typeface="微软雅黑"/>
              <a:cs typeface="Courier New" panose="02070309020205020404" pitchFamily="49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565428" y="2214552"/>
            <a:ext cx="3122723" cy="2428894"/>
            <a:chOff x="1000100" y="1357302"/>
            <a:chExt cx="3122723" cy="2428894"/>
          </a:xfrm>
        </p:grpSpPr>
        <p:sp>
          <p:nvSpPr>
            <p:cNvPr id="46" name="矩形 45"/>
            <p:cNvSpPr/>
            <p:nvPr/>
          </p:nvSpPr>
          <p:spPr>
            <a:xfrm>
              <a:off x="2304793" y="3162421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95270" y="3135042"/>
              <a:ext cx="3946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list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2661815" y="3162421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95140" y="3135042"/>
              <a:ext cx="5004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rade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017309" y="3162421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997309" y="3135042"/>
              <a:ext cx="3914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w7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3089020" y="3382363"/>
              <a:ext cx="214314" cy="403833"/>
              <a:chOff x="3176581" y="4486287"/>
              <a:chExt cx="214314" cy="40383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71" name="直接箭头连接符 70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组合 71"/>
            <p:cNvGrpSpPr/>
            <p:nvPr/>
          </p:nvGrpSpPr>
          <p:grpSpPr>
            <a:xfrm>
              <a:off x="2730243" y="3382363"/>
              <a:ext cx="214314" cy="403833"/>
              <a:chOff x="3176581" y="4486287"/>
              <a:chExt cx="214314" cy="403833"/>
            </a:xfrm>
          </p:grpSpPr>
          <p:sp>
            <p:nvSpPr>
              <p:cNvPr id="73" name="椭圆 72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74" name="直接箭头连接符 73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组合 74"/>
            <p:cNvGrpSpPr/>
            <p:nvPr/>
          </p:nvGrpSpPr>
          <p:grpSpPr>
            <a:xfrm>
              <a:off x="2371465" y="3382363"/>
              <a:ext cx="214314" cy="403833"/>
              <a:chOff x="3176581" y="4486287"/>
              <a:chExt cx="214314" cy="403833"/>
            </a:xfrm>
          </p:grpSpPr>
          <p:sp>
            <p:nvSpPr>
              <p:cNvPr id="76" name="椭圆 75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77" name="直接箭头连接符 76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矩形 79"/>
            <p:cNvSpPr/>
            <p:nvPr/>
          </p:nvSpPr>
          <p:spPr>
            <a:xfrm>
              <a:off x="1009623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00100" y="2071684"/>
              <a:ext cx="3946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list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1366645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83790" y="2071684"/>
              <a:ext cx="3497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all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1722139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749872" y="2071684"/>
              <a:ext cx="30489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w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3765633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3706578" y="2071684"/>
              <a:ext cx="3946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list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3838197" y="2319005"/>
              <a:ext cx="214314" cy="403833"/>
              <a:chOff x="3176581" y="4486287"/>
              <a:chExt cx="214314" cy="403833"/>
            </a:xfrm>
          </p:grpSpPr>
          <p:sp>
            <p:nvSpPr>
              <p:cNvPr id="93" name="椭圆 92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94" name="直接箭头连接符 93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椭圆 98"/>
            <p:cNvSpPr/>
            <p:nvPr/>
          </p:nvSpPr>
          <p:spPr>
            <a:xfrm>
              <a:off x="2857488" y="2508524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grpSp>
          <p:nvGrpSpPr>
            <p:cNvPr id="107" name="组合 106"/>
            <p:cNvGrpSpPr/>
            <p:nvPr/>
          </p:nvGrpSpPr>
          <p:grpSpPr>
            <a:xfrm>
              <a:off x="1076295" y="2319005"/>
              <a:ext cx="214314" cy="403833"/>
              <a:chOff x="3176581" y="4486287"/>
              <a:chExt cx="214314" cy="403833"/>
            </a:xfrm>
          </p:grpSpPr>
          <p:sp>
            <p:nvSpPr>
              <p:cNvPr id="108" name="椭圆 107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109" name="直接箭头连接符 108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1" name="矩形 110"/>
            <p:cNvSpPr/>
            <p:nvPr/>
          </p:nvSpPr>
          <p:spPr>
            <a:xfrm>
              <a:off x="2082384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2001424" y="2071684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count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3049112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2968152" y="2071684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count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3406632" y="2099063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3325672" y="2071684"/>
              <a:ext cx="5229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words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761925" y="1384352"/>
              <a:ext cx="36000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2717621" y="1357302"/>
              <a:ext cx="449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00" dirty="0">
                  <a:solidFill>
                    <a:srgbClr val="11576A"/>
                  </a:solidFill>
                  <a:latin typeface="微软雅黑"/>
                  <a:ea typeface="微软雅黑"/>
                </a:rPr>
                <a:t>spell</a:t>
              </a:r>
              <a:endParaRPr lang="zh-CN" altLang="en-US" sz="1100" b="1" spc="-10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2403914" y="1384352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2364229" y="1362065"/>
              <a:ext cx="4491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dict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985209" y="1362065"/>
              <a:ext cx="4363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00" dirty="0">
                  <a:solidFill>
                    <a:srgbClr val="11576A"/>
                  </a:solidFill>
                  <a:latin typeface="微软雅黑"/>
                  <a:ea typeface="微软雅黑"/>
                </a:rPr>
                <a:t>root</a:t>
              </a:r>
              <a:endParaRPr lang="zh-CN" altLang="en-US" sz="1100" b="1" spc="-10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cxnSp>
          <p:nvCxnSpPr>
            <p:cNvPr id="128" name="直接箭头连接符 127"/>
            <p:cNvCxnSpPr>
              <a:stCxn id="121" idx="2"/>
            </p:cNvCxnSpPr>
            <p:nvPr/>
          </p:nvCxnSpPr>
          <p:spPr>
            <a:xfrm rot="5400000">
              <a:off x="1923363" y="1414812"/>
              <a:ext cx="456585" cy="87431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箭头连接符 129"/>
            <p:cNvCxnSpPr>
              <a:stCxn id="119" idx="2"/>
              <a:endCxn id="116" idx="0"/>
            </p:cNvCxnSpPr>
            <p:nvPr/>
          </p:nvCxnSpPr>
          <p:spPr>
            <a:xfrm rot="16200000" flipH="1">
              <a:off x="3038276" y="1522838"/>
              <a:ext cx="452772" cy="64492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箭头连接符 131"/>
            <p:cNvCxnSpPr>
              <a:stCxn id="114" idx="2"/>
              <a:endCxn id="99" idx="7"/>
            </p:cNvCxnSpPr>
            <p:nvPr/>
          </p:nvCxnSpPr>
          <p:spPr>
            <a:xfrm rot="5400000">
              <a:off x="3024488" y="2349223"/>
              <a:ext cx="206616" cy="174759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/>
            <p:cNvCxnSpPr>
              <a:stCxn id="112" idx="2"/>
              <a:endCxn id="99" idx="1"/>
            </p:cNvCxnSpPr>
            <p:nvPr/>
          </p:nvCxnSpPr>
          <p:spPr>
            <a:xfrm rot="16200000" flipH="1">
              <a:off x="2465352" y="2116388"/>
              <a:ext cx="206616" cy="640427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rot="16200000" flipH="1">
              <a:off x="874678" y="3006950"/>
              <a:ext cx="1368000" cy="0"/>
            </a:xfrm>
            <a:prstGeom prst="line">
              <a:avLst/>
            </a:prstGeom>
            <a:ln w="28575">
              <a:solidFill>
                <a:srgbClr val="11576A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/>
            <p:cNvCxnSpPr/>
            <p:nvPr/>
          </p:nvCxnSpPr>
          <p:spPr>
            <a:xfrm>
              <a:off x="1545240" y="3690950"/>
              <a:ext cx="799861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>
              <a:stCxn id="85" idx="2"/>
            </p:cNvCxnSpPr>
            <p:nvPr/>
          </p:nvCxnSpPr>
          <p:spPr>
            <a:xfrm rot="16200000" flipH="1">
              <a:off x="1425900" y="2809712"/>
              <a:ext cx="952836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箭头连接符 141"/>
            <p:cNvCxnSpPr/>
            <p:nvPr/>
          </p:nvCxnSpPr>
          <p:spPr>
            <a:xfrm flipV="1">
              <a:off x="1885934" y="3286125"/>
              <a:ext cx="396000" cy="5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rot="5400000">
              <a:off x="3299122" y="2599069"/>
              <a:ext cx="57600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rot="10800000">
              <a:off x="2428860" y="2871788"/>
              <a:ext cx="1143008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箭头连接符 147"/>
            <p:cNvCxnSpPr>
              <a:endCxn id="47" idx="0"/>
            </p:cNvCxnSpPr>
            <p:nvPr/>
          </p:nvCxnSpPr>
          <p:spPr>
            <a:xfrm rot="5400000">
              <a:off x="2288367" y="2999581"/>
              <a:ext cx="280987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4264002" y="2207700"/>
            <a:ext cx="1884982" cy="1372793"/>
            <a:chOff x="1703049" y="1347783"/>
            <a:chExt cx="1884982" cy="1372793"/>
          </a:xfrm>
        </p:grpSpPr>
        <p:grpSp>
          <p:nvGrpSpPr>
            <p:cNvPr id="3" name="组合 2"/>
            <p:cNvGrpSpPr/>
            <p:nvPr/>
          </p:nvGrpSpPr>
          <p:grpSpPr>
            <a:xfrm>
              <a:off x="2367148" y="1355258"/>
              <a:ext cx="449162" cy="261610"/>
              <a:chOff x="2516439" y="1512311"/>
              <a:chExt cx="449162" cy="261610"/>
            </a:xfrm>
          </p:grpSpPr>
          <p:sp>
            <p:nvSpPr>
              <p:cNvPr id="68" name="矩形 67"/>
              <p:cNvSpPr/>
              <p:nvPr/>
            </p:nvSpPr>
            <p:spPr>
              <a:xfrm>
                <a:off x="2556314" y="1536752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79" name="TextBox 120"/>
              <p:cNvSpPr txBox="1"/>
              <p:nvPr/>
            </p:nvSpPr>
            <p:spPr>
              <a:xfrm>
                <a:off x="2516439" y="1512311"/>
                <a:ext cx="4491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 err="1">
                    <a:solidFill>
                      <a:prstClr val="black"/>
                    </a:solidFill>
                    <a:latin typeface="微软雅黑"/>
                    <a:ea typeface="微软雅黑"/>
                  </a:rPr>
                  <a:t>dict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2012217" y="2073973"/>
              <a:ext cx="494046" cy="261610"/>
              <a:chOff x="7413844" y="1494744"/>
              <a:chExt cx="494046" cy="261610"/>
            </a:xfrm>
          </p:grpSpPr>
          <p:sp>
            <p:nvSpPr>
              <p:cNvPr id="86" name="矩形 85"/>
              <p:cNvSpPr/>
              <p:nvPr/>
            </p:nvSpPr>
            <p:spPr>
              <a:xfrm>
                <a:off x="7482272" y="1515485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87" name="TextBox 111"/>
              <p:cNvSpPr txBox="1"/>
              <p:nvPr/>
            </p:nvSpPr>
            <p:spPr>
              <a:xfrm>
                <a:off x="7413844" y="1494744"/>
                <a:ext cx="49404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spc="-150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count</a:t>
                </a:r>
                <a:endParaRPr lang="zh-CN" altLang="en-US" sz="1100" b="1" spc="-15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88" name="椭圆 87"/>
            <p:cNvSpPr/>
            <p:nvPr/>
          </p:nvSpPr>
          <p:spPr>
            <a:xfrm>
              <a:off x="2856486" y="2506262"/>
              <a:ext cx="214314" cy="214314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2714202" y="1347783"/>
              <a:ext cx="449162" cy="261610"/>
              <a:chOff x="7683032" y="1071536"/>
              <a:chExt cx="449162" cy="261610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7727613" y="1106836"/>
                <a:ext cx="36000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97" name="TextBox 118"/>
              <p:cNvSpPr txBox="1"/>
              <p:nvPr/>
            </p:nvSpPr>
            <p:spPr>
              <a:xfrm>
                <a:off x="7683032" y="1071536"/>
                <a:ext cx="449162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spc="-100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spell</a:t>
                </a:r>
                <a:endParaRPr lang="zh-CN" altLang="en-US" sz="1100" b="1" spc="-10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2975576" y="2078897"/>
              <a:ext cx="494046" cy="261610"/>
              <a:chOff x="7413844" y="1494744"/>
              <a:chExt cx="494046" cy="261610"/>
            </a:xfrm>
          </p:grpSpPr>
          <p:sp>
            <p:nvSpPr>
              <p:cNvPr id="131" name="矩形 130"/>
              <p:cNvSpPr/>
              <p:nvPr/>
            </p:nvSpPr>
            <p:spPr>
              <a:xfrm>
                <a:off x="7482272" y="1515485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33" name="TextBox 111"/>
              <p:cNvSpPr txBox="1"/>
              <p:nvPr/>
            </p:nvSpPr>
            <p:spPr>
              <a:xfrm>
                <a:off x="7413844" y="1494744"/>
                <a:ext cx="49404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spc="-150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count</a:t>
                </a:r>
                <a:endParaRPr lang="zh-CN" altLang="en-US" sz="1100" b="1" spc="-15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135" name="直接箭头连接符 134"/>
            <p:cNvCxnSpPr/>
            <p:nvPr/>
          </p:nvCxnSpPr>
          <p:spPr>
            <a:xfrm rot="5400000">
              <a:off x="1911911" y="1409781"/>
              <a:ext cx="456585" cy="87431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箭头连接符 136"/>
            <p:cNvCxnSpPr/>
            <p:nvPr/>
          </p:nvCxnSpPr>
          <p:spPr>
            <a:xfrm rot="16200000" flipH="1">
              <a:off x="3039185" y="1511465"/>
              <a:ext cx="452772" cy="64492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/>
            <p:cNvCxnSpPr/>
            <p:nvPr/>
          </p:nvCxnSpPr>
          <p:spPr>
            <a:xfrm rot="5400000">
              <a:off x="3020987" y="2345009"/>
              <a:ext cx="206616" cy="17475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/>
            <p:cNvCxnSpPr/>
            <p:nvPr/>
          </p:nvCxnSpPr>
          <p:spPr>
            <a:xfrm rot="16200000" flipH="1">
              <a:off x="2462480" y="2112183"/>
              <a:ext cx="206616" cy="64042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3936646" y="2214552"/>
            <a:ext cx="2477871" cy="2432872"/>
            <a:chOff x="1371318" y="1357302"/>
            <a:chExt cx="2477871" cy="2432872"/>
          </a:xfrm>
        </p:grpSpPr>
        <p:grpSp>
          <p:nvGrpSpPr>
            <p:cNvPr id="98" name="组合 97"/>
            <p:cNvGrpSpPr/>
            <p:nvPr/>
          </p:nvGrpSpPr>
          <p:grpSpPr>
            <a:xfrm>
              <a:off x="2356188" y="1357302"/>
              <a:ext cx="449162" cy="261610"/>
              <a:chOff x="2516439" y="1512311"/>
              <a:chExt cx="449162" cy="261610"/>
            </a:xfrm>
          </p:grpSpPr>
          <p:sp>
            <p:nvSpPr>
              <p:cNvPr id="100" name="矩形 99"/>
              <p:cNvSpPr/>
              <p:nvPr/>
            </p:nvSpPr>
            <p:spPr>
              <a:xfrm>
                <a:off x="2556314" y="1536752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01" name="TextBox 120"/>
              <p:cNvSpPr txBox="1"/>
              <p:nvPr/>
            </p:nvSpPr>
            <p:spPr>
              <a:xfrm>
                <a:off x="2516439" y="1512311"/>
                <a:ext cx="4491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 err="1">
                    <a:solidFill>
                      <a:prstClr val="black"/>
                    </a:solidFill>
                    <a:latin typeface="微软雅黑"/>
                    <a:ea typeface="微软雅黑"/>
                  </a:rPr>
                  <a:t>dict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1729767" y="2071682"/>
              <a:ext cx="357190" cy="261610"/>
              <a:chOff x="1874539" y="2224084"/>
              <a:chExt cx="357190" cy="261610"/>
            </a:xfrm>
          </p:grpSpPr>
          <p:sp>
            <p:nvSpPr>
              <p:cNvPr id="102" name="矩形 101"/>
              <p:cNvSpPr/>
              <p:nvPr/>
            </p:nvSpPr>
            <p:spPr>
              <a:xfrm>
                <a:off x="1874539" y="2251463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03" name="TextBox 84"/>
              <p:cNvSpPr txBox="1"/>
              <p:nvPr/>
            </p:nvSpPr>
            <p:spPr>
              <a:xfrm>
                <a:off x="1902272" y="2224084"/>
                <a:ext cx="30489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w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2277517" y="3144481"/>
              <a:ext cx="394660" cy="261610"/>
              <a:chOff x="2441106" y="3296079"/>
              <a:chExt cx="394660" cy="261610"/>
            </a:xfrm>
          </p:grpSpPr>
          <p:sp>
            <p:nvSpPr>
              <p:cNvPr id="104" name="矩形 103"/>
              <p:cNvSpPr/>
              <p:nvPr/>
            </p:nvSpPr>
            <p:spPr>
              <a:xfrm>
                <a:off x="2457193" y="3314821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05" name="TextBox 46"/>
              <p:cNvSpPr txBox="1"/>
              <p:nvPr/>
            </p:nvSpPr>
            <p:spPr>
              <a:xfrm>
                <a:off x="2441106" y="3296079"/>
                <a:ext cx="39466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list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371318" y="2079754"/>
              <a:ext cx="360345" cy="261610"/>
              <a:chOff x="1519045" y="2236052"/>
              <a:chExt cx="360345" cy="261610"/>
            </a:xfrm>
          </p:grpSpPr>
          <p:sp>
            <p:nvSpPr>
              <p:cNvPr id="106" name="矩形 105"/>
              <p:cNvSpPr/>
              <p:nvPr/>
            </p:nvSpPr>
            <p:spPr>
              <a:xfrm>
                <a:off x="1519045" y="2251463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10" name="TextBox 82"/>
              <p:cNvSpPr txBox="1"/>
              <p:nvPr/>
            </p:nvSpPr>
            <p:spPr>
              <a:xfrm>
                <a:off x="1529614" y="2236052"/>
                <a:ext cx="34977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all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326289" y="2079754"/>
              <a:ext cx="522900" cy="261610"/>
              <a:chOff x="7693548" y="3114482"/>
              <a:chExt cx="522900" cy="261610"/>
            </a:xfrm>
          </p:grpSpPr>
          <p:sp>
            <p:nvSpPr>
              <p:cNvPr id="117" name="矩形 116"/>
              <p:cNvSpPr/>
              <p:nvPr/>
            </p:nvSpPr>
            <p:spPr>
              <a:xfrm>
                <a:off x="7776403" y="3138923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122" name="TextBox 115"/>
              <p:cNvSpPr txBox="1"/>
              <p:nvPr/>
            </p:nvSpPr>
            <p:spPr>
              <a:xfrm>
                <a:off x="7693548" y="3114482"/>
                <a:ext cx="52290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spc="-150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words</a:t>
                </a:r>
                <a:endParaRPr lang="zh-CN" altLang="en-US" sz="1100" b="1" spc="-15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143" name="椭圆 142"/>
            <p:cNvSpPr/>
            <p:nvPr/>
          </p:nvSpPr>
          <p:spPr>
            <a:xfrm>
              <a:off x="2374496" y="3575860"/>
              <a:ext cx="214314" cy="214314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145" name="直接箭头连接符 144"/>
            <p:cNvCxnSpPr/>
            <p:nvPr/>
          </p:nvCxnSpPr>
          <p:spPr>
            <a:xfrm rot="16200000" flipH="1">
              <a:off x="2379659" y="3472362"/>
              <a:ext cx="180000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箭头连接符 146"/>
            <p:cNvCxnSpPr/>
            <p:nvPr/>
          </p:nvCxnSpPr>
          <p:spPr>
            <a:xfrm rot="5400000">
              <a:off x="1928233" y="1404351"/>
              <a:ext cx="456585" cy="87431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1543548" y="2324325"/>
              <a:ext cx="799861" cy="1368000"/>
              <a:chOff x="1697640" y="2475350"/>
              <a:chExt cx="799861" cy="1368000"/>
            </a:xfrm>
          </p:grpSpPr>
          <p:cxnSp>
            <p:nvCxnSpPr>
              <p:cNvPr id="149" name="直接连接符 148"/>
              <p:cNvCxnSpPr/>
              <p:nvPr/>
            </p:nvCxnSpPr>
            <p:spPr>
              <a:xfrm rot="16200000" flipH="1">
                <a:off x="1027078" y="3159350"/>
                <a:ext cx="1368000" cy="0"/>
              </a:xfrm>
              <a:prstGeom prst="line">
                <a:avLst/>
              </a:prstGeom>
              <a:ln w="38100">
                <a:solidFill>
                  <a:srgbClr val="C0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49"/>
              <p:cNvCxnSpPr/>
              <p:nvPr/>
            </p:nvCxnSpPr>
            <p:spPr>
              <a:xfrm>
                <a:off x="1697640" y="3843350"/>
                <a:ext cx="799861" cy="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/>
            <p:cNvGrpSpPr/>
            <p:nvPr/>
          </p:nvGrpSpPr>
          <p:grpSpPr>
            <a:xfrm>
              <a:off x="1881395" y="2338994"/>
              <a:ext cx="396000" cy="952836"/>
              <a:chOff x="2038334" y="2485694"/>
              <a:chExt cx="396000" cy="952836"/>
            </a:xfrm>
          </p:grpSpPr>
          <p:cxnSp>
            <p:nvCxnSpPr>
              <p:cNvPr id="151" name="直接连接符 150"/>
              <p:cNvCxnSpPr/>
              <p:nvPr/>
            </p:nvCxnSpPr>
            <p:spPr>
              <a:xfrm rot="16200000" flipH="1">
                <a:off x="1578300" y="2962112"/>
                <a:ext cx="952836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箭头连接符 151"/>
              <p:cNvCxnSpPr/>
              <p:nvPr/>
            </p:nvCxnSpPr>
            <p:spPr>
              <a:xfrm flipV="1">
                <a:off x="2038334" y="3438525"/>
                <a:ext cx="396000" cy="5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>
              <a:off x="2424965" y="2308365"/>
              <a:ext cx="1158262" cy="829005"/>
              <a:chOff x="2581260" y="2463469"/>
              <a:chExt cx="1158262" cy="829005"/>
            </a:xfrm>
          </p:grpSpPr>
          <p:cxnSp>
            <p:nvCxnSpPr>
              <p:cNvPr id="153" name="直接连接符 152"/>
              <p:cNvCxnSpPr/>
              <p:nvPr/>
            </p:nvCxnSpPr>
            <p:spPr>
              <a:xfrm rot="5400000">
                <a:off x="3451522" y="2751469"/>
                <a:ext cx="576000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/>
              <p:cNvCxnSpPr/>
              <p:nvPr/>
            </p:nvCxnSpPr>
            <p:spPr>
              <a:xfrm rot="10800000">
                <a:off x="2581260" y="3024188"/>
                <a:ext cx="1143008" cy="1588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箭头连接符 154"/>
              <p:cNvCxnSpPr/>
              <p:nvPr/>
            </p:nvCxnSpPr>
            <p:spPr>
              <a:xfrm rot="5400000">
                <a:off x="2440767" y="3151981"/>
                <a:ext cx="280987" cy="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6" name="直接箭头连接符 155"/>
            <p:cNvCxnSpPr/>
            <p:nvPr/>
          </p:nvCxnSpPr>
          <p:spPr>
            <a:xfrm rot="16200000" flipH="1">
              <a:off x="3041841" y="1517706"/>
              <a:ext cx="452772" cy="64492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7" name="TextBox 4"/>
          <p:cNvSpPr txBox="1">
            <a:spLocks noChangeArrowheads="1"/>
          </p:cNvSpPr>
          <p:nvPr/>
        </p:nvSpPr>
        <p:spPr bwMode="auto">
          <a:xfrm>
            <a:off x="7053363" y="3433222"/>
            <a:ext cx="228299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endParaRPr lang="en-US" altLang="zh-CN" sz="1600" b="1" dirty="0">
              <a:solidFill>
                <a:prstClr val="black"/>
              </a:solidFill>
              <a:latin typeface="Courier New" panose="02070309020205020404" pitchFamily="49" charset="0"/>
              <a:ea typeface="微软雅黑"/>
              <a:cs typeface="Courier New" panose="02070309020205020404" pitchFamily="49" charset="0"/>
            </a:endParaRP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</a:t>
            </a:r>
            <a:r>
              <a:rPr lang="en-US" altLang="zh-CN" sz="1600" b="1" dirty="0" err="1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dict</a:t>
            </a: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/w/list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</a:t>
            </a:r>
            <a:r>
              <a:rPr lang="en-US" altLang="zh-CN" sz="1600" b="1" dirty="0" err="1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dict</a:t>
            </a: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/all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Courier New" panose="02070309020205020404" pitchFamily="49" charset="0"/>
                <a:ea typeface="微软雅黑"/>
                <a:cs typeface="Courier New" panose="02070309020205020404" pitchFamily="49" charset="0"/>
              </a:rPr>
              <a:t>/spell/words/list</a:t>
            </a:r>
          </a:p>
        </p:txBody>
      </p:sp>
      <p:sp>
        <p:nvSpPr>
          <p:cNvPr id="30" name="标题 29">
            <a:extLst>
              <a:ext uri="{FF2B5EF4-FFF2-40B4-BE49-F238E27FC236}">
                <a16:creationId xmlns:a16="http://schemas.microsoft.com/office/drawing/2014/main" id="{F35F8A81-1B8E-F9D5-E173-D8987E464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文件别名</a:t>
            </a:r>
          </a:p>
        </p:txBody>
      </p:sp>
      <p:sp>
        <p:nvSpPr>
          <p:cNvPr id="33" name="灯片编号占位符 32">
            <a:extLst>
              <a:ext uri="{FF2B5EF4-FFF2-40B4-BE49-F238E27FC236}">
                <a16:creationId xmlns:a16="http://schemas.microsoft.com/office/drawing/2014/main" id="{FE74FD68-E940-FFD9-0AFE-0CAF5850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321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4" descr="6-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8" y="2781300"/>
            <a:ext cx="7123112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0" name="AutoShape 8"/>
          <p:cNvSpPr>
            <a:spLocks noChangeArrowheads="1"/>
          </p:cNvSpPr>
          <p:nvPr/>
        </p:nvSpPr>
        <p:spPr bwMode="auto">
          <a:xfrm>
            <a:off x="1774828" y="4868863"/>
            <a:ext cx="792163" cy="431800"/>
          </a:xfrm>
          <a:prstGeom prst="wedgeRectCallout">
            <a:avLst>
              <a:gd name="adj1" fmla="val 80060"/>
              <a:gd name="adj2" fmla="val -63602"/>
            </a:avLst>
          </a:prstGeom>
          <a:solidFill>
            <a:srgbClr val="FFCC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i</a:t>
            </a:r>
            <a:r>
              <a:rPr lang="zh-CN" altLang="en-US" sz="1600">
                <a:latin typeface="Times New Roman" panose="02020603050405020304" pitchFamily="18" charset="0"/>
              </a:rPr>
              <a:t>节点</a:t>
            </a:r>
          </a:p>
        </p:txBody>
      </p:sp>
      <p:sp>
        <p:nvSpPr>
          <p:cNvPr id="70662" name="AutoShape 10"/>
          <p:cNvSpPr>
            <a:spLocks noChangeArrowheads="1"/>
          </p:cNvSpPr>
          <p:nvPr/>
        </p:nvSpPr>
        <p:spPr bwMode="auto">
          <a:xfrm>
            <a:off x="7104063" y="5300666"/>
            <a:ext cx="1439862" cy="1152525"/>
          </a:xfrm>
          <a:prstGeom prst="wedgeRectCallout">
            <a:avLst>
              <a:gd name="adj1" fmla="val 46583"/>
              <a:gd name="adj2" fmla="val -81819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Times New Roman" panose="02020603050405020304" pitchFamily="18" charset="0"/>
              </a:rPr>
              <a:t>解决办法</a:t>
            </a:r>
            <a:r>
              <a:rPr lang="en-US" altLang="zh-CN" sz="1400" dirty="0" err="1">
                <a:latin typeface="Times New Roman" panose="02020603050405020304" pitchFamily="18" charset="0"/>
              </a:rPr>
              <a:t>i</a:t>
            </a:r>
            <a:r>
              <a:rPr lang="zh-CN" altLang="en-US" sz="1400" dirty="0">
                <a:latin typeface="Times New Roman" panose="02020603050405020304" pitchFamily="18" charset="0"/>
              </a:rPr>
              <a:t>节点不删只修改连接数；但会有记账不准。</a:t>
            </a:r>
          </a:p>
        </p:txBody>
      </p:sp>
      <p:sp>
        <p:nvSpPr>
          <p:cNvPr id="70663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BCE7D3E-EBCF-45EF-8D83-847878DF4C37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7CF2AF9-E6B2-86C4-067F-CE618F811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用链接实现文件共享控制（</a:t>
            </a:r>
            <a:r>
              <a:rPr lang="en-US" altLang="zh-CN" dirty="0" err="1"/>
              <a:t>i</a:t>
            </a:r>
            <a:r>
              <a:rPr lang="zh-CN" altLang="en-US" dirty="0"/>
              <a:t>节点方式）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EC06BA7-D715-0505-F7BE-2C4D02124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1283169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每个文件有指向自己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节点的指针；</a:t>
            </a:r>
          </a:p>
          <a:p>
            <a:r>
              <a:rPr lang="zh-CN" altLang="en-US" sz="2400" dirty="0"/>
              <a:t>创建共享时多指针指向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节点并增加引用数；</a:t>
            </a:r>
          </a:p>
          <a:p>
            <a:r>
              <a:rPr lang="zh-CN" altLang="en-US" sz="2400" dirty="0"/>
              <a:t>当属主文件被删除并连带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节点删除时会出错。</a:t>
            </a:r>
          </a:p>
          <a:p>
            <a:endParaRPr lang="zh-CN" altLang="en-US" sz="24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2DB20C-3E0D-D25E-A06A-07012576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16</a:t>
            </a:fld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灯片编号占位符 1"/>
          <p:cNvSpPr txBox="1">
            <a:spLocks noGrp="1"/>
          </p:cNvSpPr>
          <p:nvPr/>
        </p:nvSpPr>
        <p:spPr bwMode="auto">
          <a:xfrm>
            <a:off x="6887738" y="5801747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01C531F3-B275-456E-A49B-5BD00FBD6590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B2CE12-E39A-C248-9BD8-984229689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28" y="3933056"/>
            <a:ext cx="4455795" cy="2513831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EA9A612-E96C-843A-3F07-86C78486993D}"/>
              </a:ext>
            </a:extLst>
          </p:cNvPr>
          <p:cNvCxnSpPr/>
          <p:nvPr/>
        </p:nvCxnSpPr>
        <p:spPr bwMode="auto">
          <a:xfrm>
            <a:off x="4367805" y="5801747"/>
            <a:ext cx="3024758" cy="730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99D9AB23-25E7-8AC8-F72C-BE79D18083CC}"/>
              </a:ext>
            </a:extLst>
          </p:cNvPr>
          <p:cNvSpPr txBox="1"/>
          <p:nvPr/>
        </p:nvSpPr>
        <p:spPr>
          <a:xfrm>
            <a:off x="5015877" y="4211583"/>
            <a:ext cx="1944216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记录</a:t>
            </a:r>
            <a:r>
              <a:rPr lang="en-US" altLang="zh-CN" dirty="0"/>
              <a:t>a</a:t>
            </a:r>
            <a:r>
              <a:rPr lang="zh-CN" altLang="en-US" dirty="0"/>
              <a:t>为指向</a:t>
            </a:r>
            <a:r>
              <a:rPr lang="en-US" altLang="zh-CN" dirty="0"/>
              <a:t>c</a:t>
            </a:r>
            <a:r>
              <a:rPr lang="zh-CN" altLang="en-US" dirty="0"/>
              <a:t>的链接，是一种特殊类型的文件，</a:t>
            </a:r>
            <a:r>
              <a:rPr lang="en-US" altLang="zh-CN" dirty="0"/>
              <a:t>c</a:t>
            </a:r>
            <a:r>
              <a:rPr lang="zh-CN" altLang="en-US" dirty="0"/>
              <a:t>如果被删除，</a:t>
            </a:r>
            <a:r>
              <a:rPr lang="en-US" altLang="zh-CN" dirty="0"/>
              <a:t>a</a:t>
            </a:r>
            <a:r>
              <a:rPr lang="zh-CN" altLang="en-US" dirty="0"/>
              <a:t>变成无效链接，不影响系统完整性也不能加复杂度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08751A5-794C-2B08-D955-EBC6089F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采用符号链接可较好解决问题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92C9C850-56D9-F587-CDCD-61C7E424B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只有文件属主有指向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节点的指针</a:t>
            </a:r>
          </a:p>
          <a:p>
            <a:r>
              <a:rPr lang="zh-CN" altLang="en-US" sz="2400" dirty="0"/>
              <a:t>建立一个新文件类型</a:t>
            </a:r>
            <a:r>
              <a:rPr lang="en-US" altLang="zh-CN" sz="2400" dirty="0"/>
              <a:t>link</a:t>
            </a:r>
            <a:r>
              <a:rPr lang="zh-CN" altLang="en-US" sz="2400" dirty="0"/>
              <a:t>，用做目录管理</a:t>
            </a:r>
          </a:p>
          <a:p>
            <a:r>
              <a:rPr lang="zh-CN" altLang="en-US" sz="2400" dirty="0"/>
              <a:t>有共享需求的用户只了解找到共享文件的目录，而无指向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节点的指针</a:t>
            </a:r>
          </a:p>
          <a:p>
            <a:r>
              <a:rPr lang="zh-CN" altLang="en-US" sz="2400" dirty="0"/>
              <a:t>删除符号链接不会影响原文件</a:t>
            </a:r>
          </a:p>
          <a:p>
            <a:r>
              <a:rPr lang="zh-CN" altLang="en-US" sz="2400" dirty="0"/>
              <a:t>若属主删除被链接的文件，只能带来链接文件找不到正确目录文件，无大错</a:t>
            </a:r>
          </a:p>
          <a:p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E03254-47FD-47D4-6A5B-C24C8BDE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17</a:t>
            </a:fld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2368897" y="5155762"/>
            <a:ext cx="4370049" cy="702130"/>
            <a:chOff x="844893" y="4298512"/>
            <a:chExt cx="4370049" cy="702130"/>
          </a:xfrm>
        </p:grpSpPr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142976" y="4298512"/>
              <a:ext cx="1357322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更多实践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44893" y="429851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8" name="图片 27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474029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1" name="内容占位符 2"/>
            <p:cNvSpPr txBox="1">
              <a:spLocks/>
            </p:cNvSpPr>
            <p:nvPr/>
          </p:nvSpPr>
          <p:spPr>
            <a:xfrm>
              <a:off x="1394985" y="4635520"/>
              <a:ext cx="3819957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限制路径可遍历文件目录的数量</a:t>
              </a:r>
              <a:endParaRPr lang="en-US" altLang="zh-CN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368897" y="4184658"/>
            <a:ext cx="3512793" cy="428628"/>
            <a:chOff x="844893" y="3327408"/>
            <a:chExt cx="3512793" cy="428628"/>
          </a:xfrm>
        </p:grpSpPr>
        <p:sp>
          <p:nvSpPr>
            <p:cNvPr id="18" name="内容占位符 2"/>
            <p:cNvSpPr txBox="1">
              <a:spLocks/>
            </p:cNvSpPr>
            <p:nvPr/>
          </p:nvSpPr>
          <p:spPr>
            <a:xfrm>
              <a:off x="1142976" y="3327408"/>
              <a:ext cx="321471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如何保证没有循环？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4893" y="332740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1" name="TextBox 4"/>
          <p:cNvSpPr txBox="1">
            <a:spLocks noChangeArrowheads="1"/>
          </p:cNvSpPr>
          <p:nvPr/>
        </p:nvSpPr>
        <p:spPr bwMode="auto">
          <a:xfrm>
            <a:off x="6284404" y="2080932"/>
            <a:ext cx="303931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16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/avi/book/avi/book/avi/book/avi/book/avi/book/avi/book/avi/book/avi/book/avi/…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786422" y="4541848"/>
            <a:ext cx="5667032" cy="365122"/>
            <a:chOff x="1262422" y="3684598"/>
            <a:chExt cx="5667032" cy="365122"/>
          </a:xfrm>
        </p:grpSpPr>
        <p:pic>
          <p:nvPicPr>
            <p:cNvPr id="14" name="图片 13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78937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394985" y="3684598"/>
              <a:ext cx="5534469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只允许到文件的链接，不允许在子目录的链接</a:t>
              </a:r>
              <a:endParaRPr lang="en-US" altLang="zh-CN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786422" y="4847564"/>
            <a:ext cx="5381280" cy="365122"/>
            <a:chOff x="1262422" y="3990314"/>
            <a:chExt cx="5381280" cy="365122"/>
          </a:xfrm>
        </p:grpSpPr>
        <p:pic>
          <p:nvPicPr>
            <p:cNvPr id="16" name="图片 15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409509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7" name="内容占位符 2"/>
            <p:cNvSpPr txBox="1">
              <a:spLocks/>
            </p:cNvSpPr>
            <p:nvPr/>
          </p:nvSpPr>
          <p:spPr>
            <a:xfrm>
              <a:off x="1394985" y="3990314"/>
              <a:ext cx="5248717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增加链接时，用循环检测算法确定是否合理</a:t>
              </a:r>
              <a:endParaRPr lang="en-US" altLang="zh-CN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452662" y="1718153"/>
            <a:ext cx="4071966" cy="2425231"/>
            <a:chOff x="928662" y="860899"/>
            <a:chExt cx="4071966" cy="2425231"/>
          </a:xfrm>
        </p:grpSpPr>
        <p:sp>
          <p:nvSpPr>
            <p:cNvPr id="37" name="矩形 36"/>
            <p:cNvSpPr/>
            <p:nvPr/>
          </p:nvSpPr>
          <p:spPr>
            <a:xfrm>
              <a:off x="1081061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33438" y="1500180"/>
              <a:ext cx="4635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text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1438083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69503" y="1500180"/>
              <a:ext cx="4876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mail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793577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710712" y="1500180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count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2148615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075910" y="1509705"/>
              <a:ext cx="4716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book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1506511" y="1747501"/>
              <a:ext cx="214314" cy="403833"/>
              <a:chOff x="3176581" y="4486287"/>
              <a:chExt cx="214314" cy="403833"/>
            </a:xfrm>
          </p:grpSpPr>
          <p:sp>
            <p:nvSpPr>
              <p:cNvPr id="62" name="椭圆 61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63" name="直接箭头连接符 62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椭圆 64"/>
            <p:cNvSpPr/>
            <p:nvPr/>
          </p:nvSpPr>
          <p:spPr>
            <a:xfrm>
              <a:off x="928662" y="1937020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66" name="直接箭头连接符 65"/>
            <p:cNvCxnSpPr>
              <a:endCxn id="65" idx="7"/>
            </p:cNvCxnSpPr>
            <p:nvPr/>
          </p:nvCxnSpPr>
          <p:spPr>
            <a:xfrm rot="5400000">
              <a:off x="1070900" y="1788191"/>
              <a:ext cx="220905" cy="139524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矩形 66"/>
            <p:cNvSpPr/>
            <p:nvPr/>
          </p:nvSpPr>
          <p:spPr>
            <a:xfrm>
              <a:off x="3075818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3432840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364260" y="1500180"/>
              <a:ext cx="4876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mail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3788334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4143372" y="1527559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089717" y="1500180"/>
              <a:ext cx="45236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hyp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3501268" y="1747501"/>
              <a:ext cx="214314" cy="403833"/>
              <a:chOff x="3176581" y="4486287"/>
              <a:chExt cx="214314" cy="403833"/>
            </a:xfrm>
          </p:grpSpPr>
          <p:sp>
            <p:nvSpPr>
              <p:cNvPr id="82" name="椭圆 81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83" name="直接箭头连接符 82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矩形 29"/>
            <p:cNvSpPr/>
            <p:nvPr/>
          </p:nvSpPr>
          <p:spPr>
            <a:xfrm>
              <a:off x="2634023" y="883186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659431" y="860899"/>
              <a:ext cx="3145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tc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843069" y="860899"/>
              <a:ext cx="4363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00" dirty="0">
                  <a:solidFill>
                    <a:srgbClr val="11576A"/>
                  </a:solidFill>
                  <a:latin typeface="微软雅黑"/>
                  <a:ea typeface="微软雅黑"/>
                </a:rPr>
                <a:t>root</a:t>
              </a:r>
              <a:endParaRPr lang="zh-CN" altLang="en-US" sz="1100" b="1" spc="-10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2994581" y="883186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967596" y="860899"/>
              <a:ext cx="40748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jim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2279407" y="883186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252422" y="860899"/>
              <a:ext cx="3898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avi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2708035" y="1101081"/>
              <a:ext cx="214314" cy="403833"/>
              <a:chOff x="3176581" y="4486287"/>
              <a:chExt cx="214314" cy="403833"/>
            </a:xfrm>
          </p:grpSpPr>
          <p:sp>
            <p:nvSpPr>
              <p:cNvPr id="93" name="椭圆 92"/>
              <p:cNvSpPr/>
              <p:nvPr/>
            </p:nvSpPr>
            <p:spPr>
              <a:xfrm>
                <a:off x="3176581" y="4675806"/>
                <a:ext cx="214314" cy="214314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94" name="直接箭头连接符 93"/>
              <p:cNvCxnSpPr/>
              <p:nvPr/>
            </p:nvCxnSpPr>
            <p:spPr>
              <a:xfrm rot="16200000" flipH="1">
                <a:off x="3189962" y="4576287"/>
                <a:ext cx="180000" cy="0"/>
              </a:xfrm>
              <a:prstGeom prst="straightConnector1">
                <a:avLst/>
              </a:prstGeom>
              <a:ln w="28575">
                <a:solidFill>
                  <a:srgbClr val="11576A"/>
                </a:solidFill>
                <a:headEnd w="med" len="sm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矩形 99"/>
            <p:cNvSpPr/>
            <p:nvPr/>
          </p:nvSpPr>
          <p:spPr>
            <a:xfrm>
              <a:off x="2652697" y="2662355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2643174" y="2634976"/>
              <a:ext cx="3898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avi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3009719" y="2662355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5" name="椭圆 104"/>
            <p:cNvSpPr/>
            <p:nvPr/>
          </p:nvSpPr>
          <p:spPr>
            <a:xfrm>
              <a:off x="3078147" y="3071816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106" name="直接箭头连接符 105"/>
            <p:cNvCxnSpPr/>
            <p:nvPr/>
          </p:nvCxnSpPr>
          <p:spPr>
            <a:xfrm rot="16200000" flipH="1">
              <a:off x="3091528" y="2972297"/>
              <a:ext cx="180000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矩形 106"/>
            <p:cNvSpPr/>
            <p:nvPr/>
          </p:nvSpPr>
          <p:spPr>
            <a:xfrm>
              <a:off x="4106187" y="2662355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4463209" y="2662355"/>
              <a:ext cx="357190" cy="212728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 dirty="0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423204" y="2644501"/>
              <a:ext cx="4395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dirty="0">
                  <a:solidFill>
                    <a:srgbClr val="11576A"/>
                  </a:solidFill>
                  <a:latin typeface="微软雅黑"/>
                  <a:ea typeface="微软雅黑"/>
                </a:rPr>
                <a:t>hex</a:t>
              </a:r>
              <a:endParaRPr lang="zh-CN" altLang="en-US" sz="1100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2" name="椭圆 111"/>
            <p:cNvSpPr/>
            <p:nvPr/>
          </p:nvSpPr>
          <p:spPr>
            <a:xfrm>
              <a:off x="4786314" y="3071816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113" name="直接箭头连接符 112"/>
            <p:cNvCxnSpPr>
              <a:endCxn id="112" idx="1"/>
            </p:cNvCxnSpPr>
            <p:nvPr/>
          </p:nvCxnSpPr>
          <p:spPr>
            <a:xfrm rot="16200000" flipH="1">
              <a:off x="4615907" y="2901408"/>
              <a:ext cx="220905" cy="182682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w="med" len="sm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/>
            <p:cNvSpPr txBox="1"/>
            <p:nvPr/>
          </p:nvSpPr>
          <p:spPr>
            <a:xfrm>
              <a:off x="3000364" y="1509705"/>
              <a:ext cx="4716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book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3695694" y="1500180"/>
              <a:ext cx="5052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050" b="1" spc="-150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unhex</a:t>
              </a:r>
              <a:endParaRPr lang="zh-CN" altLang="en-US" sz="105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2915896" y="2638755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100" b="1" spc="-150" dirty="0">
                  <a:solidFill>
                    <a:srgbClr val="11576A"/>
                  </a:solidFill>
                  <a:latin typeface="微软雅黑"/>
                  <a:ea typeface="微软雅黑"/>
                </a:rPr>
                <a:t>count</a:t>
              </a:r>
              <a:endParaRPr lang="zh-CN" altLang="en-US" sz="110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4019546" y="2633747"/>
              <a:ext cx="5052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sz="1050" b="1" spc="-150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unhex</a:t>
              </a:r>
              <a:endParaRPr lang="zh-CN" altLang="en-US" sz="1050" b="1" spc="-150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19" name="椭圆 118"/>
            <p:cNvSpPr/>
            <p:nvPr/>
          </p:nvSpPr>
          <p:spPr>
            <a:xfrm>
              <a:off x="3857620" y="3071816"/>
              <a:ext cx="214314" cy="214314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122" name="直接箭头连接符 121"/>
            <p:cNvCxnSpPr>
              <a:stCxn id="117" idx="2"/>
              <a:endCxn id="119" idx="7"/>
            </p:cNvCxnSpPr>
            <p:nvPr/>
          </p:nvCxnSpPr>
          <p:spPr>
            <a:xfrm rot="5400000">
              <a:off x="4048595" y="2879616"/>
              <a:ext cx="215539" cy="231632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/>
            <p:cNvCxnSpPr>
              <a:stCxn id="115" idx="2"/>
              <a:endCxn id="119" idx="0"/>
            </p:cNvCxnSpPr>
            <p:nvPr/>
          </p:nvCxnSpPr>
          <p:spPr>
            <a:xfrm rot="16200000" flipH="1">
              <a:off x="3297692" y="2404731"/>
              <a:ext cx="1317720" cy="16449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箭头连接符 125"/>
            <p:cNvCxnSpPr>
              <a:stCxn id="74" idx="2"/>
            </p:cNvCxnSpPr>
            <p:nvPr/>
          </p:nvCxnSpPr>
          <p:spPr>
            <a:xfrm rot="16200000" flipH="1">
              <a:off x="3946895" y="2130795"/>
              <a:ext cx="886160" cy="148149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箭头连接符 127"/>
            <p:cNvCxnSpPr>
              <a:stCxn id="90" idx="2"/>
            </p:cNvCxnSpPr>
            <p:nvPr/>
          </p:nvCxnSpPr>
          <p:spPr>
            <a:xfrm rot="5400000">
              <a:off x="1918279" y="987311"/>
              <a:ext cx="393871" cy="664267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箭头连接符 129"/>
            <p:cNvCxnSpPr>
              <a:stCxn id="88" idx="2"/>
              <a:endCxn id="70" idx="0"/>
            </p:cNvCxnSpPr>
            <p:nvPr/>
          </p:nvCxnSpPr>
          <p:spPr>
            <a:xfrm rot="16200000" flipH="1">
              <a:off x="3200872" y="1092974"/>
              <a:ext cx="377671" cy="436739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箭头连接符 131"/>
            <p:cNvCxnSpPr>
              <a:stCxn id="44" idx="2"/>
            </p:cNvCxnSpPr>
            <p:nvPr/>
          </p:nvCxnSpPr>
          <p:spPr>
            <a:xfrm rot="16200000" flipH="1">
              <a:off x="2052944" y="2030083"/>
              <a:ext cx="849965" cy="33242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箭头连接符 133"/>
            <p:cNvCxnSpPr>
              <a:stCxn id="114" idx="2"/>
            </p:cNvCxnSpPr>
            <p:nvPr/>
          </p:nvCxnSpPr>
          <p:spPr>
            <a:xfrm rot="5400000">
              <a:off x="2690431" y="2090784"/>
              <a:ext cx="865205" cy="226266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rot="16200000" flipH="1">
              <a:off x="1237735" y="2466433"/>
              <a:ext cx="144000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箭头连接符 137"/>
            <p:cNvCxnSpPr/>
            <p:nvPr/>
          </p:nvCxnSpPr>
          <p:spPr>
            <a:xfrm>
              <a:off x="1955781" y="3173734"/>
              <a:ext cx="1116000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>
              <a:stCxn id="101" idx="2"/>
            </p:cNvCxnSpPr>
            <p:nvPr/>
          </p:nvCxnSpPr>
          <p:spPr>
            <a:xfrm rot="5400000">
              <a:off x="2774298" y="2960387"/>
              <a:ext cx="127602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 flipH="1">
              <a:off x="2211846" y="3016197"/>
              <a:ext cx="643207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/>
            <p:cNvCxnSpPr/>
            <p:nvPr/>
          </p:nvCxnSpPr>
          <p:spPr>
            <a:xfrm rot="5400000" flipH="1" flipV="1">
              <a:off x="1591805" y="2376813"/>
              <a:ext cx="1262065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3309694" y="1718153"/>
            <a:ext cx="1237685" cy="2163289"/>
            <a:chOff x="1785690" y="860899"/>
            <a:chExt cx="1237685" cy="2163289"/>
          </a:xfrm>
        </p:grpSpPr>
        <p:grpSp>
          <p:nvGrpSpPr>
            <p:cNvPr id="2" name="组合 1"/>
            <p:cNvGrpSpPr/>
            <p:nvPr/>
          </p:nvGrpSpPr>
          <p:grpSpPr>
            <a:xfrm>
              <a:off x="2633525" y="2643333"/>
              <a:ext cx="389850" cy="261610"/>
              <a:chOff x="2415477" y="1011145"/>
              <a:chExt cx="389850" cy="261610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2431807" y="1035586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76" name="TextBox 89"/>
              <p:cNvSpPr txBox="1"/>
              <p:nvPr/>
            </p:nvSpPr>
            <p:spPr>
              <a:xfrm>
                <a:off x="2415477" y="1011145"/>
                <a:ext cx="38985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 err="1">
                    <a:solidFill>
                      <a:prstClr val="black"/>
                    </a:solidFill>
                    <a:latin typeface="微软雅黑"/>
                    <a:ea typeface="微软雅黑"/>
                  </a:rPr>
                  <a:t>avi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2097014" y="1509705"/>
              <a:ext cx="471604" cy="261610"/>
              <a:chOff x="2243808" y="1662105"/>
              <a:chExt cx="471604" cy="261610"/>
            </a:xfrm>
          </p:grpSpPr>
          <p:sp>
            <p:nvSpPr>
              <p:cNvPr id="78" name="矩形 77"/>
              <p:cNvSpPr/>
              <p:nvPr/>
            </p:nvSpPr>
            <p:spPr>
              <a:xfrm>
                <a:off x="2301015" y="1679959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79" name="TextBox 43"/>
              <p:cNvSpPr txBox="1"/>
              <p:nvPr/>
            </p:nvSpPr>
            <p:spPr>
              <a:xfrm>
                <a:off x="2243808" y="1662105"/>
                <a:ext cx="47160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spc="-150" dirty="0">
                    <a:solidFill>
                      <a:prstClr val="black"/>
                    </a:solidFill>
                    <a:latin typeface="微软雅黑"/>
                    <a:ea typeface="微软雅黑"/>
                  </a:rPr>
                  <a:t>book</a:t>
                </a:r>
                <a:endParaRPr lang="zh-CN" altLang="en-US" sz="1100" b="1" spc="-150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2265915" y="860899"/>
              <a:ext cx="389850" cy="261610"/>
              <a:chOff x="2795574" y="2790314"/>
              <a:chExt cx="389850" cy="261610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2805097" y="2814755"/>
                <a:ext cx="357190" cy="212728"/>
              </a:xfrm>
              <a:prstGeom prst="rect">
                <a:avLst/>
              </a:prstGeom>
              <a:gradFill flip="none" rotWithShape="1">
                <a:gsLst>
                  <a:gs pos="0">
                    <a:srgbClr val="FF0000">
                      <a:shade val="30000"/>
                      <a:satMod val="115000"/>
                    </a:srgbClr>
                  </a:gs>
                  <a:gs pos="50000">
                    <a:srgbClr val="FF0000">
                      <a:shade val="67500"/>
                      <a:satMod val="115000"/>
                    </a:srgbClr>
                  </a:gs>
                  <a:gs pos="100000">
                    <a:srgbClr val="FF000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 dirty="0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sp>
            <p:nvSpPr>
              <p:cNvPr id="85" name="TextBox 100"/>
              <p:cNvSpPr txBox="1"/>
              <p:nvPr/>
            </p:nvSpPr>
            <p:spPr>
              <a:xfrm>
                <a:off x="2795574" y="2790314"/>
                <a:ext cx="38985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sz="1100" b="1" dirty="0" err="1">
                    <a:solidFill>
                      <a:prstClr val="black"/>
                    </a:solidFill>
                    <a:latin typeface="微软雅黑"/>
                    <a:ea typeface="微软雅黑"/>
                  </a:rPr>
                  <a:t>avi</a:t>
                </a:r>
                <a:endParaRPr lang="zh-CN" altLang="en-US" sz="1100" b="1" dirty="0">
                  <a:solidFill>
                    <a:prstClr val="black"/>
                  </a:solidFill>
                  <a:latin typeface="微软雅黑"/>
                  <a:ea typeface="微软雅黑"/>
                </a:endParaRPr>
              </a:p>
            </p:txBody>
          </p:sp>
        </p:grpSp>
        <p:cxnSp>
          <p:nvCxnSpPr>
            <p:cNvPr id="86" name="直接箭头连接符 85"/>
            <p:cNvCxnSpPr/>
            <p:nvPr/>
          </p:nvCxnSpPr>
          <p:spPr>
            <a:xfrm rot="5400000">
              <a:off x="1920888" y="980200"/>
              <a:ext cx="393871" cy="66426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/>
            <p:cNvCxnSpPr/>
            <p:nvPr/>
          </p:nvCxnSpPr>
          <p:spPr>
            <a:xfrm rot="16200000" flipH="1">
              <a:off x="2051218" y="2020531"/>
              <a:ext cx="849965" cy="332428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6"/>
            <p:cNvGrpSpPr/>
            <p:nvPr/>
          </p:nvGrpSpPr>
          <p:grpSpPr>
            <a:xfrm>
              <a:off x="2199078" y="1745780"/>
              <a:ext cx="643207" cy="1278408"/>
              <a:chOff x="2357158" y="1898180"/>
              <a:chExt cx="643207" cy="1278408"/>
            </a:xfrm>
          </p:grpSpPr>
          <p:cxnSp>
            <p:nvCxnSpPr>
              <p:cNvPr id="96" name="直接连接符 95"/>
              <p:cNvCxnSpPr/>
              <p:nvPr/>
            </p:nvCxnSpPr>
            <p:spPr>
              <a:xfrm rot="5400000">
                <a:off x="2926698" y="3112787"/>
                <a:ext cx="127602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 flipH="1">
                <a:off x="2357158" y="3168597"/>
                <a:ext cx="643207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箭头连接符 97"/>
              <p:cNvCxnSpPr/>
              <p:nvPr/>
            </p:nvCxnSpPr>
            <p:spPr>
              <a:xfrm rot="5400000" flipH="1" flipV="1">
                <a:off x="1744205" y="2529213"/>
                <a:ext cx="1262065" cy="0"/>
              </a:xfrm>
              <a:prstGeom prst="straightConnector1">
                <a:avLst/>
              </a:prstGeom>
              <a:ln w="381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2" name="标题 21">
            <a:extLst>
              <a:ext uri="{FF2B5EF4-FFF2-40B4-BE49-F238E27FC236}">
                <a16:creationId xmlns:a16="http://schemas.microsoft.com/office/drawing/2014/main" id="{8425261A-CDE3-A31A-E900-5DAC4671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文件目录中的循环</a:t>
            </a:r>
          </a:p>
        </p:txBody>
      </p:sp>
      <p:sp>
        <p:nvSpPr>
          <p:cNvPr id="24" name="灯片编号占位符 23">
            <a:extLst>
              <a:ext uri="{FF2B5EF4-FFF2-40B4-BE49-F238E27FC236}">
                <a16:creationId xmlns:a16="http://schemas.microsoft.com/office/drawing/2014/main" id="{A5167480-EB31-B0C4-FE0C-43A1CEAB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289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8CB3E7B-2DFB-360F-3963-78A5DB2CA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文件共享还需要访问类型和权限的支持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084D541-A442-69C7-EA5D-6DA7DC4F3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在具有共享机制文件系统中，要设置文件访问类型及文件权限，才可保证多个用户间的有效文件共享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</a:pPr>
            <a:r>
              <a:rPr lang="zh-CN" altLang="en-US" sz="2400" dirty="0"/>
              <a:t>文件访问类型：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读</a:t>
            </a:r>
            <a:r>
              <a:rPr lang="en-US" altLang="zh-CN" dirty="0"/>
              <a:t>read：</a:t>
            </a:r>
            <a:r>
              <a:rPr lang="zh-CN" altLang="en-US" dirty="0"/>
              <a:t>可读出文件内容；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写</a:t>
            </a:r>
            <a:r>
              <a:rPr lang="en-US" altLang="zh-CN" dirty="0"/>
              <a:t>write（</a:t>
            </a:r>
            <a:r>
              <a:rPr lang="zh-CN" altLang="en-US" dirty="0"/>
              <a:t>修改</a:t>
            </a:r>
            <a:r>
              <a:rPr lang="en-US" altLang="zh-CN" dirty="0"/>
              <a:t>update</a:t>
            </a:r>
            <a:r>
              <a:rPr lang="zh-CN" altLang="en-US" dirty="0"/>
              <a:t>或添加</a:t>
            </a:r>
            <a:r>
              <a:rPr lang="en-US" altLang="zh-CN" dirty="0"/>
              <a:t>append）：</a:t>
            </a:r>
            <a:r>
              <a:rPr lang="zh-CN" altLang="en-US" dirty="0"/>
              <a:t>可把数据写入文件；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执行</a:t>
            </a:r>
            <a:r>
              <a:rPr lang="en-US" altLang="zh-CN" dirty="0"/>
              <a:t>execute：</a:t>
            </a:r>
            <a:r>
              <a:rPr lang="zh-CN" altLang="en-US" dirty="0"/>
              <a:t>可由系统读出文件内容，作为代码执行；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删除</a:t>
            </a:r>
            <a:r>
              <a:rPr lang="en-US" altLang="zh-CN" dirty="0"/>
              <a:t>delete：</a:t>
            </a:r>
            <a:r>
              <a:rPr lang="zh-CN" altLang="en-US" dirty="0"/>
              <a:t>可删除文件；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修改访问权限</a:t>
            </a:r>
            <a:r>
              <a:rPr lang="en-US" altLang="zh-CN" dirty="0"/>
              <a:t>change protection：</a:t>
            </a:r>
            <a:r>
              <a:rPr lang="zh-CN" altLang="en-US" dirty="0"/>
              <a:t>修改文件属主或访问权限</a:t>
            </a:r>
          </a:p>
          <a:p>
            <a:endParaRPr lang="zh-CN" altLang="en-US" sz="2800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F4DC4D-48EF-3AE1-96FB-2775089AA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19</a:t>
            </a:fld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1" name="Group 5"/>
          <p:cNvGrpSpPr>
            <a:grpSpLocks/>
          </p:cNvGrpSpPr>
          <p:nvPr/>
        </p:nvGrpSpPr>
        <p:grpSpPr bwMode="auto">
          <a:xfrm>
            <a:off x="2718594" y="3919568"/>
            <a:ext cx="6400800" cy="2066577"/>
            <a:chOff x="864" y="2736"/>
            <a:chExt cx="4032" cy="1450"/>
          </a:xfrm>
        </p:grpSpPr>
        <p:sp>
          <p:nvSpPr>
            <p:cNvPr id="73732" name="Rectangle 6"/>
            <p:cNvSpPr>
              <a:spLocks noChangeArrowheads="1"/>
            </p:cNvSpPr>
            <p:nvPr/>
          </p:nvSpPr>
          <p:spPr bwMode="auto">
            <a:xfrm>
              <a:off x="864" y="2736"/>
              <a:ext cx="4032" cy="144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33" name="Line 7"/>
            <p:cNvSpPr>
              <a:spLocks noChangeShapeType="1"/>
            </p:cNvSpPr>
            <p:nvPr/>
          </p:nvSpPr>
          <p:spPr bwMode="auto">
            <a:xfrm>
              <a:off x="864" y="3072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34" name="Line 8"/>
            <p:cNvSpPr>
              <a:spLocks noChangeShapeType="1"/>
            </p:cNvSpPr>
            <p:nvPr/>
          </p:nvSpPr>
          <p:spPr bwMode="auto">
            <a:xfrm>
              <a:off x="864" y="3456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35" name="Line 9"/>
            <p:cNvSpPr>
              <a:spLocks noChangeShapeType="1"/>
            </p:cNvSpPr>
            <p:nvPr/>
          </p:nvSpPr>
          <p:spPr bwMode="auto">
            <a:xfrm>
              <a:off x="864" y="3888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36" name="Line 10"/>
            <p:cNvSpPr>
              <a:spLocks noChangeShapeType="1"/>
            </p:cNvSpPr>
            <p:nvPr/>
          </p:nvSpPr>
          <p:spPr bwMode="auto">
            <a:xfrm>
              <a:off x="1632" y="273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37" name="Line 11"/>
            <p:cNvSpPr>
              <a:spLocks noChangeShapeType="1"/>
            </p:cNvSpPr>
            <p:nvPr/>
          </p:nvSpPr>
          <p:spPr bwMode="auto">
            <a:xfrm>
              <a:off x="2352" y="273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38" name="Line 12"/>
            <p:cNvSpPr>
              <a:spLocks noChangeShapeType="1"/>
            </p:cNvSpPr>
            <p:nvPr/>
          </p:nvSpPr>
          <p:spPr bwMode="auto">
            <a:xfrm>
              <a:off x="3120" y="273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39" name="Line 13"/>
            <p:cNvSpPr>
              <a:spLocks noChangeShapeType="1"/>
            </p:cNvSpPr>
            <p:nvPr/>
          </p:nvSpPr>
          <p:spPr bwMode="auto">
            <a:xfrm>
              <a:off x="3936" y="2736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740" name="Text Box 14"/>
            <p:cNvSpPr txBox="1">
              <a:spLocks noChangeArrowheads="1"/>
            </p:cNvSpPr>
            <p:nvPr/>
          </p:nvSpPr>
          <p:spPr bwMode="auto">
            <a:xfrm>
              <a:off x="1680" y="278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wang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41" name="Text Box 15"/>
            <p:cNvSpPr txBox="1">
              <a:spLocks noChangeArrowheads="1"/>
            </p:cNvSpPr>
            <p:nvPr/>
          </p:nvSpPr>
          <p:spPr bwMode="auto">
            <a:xfrm>
              <a:off x="2400" y="278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liu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42" name="Text Box 16"/>
            <p:cNvSpPr txBox="1">
              <a:spLocks noChangeArrowheads="1"/>
            </p:cNvSpPr>
            <p:nvPr/>
          </p:nvSpPr>
          <p:spPr bwMode="auto">
            <a:xfrm>
              <a:off x="3168" y="278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zhang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43" name="Text Box 17"/>
            <p:cNvSpPr txBox="1">
              <a:spLocks noChangeArrowheads="1"/>
            </p:cNvSpPr>
            <p:nvPr/>
          </p:nvSpPr>
          <p:spPr bwMode="auto">
            <a:xfrm>
              <a:off x="4080" y="278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zhao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44" name="Text Box 18"/>
            <p:cNvSpPr txBox="1">
              <a:spLocks noChangeArrowheads="1"/>
            </p:cNvSpPr>
            <p:nvPr/>
          </p:nvSpPr>
          <p:spPr bwMode="auto">
            <a:xfrm>
              <a:off x="960" y="3168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a.c</a:t>
              </a:r>
            </a:p>
          </p:txBody>
        </p:sp>
        <p:sp>
          <p:nvSpPr>
            <p:cNvPr id="73745" name="Text Box 19"/>
            <p:cNvSpPr txBox="1">
              <a:spLocks noChangeArrowheads="1"/>
            </p:cNvSpPr>
            <p:nvPr/>
          </p:nvSpPr>
          <p:spPr bwMode="auto">
            <a:xfrm>
              <a:off x="960" y="3600"/>
              <a:ext cx="5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b.c</a:t>
              </a:r>
            </a:p>
          </p:txBody>
        </p:sp>
        <p:sp>
          <p:nvSpPr>
            <p:cNvPr id="73746" name="Text Box 20"/>
            <p:cNvSpPr txBox="1">
              <a:spLocks noChangeArrowheads="1"/>
            </p:cNvSpPr>
            <p:nvPr/>
          </p:nvSpPr>
          <p:spPr bwMode="auto">
            <a:xfrm>
              <a:off x="1008" y="3936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d.c</a:t>
              </a:r>
            </a:p>
          </p:txBody>
        </p:sp>
        <p:sp>
          <p:nvSpPr>
            <p:cNvPr id="73747" name="Text Box 21"/>
            <p:cNvSpPr txBox="1">
              <a:spLocks noChangeArrowheads="1"/>
            </p:cNvSpPr>
            <p:nvPr/>
          </p:nvSpPr>
          <p:spPr bwMode="auto">
            <a:xfrm>
              <a:off x="1680" y="316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RWE</a:t>
              </a:r>
            </a:p>
          </p:txBody>
        </p:sp>
        <p:sp>
          <p:nvSpPr>
            <p:cNvPr id="73748" name="Text Box 22"/>
            <p:cNvSpPr txBox="1">
              <a:spLocks noChangeArrowheads="1"/>
            </p:cNvSpPr>
            <p:nvPr/>
          </p:nvSpPr>
          <p:spPr bwMode="auto">
            <a:xfrm>
              <a:off x="2448" y="312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73749" name="Text Box 23"/>
            <p:cNvSpPr txBox="1">
              <a:spLocks noChangeArrowheads="1"/>
            </p:cNvSpPr>
            <p:nvPr/>
          </p:nvSpPr>
          <p:spPr bwMode="auto">
            <a:xfrm>
              <a:off x="3216" y="312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73750" name="Text Box 24"/>
            <p:cNvSpPr txBox="1">
              <a:spLocks noChangeArrowheads="1"/>
            </p:cNvSpPr>
            <p:nvPr/>
          </p:nvSpPr>
          <p:spPr bwMode="auto">
            <a:xfrm>
              <a:off x="4080" y="312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73751" name="Text Box 25"/>
            <p:cNvSpPr txBox="1">
              <a:spLocks noChangeArrowheads="1"/>
            </p:cNvSpPr>
            <p:nvPr/>
          </p:nvSpPr>
          <p:spPr bwMode="auto">
            <a:xfrm>
              <a:off x="1680" y="3552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73752" name="Text Box 26"/>
            <p:cNvSpPr txBox="1">
              <a:spLocks noChangeArrowheads="1"/>
            </p:cNvSpPr>
            <p:nvPr/>
          </p:nvSpPr>
          <p:spPr bwMode="auto">
            <a:xfrm>
              <a:off x="2400" y="3552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73753" name="Text Box 27"/>
            <p:cNvSpPr txBox="1">
              <a:spLocks noChangeArrowheads="1"/>
            </p:cNvSpPr>
            <p:nvPr/>
          </p:nvSpPr>
          <p:spPr bwMode="auto">
            <a:xfrm>
              <a:off x="3216" y="3552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73754" name="Text Box 28"/>
            <p:cNvSpPr txBox="1">
              <a:spLocks noChangeArrowheads="1"/>
            </p:cNvSpPr>
            <p:nvPr/>
          </p:nvSpPr>
          <p:spPr bwMode="auto">
            <a:xfrm>
              <a:off x="4080" y="3504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RWE</a:t>
              </a:r>
            </a:p>
          </p:txBody>
        </p:sp>
        <p:sp>
          <p:nvSpPr>
            <p:cNvPr id="73755" name="Text Box 29"/>
            <p:cNvSpPr txBox="1">
              <a:spLocks noChangeArrowheads="1"/>
            </p:cNvSpPr>
            <p:nvPr/>
          </p:nvSpPr>
          <p:spPr bwMode="auto">
            <a:xfrm>
              <a:off x="1680" y="384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73756" name="Text Box 30"/>
            <p:cNvSpPr txBox="1">
              <a:spLocks noChangeArrowheads="1"/>
            </p:cNvSpPr>
            <p:nvPr/>
          </p:nvSpPr>
          <p:spPr bwMode="auto">
            <a:xfrm>
              <a:off x="2448" y="388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73757" name="Text Box 31"/>
            <p:cNvSpPr txBox="1">
              <a:spLocks noChangeArrowheads="1"/>
            </p:cNvSpPr>
            <p:nvPr/>
          </p:nvSpPr>
          <p:spPr bwMode="auto">
            <a:xfrm>
              <a:off x="3216" y="388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73758" name="Text Box 32"/>
            <p:cNvSpPr txBox="1">
              <a:spLocks noChangeArrowheads="1"/>
            </p:cNvSpPr>
            <p:nvPr/>
          </p:nvSpPr>
          <p:spPr bwMode="auto">
            <a:xfrm>
              <a:off x="4080" y="3888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buClr>
                  <a:schemeClr val="tx1"/>
                </a:buClr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buClr>
                  <a:schemeClr val="accent1"/>
                </a:buClr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buClr>
                  <a:schemeClr val="folHlink"/>
                </a:buClr>
                <a:buSzPct val="70000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buClr>
                  <a:schemeClr val="tx1"/>
                </a:buClr>
                <a:buSzPct val="6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buClr>
                  <a:schemeClr val="hlink"/>
                </a:buClr>
                <a:buSzPct val="50000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73759" name="Text Box 33"/>
          <p:cNvSpPr txBox="1">
            <a:spLocks noChangeArrowheads="1"/>
          </p:cNvSpPr>
          <p:nvPr/>
        </p:nvSpPr>
        <p:spPr bwMode="auto">
          <a:xfrm>
            <a:off x="2495549" y="6136671"/>
            <a:ext cx="72009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有共享访问时查询该矩阵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42BB032-171A-A8D7-3EAC-97F45C16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文件共享还需要访问类型和权限的支持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AD9E2A3-116F-5051-976A-BBFBD5E5A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73210" cy="2730802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sz="2000" dirty="0"/>
              <a:t>管理用户类型范围：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000" dirty="0"/>
              <a:t>指定用户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000" dirty="0"/>
              <a:t>用户组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000" dirty="0"/>
              <a:t>任意用户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2000" dirty="0"/>
              <a:t>访问类型和用户范围建立有机组合：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z="2000" dirty="0"/>
              <a:t>建立访问矩阵：矩阵中一维是包含的目录和文件，另一维是用户，每个元素是允许的访问方式</a:t>
            </a:r>
          </a:p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F75119-3B29-FFF6-41D4-95411173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20</a:t>
            </a:fld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Line 6"/>
          <p:cNvSpPr>
            <a:spLocks noChangeShapeType="1"/>
          </p:cNvSpPr>
          <p:nvPr/>
        </p:nvSpPr>
        <p:spPr bwMode="auto">
          <a:xfrm>
            <a:off x="2135212" y="2491953"/>
            <a:ext cx="73453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853" name="Rectangle 7"/>
          <p:cNvSpPr>
            <a:spLocks noChangeArrowheads="1"/>
          </p:cNvSpPr>
          <p:nvPr/>
        </p:nvSpPr>
        <p:spPr bwMode="auto">
          <a:xfrm>
            <a:off x="2855934" y="1772816"/>
            <a:ext cx="719138" cy="6477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000">
                <a:latin typeface="Times New Roman" panose="02020603050405020304" pitchFamily="18" charset="0"/>
              </a:rPr>
              <a:t>用户进程</a:t>
            </a:r>
          </a:p>
        </p:txBody>
      </p:sp>
      <p:sp>
        <p:nvSpPr>
          <p:cNvPr id="78854" name="Rectangle 9"/>
          <p:cNvSpPr>
            <a:spLocks noChangeArrowheads="1"/>
          </p:cNvSpPr>
          <p:nvPr/>
        </p:nvSpPr>
        <p:spPr bwMode="auto">
          <a:xfrm>
            <a:off x="4295800" y="1772816"/>
            <a:ext cx="719137" cy="6477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000">
                <a:latin typeface="Times New Roman" panose="02020603050405020304" pitchFamily="18" charset="0"/>
              </a:rPr>
              <a:t>用户进程</a:t>
            </a:r>
          </a:p>
        </p:txBody>
      </p:sp>
      <p:sp>
        <p:nvSpPr>
          <p:cNvPr id="78855" name="Text Box 10"/>
          <p:cNvSpPr txBox="1">
            <a:spLocks noChangeArrowheads="1"/>
          </p:cNvSpPr>
          <p:nvPr/>
        </p:nvSpPr>
        <p:spPr bwMode="auto">
          <a:xfrm>
            <a:off x="5375297" y="1844253"/>
            <a:ext cx="23050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。。。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359271" y="3572842"/>
            <a:ext cx="1008112" cy="503684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MINIX FS</a:t>
            </a:r>
            <a:endParaRPr lang="zh-CN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4583407" y="3572842"/>
            <a:ext cx="1008112" cy="503684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EXT FS</a:t>
            </a:r>
            <a:endParaRPr lang="zh-CN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5735535" y="3572842"/>
            <a:ext cx="1008112" cy="503684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Apple HFS</a:t>
            </a:r>
            <a:endParaRPr lang="zh-CN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6959671" y="3572842"/>
            <a:ext cx="1008112" cy="503684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FAT FS</a:t>
            </a:r>
            <a:endParaRPr lang="zh-CN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51359" y="5156649"/>
            <a:ext cx="482453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如果文件系统各具特色，是不是每个应用程序都需要为不同的文件系统各自开发？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151359" y="5845254"/>
            <a:ext cx="482453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如果文件系统中的机制大同小异，是不是可以在多个系统间共享代码？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4151359" y="2636366"/>
            <a:ext cx="2952328" cy="28803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 err="1">
                <a:latin typeface="Times New Roman" panose="02020603050405020304" pitchFamily="18" charset="0"/>
              </a:rPr>
              <a:t>Filesystem</a:t>
            </a:r>
            <a:r>
              <a:rPr lang="en-US" altLang="zh-CN" sz="1200" dirty="0">
                <a:latin typeface="Times New Roman" panose="02020603050405020304" pitchFamily="18" charset="0"/>
              </a:rPr>
              <a:t> API</a:t>
            </a:r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151359" y="3129545"/>
            <a:ext cx="2952328" cy="28803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603050405020304" pitchFamily="18" charset="0"/>
              </a:rPr>
              <a:t>数据缓存</a:t>
            </a:r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4151359" y="4220542"/>
            <a:ext cx="2952328" cy="28803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603050405020304" pitchFamily="18" charset="0"/>
              </a:rPr>
              <a:t>设备缓存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4151359" y="4712732"/>
            <a:ext cx="2952328" cy="28803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latin typeface="Times New Roman" panose="02020603050405020304" pitchFamily="18" charset="0"/>
              </a:rPr>
              <a:t>设备驱动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A560AD5-819C-A485-F7AE-0D0C5B5E3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多种文件并存的时候</a:t>
            </a:r>
            <a:r>
              <a:rPr lang="en-US" altLang="zh-CN" dirty="0"/>
              <a:t>….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1BBD6A-77F0-A77F-C608-B715214D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399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A4E7670-E66D-4D3B-9301-5D9DD742A01C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3EEAABB-2590-0581-06CD-5955C8BF8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虚拟文件系统</a:t>
            </a:r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A4C80844-C8E8-FCB6-8552-6B724638A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73210" cy="2730802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400" dirty="0"/>
              <a:t>为解决多种文件系统识别问题，提出了虚拟文件系统：</a:t>
            </a:r>
            <a:endParaRPr lang="en-US" altLang="zh-CN" sz="2400" dirty="0"/>
          </a:p>
          <a:p>
            <a:pPr lvl="1" eaLnBrk="1" hangingPunct="1"/>
            <a:r>
              <a:rPr lang="zh-CN" altLang="en-US" sz="2000" dirty="0"/>
              <a:t> 在内存建立一个解释文件系统的抽象软件</a:t>
            </a:r>
            <a:r>
              <a:rPr lang="en-US" altLang="zh-CN" sz="2000" dirty="0"/>
              <a:t>VFS</a:t>
            </a:r>
          </a:p>
          <a:p>
            <a:pPr lvl="1" eaLnBrk="1" hangingPunct="1"/>
            <a:r>
              <a:rPr lang="en-US" altLang="zh-CN" sz="2000" dirty="0"/>
              <a:t> </a:t>
            </a:r>
            <a:r>
              <a:rPr lang="zh-CN" altLang="en-US" sz="2000" dirty="0"/>
              <a:t>用</a:t>
            </a:r>
            <a:r>
              <a:rPr lang="en-US" altLang="zh-CN" sz="2000" dirty="0"/>
              <a:t>VFS</a:t>
            </a:r>
            <a:r>
              <a:rPr lang="zh-CN" altLang="en-US" sz="2000" dirty="0"/>
              <a:t>建立物理设备与文件系统服务的接口</a:t>
            </a:r>
          </a:p>
          <a:p>
            <a:pPr lvl="1" eaLnBrk="1" hangingPunct="1"/>
            <a:r>
              <a:rPr lang="zh-CN" altLang="en-US" sz="2000" dirty="0"/>
              <a:t> </a:t>
            </a:r>
            <a:r>
              <a:rPr lang="en-US" altLang="zh-CN" sz="2000" dirty="0"/>
              <a:t>VFS</a:t>
            </a:r>
            <a:r>
              <a:rPr lang="zh-CN" altLang="en-US" sz="2000" dirty="0"/>
              <a:t>对每个文件系统细节进行抽象，使不同的文件系统在系统内部被管理进程看成相似的文件系统</a:t>
            </a:r>
          </a:p>
          <a:p>
            <a:pPr lvl="1" eaLnBrk="1" hangingPunct="1"/>
            <a:r>
              <a:rPr lang="zh-CN" altLang="en-US" sz="2000" dirty="0"/>
              <a:t> 系统启动时建立，系统关闭时消失 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FA3A5E0-8770-975E-E754-0E350501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22</a:t>
            </a:fld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49792B05-CDF6-425D-A965-65D5819E595A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3A03E29-A959-ACCB-83C0-5E8CDB8F7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VFS</a:t>
            </a:r>
            <a:r>
              <a:rPr lang="zh-CN" altLang="en-US" dirty="0"/>
              <a:t>主要完成功能</a:t>
            </a:r>
            <a:r>
              <a:rPr lang="en-US" altLang="zh-CN" dirty="0"/>
              <a:t>:</a:t>
            </a:r>
          </a:p>
          <a:p>
            <a:pPr lvl="1"/>
            <a:r>
              <a:rPr lang="zh-CN" altLang="en-US" dirty="0"/>
              <a:t>记录可用文件系统类型</a:t>
            </a:r>
          </a:p>
          <a:p>
            <a:pPr lvl="1"/>
            <a:r>
              <a:rPr lang="zh-CN" altLang="en-US" dirty="0"/>
              <a:t>建立设备与文件系统的关联</a:t>
            </a:r>
          </a:p>
          <a:p>
            <a:pPr lvl="1"/>
            <a:r>
              <a:rPr lang="zh-CN" altLang="en-US" dirty="0"/>
              <a:t>实现面向文件级的通用性操作</a:t>
            </a:r>
          </a:p>
          <a:p>
            <a:pPr lvl="1"/>
            <a:r>
              <a:rPr lang="zh-CN" altLang="en-US" dirty="0"/>
              <a:t>将对特定文件系统的操作影射到物理文件系统中</a:t>
            </a:r>
          </a:p>
          <a:p>
            <a:endParaRPr lang="zh-CN" altLang="en-US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EE49230A-CE2B-C558-CD42-1DE14683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</p:spPr>
        <p:txBody>
          <a:bodyPr>
            <a:normAutofit/>
          </a:bodyPr>
          <a:lstStyle/>
          <a:p>
            <a:r>
              <a:rPr lang="zh-CN" altLang="en-US" dirty="0"/>
              <a:t>虚拟文件系统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143F59-2CD9-EE15-29B4-4E974359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23</a:t>
            </a:fld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Object 4"/>
          <p:cNvGraphicFramePr>
            <a:graphicFrameLocks noChangeAspect="1"/>
          </p:cNvGraphicFramePr>
          <p:nvPr/>
        </p:nvGraphicFramePr>
        <p:xfrm>
          <a:off x="2135188" y="2420938"/>
          <a:ext cx="7777162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r:id="rId3" imgW="5524500" imgH="3370580" progId="">
                  <p:embed/>
                </p:oleObj>
              </mc:Choice>
              <mc:Fallback>
                <p:oleObj r:id="rId3" imgW="5524500" imgH="337058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420938"/>
                        <a:ext cx="7777162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2" name="Line 6"/>
          <p:cNvSpPr>
            <a:spLocks noChangeShapeType="1"/>
          </p:cNvSpPr>
          <p:nvPr/>
        </p:nvSpPr>
        <p:spPr bwMode="auto">
          <a:xfrm>
            <a:off x="2279653" y="2276475"/>
            <a:ext cx="73453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853" name="Rectangle 7"/>
          <p:cNvSpPr>
            <a:spLocks noChangeArrowheads="1"/>
          </p:cNvSpPr>
          <p:nvPr/>
        </p:nvSpPr>
        <p:spPr bwMode="auto">
          <a:xfrm>
            <a:off x="3000375" y="1557338"/>
            <a:ext cx="719138" cy="6477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000">
                <a:latin typeface="Times New Roman" panose="02020603050405020304" pitchFamily="18" charset="0"/>
              </a:rPr>
              <a:t>用户进程</a:t>
            </a:r>
          </a:p>
        </p:txBody>
      </p:sp>
      <p:sp>
        <p:nvSpPr>
          <p:cNvPr id="78854" name="Rectangle 9"/>
          <p:cNvSpPr>
            <a:spLocks noChangeArrowheads="1"/>
          </p:cNvSpPr>
          <p:nvPr/>
        </p:nvSpPr>
        <p:spPr bwMode="auto">
          <a:xfrm>
            <a:off x="4440241" y="1557338"/>
            <a:ext cx="719137" cy="6477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000">
                <a:latin typeface="Times New Roman" panose="02020603050405020304" pitchFamily="18" charset="0"/>
              </a:rPr>
              <a:t>用户进程</a:t>
            </a:r>
          </a:p>
        </p:txBody>
      </p:sp>
      <p:sp>
        <p:nvSpPr>
          <p:cNvPr id="78855" name="Text Box 10"/>
          <p:cNvSpPr txBox="1">
            <a:spLocks noChangeArrowheads="1"/>
          </p:cNvSpPr>
          <p:nvPr/>
        </p:nvSpPr>
        <p:spPr bwMode="auto">
          <a:xfrm>
            <a:off x="5519738" y="1628775"/>
            <a:ext cx="23050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。。。</a:t>
            </a:r>
          </a:p>
        </p:txBody>
      </p:sp>
      <p:sp>
        <p:nvSpPr>
          <p:cNvPr id="78856" name="Line 11"/>
          <p:cNvSpPr>
            <a:spLocks noChangeShapeType="1"/>
          </p:cNvSpPr>
          <p:nvPr/>
        </p:nvSpPr>
        <p:spPr bwMode="auto">
          <a:xfrm>
            <a:off x="3792538" y="2565403"/>
            <a:ext cx="1223962" cy="1428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857" name="Text Box 12"/>
          <p:cNvSpPr txBox="1">
            <a:spLocks noChangeArrowheads="1"/>
          </p:cNvSpPr>
          <p:nvPr/>
        </p:nvSpPr>
        <p:spPr bwMode="auto">
          <a:xfrm>
            <a:off x="3143250" y="2492378"/>
            <a:ext cx="93503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Times New Roman" panose="02020603050405020304" pitchFamily="18" charset="0"/>
              </a:rPr>
              <a:t>POSIX</a:t>
            </a:r>
          </a:p>
        </p:txBody>
      </p:sp>
      <p:sp>
        <p:nvSpPr>
          <p:cNvPr id="78858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F44079DE-5148-43F4-B969-2C626D5E20D0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1476E51-B451-3E86-74E4-570D91DD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VFS</a:t>
            </a:r>
            <a:r>
              <a:rPr lang="zh-CN" altLang="en-US" dirty="0"/>
              <a:t>与实际文件系统的逻辑关系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86B10-CA8D-CE6E-7348-9CB71FBB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24</a:t>
            </a:fld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8" name="灯片编号占位符 1"/>
          <p:cNvSpPr txBox="1">
            <a:spLocks noGrp="1"/>
          </p:cNvSpPr>
          <p:nvPr/>
        </p:nvSpPr>
        <p:spPr bwMode="auto">
          <a:xfrm>
            <a:off x="8543925" y="6164263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chemeClr val="tx1"/>
              </a:buClr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buClr>
                <a:schemeClr val="accent1"/>
              </a:buClr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buClr>
                <a:schemeClr val="folHlink"/>
              </a:buClr>
              <a:buSzPct val="70000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buClr>
                <a:schemeClr val="tx1"/>
              </a:buClr>
              <a:buSzPct val="6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buClr>
                <a:schemeClr val="hlink"/>
              </a:buClr>
              <a:buSzPct val="50000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F44079DE-5148-43F4-B969-2C626D5E20D0}" type="slidenum">
              <a:rPr lang="en-US" altLang="zh-CN" sz="12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1476E51-B451-3E86-74E4-570D91DD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openEuler</a:t>
            </a:r>
            <a:r>
              <a:rPr lang="zh-CN" altLang="en-US" dirty="0"/>
              <a:t>中的</a:t>
            </a:r>
            <a:r>
              <a:rPr lang="en-US" altLang="zh-CN" dirty="0"/>
              <a:t>VFS</a:t>
            </a:r>
            <a:r>
              <a:rPr lang="zh-CN" altLang="en-US" dirty="0"/>
              <a:t>和文件系统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86B10-CA8D-CE6E-7348-9CB71FBB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25</a:t>
            </a:fld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C0A48AE-288A-4950-9C98-F7BAE72BE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584" y="1697809"/>
            <a:ext cx="5517232" cy="468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73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695400" y="1627990"/>
            <a:ext cx="3941421" cy="696462"/>
            <a:chOff x="844893" y="1019164"/>
            <a:chExt cx="3941421" cy="696462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19164"/>
              <a:ext cx="857256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目的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1916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33" name="图片 3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46208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4" name="内容占位符 2"/>
            <p:cNvSpPr txBox="1">
              <a:spLocks/>
            </p:cNvSpPr>
            <p:nvPr/>
          </p:nvSpPr>
          <p:spPr>
            <a:xfrm>
              <a:off x="1394985" y="1357304"/>
              <a:ext cx="339132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对所有不同文件系统的抽象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95400" y="2280458"/>
            <a:ext cx="4370049" cy="702130"/>
            <a:chOff x="844893" y="1671632"/>
            <a:chExt cx="4370049" cy="702130"/>
          </a:xfrm>
        </p:grpSpPr>
        <p:sp>
          <p:nvSpPr>
            <p:cNvPr id="37" name="内容占位符 2"/>
            <p:cNvSpPr txBox="1">
              <a:spLocks/>
            </p:cNvSpPr>
            <p:nvPr/>
          </p:nvSpPr>
          <p:spPr>
            <a:xfrm>
              <a:off x="1142976" y="1671632"/>
              <a:ext cx="78581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功能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44893" y="1671632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43" name="图片 4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11341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4" name="内容占位符 2"/>
            <p:cNvSpPr txBox="1">
              <a:spLocks/>
            </p:cNvSpPr>
            <p:nvPr/>
          </p:nvSpPr>
          <p:spPr>
            <a:xfrm>
              <a:off x="1394985" y="2008640"/>
              <a:ext cx="3819957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提供相同的文件和文件系统</a:t>
              </a:r>
              <a:r>
                <a:rPr lang="zh-CN" altLang="en-US" dirty="0">
                  <a:solidFill>
                    <a:srgbClr val="C00000"/>
                  </a:solidFill>
                </a:rPr>
                <a:t>接口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112925" y="2905036"/>
            <a:ext cx="5095528" cy="365122"/>
            <a:chOff x="1262422" y="2296210"/>
            <a:chExt cx="5095528" cy="365122"/>
          </a:xfrm>
        </p:grpSpPr>
        <p:pic>
          <p:nvPicPr>
            <p:cNvPr id="49" name="图片 4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40098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2" name="内容占位符 2"/>
            <p:cNvSpPr txBox="1">
              <a:spLocks/>
            </p:cNvSpPr>
            <p:nvPr/>
          </p:nvSpPr>
          <p:spPr>
            <a:xfrm>
              <a:off x="1394985" y="2296210"/>
              <a:ext cx="4962965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管理所有文件和文件系统关联的</a:t>
              </a:r>
              <a:r>
                <a:rPr lang="zh-CN" altLang="en-US" dirty="0">
                  <a:solidFill>
                    <a:srgbClr val="C00000"/>
                  </a:solidFill>
                </a:rPr>
                <a:t>数据结构</a:t>
              </a:r>
              <a:endParaRPr lang="en-US" altLang="zh-CN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12925" y="3236144"/>
            <a:ext cx="3595330" cy="365122"/>
            <a:chOff x="1262422" y="2627318"/>
            <a:chExt cx="3595330" cy="365122"/>
          </a:xfrm>
        </p:grpSpPr>
        <p:pic>
          <p:nvPicPr>
            <p:cNvPr id="29" name="图片 2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73209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394985" y="2627318"/>
              <a:ext cx="3462767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高效查询</a:t>
              </a:r>
              <a:r>
                <a:rPr lang="zh-CN" altLang="en-US" dirty="0">
                  <a:solidFill>
                    <a:srgbClr val="C00000"/>
                  </a:solidFill>
                </a:rPr>
                <a:t>例程</a:t>
              </a:r>
              <a:r>
                <a:rPr lang="en-US" altLang="zh-CN" dirty="0"/>
                <a:t>, </a:t>
              </a:r>
              <a:r>
                <a:rPr lang="zh-CN" altLang="en-US" dirty="0"/>
                <a:t>遍历文件系统</a:t>
              </a:r>
              <a:endParaRPr lang="en-US" altLang="zh-CN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12925" y="3567934"/>
            <a:ext cx="3738206" cy="365122"/>
            <a:chOff x="1262422" y="2959108"/>
            <a:chExt cx="3738206" cy="365122"/>
          </a:xfrm>
        </p:grpSpPr>
        <p:pic>
          <p:nvPicPr>
            <p:cNvPr id="32" name="图片 31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06388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9" name="内容占位符 2"/>
            <p:cNvSpPr txBox="1">
              <a:spLocks/>
            </p:cNvSpPr>
            <p:nvPr/>
          </p:nvSpPr>
          <p:spPr>
            <a:xfrm>
              <a:off x="1394985" y="2959108"/>
              <a:ext cx="3605643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与特定文件系统模块的</a:t>
              </a:r>
              <a:r>
                <a:rPr lang="zh-CN" altLang="en-US" dirty="0">
                  <a:solidFill>
                    <a:srgbClr val="C00000"/>
                  </a:solidFill>
                </a:rPr>
                <a:t>交互</a:t>
              </a:r>
              <a:endParaRPr lang="en-US" altLang="zh-CN" dirty="0">
                <a:solidFill>
                  <a:srgbClr val="C00000"/>
                </a:solidFill>
              </a:endParaRPr>
            </a:p>
          </p:txBody>
        </p:sp>
      </p:grpSp>
      <p:sp>
        <p:nvSpPr>
          <p:cNvPr id="11" name="标题 10">
            <a:extLst>
              <a:ext uri="{FF2B5EF4-FFF2-40B4-BE49-F238E27FC236}">
                <a16:creationId xmlns:a16="http://schemas.microsoft.com/office/drawing/2014/main" id="{24E06A85-0F8A-A3F0-7B33-CB3CFC1C4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虚拟文件系统 </a:t>
            </a:r>
            <a:r>
              <a:rPr lang="en-US" altLang="zh-CN" dirty="0"/>
              <a:t>(VFS)</a:t>
            </a:r>
            <a:endParaRPr lang="zh-CN" alt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549E3F45-D974-38A8-AEA1-8BE5CB423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399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695400" y="1514094"/>
            <a:ext cx="5012991" cy="428628"/>
            <a:chOff x="844893" y="843558"/>
            <a:chExt cx="5012991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843558"/>
              <a:ext cx="471490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文件卷控制块</a:t>
              </a:r>
              <a:r>
                <a:rPr lang="en-US" altLang="zh-CN" dirty="0"/>
                <a:t> (Unix: “</a:t>
              </a:r>
              <a:r>
                <a:rPr lang="en-US" altLang="zh-CN" dirty="0">
                  <a:solidFill>
                    <a:srgbClr val="C00000"/>
                  </a:solidFill>
                </a:rPr>
                <a:t>superblock</a:t>
              </a:r>
              <a:r>
                <a:rPr lang="en-US" altLang="zh-CN" dirty="0"/>
                <a:t>”)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84355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12925" y="1852234"/>
            <a:ext cx="4309710" cy="928694"/>
            <a:chOff x="1262422" y="1181698"/>
            <a:chExt cx="4309710" cy="928694"/>
          </a:xfrm>
        </p:grpSpPr>
        <p:pic>
          <p:nvPicPr>
            <p:cNvPr id="33" name="图片 32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28647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4" name="内容占位符 2"/>
            <p:cNvSpPr txBox="1">
              <a:spLocks/>
            </p:cNvSpPr>
            <p:nvPr/>
          </p:nvSpPr>
          <p:spPr>
            <a:xfrm>
              <a:off x="1394985" y="1181698"/>
              <a:ext cx="231975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每个文件系统一个</a:t>
              </a:r>
            </a:p>
          </p:txBody>
        </p:sp>
        <p:pic>
          <p:nvPicPr>
            <p:cNvPr id="18" name="图片 17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59762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19" name="内容占位符 2"/>
            <p:cNvSpPr txBox="1">
              <a:spLocks/>
            </p:cNvSpPr>
            <p:nvPr/>
          </p:nvSpPr>
          <p:spPr>
            <a:xfrm>
              <a:off x="1394985" y="1492850"/>
              <a:ext cx="231975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文件系统详细信息</a:t>
              </a:r>
            </a:p>
          </p:txBody>
        </p:sp>
        <p:pic>
          <p:nvPicPr>
            <p:cNvPr id="20" name="图片 19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1904016"/>
              <a:ext cx="155718" cy="153585"/>
            </a:xfrm>
            <a:prstGeom prst="rect">
              <a:avLst/>
            </a:prstGeom>
            <a:effectLst/>
          </p:spPr>
        </p:pic>
        <p:sp>
          <p:nvSpPr>
            <p:cNvPr id="21" name="内容占位符 2"/>
            <p:cNvSpPr txBox="1">
              <a:spLocks/>
            </p:cNvSpPr>
            <p:nvPr/>
          </p:nvSpPr>
          <p:spPr>
            <a:xfrm>
              <a:off x="1394985" y="1799240"/>
              <a:ext cx="4177147" cy="31115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块、块大小、空余块、计数</a:t>
              </a:r>
              <a:r>
                <a:rPr lang="en-US" altLang="zh-CN" dirty="0"/>
                <a:t>/</a:t>
              </a:r>
              <a:r>
                <a:rPr lang="zh-CN" altLang="en-US" dirty="0"/>
                <a:t>指针等</a:t>
              </a: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A1F5C5B1-6482-F501-E3DB-8A6AC636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文件系统基本数据结构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9AB490-C489-2022-7FA0-12F35D2A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777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689080" y="1578442"/>
            <a:ext cx="5012991" cy="428628"/>
            <a:chOff x="844893" y="843558"/>
            <a:chExt cx="5012991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843558"/>
              <a:ext cx="471490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文件卷控制块</a:t>
              </a:r>
              <a:r>
                <a:rPr lang="en-US" altLang="zh-CN" dirty="0"/>
                <a:t> (Unix: “</a:t>
              </a:r>
              <a:r>
                <a:rPr lang="en-US" altLang="zh-CN" dirty="0">
                  <a:solidFill>
                    <a:srgbClr val="C00000"/>
                  </a:solidFill>
                </a:rPr>
                <a:t>superblock</a:t>
              </a:r>
              <a:r>
                <a:rPr lang="en-US" altLang="zh-CN" dirty="0"/>
                <a:t>”)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84355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89080" y="1978552"/>
            <a:ext cx="5727371" cy="428628"/>
            <a:chOff x="844893" y="2108804"/>
            <a:chExt cx="5727371" cy="428628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2108804"/>
              <a:ext cx="542928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文件控制块</a:t>
              </a:r>
              <a:r>
                <a:rPr lang="en-US" altLang="zh-CN" dirty="0"/>
                <a:t>(Unix: “</a:t>
              </a:r>
              <a:r>
                <a:rPr lang="en-US" altLang="zh-CN" dirty="0" err="1"/>
                <a:t>vnode</a:t>
              </a:r>
              <a:r>
                <a:rPr lang="en-US" altLang="zh-CN" dirty="0"/>
                <a:t>” or “</a:t>
              </a:r>
              <a:r>
                <a:rPr lang="en-US" altLang="zh-CN" dirty="0" err="1">
                  <a:solidFill>
                    <a:srgbClr val="C00000"/>
                  </a:solidFill>
                </a:rPr>
                <a:t>inode</a:t>
              </a:r>
              <a:r>
                <a:rPr lang="en-US" altLang="zh-CN" dirty="0"/>
                <a:t>”)</a:t>
              </a:r>
            </a:p>
          </p:txBody>
        </p:sp>
        <p:sp>
          <p:nvSpPr>
            <p:cNvPr id="16" name="TextBox 22"/>
            <p:cNvSpPr txBox="1"/>
            <p:nvPr/>
          </p:nvSpPr>
          <p:spPr>
            <a:xfrm>
              <a:off x="844893" y="210880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6605" y="2316692"/>
            <a:ext cx="5037770" cy="928694"/>
            <a:chOff x="1262422" y="2446944"/>
            <a:chExt cx="5037770" cy="928694"/>
          </a:xfrm>
        </p:grpSpPr>
        <p:pic>
          <p:nvPicPr>
            <p:cNvPr id="22" name="图片 21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551720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3" name="内容占位符 2"/>
            <p:cNvSpPr txBox="1">
              <a:spLocks/>
            </p:cNvSpPr>
            <p:nvPr/>
          </p:nvSpPr>
          <p:spPr>
            <a:xfrm>
              <a:off x="1394985" y="2446944"/>
              <a:ext cx="231975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每个文件一个</a:t>
              </a:r>
            </a:p>
          </p:txBody>
        </p:sp>
        <p:pic>
          <p:nvPicPr>
            <p:cNvPr id="24" name="图片 23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286287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394985" y="2758096"/>
              <a:ext cx="2319759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文件详细信息</a:t>
              </a:r>
            </a:p>
          </p:txBody>
        </p:sp>
        <p:pic>
          <p:nvPicPr>
            <p:cNvPr id="27" name="图片 26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169262"/>
              <a:ext cx="155718" cy="153585"/>
            </a:xfrm>
            <a:prstGeom prst="rect">
              <a:avLst/>
            </a:prstGeom>
            <a:effectLst/>
          </p:spPr>
        </p:pic>
        <p:sp>
          <p:nvSpPr>
            <p:cNvPr id="28" name="内容占位符 2"/>
            <p:cNvSpPr txBox="1">
              <a:spLocks/>
            </p:cNvSpPr>
            <p:nvPr/>
          </p:nvSpPr>
          <p:spPr>
            <a:xfrm>
              <a:off x="1394985" y="3064486"/>
              <a:ext cx="4905207" cy="31115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访问权限、拥有者、大小、数据块位置等</a:t>
              </a: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66E3A4FB-0EC7-B855-C11B-8120CD79E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文件系统基本数据结构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0E3DEA-76C6-D136-307E-FFBEE8FE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885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 rot="16200000" flipH="1">
            <a:off x="-7536741" y="3340893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693912" y="1560510"/>
            <a:ext cx="5012991" cy="428628"/>
            <a:chOff x="844893" y="843558"/>
            <a:chExt cx="5012991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843558"/>
              <a:ext cx="471490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文件卷控制块</a:t>
              </a:r>
              <a:r>
                <a:rPr lang="en-US" altLang="zh-CN" dirty="0"/>
                <a:t> (Unix: “</a:t>
              </a:r>
              <a:r>
                <a:rPr lang="en-US" altLang="zh-CN" dirty="0">
                  <a:solidFill>
                    <a:srgbClr val="C00000"/>
                  </a:solidFill>
                </a:rPr>
                <a:t>superblock</a:t>
              </a:r>
              <a:r>
                <a:rPr lang="en-US" altLang="zh-CN" dirty="0"/>
                <a:t>”)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84355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93912" y="1960620"/>
            <a:ext cx="5727371" cy="428628"/>
            <a:chOff x="844893" y="2108804"/>
            <a:chExt cx="5727371" cy="428628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2108804"/>
              <a:ext cx="5429288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文件控制块</a:t>
              </a:r>
              <a:r>
                <a:rPr lang="en-US" altLang="zh-CN" dirty="0"/>
                <a:t>(Unix: “</a:t>
              </a:r>
              <a:r>
                <a:rPr lang="en-US" altLang="zh-CN" dirty="0" err="1"/>
                <a:t>vnode</a:t>
              </a:r>
              <a:r>
                <a:rPr lang="en-US" altLang="zh-CN" dirty="0"/>
                <a:t>” or “</a:t>
              </a:r>
              <a:r>
                <a:rPr lang="en-US" altLang="zh-CN" dirty="0" err="1">
                  <a:solidFill>
                    <a:srgbClr val="C00000"/>
                  </a:solidFill>
                </a:rPr>
                <a:t>inode</a:t>
              </a:r>
              <a:r>
                <a:rPr lang="en-US" altLang="zh-CN" dirty="0"/>
                <a:t>”)</a:t>
              </a:r>
            </a:p>
          </p:txBody>
        </p:sp>
        <p:sp>
          <p:nvSpPr>
            <p:cNvPr id="16" name="TextBox 22"/>
            <p:cNvSpPr txBox="1"/>
            <p:nvPr/>
          </p:nvSpPr>
          <p:spPr>
            <a:xfrm>
              <a:off x="844893" y="210880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93912" y="2384985"/>
            <a:ext cx="4084297" cy="428628"/>
            <a:chOff x="844893" y="3369288"/>
            <a:chExt cx="4084297" cy="428628"/>
          </a:xfrm>
        </p:grpSpPr>
        <p:sp>
          <p:nvSpPr>
            <p:cNvPr id="30" name="内容占位符 2"/>
            <p:cNvSpPr txBox="1">
              <a:spLocks/>
            </p:cNvSpPr>
            <p:nvPr/>
          </p:nvSpPr>
          <p:spPr>
            <a:xfrm>
              <a:off x="1142976" y="3369288"/>
              <a:ext cx="378621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目录项</a:t>
              </a:r>
              <a:r>
                <a:rPr lang="en-US" altLang="zh-CN" dirty="0"/>
                <a:t> (Linux: “</a:t>
              </a:r>
              <a:r>
                <a:rPr lang="en-US" altLang="zh-CN" dirty="0" err="1"/>
                <a:t>dentry</a:t>
              </a:r>
              <a:r>
                <a:rPr lang="en-US" altLang="zh-CN" dirty="0"/>
                <a:t>”)</a:t>
              </a:r>
            </a:p>
          </p:txBody>
        </p:sp>
        <p:sp>
          <p:nvSpPr>
            <p:cNvPr id="31" name="TextBox 39"/>
            <p:cNvSpPr txBox="1"/>
            <p:nvPr/>
          </p:nvSpPr>
          <p:spPr>
            <a:xfrm>
              <a:off x="844893" y="336928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111437" y="2723125"/>
            <a:ext cx="6167098" cy="928694"/>
            <a:chOff x="1262422" y="3707428"/>
            <a:chExt cx="6167098" cy="928694"/>
          </a:xfrm>
        </p:grpSpPr>
        <p:pic>
          <p:nvPicPr>
            <p:cNvPr id="35" name="图片 34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381220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6" name="内容占位符 2"/>
            <p:cNvSpPr txBox="1">
              <a:spLocks/>
            </p:cNvSpPr>
            <p:nvPr/>
          </p:nvSpPr>
          <p:spPr>
            <a:xfrm>
              <a:off x="1394985" y="3707428"/>
              <a:ext cx="3605643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每个目录项一个</a:t>
              </a:r>
              <a:r>
                <a:rPr lang="en-US" altLang="zh-CN" dirty="0"/>
                <a:t>(</a:t>
              </a:r>
              <a:r>
                <a:rPr lang="zh-CN" altLang="en-US" dirty="0"/>
                <a:t>目录和文件</a:t>
              </a:r>
              <a:r>
                <a:rPr lang="en-US" altLang="zh-CN" dirty="0"/>
                <a:t>)</a:t>
              </a:r>
              <a:endParaRPr lang="zh-CN" altLang="en-US" dirty="0"/>
            </a:p>
          </p:txBody>
        </p:sp>
        <p:pic>
          <p:nvPicPr>
            <p:cNvPr id="37" name="图片 36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412335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8" name="内容占位符 2"/>
            <p:cNvSpPr txBox="1">
              <a:spLocks/>
            </p:cNvSpPr>
            <p:nvPr/>
          </p:nvSpPr>
          <p:spPr>
            <a:xfrm>
              <a:off x="1394985" y="4018580"/>
              <a:ext cx="603453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将目录项数据结构及树型布局编码成树型数据结构</a:t>
              </a:r>
            </a:p>
          </p:txBody>
        </p:sp>
        <p:pic>
          <p:nvPicPr>
            <p:cNvPr id="39" name="图片 38" descr="小点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22" y="4429746"/>
              <a:ext cx="155718" cy="153585"/>
            </a:xfrm>
            <a:prstGeom prst="rect">
              <a:avLst/>
            </a:prstGeom>
            <a:effectLst/>
          </p:spPr>
        </p:pic>
        <p:sp>
          <p:nvSpPr>
            <p:cNvPr id="40" name="内容占位符 2"/>
            <p:cNvSpPr txBox="1">
              <a:spLocks/>
            </p:cNvSpPr>
            <p:nvPr/>
          </p:nvSpPr>
          <p:spPr>
            <a:xfrm>
              <a:off x="1394985" y="4324970"/>
              <a:ext cx="4605775" cy="31115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指向文件控制块、父目录、子目录等</a:t>
              </a: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7DAE252A-498B-9658-C02A-7AC31D438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文件系统基本数据结构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5F8FB6-18E4-5BB4-8C1B-70B10C80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606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2517627" y="3057041"/>
            <a:ext cx="2288181" cy="400110"/>
            <a:chOff x="363579" y="2199791"/>
            <a:chExt cx="2288181" cy="400110"/>
          </a:xfrm>
        </p:grpSpPr>
        <p:sp>
          <p:nvSpPr>
            <p:cNvPr id="45" name="TextBox 8"/>
            <p:cNvSpPr txBox="1">
              <a:spLocks noChangeArrowheads="1"/>
            </p:cNvSpPr>
            <p:nvPr/>
          </p:nvSpPr>
          <p:spPr bwMode="auto">
            <a:xfrm>
              <a:off x="363579" y="2199791"/>
              <a:ext cx="946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1pPr>
              <a:lvl2pPr>
                <a:defRPr sz="2000">
                  <a:solidFill>
                    <a:schemeClr val="folHlink"/>
                  </a:solidFill>
                  <a:latin typeface="Times New Roman" charset="0"/>
                  <a:ea typeface="MS PGothic" charset="0"/>
                  <a:cs typeface="MS PGothic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3pPr>
              <a:lvl4pPr>
                <a:defRPr sz="16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4pPr>
              <a:lvl5pPr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Monotype Sorts" charset="0"/>
                <a:buChar char="–"/>
                <a:defRPr sz="1400">
                  <a:solidFill>
                    <a:schemeClr val="tx1"/>
                  </a:solidFill>
                  <a:latin typeface="Times New Roman" charset="0"/>
                  <a:ea typeface="MS PGothic" charset="0"/>
                  <a:cs typeface="MS PGothic" charset="0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挂载点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94" name="直接箭头连接符 93"/>
            <p:cNvCxnSpPr/>
            <p:nvPr/>
          </p:nvCxnSpPr>
          <p:spPr>
            <a:xfrm flipV="1">
              <a:off x="1285852" y="2430780"/>
              <a:ext cx="1365908" cy="0"/>
            </a:xfrm>
            <a:prstGeom prst="straightConnector1">
              <a:avLst/>
            </a:prstGeom>
            <a:ln w="38100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2998941" y="1857364"/>
            <a:ext cx="4798677" cy="428628"/>
            <a:chOff x="844893" y="1000114"/>
            <a:chExt cx="4798677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1000114"/>
              <a:ext cx="450059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defRPr/>
              </a:pPr>
              <a:r>
                <a:rPr lang="zh-CN" altLang="en-US" dirty="0"/>
                <a:t>文件系统需要先挂载才能被访问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1000114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006506" y="2200040"/>
            <a:ext cx="5291174" cy="428628"/>
            <a:chOff x="852462" y="1342790"/>
            <a:chExt cx="5291174" cy="428628"/>
          </a:xfrm>
        </p:grpSpPr>
        <p:sp>
          <p:nvSpPr>
            <p:cNvPr id="15" name="内容占位符 2"/>
            <p:cNvSpPr txBox="1">
              <a:spLocks/>
            </p:cNvSpPr>
            <p:nvPr/>
          </p:nvSpPr>
          <p:spPr>
            <a:xfrm>
              <a:off x="1142976" y="1342790"/>
              <a:ext cx="500066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未挂载的文件系统被挂载在挂载点上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2462" y="1342790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6" name="TextBox 4"/>
          <p:cNvSpPr txBox="1">
            <a:spLocks noChangeArrowheads="1"/>
          </p:cNvSpPr>
          <p:nvPr/>
        </p:nvSpPr>
        <p:spPr bwMode="auto">
          <a:xfrm>
            <a:off x="8629156" y="2825509"/>
            <a:ext cx="12112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defRPr sz="2000">
                <a:solidFill>
                  <a:schemeClr val="folHlink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defRPr sz="16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Monotype Sorts" charset="0"/>
              <a:buChar char="–"/>
              <a:defRPr sz="1400">
                <a:solidFill>
                  <a:schemeClr val="tx1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未挂载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文件系统</a:t>
            </a:r>
            <a:endParaRPr lang="en-US" altLang="zh-CN" sz="20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406729" y="3216397"/>
            <a:ext cx="2831889" cy="2225690"/>
            <a:chOff x="4252681" y="2359147"/>
            <a:chExt cx="2831889" cy="2225690"/>
          </a:xfrm>
        </p:grpSpPr>
        <p:sp>
          <p:nvSpPr>
            <p:cNvPr id="48" name="等腰三角形 47"/>
            <p:cNvSpPr/>
            <p:nvPr/>
          </p:nvSpPr>
          <p:spPr>
            <a:xfrm>
              <a:off x="5593382" y="3045482"/>
              <a:ext cx="828681" cy="714380"/>
            </a:xfrm>
            <a:prstGeom prst="triangle">
              <a:avLst/>
            </a:prstGeom>
            <a:gradFill>
              <a:gsLst>
                <a:gs pos="100000">
                  <a:srgbClr val="FF9900"/>
                </a:gs>
                <a:gs pos="0">
                  <a:srgbClr val="FFCC66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5934697" y="2931181"/>
              <a:ext cx="142876" cy="142876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54" name="等腰三角形 53"/>
            <p:cNvSpPr/>
            <p:nvPr/>
          </p:nvSpPr>
          <p:spPr>
            <a:xfrm>
              <a:off x="5148879" y="3870457"/>
              <a:ext cx="828681" cy="714380"/>
            </a:xfrm>
            <a:prstGeom prst="triangle">
              <a:avLst/>
            </a:prstGeom>
            <a:gradFill>
              <a:gsLst>
                <a:gs pos="100000">
                  <a:srgbClr val="330033"/>
                </a:gs>
                <a:gs pos="0">
                  <a:srgbClr val="CC66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5490194" y="3756156"/>
              <a:ext cx="142876" cy="142876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5" name="等腰三角形 74"/>
            <p:cNvSpPr/>
            <p:nvPr/>
          </p:nvSpPr>
          <p:spPr>
            <a:xfrm>
              <a:off x="6040002" y="3870457"/>
              <a:ext cx="828681" cy="714380"/>
            </a:xfrm>
            <a:prstGeom prst="triangle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6381317" y="3756156"/>
              <a:ext cx="142876" cy="142876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7" name="等腰三角形 76"/>
            <p:cNvSpPr/>
            <p:nvPr/>
          </p:nvSpPr>
          <p:spPr>
            <a:xfrm>
              <a:off x="4420211" y="3045482"/>
              <a:ext cx="828681" cy="714380"/>
            </a:xfrm>
            <a:prstGeom prst="triangl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4761526" y="2931181"/>
              <a:ext cx="142876" cy="142876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5336205" y="2359147"/>
              <a:ext cx="142876" cy="142876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  <p:cxnSp>
          <p:nvCxnSpPr>
            <p:cNvPr id="80" name="直接连接符 79"/>
            <p:cNvCxnSpPr>
              <a:stCxn id="79" idx="3"/>
            </p:cNvCxnSpPr>
            <p:nvPr/>
          </p:nvCxnSpPr>
          <p:spPr>
            <a:xfrm rot="5400000">
              <a:off x="4871858" y="2445380"/>
              <a:ext cx="449552" cy="520990"/>
            </a:xfrm>
            <a:prstGeom prst="line">
              <a:avLst/>
            </a:prstGeom>
            <a:ln w="3810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rot="5400000">
              <a:off x="5513213" y="2445380"/>
              <a:ext cx="449552" cy="520990"/>
            </a:xfrm>
            <a:prstGeom prst="line">
              <a:avLst/>
            </a:prstGeom>
            <a:ln w="38100">
              <a:solidFill>
                <a:srgbClr val="11576A"/>
              </a:solidFill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67"/>
            <p:cNvSpPr txBox="1"/>
            <p:nvPr/>
          </p:nvSpPr>
          <p:spPr>
            <a:xfrm>
              <a:off x="4252681" y="2782888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srgbClr val="11576A"/>
                  </a:solidFill>
                  <a:latin typeface="微软雅黑"/>
                  <a:ea typeface="微软雅黑"/>
                </a:rPr>
                <a:t>sue</a:t>
              </a:r>
              <a:endParaRPr lang="zh-CN" altLang="en-US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9" name="TextBox 68"/>
            <p:cNvSpPr txBox="1"/>
            <p:nvPr/>
          </p:nvSpPr>
          <p:spPr>
            <a:xfrm>
              <a:off x="6072198" y="2782888"/>
              <a:ext cx="670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jane</a:t>
              </a:r>
              <a:endParaRPr lang="zh-CN" altLang="en-US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0" name="TextBox 69"/>
            <p:cNvSpPr txBox="1"/>
            <p:nvPr/>
          </p:nvSpPr>
          <p:spPr>
            <a:xfrm>
              <a:off x="5593733" y="3702376"/>
              <a:ext cx="741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 err="1">
                  <a:solidFill>
                    <a:srgbClr val="11576A"/>
                  </a:solidFill>
                  <a:latin typeface="微软雅黑"/>
                  <a:ea typeface="微软雅黑"/>
                </a:rPr>
                <a:t>prog</a:t>
              </a:r>
              <a:endParaRPr lang="zh-CN" altLang="en-US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01" name="TextBox 70"/>
            <p:cNvSpPr txBox="1"/>
            <p:nvPr/>
          </p:nvSpPr>
          <p:spPr>
            <a:xfrm>
              <a:off x="6475108" y="3612840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r>
                <a:rPr lang="en-US" altLang="zh-CN" b="1" dirty="0">
                  <a:solidFill>
                    <a:srgbClr val="11576A"/>
                  </a:solidFill>
                  <a:latin typeface="微软雅黑"/>
                  <a:ea typeface="微软雅黑"/>
                </a:rPr>
                <a:t>doc</a:t>
              </a:r>
              <a:endParaRPr lang="zh-CN" altLang="en-US" b="1" dirty="0">
                <a:solidFill>
                  <a:srgbClr val="11576A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727848" y="2664233"/>
            <a:ext cx="2020736" cy="774055"/>
            <a:chOff x="1573804" y="1806979"/>
            <a:chExt cx="2020736" cy="774055"/>
          </a:xfrm>
        </p:grpSpPr>
        <p:grpSp>
          <p:nvGrpSpPr>
            <p:cNvPr id="6" name="组合 5"/>
            <p:cNvGrpSpPr/>
            <p:nvPr/>
          </p:nvGrpSpPr>
          <p:grpSpPr>
            <a:xfrm>
              <a:off x="1573804" y="1806979"/>
              <a:ext cx="2020736" cy="774055"/>
              <a:chOff x="1573804" y="1806979"/>
              <a:chExt cx="2020736" cy="774055"/>
            </a:xfrm>
          </p:grpSpPr>
          <p:sp>
            <p:nvSpPr>
              <p:cNvPr id="91" name="椭圆 90"/>
              <p:cNvSpPr/>
              <p:nvPr/>
            </p:nvSpPr>
            <p:spPr>
              <a:xfrm>
                <a:off x="2073870" y="1806979"/>
                <a:ext cx="142876" cy="142876"/>
              </a:xfrm>
              <a:prstGeom prst="ellipse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CC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1905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endParaRPr lang="zh-CN" altLang="en-US">
                  <a:solidFill>
                    <a:prstClr val="black"/>
                  </a:solidFill>
                  <a:latin typeface="MS PGothic"/>
                  <a:ea typeface="微软雅黑"/>
                </a:endParaRPr>
              </a:p>
            </p:txBody>
          </p:sp>
          <p:cxnSp>
            <p:nvCxnSpPr>
              <p:cNvPr id="92" name="直接连接符 91"/>
              <p:cNvCxnSpPr>
                <a:stCxn id="91" idx="3"/>
              </p:cNvCxnSpPr>
              <p:nvPr/>
            </p:nvCxnSpPr>
            <p:spPr>
              <a:xfrm rot="5400000">
                <a:off x="1609523" y="1893212"/>
                <a:ext cx="449552" cy="520990"/>
              </a:xfrm>
              <a:prstGeom prst="line">
                <a:avLst/>
              </a:prstGeom>
              <a:ln w="3810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 rot="5400000">
                <a:off x="2250878" y="1893212"/>
                <a:ext cx="449552" cy="520990"/>
              </a:xfrm>
              <a:prstGeom prst="line">
                <a:avLst/>
              </a:prstGeom>
              <a:ln w="38100">
                <a:solidFill>
                  <a:srgbClr val="11576A"/>
                </a:solidFill>
              </a:ln>
              <a:scene3d>
                <a:camera prst="orthographicFront">
                  <a:rot lat="0" lon="1080000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TextBox 64"/>
              <p:cNvSpPr txBox="1"/>
              <p:nvPr/>
            </p:nvSpPr>
            <p:spPr>
              <a:xfrm>
                <a:off x="2799386" y="2211702"/>
                <a:ext cx="7951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Tx/>
                  <a:buNone/>
                </a:pPr>
                <a:r>
                  <a:rPr lang="en-US" altLang="zh-CN" b="1" dirty="0">
                    <a:solidFill>
                      <a:srgbClr val="11576A"/>
                    </a:solidFill>
                    <a:latin typeface="微软雅黑"/>
                    <a:ea typeface="微软雅黑"/>
                  </a:rPr>
                  <a:t>users</a:t>
                </a:r>
                <a:endParaRPr lang="zh-CN" altLang="en-US" b="1" dirty="0">
                  <a:solidFill>
                    <a:srgbClr val="11576A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34" name="椭圆 33"/>
            <p:cNvSpPr/>
            <p:nvPr/>
          </p:nvSpPr>
          <p:spPr>
            <a:xfrm>
              <a:off x="2669225" y="2344869"/>
              <a:ext cx="142876" cy="142876"/>
            </a:xfrm>
            <a:prstGeom prst="ellipse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905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  <a:buNone/>
              </a:pPr>
              <a:endParaRPr lang="zh-CN" altLang="en-US">
                <a:solidFill>
                  <a:prstClr val="black"/>
                </a:solidFill>
                <a:latin typeface="MS PGothic"/>
                <a:ea typeface="微软雅黑"/>
              </a:endParaRPr>
            </a:p>
          </p:txBody>
        </p:sp>
      </p:grpSp>
      <p:sp>
        <p:nvSpPr>
          <p:cNvPr id="13" name="标题 12">
            <a:extLst>
              <a:ext uri="{FF2B5EF4-FFF2-40B4-BE49-F238E27FC236}">
                <a16:creationId xmlns:a16="http://schemas.microsoft.com/office/drawing/2014/main" id="{2005751D-A321-B61F-84EF-017600451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文件系统挂载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BF5E206B-1C93-5A08-E31D-34CB4C73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715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1.11022E-16 L -0.29323 -0.0034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70" y="-18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6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>
            <a:extLst>
              <a:ext uri="{FF2B5EF4-FFF2-40B4-BE49-F238E27FC236}">
                <a16:creationId xmlns:a16="http://schemas.microsoft.com/office/drawing/2014/main" id="{2005751D-A321-B61F-84EF-017600451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文件系统挂载</a:t>
            </a: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BF5E206B-1C93-5A08-E31D-34CB4C73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31</a:t>
            </a:fld>
            <a:endParaRPr lang="zh-CN" altLang="en-US" dirty="0"/>
          </a:p>
        </p:txBody>
      </p:sp>
      <p:pic>
        <p:nvPicPr>
          <p:cNvPr id="4098" name="Picture 2" descr="https://msreekan.com/wp-content/uploads/2015/04/kernelstoragepipeline.jpg">
            <a:extLst>
              <a:ext uri="{FF2B5EF4-FFF2-40B4-BE49-F238E27FC236}">
                <a16:creationId xmlns:a16="http://schemas.microsoft.com/office/drawing/2014/main" id="{E3814CD7-2C21-4BF5-923A-86E7BE83F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4" y="1154575"/>
            <a:ext cx="6630882" cy="508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6175164-E2E8-41B3-BEE9-826B8A4D3C3F}"/>
              </a:ext>
            </a:extLst>
          </p:cNvPr>
          <p:cNvSpPr/>
          <p:nvPr/>
        </p:nvSpPr>
        <p:spPr>
          <a:xfrm>
            <a:off x="479376" y="6590234"/>
            <a:ext cx="8784976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https://msreekan.com/2015/04/24/linux-storage-cache/</a:t>
            </a:r>
          </a:p>
        </p:txBody>
      </p:sp>
    </p:spTree>
    <p:extLst>
      <p:ext uri="{BB962C8B-B14F-4D97-AF65-F5344CB8AC3E}">
        <p14:creationId xmlns:p14="http://schemas.microsoft.com/office/powerpoint/2010/main" val="492223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95400" y="1552258"/>
            <a:ext cx="6727503" cy="428628"/>
            <a:chOff x="844893" y="742258"/>
            <a:chExt cx="6727503" cy="428628"/>
          </a:xfrm>
        </p:grpSpPr>
        <p:sp>
          <p:nvSpPr>
            <p:cNvPr id="9" name="内容占位符 2"/>
            <p:cNvSpPr txBox="1">
              <a:spLocks/>
            </p:cNvSpPr>
            <p:nvPr/>
          </p:nvSpPr>
          <p:spPr>
            <a:xfrm>
              <a:off x="1142976" y="742258"/>
              <a:ext cx="642942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名字解析</a:t>
              </a:r>
              <a:r>
                <a:rPr lang="en-US" altLang="zh-CN" dirty="0"/>
                <a:t>: </a:t>
              </a:r>
              <a:r>
                <a:rPr lang="zh-CN" altLang="en-US" dirty="0"/>
                <a:t>把逻辑名字转换成物理资源（如文件）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893" y="74225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6" name="直接连接符 25"/>
          <p:cNvCxnSpPr/>
          <p:nvPr/>
        </p:nvCxnSpPr>
        <p:spPr>
          <a:xfrm rot="16200000" flipH="1">
            <a:off x="-7536741" y="3063987"/>
            <a:ext cx="1185870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112925" y="1890398"/>
            <a:ext cx="7630058" cy="358322"/>
            <a:chOff x="1262422" y="1080398"/>
            <a:chExt cx="7630058" cy="358322"/>
          </a:xfrm>
        </p:grpSpPr>
        <p:pic>
          <p:nvPicPr>
            <p:cNvPr id="33" name="图片 3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18517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4" name="内容占位符 2"/>
            <p:cNvSpPr txBox="1">
              <a:spLocks/>
            </p:cNvSpPr>
            <p:nvPr/>
          </p:nvSpPr>
          <p:spPr>
            <a:xfrm>
              <a:off x="1394985" y="1080398"/>
              <a:ext cx="749749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依据路径名，在文件系统中找到实际文件位置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12925" y="2218560"/>
            <a:ext cx="4166834" cy="358322"/>
            <a:chOff x="1262422" y="1408560"/>
            <a:chExt cx="4166834" cy="358322"/>
          </a:xfrm>
        </p:grpSpPr>
        <p:pic>
          <p:nvPicPr>
            <p:cNvPr id="35" name="图片 3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151333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6" name="内容占位符 2"/>
            <p:cNvSpPr txBox="1">
              <a:spLocks/>
            </p:cNvSpPr>
            <p:nvPr/>
          </p:nvSpPr>
          <p:spPr>
            <a:xfrm>
              <a:off x="1394985" y="1408560"/>
              <a:ext cx="4034271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遍历文件目录直到找到目标文件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95400" y="2532208"/>
            <a:ext cx="3155603" cy="428628"/>
            <a:chOff x="844893" y="1722208"/>
            <a:chExt cx="3155603" cy="428628"/>
          </a:xfrm>
        </p:grpSpPr>
        <p:sp>
          <p:nvSpPr>
            <p:cNvPr id="25" name="内容占位符 2"/>
            <p:cNvSpPr txBox="1">
              <a:spLocks/>
            </p:cNvSpPr>
            <p:nvPr/>
          </p:nvSpPr>
          <p:spPr>
            <a:xfrm>
              <a:off x="1142976" y="1722208"/>
              <a:ext cx="2857520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举例</a:t>
              </a:r>
              <a:r>
                <a:rPr lang="en-US" altLang="zh-CN" dirty="0"/>
                <a:t>: </a:t>
              </a:r>
              <a:r>
                <a:rPr lang="zh-CN" altLang="en-US" dirty="0"/>
                <a:t>解析</a:t>
              </a:r>
              <a:r>
                <a:rPr lang="en-US" altLang="zh-CN" dirty="0"/>
                <a:t>“/bin/</a:t>
              </a:r>
              <a:r>
                <a:rPr lang="en-US" altLang="zh-CN" dirty="0" err="1"/>
                <a:t>ls</a:t>
              </a:r>
              <a:r>
                <a:rPr lang="en-US" altLang="zh-CN" dirty="0"/>
                <a:t>”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44893" y="1722208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112925" y="2869216"/>
            <a:ext cx="4809776" cy="365122"/>
            <a:chOff x="1262422" y="2059216"/>
            <a:chExt cx="4809776" cy="365122"/>
          </a:xfrm>
        </p:grpSpPr>
        <p:pic>
          <p:nvPicPr>
            <p:cNvPr id="28" name="图片 27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16399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1" name="内容占位符 2"/>
            <p:cNvSpPr txBox="1">
              <a:spLocks/>
            </p:cNvSpPr>
            <p:nvPr/>
          </p:nvSpPr>
          <p:spPr>
            <a:xfrm>
              <a:off x="1394985" y="2059216"/>
              <a:ext cx="4677213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读取根目录的文件头</a:t>
              </a:r>
              <a:r>
                <a:rPr lang="en-US" altLang="zh-CN" dirty="0"/>
                <a:t> (</a:t>
              </a:r>
              <a:r>
                <a:rPr lang="zh-CN" altLang="en-US" dirty="0"/>
                <a:t>在磁盘固定位置）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112925" y="3194119"/>
            <a:ext cx="5181786" cy="365122"/>
            <a:chOff x="1262422" y="2363345"/>
            <a:chExt cx="5181786" cy="365122"/>
          </a:xfrm>
        </p:grpSpPr>
        <p:pic>
          <p:nvPicPr>
            <p:cNvPr id="50" name="图片 49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468121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1" name="内容占位符 2"/>
            <p:cNvSpPr txBox="1">
              <a:spLocks/>
            </p:cNvSpPr>
            <p:nvPr/>
          </p:nvSpPr>
          <p:spPr>
            <a:xfrm>
              <a:off x="1394985" y="2363345"/>
              <a:ext cx="5049223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读取根目录的数据块</a:t>
              </a:r>
              <a:r>
                <a:rPr lang="zh-CN" altLang="zh-CN" dirty="0"/>
                <a:t>，</a:t>
              </a:r>
              <a:r>
                <a:rPr lang="zh-CN" altLang="en-US" dirty="0"/>
                <a:t>搜索</a:t>
              </a:r>
              <a:r>
                <a:rPr lang="en-US" altLang="zh-CN" dirty="0"/>
                <a:t>“bin”</a:t>
              </a:r>
              <a:r>
                <a:rPr lang="zh-CN" altLang="en-US" dirty="0"/>
                <a:t>项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112925" y="3472012"/>
            <a:ext cx="2595198" cy="365122"/>
            <a:chOff x="1262422" y="2683780"/>
            <a:chExt cx="2595198" cy="365122"/>
          </a:xfrm>
        </p:grpSpPr>
        <p:pic>
          <p:nvPicPr>
            <p:cNvPr id="37" name="图片 3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2788556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38" name="内容占位符 2"/>
            <p:cNvSpPr txBox="1">
              <a:spLocks/>
            </p:cNvSpPr>
            <p:nvPr/>
          </p:nvSpPr>
          <p:spPr>
            <a:xfrm>
              <a:off x="1394985" y="2683780"/>
              <a:ext cx="2462635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读取</a:t>
              </a:r>
              <a:r>
                <a:rPr lang="en-US" altLang="zh-CN" dirty="0"/>
                <a:t>bin</a:t>
              </a:r>
              <a:r>
                <a:rPr lang="zh-CN" altLang="en-US" dirty="0"/>
                <a:t>的文件头</a:t>
              </a:r>
              <a:endParaRPr lang="en-US" altLang="zh-CN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112925" y="3797909"/>
            <a:ext cx="4166834" cy="365122"/>
            <a:chOff x="1262422" y="2987909"/>
            <a:chExt cx="4166834" cy="365122"/>
          </a:xfrm>
        </p:grpSpPr>
        <p:pic>
          <p:nvPicPr>
            <p:cNvPr id="43" name="图片 4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092685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4" name="内容占位符 2"/>
            <p:cNvSpPr txBox="1">
              <a:spLocks/>
            </p:cNvSpPr>
            <p:nvPr/>
          </p:nvSpPr>
          <p:spPr>
            <a:xfrm>
              <a:off x="1394985" y="2987909"/>
              <a:ext cx="4034271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读取</a:t>
              </a:r>
              <a:r>
                <a:rPr lang="en-US" altLang="zh-CN" dirty="0"/>
                <a:t>bin</a:t>
              </a:r>
              <a:r>
                <a:rPr lang="zh-CN" altLang="en-US" dirty="0"/>
                <a:t>的数据块</a:t>
              </a:r>
              <a:r>
                <a:rPr lang="en-US" altLang="zh-CN" dirty="0"/>
                <a:t>; </a:t>
              </a:r>
              <a:r>
                <a:rPr lang="zh-CN" altLang="en-US" dirty="0"/>
                <a:t>搜索</a:t>
              </a:r>
              <a:r>
                <a:rPr lang="en-US" altLang="zh-CN" dirty="0"/>
                <a:t>“</a:t>
              </a:r>
              <a:r>
                <a:rPr lang="en-US" altLang="zh-CN" dirty="0" err="1"/>
                <a:t>ls</a:t>
              </a:r>
              <a:r>
                <a:rPr lang="en-US" altLang="zh-CN" dirty="0"/>
                <a:t>”</a:t>
              </a:r>
              <a:r>
                <a:rPr lang="zh-CN" altLang="en-US" dirty="0"/>
                <a:t>顶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112925" y="4104976"/>
            <a:ext cx="2595198" cy="365122"/>
            <a:chOff x="1262422" y="3294976"/>
            <a:chExt cx="2595198" cy="365122"/>
          </a:xfrm>
        </p:grpSpPr>
        <p:pic>
          <p:nvPicPr>
            <p:cNvPr id="45" name="图片 4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339975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46" name="内容占位符 2"/>
            <p:cNvSpPr txBox="1">
              <a:spLocks/>
            </p:cNvSpPr>
            <p:nvPr/>
          </p:nvSpPr>
          <p:spPr>
            <a:xfrm>
              <a:off x="1394985" y="3294976"/>
              <a:ext cx="2462635" cy="3651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读取</a:t>
              </a:r>
              <a:r>
                <a:rPr lang="en-US" altLang="zh-CN" dirty="0" err="1"/>
                <a:t>ls</a:t>
              </a:r>
              <a:r>
                <a:rPr lang="zh-CN" altLang="en-US" dirty="0"/>
                <a:t>的文件头</a:t>
              </a:r>
              <a:endParaRPr lang="en-US" altLang="zh-CN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95400" y="4438806"/>
            <a:ext cx="3012727" cy="428628"/>
            <a:chOff x="844893" y="3628806"/>
            <a:chExt cx="3012727" cy="428628"/>
          </a:xfrm>
        </p:grpSpPr>
        <p:sp>
          <p:nvSpPr>
            <p:cNvPr id="47" name="内容占位符 2"/>
            <p:cNvSpPr txBox="1">
              <a:spLocks/>
            </p:cNvSpPr>
            <p:nvPr/>
          </p:nvSpPr>
          <p:spPr>
            <a:xfrm>
              <a:off x="1142976" y="3628806"/>
              <a:ext cx="2714644" cy="428628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indent="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</a:pPr>
              <a:r>
                <a:rPr lang="zh-CN" altLang="en-US" dirty="0"/>
                <a:t>当前工作目录</a:t>
              </a:r>
              <a:r>
                <a:rPr lang="en-US" altLang="zh-CN" dirty="0"/>
                <a:t> (PWD)</a:t>
              </a:r>
              <a:endParaRPr lang="zh-CN" altLang="en-US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44893" y="3628806"/>
              <a:ext cx="433390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eaLnBrk="1" fontAlgn="auto" hangingPunct="1">
                <a:lnSpc>
                  <a:spcPct val="100000"/>
                </a:lnSpc>
                <a:spcAft>
                  <a:spcPts val="0"/>
                </a:spcAft>
                <a:buSzTx/>
                <a:buNone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112925" y="4776946"/>
            <a:ext cx="5809908" cy="358322"/>
            <a:chOff x="1262422" y="3966946"/>
            <a:chExt cx="5809908" cy="358322"/>
          </a:xfrm>
        </p:grpSpPr>
        <p:pic>
          <p:nvPicPr>
            <p:cNvPr id="49" name="图片 48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4071722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2" name="内容占位符 2"/>
            <p:cNvSpPr txBox="1">
              <a:spLocks/>
            </p:cNvSpPr>
            <p:nvPr/>
          </p:nvSpPr>
          <p:spPr>
            <a:xfrm>
              <a:off x="1394985" y="3966946"/>
              <a:ext cx="5677345" cy="358322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每个进程都会指向一个文件目录用于解析文件名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12925" y="5105108"/>
            <a:ext cx="5595594" cy="571486"/>
            <a:chOff x="1262422" y="4295108"/>
            <a:chExt cx="5595594" cy="571486"/>
          </a:xfrm>
        </p:grpSpPr>
        <p:pic>
          <p:nvPicPr>
            <p:cNvPr id="53" name="图片 5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2422" y="4399884"/>
              <a:ext cx="151066" cy="148997"/>
            </a:xfrm>
            <a:prstGeom prst="rect">
              <a:avLst/>
            </a:prstGeom>
            <a:effectLst/>
          </p:spPr>
        </p:pic>
        <p:sp>
          <p:nvSpPr>
            <p:cNvPr id="54" name="内容占位符 2"/>
            <p:cNvSpPr txBox="1">
              <a:spLocks/>
            </p:cNvSpPr>
            <p:nvPr/>
          </p:nvSpPr>
          <p:spPr>
            <a:xfrm>
              <a:off x="1394985" y="4295108"/>
              <a:ext cx="5463031" cy="571486"/>
            </a:xfrm>
            <a:prstGeom prst="rect">
              <a:avLst/>
            </a:prstGeom>
          </p:spPr>
          <p:txBody>
            <a:bodyPr/>
            <a:lstStyle>
              <a:lvl1pPr marL="269875" indent="-269875">
                <a:buNone/>
                <a:defRPr sz="2000" b="1" baseline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269875" indent="-93663">
                <a:buNone/>
                <a:defRPr sz="20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>
                <a:buNone/>
                <a:defRPr sz="18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defRPr>
              </a:lvl3pPr>
            </a:lstStyle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允许用户指定相对路径来代替绝对路径</a:t>
              </a:r>
              <a:endParaRPr lang="en-US" altLang="zh-CN" dirty="0"/>
            </a:p>
            <a:p>
              <a:pPr marL="0" lvl="1" indent="0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Tx/>
              </a:pPr>
              <a:r>
                <a:rPr lang="zh-CN" altLang="en-US" dirty="0"/>
                <a:t>如，用</a:t>
              </a:r>
              <a:r>
                <a:rPr lang="en-US" altLang="zh-CN" dirty="0"/>
                <a:t> PWD=“/bin” </a:t>
              </a:r>
              <a:r>
                <a:rPr lang="zh-CN" altLang="en-US" dirty="0"/>
                <a:t>能够解析</a:t>
              </a:r>
              <a:r>
                <a:rPr lang="en-US" altLang="zh-CN" dirty="0"/>
                <a:t> “</a:t>
              </a:r>
              <a:r>
                <a:rPr lang="en-US" altLang="zh-CN" dirty="0" err="1"/>
                <a:t>ls</a:t>
              </a:r>
              <a:r>
                <a:rPr lang="en-US" altLang="zh-CN" dirty="0"/>
                <a:t>”</a:t>
              </a:r>
              <a:endParaRPr lang="zh-CN" altLang="en-US" dirty="0"/>
            </a:p>
          </p:txBody>
        </p:sp>
      </p:grpSp>
      <p:sp>
        <p:nvSpPr>
          <p:cNvPr id="19" name="标题 18">
            <a:extLst>
              <a:ext uri="{FF2B5EF4-FFF2-40B4-BE49-F238E27FC236}">
                <a16:creationId xmlns:a16="http://schemas.microsoft.com/office/drawing/2014/main" id="{812ED99F-76D1-3F1F-9741-5AC0B022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VFS</a:t>
            </a:r>
            <a:r>
              <a:rPr lang="zh-CN" altLang="en-US" dirty="0"/>
              <a:t>功能举例：名字解析（路径遍历）</a:t>
            </a:r>
          </a:p>
        </p:txBody>
      </p: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CAF31B9C-11BF-8C76-582F-95F20570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fld id="{7209BB76-661F-4F23-A2E6-DCF093FEDF36}" type="slidenum">
              <a:rPr lang="zh-CN" altLang="en-US" smtClean="0"/>
              <a:pPr>
                <a:buFont typeface="Wingdings" panose="05000000000000000000" pitchFamily="2" charset="2"/>
                <a:buNone/>
              </a:pPr>
              <a:t>32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E73487-D809-4F57-8309-07F2AACAAD08}"/>
              </a:ext>
            </a:extLst>
          </p:cNvPr>
          <p:cNvSpPr txBox="1"/>
          <p:nvPr/>
        </p:nvSpPr>
        <p:spPr>
          <a:xfrm>
            <a:off x="6708519" y="2280839"/>
            <a:ext cx="524822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反向思考 ：如何证明一个路径</a:t>
            </a:r>
            <a:r>
              <a:rPr lang="en-US" altLang="zh-CN" dirty="0"/>
              <a:t>(</a:t>
            </a:r>
            <a:r>
              <a:rPr lang="zh-CN" altLang="en-US" dirty="0"/>
              <a:t>文件</a:t>
            </a:r>
            <a:r>
              <a:rPr lang="en-US" altLang="zh-CN" dirty="0"/>
              <a:t>)</a:t>
            </a:r>
            <a:r>
              <a:rPr lang="zh-CN" altLang="en-US" dirty="0"/>
              <a:t>无法解析？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0E70CF0-4BD9-48A4-9B68-704DD5D9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168" y="2586860"/>
            <a:ext cx="5014922" cy="2246474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E45D798A-D8E2-4839-8F73-6073ED92FA81}"/>
              </a:ext>
            </a:extLst>
          </p:cNvPr>
          <p:cNvSpPr txBox="1"/>
          <p:nvPr/>
        </p:nvSpPr>
        <p:spPr>
          <a:xfrm>
            <a:off x="6757351" y="4956107"/>
            <a:ext cx="5248221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dirty="0"/>
              <a:t>设计细节：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负缓存，要存多少项呢？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负缓存怎么跟文件操作同步？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负缓存什么时候失效？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https://www.geeksforgeeks.org/negative-caching-system-design/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528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5560" y="2376671"/>
            <a:ext cx="7777162" cy="1872481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Thanks for your time!</a:t>
            </a:r>
            <a:b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</a:br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Questions &amp; Answers</a:t>
            </a:r>
            <a:endParaRPr lang="en-US" altLang="ko-KR" sz="5400" i="1" dirty="0">
              <a:solidFill>
                <a:srgbClr val="993300"/>
              </a:solidFill>
              <a:ea typeface="굴림" pitchFamily="34" charset="-127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C0FF34-2795-84EB-080D-34199E63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55824"/>
            <a:ext cx="2844800" cy="304800"/>
          </a:xfrm>
        </p:spPr>
        <p:txBody>
          <a:bodyPr/>
          <a:lstStyle/>
          <a:p>
            <a:pPr algn="r">
              <a:buNone/>
            </a:pPr>
            <a:fld id="{23E5303B-8A3A-477A-93B0-1543526987BB}" type="slidenum">
              <a:rPr lang="en-US" altLang="ko-KR" smtClean="0">
                <a:solidFill>
                  <a:schemeClr val="bg1"/>
                </a:solidFill>
              </a:rPr>
              <a:pPr algn="r">
                <a:buNone/>
              </a:pPr>
              <a:t>33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psh3_Print</Template>
  <TotalTime>0</TotalTime>
  <Words>1680</Words>
  <Application>Microsoft Office PowerPoint</Application>
  <PresentationFormat>宽屏</PresentationFormat>
  <Paragraphs>325</Paragraphs>
  <Slides>33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33</vt:i4>
      </vt:variant>
    </vt:vector>
  </HeadingPairs>
  <TitlesOfParts>
    <vt:vector size="48" baseType="lpstr">
      <vt:lpstr>굴림</vt:lpstr>
      <vt:lpstr>MS PGothic</vt:lpstr>
      <vt:lpstr>等线</vt:lpstr>
      <vt:lpstr>喵呜黑体</vt:lpstr>
      <vt:lpstr>宋体</vt:lpstr>
      <vt:lpstr>微软雅黑</vt:lpstr>
      <vt:lpstr>张海山锐谐体2.0-授权联系：Samtype@QQ.com</vt:lpstr>
      <vt:lpstr>Arial</vt:lpstr>
      <vt:lpstr>Calibri</vt:lpstr>
      <vt:lpstr>Courier New</vt:lpstr>
      <vt:lpstr>Times New Roman</vt:lpstr>
      <vt:lpstr>Verdana</vt:lpstr>
      <vt:lpstr>Wingdings</vt:lpstr>
      <vt:lpstr>psh3_Print</vt:lpstr>
      <vt:lpstr>1_psh3_Print</vt:lpstr>
      <vt:lpstr>章节6：文件管理</vt:lpstr>
      <vt:lpstr>文件系统的性能思考</vt:lpstr>
      <vt:lpstr>示例：elf文件格式</vt:lpstr>
      <vt:lpstr>示例：elf文件格式</vt:lpstr>
      <vt:lpstr>示例：elf文件格式</vt:lpstr>
      <vt:lpstr>Description of Media File format</vt:lpstr>
      <vt:lpstr>Logical structure of file</vt:lpstr>
      <vt:lpstr>关于文件性能的思考</vt:lpstr>
      <vt:lpstr>文件系统的一些特殊问题</vt:lpstr>
      <vt:lpstr>Disk space management</vt:lpstr>
      <vt:lpstr>Disk space allocation</vt:lpstr>
      <vt:lpstr>Empty disk blocks management</vt:lpstr>
      <vt:lpstr>b)文件系统的一致性检查</vt:lpstr>
      <vt:lpstr>５．共享文件管理实现</vt:lpstr>
      <vt:lpstr>文件别名</vt:lpstr>
      <vt:lpstr>用链接实现文件共享控制（i节点方式）</vt:lpstr>
      <vt:lpstr>采用符号链接可较好解决问题</vt:lpstr>
      <vt:lpstr>文件目录中的循环</vt:lpstr>
      <vt:lpstr>文件共享还需要访问类型和权限的支持</vt:lpstr>
      <vt:lpstr>文件共享还需要访问类型和权限的支持</vt:lpstr>
      <vt:lpstr>多种文件并存的时候….</vt:lpstr>
      <vt:lpstr>虚拟文件系统</vt:lpstr>
      <vt:lpstr>虚拟文件系统</vt:lpstr>
      <vt:lpstr>VFS与实际文件系统的逻辑关系</vt:lpstr>
      <vt:lpstr>openEuler中的VFS和文件系统</vt:lpstr>
      <vt:lpstr>虚拟文件系统 (VFS)</vt:lpstr>
      <vt:lpstr>文件系统基本数据结构</vt:lpstr>
      <vt:lpstr>文件系统基本数据结构</vt:lpstr>
      <vt:lpstr>文件系统基本数据结构</vt:lpstr>
      <vt:lpstr>文件系统挂载</vt:lpstr>
      <vt:lpstr>文件系统挂载</vt:lpstr>
      <vt:lpstr>VFS功能举例：名字解析（路径遍历）</vt:lpstr>
      <vt:lpstr>Thanks for your time! 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2023-12-04T10:22:36Z</dcterms:created>
  <dcterms:modified xsi:type="dcterms:W3CDTF">2025-11-04T03:49:50Z</dcterms:modified>
</cp:coreProperties>
</file>