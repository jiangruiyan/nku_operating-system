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56" r:id="rId1"/>
    <p:sldMasterId id="2147484017" r:id="rId2"/>
    <p:sldMasterId id="2147484031" r:id="rId3"/>
    <p:sldMasterId id="2147484037" r:id="rId4"/>
  </p:sldMasterIdLst>
  <p:notesMasterIdLst>
    <p:notesMasterId r:id="rId103"/>
  </p:notesMasterIdLst>
  <p:handoutMasterIdLst>
    <p:handoutMasterId r:id="rId104"/>
  </p:handoutMasterIdLst>
  <p:sldIdLst>
    <p:sldId id="2686" r:id="rId5"/>
    <p:sldId id="1962" r:id="rId6"/>
    <p:sldId id="512" r:id="rId7"/>
    <p:sldId id="551" r:id="rId8"/>
    <p:sldId id="649" r:id="rId9"/>
    <p:sldId id="650" r:id="rId10"/>
    <p:sldId id="651" r:id="rId11"/>
    <p:sldId id="652" r:id="rId12"/>
    <p:sldId id="570" r:id="rId13"/>
    <p:sldId id="571" r:id="rId14"/>
    <p:sldId id="573" r:id="rId15"/>
    <p:sldId id="574" r:id="rId16"/>
    <p:sldId id="575" r:id="rId17"/>
    <p:sldId id="576" r:id="rId18"/>
    <p:sldId id="577" r:id="rId19"/>
    <p:sldId id="578" r:id="rId20"/>
    <p:sldId id="579" r:id="rId21"/>
    <p:sldId id="580" r:id="rId22"/>
    <p:sldId id="581" r:id="rId23"/>
    <p:sldId id="582" r:id="rId24"/>
    <p:sldId id="583" r:id="rId25"/>
    <p:sldId id="584" r:id="rId26"/>
    <p:sldId id="585" r:id="rId27"/>
    <p:sldId id="586" r:id="rId28"/>
    <p:sldId id="587" r:id="rId29"/>
    <p:sldId id="588" r:id="rId30"/>
    <p:sldId id="589" r:id="rId31"/>
    <p:sldId id="555" r:id="rId32"/>
    <p:sldId id="423" r:id="rId33"/>
    <p:sldId id="474" r:id="rId34"/>
    <p:sldId id="590" r:id="rId35"/>
    <p:sldId id="591" r:id="rId36"/>
    <p:sldId id="592" r:id="rId37"/>
    <p:sldId id="593" r:id="rId38"/>
    <p:sldId id="594" r:id="rId39"/>
    <p:sldId id="595" r:id="rId40"/>
    <p:sldId id="425" r:id="rId41"/>
    <p:sldId id="424" r:id="rId42"/>
    <p:sldId id="566" r:id="rId43"/>
    <p:sldId id="567" r:id="rId44"/>
    <p:sldId id="596" r:id="rId45"/>
    <p:sldId id="597" r:id="rId46"/>
    <p:sldId id="598" r:id="rId47"/>
    <p:sldId id="599" r:id="rId48"/>
    <p:sldId id="600" r:id="rId49"/>
    <p:sldId id="601" r:id="rId50"/>
    <p:sldId id="656" r:id="rId51"/>
    <p:sldId id="657" r:id="rId52"/>
    <p:sldId id="556" r:id="rId53"/>
    <p:sldId id="426" r:id="rId54"/>
    <p:sldId id="427" r:id="rId55"/>
    <p:sldId id="430" r:id="rId56"/>
    <p:sldId id="431" r:id="rId57"/>
    <p:sldId id="734" r:id="rId58"/>
    <p:sldId id="604" r:id="rId59"/>
    <p:sldId id="513" r:id="rId60"/>
    <p:sldId id="654" r:id="rId61"/>
    <p:sldId id="633" r:id="rId62"/>
    <p:sldId id="632" r:id="rId63"/>
    <p:sldId id="610" r:id="rId64"/>
    <p:sldId id="1963" r:id="rId65"/>
    <p:sldId id="2693" r:id="rId66"/>
    <p:sldId id="2692" r:id="rId67"/>
    <p:sldId id="2694" r:id="rId68"/>
    <p:sldId id="2695" r:id="rId69"/>
    <p:sldId id="283" r:id="rId70"/>
    <p:sldId id="284" r:id="rId71"/>
    <p:sldId id="2687" r:id="rId72"/>
    <p:sldId id="286" r:id="rId73"/>
    <p:sldId id="2688" r:id="rId74"/>
    <p:sldId id="288" r:id="rId75"/>
    <p:sldId id="2689" r:id="rId76"/>
    <p:sldId id="290" r:id="rId77"/>
    <p:sldId id="291" r:id="rId78"/>
    <p:sldId id="2690" r:id="rId79"/>
    <p:sldId id="2691" r:id="rId80"/>
    <p:sldId id="297" r:id="rId81"/>
    <p:sldId id="292" r:id="rId82"/>
    <p:sldId id="285" r:id="rId83"/>
    <p:sldId id="287" r:id="rId84"/>
    <p:sldId id="262" r:id="rId85"/>
    <p:sldId id="304" r:id="rId86"/>
    <p:sldId id="273" r:id="rId87"/>
    <p:sldId id="293" r:id="rId88"/>
    <p:sldId id="294" r:id="rId89"/>
    <p:sldId id="295" r:id="rId90"/>
    <p:sldId id="276" r:id="rId91"/>
    <p:sldId id="327" r:id="rId92"/>
    <p:sldId id="289" r:id="rId93"/>
    <p:sldId id="263" r:id="rId94"/>
    <p:sldId id="612" r:id="rId95"/>
    <p:sldId id="615" r:id="rId96"/>
    <p:sldId id="614" r:id="rId97"/>
    <p:sldId id="616" r:id="rId98"/>
    <p:sldId id="370" r:id="rId99"/>
    <p:sldId id="371" r:id="rId100"/>
    <p:sldId id="373" r:id="rId101"/>
    <p:sldId id="281" r:id="rId10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981" userDrawn="1">
          <p15:clr>
            <a:srgbClr val="A4A3A4"/>
          </p15:clr>
        </p15:guide>
        <p15:guide id="2" pos="3840" userDrawn="1">
          <p15:clr>
            <a:srgbClr val="A4A3A4"/>
          </p15:clr>
        </p15:guide>
        <p15:guide id="3" pos="438" userDrawn="1">
          <p15:clr>
            <a:srgbClr val="A4A3A4"/>
          </p15:clr>
        </p15:guide>
        <p15:guide id="4" orient="horz"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CCECFF"/>
    <a:srgbClr val="FFFFCC"/>
    <a:srgbClr val="F5ED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75" autoAdjust="0"/>
    <p:restoredTop sz="82084" autoAdjust="0"/>
  </p:normalViewPr>
  <p:slideViewPr>
    <p:cSldViewPr>
      <p:cViewPr varScale="1">
        <p:scale>
          <a:sx n="96" d="100"/>
          <a:sy n="96" d="100"/>
        </p:scale>
        <p:origin x="1190" y="72"/>
      </p:cViewPr>
      <p:guideLst>
        <p:guide orient="horz" pos="981"/>
        <p:guide pos="3840"/>
        <p:guide pos="438"/>
        <p:guide orient="horz"/>
      </p:guideLst>
    </p:cSldViewPr>
  </p:slideViewPr>
  <p:outlineViewPr>
    <p:cViewPr>
      <p:scale>
        <a:sx n="33" d="100"/>
        <a:sy n="33" d="100"/>
      </p:scale>
      <p:origin x="0" y="-50534"/>
    </p:cViewPr>
  </p:outlineViewPr>
  <p:notesTextViewPr>
    <p:cViewPr>
      <p:scale>
        <a:sx n="75" d="100"/>
        <a:sy n="75" d="100"/>
      </p:scale>
      <p:origin x="0" y="0"/>
    </p:cViewPr>
  </p:notesTextViewPr>
  <p:notesViewPr>
    <p:cSldViewPr>
      <p:cViewPr varScale="1">
        <p:scale>
          <a:sx n="83" d="100"/>
          <a:sy n="83" d="100"/>
        </p:scale>
        <p:origin x="-204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07" Type="http://schemas.openxmlformats.org/officeDocument/2006/relationships/theme" Target="theme/theme1.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notesMaster" Target="notesMasters/notesMaster1.xml"/><Relationship Id="rId108"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handoutMaster" Target="handoutMasters/handoutMaster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SzTx/>
              <a:buFontTx/>
              <a:buNone/>
              <a:defRPr sz="1200">
                <a:latin typeface="Times New Roman" pitchFamily="18" charset="0"/>
              </a:defRPr>
            </a:lvl1pPr>
          </a:lstStyle>
          <a:p>
            <a:pPr>
              <a:defRPr/>
            </a:pPr>
            <a:endParaRPr lang="zh-CN" altLang="en-US"/>
          </a:p>
        </p:txBody>
      </p:sp>
      <p:sp>
        <p:nvSpPr>
          <p:cNvPr id="4403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200">
                <a:latin typeface="Times New Roman" pitchFamily="18" charset="0"/>
              </a:defRPr>
            </a:lvl1pPr>
          </a:lstStyle>
          <a:p>
            <a:pPr>
              <a:defRPr/>
            </a:pPr>
            <a:fld id="{9E4ABB15-50C4-40DC-95CF-8B1AC1B142F4}" type="datetimeFigureOut">
              <a:rPr lang="zh-CN" altLang="en-US"/>
              <a:pPr>
                <a:defRPr/>
              </a:pPr>
              <a:t>2025/11/4</a:t>
            </a:fld>
            <a:endParaRPr lang="en-US" altLang="zh-CN"/>
          </a:p>
        </p:txBody>
      </p:sp>
      <p:sp>
        <p:nvSpPr>
          <p:cNvPr id="4403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SzTx/>
              <a:buFontTx/>
              <a:buNone/>
              <a:defRPr sz="1200">
                <a:latin typeface="Times New Roman" pitchFamily="18" charset="0"/>
              </a:defRPr>
            </a:lvl1pPr>
          </a:lstStyle>
          <a:p>
            <a:pPr>
              <a:defRPr/>
            </a:pPr>
            <a:endParaRPr lang="en-US" altLang="zh-CN"/>
          </a:p>
        </p:txBody>
      </p:sp>
      <p:sp>
        <p:nvSpPr>
          <p:cNvPr id="4403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SzTx/>
              <a:buFontTx/>
              <a:buNone/>
              <a:defRPr sz="1200">
                <a:latin typeface="Times New Roman" panose="02020603050405020304" pitchFamily="18" charset="0"/>
              </a:defRPr>
            </a:lvl1pPr>
          </a:lstStyle>
          <a:p>
            <a:pPr>
              <a:defRPr/>
            </a:pPr>
            <a:fld id="{4504A0A3-7373-458D-8590-FCB078CB9529}" type="slidenum">
              <a:rPr lang="zh-CN" altLang="en-US"/>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lnSpc>
                <a:spcPct val="100000"/>
              </a:lnSpc>
              <a:spcBef>
                <a:spcPct val="0"/>
              </a:spcBef>
              <a:buSzTx/>
              <a:buFontTx/>
              <a:buNone/>
              <a:defRPr sz="1200">
                <a:latin typeface="Arial" charset="0"/>
                <a:ea typeface="+mn-ea"/>
              </a:defRPr>
            </a:lvl1pPr>
          </a:lstStyle>
          <a:p>
            <a:pPr>
              <a:defRPr/>
            </a:pPr>
            <a:endParaRPr lang="zh-CN" altLang="en-US"/>
          </a:p>
        </p:txBody>
      </p:sp>
      <p:sp>
        <p:nvSpPr>
          <p:cNvPr id="4096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spcBef>
                <a:spcPct val="0"/>
              </a:spcBef>
              <a:buSzTx/>
              <a:buFontTx/>
              <a:buNone/>
              <a:defRPr sz="1200">
                <a:latin typeface="Arial" charset="0"/>
                <a:ea typeface="+mn-ea"/>
              </a:defRPr>
            </a:lvl1pPr>
          </a:lstStyle>
          <a:p>
            <a:pPr>
              <a:defRPr/>
            </a:pPr>
            <a:endParaRPr lang="en-US" altLang="zh-CN"/>
          </a:p>
        </p:txBody>
      </p:sp>
      <p:sp>
        <p:nvSpPr>
          <p:cNvPr id="410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096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lnSpc>
                <a:spcPct val="100000"/>
              </a:lnSpc>
              <a:spcBef>
                <a:spcPct val="0"/>
              </a:spcBef>
              <a:buSzTx/>
              <a:buFontTx/>
              <a:buNone/>
              <a:defRPr sz="1200">
                <a:latin typeface="Arial" charset="0"/>
                <a:ea typeface="+mn-ea"/>
              </a:defRPr>
            </a:lvl1pPr>
          </a:lstStyle>
          <a:p>
            <a:pPr>
              <a:defRPr/>
            </a:pPr>
            <a:endParaRPr lang="en-US" altLang="zh-CN"/>
          </a:p>
        </p:txBody>
      </p:sp>
      <p:sp>
        <p:nvSpPr>
          <p:cNvPr id="4096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lnSpc>
                <a:spcPct val="100000"/>
              </a:lnSpc>
              <a:spcBef>
                <a:spcPct val="0"/>
              </a:spcBef>
              <a:buSzTx/>
              <a:buFontTx/>
              <a:buNone/>
              <a:defRPr sz="1200">
                <a:latin typeface="Arial" panose="020B0604020202020204" pitchFamily="34" charset="0"/>
              </a:defRPr>
            </a:lvl1pPr>
          </a:lstStyle>
          <a:p>
            <a:pPr>
              <a:defRPr/>
            </a:pPr>
            <a:fld id="{4DF67F5C-661C-4611-9722-59F2815423B1}"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xfrm>
            <a:off x="381000" y="685800"/>
            <a:ext cx="6096000" cy="3429000"/>
          </a:xfrm>
          <a:ln/>
        </p:spPr>
      </p:sp>
      <p:sp>
        <p:nvSpPr>
          <p:cNvPr id="624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624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9B2EC2A0-6CE8-46C2-A634-8EE786004A27}" type="slidenum">
              <a:rPr lang="zh-CN" altLang="en-US" smtClean="0">
                <a:latin typeface="Arial" panose="020B0604020202020204" pitchFamily="34" charset="0"/>
              </a:rPr>
              <a:pPr/>
              <a:t>3</a:t>
            </a:fld>
            <a:endParaRPr lang="en-US" altLang="zh-CN">
              <a:latin typeface="Arial" panose="020B0604020202020204" pitchFamily="34" charset="0"/>
            </a:endParaRPr>
          </a:p>
        </p:txBody>
      </p:sp>
    </p:spTree>
    <p:extLst>
      <p:ext uri="{BB962C8B-B14F-4D97-AF65-F5344CB8AC3E}">
        <p14:creationId xmlns:p14="http://schemas.microsoft.com/office/powerpoint/2010/main" val="2675391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Rot="1" noChangeAspect="1" noChangeArrowheads="1" noTextEdit="1"/>
          </p:cNvSpPr>
          <p:nvPr>
            <p:ph type="sldImg"/>
          </p:nvPr>
        </p:nvSpPr>
        <p:spPr>
          <a:xfrm>
            <a:off x="381000" y="685800"/>
            <a:ext cx="6096000" cy="3429000"/>
          </a:xfrm>
          <a:ln/>
        </p:spPr>
      </p:sp>
      <p:sp>
        <p:nvSpPr>
          <p:cNvPr id="1413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731399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幻灯片图像占位符 1"/>
          <p:cNvSpPr>
            <a:spLocks noGrp="1" noRot="1" noChangeAspect="1" noTextEdit="1"/>
          </p:cNvSpPr>
          <p:nvPr>
            <p:ph type="sldImg"/>
          </p:nvPr>
        </p:nvSpPr>
        <p:spPr>
          <a:xfrm>
            <a:off x="381000" y="685800"/>
            <a:ext cx="6096000" cy="3429000"/>
          </a:xfrm>
          <a:ln/>
        </p:spPr>
      </p:sp>
      <p:sp>
        <p:nvSpPr>
          <p:cNvPr id="1996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96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3514B6F-B614-40EE-89F8-3C380B2953C1}" type="slidenum">
              <a:rPr lang="zh-CN" altLang="en-US" smtClean="0">
                <a:latin typeface="Arial" panose="020B0604020202020204" pitchFamily="34" charset="0"/>
              </a:rPr>
              <a:pPr/>
              <a:t>9</a:t>
            </a:fld>
            <a:endParaRPr lang="en-US" altLang="zh-CN">
              <a:latin typeface="Arial" panose="020B0604020202020204" pitchFamily="34" charset="0"/>
            </a:endParaRPr>
          </a:p>
        </p:txBody>
      </p:sp>
    </p:spTree>
    <p:extLst>
      <p:ext uri="{BB962C8B-B14F-4D97-AF65-F5344CB8AC3E}">
        <p14:creationId xmlns:p14="http://schemas.microsoft.com/office/powerpoint/2010/main" val="1905409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Rot="1" noChangeAspect="1" noChangeArrowheads="1" noTextEdit="1"/>
          </p:cNvSpPr>
          <p:nvPr>
            <p:ph type="sldImg"/>
          </p:nvPr>
        </p:nvSpPr>
        <p:spPr>
          <a:xfrm>
            <a:off x="381000" y="685800"/>
            <a:ext cx="6096000" cy="3429000"/>
          </a:xfrm>
          <a:ln/>
        </p:spPr>
      </p:sp>
      <p:sp>
        <p:nvSpPr>
          <p:cNvPr id="2017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25384434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a:xfrm>
            <a:off x="381000" y="685800"/>
            <a:ext cx="6096000" cy="3429000"/>
          </a:xfrm>
          <a:ln/>
        </p:spPr>
      </p:sp>
      <p:sp>
        <p:nvSpPr>
          <p:cNvPr id="1280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965473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幻灯片图像占位符 1"/>
          <p:cNvSpPr>
            <a:spLocks noGrp="1" noRot="1" noChangeAspect="1" noTextEdit="1"/>
          </p:cNvSpPr>
          <p:nvPr>
            <p:ph type="sldImg"/>
          </p:nvPr>
        </p:nvSpPr>
        <p:spPr>
          <a:xfrm>
            <a:off x="381000" y="685800"/>
            <a:ext cx="6096000" cy="3429000"/>
          </a:xfrm>
          <a:ln/>
        </p:spPr>
      </p:sp>
      <p:sp>
        <p:nvSpPr>
          <p:cNvPr id="1904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04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C3983FE9-4769-42ED-BF93-33DBE885109D}" type="slidenum">
              <a:rPr lang="zh-CN" altLang="en-US" smtClean="0">
                <a:latin typeface="Arial" panose="020B0604020202020204" pitchFamily="34" charset="0"/>
              </a:rPr>
              <a:pPr/>
              <a:t>29</a:t>
            </a:fld>
            <a:endParaRPr lang="en-US" altLang="zh-CN">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幻灯片图像占位符 1"/>
          <p:cNvSpPr>
            <a:spLocks noGrp="1" noRot="1" noChangeAspect="1" noTextEdit="1"/>
          </p:cNvSpPr>
          <p:nvPr>
            <p:ph type="sldImg"/>
          </p:nvPr>
        </p:nvSpPr>
        <p:spPr>
          <a:xfrm>
            <a:off x="381000" y="685800"/>
            <a:ext cx="6096000" cy="3429000"/>
          </a:xfrm>
          <a:ln/>
        </p:spPr>
      </p:sp>
      <p:sp>
        <p:nvSpPr>
          <p:cNvPr id="1935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935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C8D144A9-B314-4DFF-85F0-61FEC0C3C31F}" type="slidenum">
              <a:rPr lang="zh-CN" altLang="en-US" smtClean="0">
                <a:latin typeface="Arial" panose="020B0604020202020204" pitchFamily="34" charset="0"/>
              </a:rPr>
              <a:pPr/>
              <a:t>37</a:t>
            </a:fld>
            <a:endParaRPr lang="en-US" altLang="zh-CN">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幻灯片图像占位符 1"/>
          <p:cNvSpPr>
            <a:spLocks noGrp="1" noRot="1" noChangeAspect="1" noTextEdit="1"/>
          </p:cNvSpPr>
          <p:nvPr>
            <p:ph type="sldImg"/>
          </p:nvPr>
        </p:nvSpPr>
        <p:spPr>
          <a:xfrm>
            <a:off x="381000" y="685800"/>
            <a:ext cx="6096000" cy="3429000"/>
          </a:xfrm>
          <a:ln/>
        </p:spPr>
      </p:sp>
      <p:sp>
        <p:nvSpPr>
          <p:cNvPr id="1843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43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D86A1FB7-65E8-4B6B-A961-201133C88BDA}" type="slidenum">
              <a:rPr lang="zh-CN" altLang="en-US" smtClean="0">
                <a:latin typeface="Arial" panose="020B0604020202020204" pitchFamily="34" charset="0"/>
              </a:rPr>
              <a:pPr/>
              <a:t>40</a:t>
            </a:fld>
            <a:endParaRPr lang="en-US" altLang="zh-CN">
              <a:latin typeface="Arial" panose="020B0604020202020204" pitchFamily="34" charset="0"/>
            </a:endParaRPr>
          </a:p>
        </p:txBody>
      </p:sp>
    </p:spTree>
    <p:extLst>
      <p:ext uri="{BB962C8B-B14F-4D97-AF65-F5344CB8AC3E}">
        <p14:creationId xmlns:p14="http://schemas.microsoft.com/office/powerpoint/2010/main" val="2577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DF67F5C-661C-4611-9722-59F2815423B1}" type="slidenum">
              <a:rPr lang="zh-CN" altLang="en-US" smtClean="0"/>
              <a:pPr>
                <a:defRPr/>
              </a:pPr>
              <a:t>47</a:t>
            </a:fld>
            <a:endParaRPr lang="en-US" altLang="zh-CN"/>
          </a:p>
        </p:txBody>
      </p:sp>
    </p:spTree>
    <p:extLst>
      <p:ext uri="{BB962C8B-B14F-4D97-AF65-F5344CB8AC3E}">
        <p14:creationId xmlns:p14="http://schemas.microsoft.com/office/powerpoint/2010/main" val="1184259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DF67F5C-661C-4611-9722-59F2815423B1}" type="slidenum">
              <a:rPr lang="zh-CN" altLang="en-US" smtClean="0"/>
              <a:pPr>
                <a:defRPr/>
              </a:pPr>
              <a:t>48</a:t>
            </a:fld>
            <a:endParaRPr lang="en-US" altLang="zh-CN"/>
          </a:p>
        </p:txBody>
      </p:sp>
    </p:spTree>
    <p:extLst>
      <p:ext uri="{BB962C8B-B14F-4D97-AF65-F5344CB8AC3E}">
        <p14:creationId xmlns:p14="http://schemas.microsoft.com/office/powerpoint/2010/main" val="3948966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Rot="1" noChangeAspect="1" noChangeArrowheads="1" noTextEdit="1"/>
          </p:cNvSpPr>
          <p:nvPr>
            <p:ph type="sldImg"/>
          </p:nvPr>
        </p:nvSpPr>
        <p:spPr>
          <a:xfrm>
            <a:off x="381000" y="685800"/>
            <a:ext cx="6096000" cy="3429000"/>
          </a:xfrm>
          <a:ln/>
        </p:spPr>
      </p:sp>
      <p:sp>
        <p:nvSpPr>
          <p:cNvPr id="1310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7587969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Rot="1" noChangeAspect="1" noChangeArrowheads="1" noTextEdit="1"/>
          </p:cNvSpPr>
          <p:nvPr>
            <p:ph type="sldImg"/>
          </p:nvPr>
        </p:nvSpPr>
        <p:spPr>
          <a:xfrm>
            <a:off x="381000" y="685800"/>
            <a:ext cx="6096000" cy="3429000"/>
          </a:xfrm>
          <a:ln/>
        </p:spPr>
      </p:sp>
      <p:sp>
        <p:nvSpPr>
          <p:cNvPr id="2058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39775" y="717550"/>
            <a:ext cx="5556250" cy="3125788"/>
          </a:xfrm>
        </p:spPr>
      </p:sp>
      <p:sp>
        <p:nvSpPr>
          <p:cNvPr id="3" name="备注占位符 2"/>
          <p:cNvSpPr>
            <a:spLocks noGrp="1"/>
          </p:cNvSpPr>
          <p:nvPr>
            <p:ph type="body" idx="1"/>
          </p:nvPr>
        </p:nvSpPr>
        <p:spPr/>
        <p:txBody>
          <a:bodyPr/>
          <a:lstStyle/>
          <a:p>
            <a:r>
              <a:rPr lang="en-US" altLang="zh-CN" dirty="0" err="1"/>
              <a:t>Rf</a:t>
            </a:r>
            <a:r>
              <a:rPr lang="zh-CN" altLang="en-US" dirty="0"/>
              <a:t>，</a:t>
            </a:r>
            <a:r>
              <a:rPr lang="en-US" altLang="zh-CN" dirty="0"/>
              <a:t>read from</a:t>
            </a:r>
          </a:p>
          <a:p>
            <a:pPr marL="180000" marR="0" lvl="0"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最宽松的内存模型是</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RMM </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Relax Memory Model</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ARM</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（含鲲鹏）和</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Power</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都采用</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RMM</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内存模型。在该模型下，各个处理器从自己本地存储中读取数据，并将每个写入，各自广播到其它处理器，并且允许内存写入操作重新排序。</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a:p>
            <a:endParaRPr lang="zh-CN" altLang="en-US" dirty="0"/>
          </a:p>
        </p:txBody>
      </p:sp>
    </p:spTree>
    <p:extLst>
      <p:ext uri="{BB962C8B-B14F-4D97-AF65-F5344CB8AC3E}">
        <p14:creationId xmlns:p14="http://schemas.microsoft.com/office/powerpoint/2010/main" val="15213441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39775"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059196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336661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760684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39775"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064546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39775" y="717550"/>
            <a:ext cx="5556250" cy="3125788"/>
          </a:xfrm>
        </p:spPr>
      </p:sp>
      <p:sp>
        <p:nvSpPr>
          <p:cNvPr id="3" name="备注占位符 2"/>
          <p:cNvSpPr>
            <a:spLocks noGrp="1"/>
          </p:cNvSpPr>
          <p:nvPr>
            <p:ph type="body" idx="1"/>
          </p:nvPr>
        </p:nvSpPr>
        <p:spPr/>
        <p:txBody>
          <a:bodyPr/>
          <a:lstStyle/>
          <a:p>
            <a:pPr marL="180000" marR="0" lvl="0"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a:pPr>
            <a:r>
              <a:rPr lang="en-US" altLang="zh-CN" dirty="0"/>
              <a:t>https://developer.arm.com/documentation/100941/0100/Barriers</a:t>
            </a:r>
          </a:p>
          <a:p>
            <a:pPr marL="180000" marR="0" lvl="0"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a:pPr>
            <a:r>
              <a:rPr lang="en-US" altLang="zh-CN" dirty="0"/>
              <a:t>C++</a:t>
            </a:r>
            <a:r>
              <a:rPr lang="zh-CN" altLang="en-US" dirty="0"/>
              <a:t>中使用</a:t>
            </a:r>
            <a:r>
              <a:rPr lang="en-US" altLang="zh-CN" dirty="0"/>
              <a:t>atomic</a:t>
            </a:r>
            <a:r>
              <a:rPr lang="zh-CN" altLang="en-US" dirty="0"/>
              <a:t>做数据同步，并且对</a:t>
            </a:r>
            <a:r>
              <a:rPr lang="en-US" altLang="zh-CN" dirty="0"/>
              <a:t>atomic</a:t>
            </a:r>
            <a:r>
              <a:rPr lang="zh-CN" altLang="en-US" dirty="0"/>
              <a:t>的读写采用</a:t>
            </a:r>
          </a:p>
        </p:txBody>
      </p:sp>
    </p:spTree>
    <p:extLst>
      <p:ext uri="{BB962C8B-B14F-4D97-AF65-F5344CB8AC3E}">
        <p14:creationId xmlns:p14="http://schemas.microsoft.com/office/powerpoint/2010/main" val="38663090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11306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a:t>https://developer.arm.com/documentation/dui0802/a/A32-and-T32-Instructions/DMB--DSB--and-ISB </a:t>
            </a:r>
            <a:endParaRPr lang="zh-CN" altLang="en-US" dirty="0"/>
          </a:p>
        </p:txBody>
      </p:sp>
    </p:spTree>
    <p:extLst>
      <p:ext uri="{BB962C8B-B14F-4D97-AF65-F5344CB8AC3E}">
        <p14:creationId xmlns:p14="http://schemas.microsoft.com/office/powerpoint/2010/main" val="39392589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142180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609676" rtl="0" eaLnBrk="1" fontAlgn="auto" latinLnBrk="0" hangingPunct="1">
              <a:lnSpc>
                <a:spcPct val="100000"/>
              </a:lnSpc>
              <a:spcBef>
                <a:spcPts val="0"/>
              </a:spcBef>
              <a:spcAft>
                <a:spcPts val="0"/>
              </a:spcAft>
              <a:buClrTx/>
              <a:buSzTx/>
              <a:buFontTx/>
              <a:buNone/>
              <a:tabLst/>
              <a:defRPr/>
            </a:pPr>
            <a:fld id="{BDA96EB4-AC75-FE4F-BB42-8259E88337D4}" type="slidenum">
              <a:rPr kumimoji="1" lang="zh-CN" altLang="en-US" sz="1200" b="0" i="0" u="none" strike="noStrike" kern="1200" cap="none" spc="0" normalizeH="0" baseline="0" noProof="0" smtClean="0">
                <a:ln>
                  <a:noFill/>
                </a:ln>
                <a:solidFill>
                  <a:prstClr val="black"/>
                </a:solidFill>
                <a:effectLst/>
                <a:uLnTx/>
                <a:uFillTx/>
                <a:latin typeface="Calibri"/>
                <a:ea typeface="宋体"/>
              </a:rPr>
              <a:pPr marL="0" marR="0" lvl="0" indent="0" algn="r" defTabSz="609676" rtl="0" eaLnBrk="1" fontAlgn="auto" latinLnBrk="0" hangingPunct="1">
                <a:lnSpc>
                  <a:spcPct val="100000"/>
                </a:lnSpc>
                <a:spcBef>
                  <a:spcPts val="0"/>
                </a:spcBef>
                <a:spcAft>
                  <a:spcPts val="0"/>
                </a:spcAft>
                <a:buClrTx/>
                <a:buSzTx/>
                <a:buFontTx/>
                <a:buNone/>
                <a:tabLst/>
                <a:defRPr/>
              </a:pPr>
              <a:t>95</a:t>
            </a:fld>
            <a:endParaRPr kumimoji="1" lang="zh-CN" altLang="en-US" sz="1200" b="0" i="0" u="none" strike="noStrike" kern="1200" cap="none" spc="0" normalizeH="0" baseline="0" noProof="0">
              <a:ln>
                <a:noFill/>
              </a:ln>
              <a:solidFill>
                <a:prstClr val="black"/>
              </a:solidFill>
              <a:effectLst/>
              <a:uLnTx/>
              <a:uFillTx/>
              <a:latin typeface="Calibri"/>
              <a:ea typeface="宋体"/>
            </a:endParaRPr>
          </a:p>
        </p:txBody>
      </p:sp>
    </p:spTree>
    <p:extLst>
      <p:ext uri="{BB962C8B-B14F-4D97-AF65-F5344CB8AC3E}">
        <p14:creationId xmlns:p14="http://schemas.microsoft.com/office/powerpoint/2010/main" val="42115694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1219352" rtl="0" eaLnBrk="1" fontAlgn="auto" latinLnBrk="0" hangingPunct="1">
              <a:lnSpc>
                <a:spcPct val="100000"/>
              </a:lnSpc>
              <a:spcBef>
                <a:spcPts val="0"/>
              </a:spcBef>
              <a:spcAft>
                <a:spcPts val="0"/>
              </a:spcAft>
              <a:buClrTx/>
              <a:buSzTx/>
              <a:buFontTx/>
              <a:buNone/>
              <a:tabLst/>
              <a:defRPr/>
            </a:pPr>
            <a:endParaRPr lang="zh-CN" altLang="en-US" sz="1600" kern="0" dirty="0">
              <a:solidFill>
                <a:srgbClr val="CAA150"/>
              </a:solidFill>
              <a:latin typeface="思源黑体 CN Medium" pitchFamily="34" charset="-122"/>
              <a:ea typeface="思源黑体 CN Medium" pitchFamily="34" charset="-122"/>
            </a:endParaRPr>
          </a:p>
        </p:txBody>
      </p:sp>
      <p:sp>
        <p:nvSpPr>
          <p:cNvPr id="4" name="灯片编号占位符 3"/>
          <p:cNvSpPr>
            <a:spLocks noGrp="1"/>
          </p:cNvSpPr>
          <p:nvPr>
            <p:ph type="sldNum" sz="quarter" idx="10"/>
          </p:nvPr>
        </p:nvSpPr>
        <p:spPr/>
        <p:txBody>
          <a:bodyPr/>
          <a:lstStyle/>
          <a:p>
            <a:pPr marL="0" marR="0" lvl="0" indent="0" algn="r" defTabSz="609676" rtl="0" eaLnBrk="1" fontAlgn="auto" latinLnBrk="0" hangingPunct="1">
              <a:lnSpc>
                <a:spcPct val="100000"/>
              </a:lnSpc>
              <a:spcBef>
                <a:spcPts val="0"/>
              </a:spcBef>
              <a:spcAft>
                <a:spcPts val="0"/>
              </a:spcAft>
              <a:buClrTx/>
              <a:buSzTx/>
              <a:buFontTx/>
              <a:buNone/>
              <a:tabLst/>
              <a:defRPr/>
            </a:pPr>
            <a:fld id="{BDA96EB4-AC75-FE4F-BB42-8259E88337D4}" type="slidenum">
              <a:rPr kumimoji="1" lang="zh-CN" altLang="en-US" sz="1200" b="0" i="0" u="none" strike="noStrike" kern="1200" cap="none" spc="0" normalizeH="0" baseline="0" noProof="0" smtClean="0">
                <a:ln>
                  <a:noFill/>
                </a:ln>
                <a:solidFill>
                  <a:prstClr val="black"/>
                </a:solidFill>
                <a:effectLst/>
                <a:uLnTx/>
                <a:uFillTx/>
                <a:ea typeface="思源黑体 CN" panose="020B0600000000000000" charset="-122"/>
              </a:rPr>
              <a:pPr marL="0" marR="0" lvl="0" indent="0" algn="r" defTabSz="609676" rtl="0" eaLnBrk="1" fontAlgn="auto" latinLnBrk="0" hangingPunct="1">
                <a:lnSpc>
                  <a:spcPct val="100000"/>
                </a:lnSpc>
                <a:spcBef>
                  <a:spcPts val="0"/>
                </a:spcBef>
                <a:spcAft>
                  <a:spcPts val="0"/>
                </a:spcAft>
                <a:buClrTx/>
                <a:buSzTx/>
                <a:buFontTx/>
                <a:buNone/>
                <a:tabLst/>
                <a:defRPr/>
              </a:pPr>
              <a:t>96</a:t>
            </a:fld>
            <a:endParaRPr kumimoji="1" lang="zh-CN" altLang="en-US" sz="1200" b="0" i="0" u="none" strike="noStrike" kern="1200" cap="none" spc="0" normalizeH="0" baseline="0" noProof="0">
              <a:ln>
                <a:noFill/>
              </a:ln>
              <a:solidFill>
                <a:prstClr val="black"/>
              </a:solidFill>
              <a:effectLst/>
              <a:uLnTx/>
              <a:uFillTx/>
              <a:ea typeface="思源黑体 CN" panose="020B0600000000000000" charset="-122"/>
            </a:endParaRPr>
          </a:p>
        </p:txBody>
      </p:sp>
    </p:spTree>
    <p:extLst>
      <p:ext uri="{BB962C8B-B14F-4D97-AF65-F5344CB8AC3E}">
        <p14:creationId xmlns:p14="http://schemas.microsoft.com/office/powerpoint/2010/main" val="15108330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609676" rtl="0" eaLnBrk="1" fontAlgn="auto" latinLnBrk="0" hangingPunct="1">
              <a:lnSpc>
                <a:spcPct val="100000"/>
              </a:lnSpc>
              <a:spcBef>
                <a:spcPts val="0"/>
              </a:spcBef>
              <a:spcAft>
                <a:spcPts val="0"/>
              </a:spcAft>
              <a:buClrTx/>
              <a:buSzTx/>
              <a:buFontTx/>
              <a:buNone/>
              <a:tabLst/>
              <a:defRPr/>
            </a:pPr>
            <a:fld id="{BDA96EB4-AC75-FE4F-BB42-8259E88337D4}" type="slidenum">
              <a:rPr kumimoji="1" lang="zh-CN" altLang="en-US" sz="1200" b="0" i="0" u="none" strike="noStrike" kern="1200" cap="none" spc="0" normalizeH="0" baseline="0" noProof="0" smtClean="0">
                <a:ln>
                  <a:noFill/>
                </a:ln>
                <a:solidFill>
                  <a:prstClr val="black"/>
                </a:solidFill>
                <a:effectLst/>
                <a:uLnTx/>
                <a:uFillTx/>
                <a:ea typeface="思源黑体 CN" panose="020B0600000000000000" charset="-122"/>
              </a:rPr>
              <a:pPr marL="0" marR="0" lvl="0" indent="0" algn="r" defTabSz="609676" rtl="0" eaLnBrk="1" fontAlgn="auto" latinLnBrk="0" hangingPunct="1">
                <a:lnSpc>
                  <a:spcPct val="100000"/>
                </a:lnSpc>
                <a:spcBef>
                  <a:spcPts val="0"/>
                </a:spcBef>
                <a:spcAft>
                  <a:spcPts val="0"/>
                </a:spcAft>
                <a:buClrTx/>
                <a:buSzTx/>
                <a:buFontTx/>
                <a:buNone/>
                <a:tabLst/>
                <a:defRPr/>
              </a:pPr>
              <a:t>97</a:t>
            </a:fld>
            <a:endParaRPr kumimoji="1" lang="zh-CN" altLang="en-US" sz="1200" b="0" i="0" u="none" strike="noStrike" kern="1200" cap="none" spc="0" normalizeH="0" baseline="0" noProof="0">
              <a:ln>
                <a:noFill/>
              </a:ln>
              <a:solidFill>
                <a:prstClr val="black"/>
              </a:solidFill>
              <a:effectLst/>
              <a:uLnTx/>
              <a:uFillTx/>
              <a:ea typeface="思源黑体 CN" panose="020B0600000000000000" charset="-122"/>
            </a:endParaRPr>
          </a:p>
        </p:txBody>
      </p:sp>
    </p:spTree>
    <p:extLst>
      <p:ext uri="{BB962C8B-B14F-4D97-AF65-F5344CB8AC3E}">
        <p14:creationId xmlns:p14="http://schemas.microsoft.com/office/powerpoint/2010/main" val="19638072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DF67F5C-661C-4611-9722-59F2815423B1}" type="slidenum">
              <a:rPr lang="zh-CN" altLang="en-US" smtClean="0"/>
              <a:pPr>
                <a:defRPr/>
              </a:pPr>
              <a:t>98</a:t>
            </a:fld>
            <a:endParaRPr lang="en-US" altLang="zh-CN"/>
          </a:p>
        </p:txBody>
      </p:sp>
    </p:spTree>
    <p:extLst>
      <p:ext uri="{BB962C8B-B14F-4D97-AF65-F5344CB8AC3E}">
        <p14:creationId xmlns:p14="http://schemas.microsoft.com/office/powerpoint/2010/main" val="7047008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bg bwMode="gray">
      <p:bgPr>
        <a:solidFill>
          <a:schemeClr val="bg1"/>
        </a:solidFill>
        <a:effectLst/>
      </p:bgPr>
    </p:bg>
    <p:spTree>
      <p:nvGrpSpPr>
        <p:cNvPr id="1" name=""/>
        <p:cNvGrpSpPr/>
        <p:nvPr/>
      </p:nvGrpSpPr>
      <p:grpSpPr>
        <a:xfrm>
          <a:off x="0" y="0"/>
          <a:ext cx="0" cy="0"/>
          <a:chOff x="0" y="0"/>
          <a:chExt cx="0" cy="0"/>
        </a:xfrm>
      </p:grpSpPr>
      <p:sp>
        <p:nvSpPr>
          <p:cNvPr id="4" name="Rectangle 32"/>
          <p:cNvSpPr>
            <a:spLocks noChangeArrowheads="1"/>
          </p:cNvSpPr>
          <p:nvPr userDrawn="1"/>
        </p:nvSpPr>
        <p:spPr bwMode="ltGray">
          <a:xfrm>
            <a:off x="1102784" y="1196975"/>
            <a:ext cx="11074400" cy="9144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80000"/>
              </a:lnSpc>
              <a:spcBef>
                <a:spcPct val="20000"/>
              </a:spcBef>
              <a:spcAft>
                <a:spcPct val="0"/>
              </a:spcAft>
              <a:buSzPct val="80000"/>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80000"/>
              </a:lnSpc>
              <a:spcBef>
                <a:spcPct val="20000"/>
              </a:spcBef>
              <a:spcAft>
                <a:spcPct val="0"/>
              </a:spcAft>
              <a:buSzPct val="80000"/>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80000"/>
              </a:lnSpc>
              <a:spcBef>
                <a:spcPct val="20000"/>
              </a:spcBef>
              <a:spcAft>
                <a:spcPct val="0"/>
              </a:spcAft>
              <a:buSzPct val="80000"/>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80000"/>
              </a:lnSpc>
              <a:spcBef>
                <a:spcPct val="20000"/>
              </a:spcBef>
              <a:spcAft>
                <a:spcPct val="0"/>
              </a:spcAft>
              <a:buSzPct val="80000"/>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9pPr>
          </a:lstStyle>
          <a:p>
            <a:pPr>
              <a:defRPr/>
            </a:pPr>
            <a:endParaRPr lang="zh-CN" altLang="en-US">
              <a:latin typeface="Times New Roman" panose="02020603050405020304" pitchFamily="18" charset="0"/>
            </a:endParaRPr>
          </a:p>
        </p:txBody>
      </p:sp>
      <p:pic>
        <p:nvPicPr>
          <p:cNvPr id="5" name="Picture 31" descr="psh3_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ltGray">
          <a:xfrm>
            <a:off x="0" y="0"/>
            <a:ext cx="1143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33" name="Rectangle 21"/>
          <p:cNvSpPr>
            <a:spLocks noGrp="1" noChangeArrowheads="1"/>
          </p:cNvSpPr>
          <p:nvPr>
            <p:ph type="ctrTitle" sz="quarter"/>
          </p:nvPr>
        </p:nvSpPr>
        <p:spPr bwMode="white">
          <a:xfrm>
            <a:off x="1295400" y="1125539"/>
            <a:ext cx="10752667" cy="1081087"/>
          </a:xfrm>
          <a:prstGeom prst="rect">
            <a:avLst/>
          </a:prstGeom>
        </p:spPr>
        <p:txBody>
          <a:bodyPr/>
          <a:lstStyle>
            <a:lvl1pPr>
              <a:defRPr sz="5400">
                <a:solidFill>
                  <a:schemeClr val="bg2"/>
                </a:solidFill>
              </a:defRPr>
            </a:lvl1pPr>
          </a:lstStyle>
          <a:p>
            <a:r>
              <a:rPr lang="ko-KR" altLang="en-US"/>
              <a:t>单击此处编辑母版标题样式</a:t>
            </a:r>
          </a:p>
        </p:txBody>
      </p:sp>
      <p:sp>
        <p:nvSpPr>
          <p:cNvPr id="13334" name="Rectangle 22"/>
          <p:cNvSpPr>
            <a:spLocks noGrp="1" noChangeArrowheads="1"/>
          </p:cNvSpPr>
          <p:nvPr>
            <p:ph type="subTitle" sz="quarter" idx="1"/>
          </p:nvPr>
        </p:nvSpPr>
        <p:spPr>
          <a:xfrm>
            <a:off x="1295400" y="3810000"/>
            <a:ext cx="10752667" cy="533400"/>
          </a:xfrm>
          <a:prstGeom prst="rect">
            <a:avLst/>
          </a:prstGeom>
        </p:spPr>
        <p:txBody>
          <a:bodyPr/>
          <a:lstStyle>
            <a:lvl1pPr marL="0" indent="0" algn="ctr">
              <a:buFont typeface="Wingdings" pitchFamily="2" charset="2"/>
              <a:buNone/>
              <a:defRPr sz="2400" i="1">
                <a:solidFill>
                  <a:schemeClr val="tx1"/>
                </a:solidFill>
                <a:latin typeface="Arial" charset="0"/>
              </a:defRPr>
            </a:lvl1pPr>
          </a:lstStyle>
          <a:p>
            <a:r>
              <a:rPr lang="ko-KR" altLang="en-US"/>
              <a:t>单击此处编辑母版副标题样式</a:t>
            </a:r>
          </a:p>
        </p:txBody>
      </p:sp>
      <p:sp>
        <p:nvSpPr>
          <p:cNvPr id="6" name="Rectangle 23"/>
          <p:cNvSpPr>
            <a:spLocks noGrp="1" noChangeArrowheads="1"/>
          </p:cNvSpPr>
          <p:nvPr>
            <p:ph type="dt" sz="quarter" idx="10"/>
          </p:nvPr>
        </p:nvSpPr>
        <p:spPr>
          <a:xfrm>
            <a:off x="609600" y="6553200"/>
            <a:ext cx="2844800" cy="152400"/>
          </a:xfrm>
          <a:prstGeom prst="rect">
            <a:avLst/>
          </a:prstGeom>
        </p:spPr>
        <p:txBody>
          <a:bodyPr/>
          <a:lstStyle>
            <a:lvl1pPr>
              <a:defRPr sz="1400" b="0">
                <a:solidFill>
                  <a:schemeClr val="tx1"/>
                </a:solidFill>
                <a:effectLst>
                  <a:outerShdw blurRad="38100" dist="38100" dir="2700000" algn="tl">
                    <a:srgbClr val="C0C0C0"/>
                  </a:outerShdw>
                </a:effectLst>
                <a:latin typeface="+mj-lt"/>
              </a:defRPr>
            </a:lvl1pPr>
          </a:lstStyle>
          <a:p>
            <a:pPr>
              <a:defRPr/>
            </a:pPr>
            <a:endParaRPr lang="en-US" altLang="ko-KR"/>
          </a:p>
        </p:txBody>
      </p:sp>
      <p:sp>
        <p:nvSpPr>
          <p:cNvPr id="7" name="Rectangle 24"/>
          <p:cNvSpPr>
            <a:spLocks noGrp="1" noChangeArrowheads="1"/>
          </p:cNvSpPr>
          <p:nvPr>
            <p:ph type="ftr" sz="quarter" idx="11"/>
          </p:nvPr>
        </p:nvSpPr>
        <p:spPr>
          <a:xfrm>
            <a:off x="4165600" y="6553200"/>
            <a:ext cx="3860800" cy="152400"/>
          </a:xfrm>
          <a:prstGeom prst="rect">
            <a:avLst/>
          </a:prstGeom>
        </p:spPr>
        <p:txBody>
          <a:bodyPr/>
          <a:lstStyle>
            <a:lvl1pPr algn="ctr">
              <a:defRPr sz="1400" b="0">
                <a:solidFill>
                  <a:schemeClr val="tx1"/>
                </a:solidFill>
                <a:effectLst>
                  <a:outerShdw blurRad="38100" dist="38100" dir="2700000" algn="tl">
                    <a:srgbClr val="C0C0C0"/>
                  </a:outerShdw>
                </a:effectLst>
                <a:latin typeface="+mj-lt"/>
              </a:defRPr>
            </a:lvl1pPr>
          </a:lstStyle>
          <a:p>
            <a:pPr>
              <a:defRPr/>
            </a:pPr>
            <a:endParaRPr lang="en-US" altLang="ko-KR"/>
          </a:p>
        </p:txBody>
      </p:sp>
      <p:sp>
        <p:nvSpPr>
          <p:cNvPr id="8" name="Rectangle 25"/>
          <p:cNvSpPr>
            <a:spLocks noGrp="1" noChangeArrowheads="1"/>
          </p:cNvSpPr>
          <p:nvPr>
            <p:ph type="sldNum" sz="quarter" idx="12"/>
          </p:nvPr>
        </p:nvSpPr>
        <p:spPr>
          <a:xfrm>
            <a:off x="8737600" y="6553200"/>
            <a:ext cx="2844800" cy="152400"/>
          </a:xfrm>
          <a:prstGeom prst="rect">
            <a:avLst/>
          </a:prstGeom>
        </p:spPr>
        <p:txBody>
          <a:bodyPr/>
          <a:lstStyle>
            <a:lvl1pPr algn="r">
              <a:defRPr sz="1400" b="0">
                <a:solidFill>
                  <a:schemeClr val="tx1"/>
                </a:solidFill>
                <a:effectLst>
                  <a:outerShdw blurRad="38100" dist="38100" dir="2700000" algn="tl">
                    <a:srgbClr val="C0C0C0"/>
                  </a:outerShdw>
                </a:effectLst>
                <a:latin typeface="Times New Roman" panose="02020603050405020304" pitchFamily="18" charset="0"/>
              </a:defRPr>
            </a:lvl1pPr>
          </a:lstStyle>
          <a:p>
            <a:pPr>
              <a:defRPr/>
            </a:pPr>
            <a:fld id="{D4D886C4-3F9F-4FA8-AC55-4D025BDCE63B}" type="slidenum">
              <a:rPr lang="ko-KR" altLang="en-US"/>
              <a:pPr>
                <a:defRPr/>
              </a:pPr>
              <a:t>‹#›</a:t>
            </a:fld>
            <a:endParaRPr lang="en-US" altLang="ko-KR"/>
          </a:p>
        </p:txBody>
      </p:sp>
    </p:spTree>
    <p:extLst>
      <p:ext uri="{BB962C8B-B14F-4D97-AF65-F5344CB8AC3E}">
        <p14:creationId xmlns:p14="http://schemas.microsoft.com/office/powerpoint/2010/main" val="19990381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9" name="灯片编号占位符 5">
            <a:extLst>
              <a:ext uri="{FF2B5EF4-FFF2-40B4-BE49-F238E27FC236}">
                <a16:creationId xmlns:a16="http://schemas.microsoft.com/office/drawing/2014/main" id="{1FC42706-8AA4-F636-D0C3-0403DC1F8B1A}"/>
              </a:ext>
            </a:extLst>
          </p:cNvPr>
          <p:cNvSpPr>
            <a:spLocks noGrp="1"/>
          </p:cNvSpPr>
          <p:nvPr>
            <p:ph type="sldNum" sz="quarter" idx="12"/>
          </p:nvPr>
        </p:nvSpPr>
        <p:spPr>
          <a:xfrm>
            <a:off x="9448800" y="6525344"/>
            <a:ext cx="2743200" cy="326571"/>
          </a:xfrm>
          <a:prstGeom prst="rect">
            <a:avLst/>
          </a:prstGeom>
        </p:spPr>
        <p:txBody>
          <a:bodyPr anchor="ctr"/>
          <a:lstStyle>
            <a:lvl1pPr algn="r">
              <a:defRPr sz="1600" b="1">
                <a:solidFill>
                  <a:schemeClr val="bg1"/>
                </a:solidFill>
                <a:latin typeface="微软雅黑" panose="020B0503020204020204" pitchFamily="34" charset="-122"/>
                <a:ea typeface="微软雅黑" panose="020B0503020204020204" pitchFamily="34" charset="-122"/>
              </a:defRPr>
            </a:lvl1pPr>
          </a:lstStyle>
          <a:p>
            <a:fld id="{7209BB76-661F-4F23-A2E6-DCF093FEDF36}" type="slidenum">
              <a:rPr lang="zh-CN" altLang="en-US" smtClean="0"/>
              <a:pPr/>
              <a:t>‹#›</a:t>
            </a:fld>
            <a:endParaRPr lang="zh-CN" altLang="en-US" dirty="0"/>
          </a:p>
        </p:txBody>
      </p:sp>
      <p:sp>
        <p:nvSpPr>
          <p:cNvPr id="10" name="标题占位符 1">
            <a:extLst>
              <a:ext uri="{FF2B5EF4-FFF2-40B4-BE49-F238E27FC236}">
                <a16:creationId xmlns:a16="http://schemas.microsoft.com/office/drawing/2014/main" id="{58AA6015-4075-5186-227C-0DF5B97A5228}"/>
              </a:ext>
            </a:extLst>
          </p:cNvPr>
          <p:cNvSpPr>
            <a:spLocks noGrp="1"/>
          </p:cNvSpPr>
          <p:nvPr>
            <p:ph type="title"/>
          </p:nvPr>
        </p:nvSpPr>
        <p:spPr>
          <a:xfrm>
            <a:off x="695400" y="871855"/>
            <a:ext cx="10801200" cy="68040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zh-CN" altLang="en-US" sz="3600" b="0" kern="1200" dirty="0">
                <a:solidFill>
                  <a:schemeClr val="tx1"/>
                </a:solidFill>
                <a:latin typeface="+mj-lt"/>
                <a:ea typeface="+mj-ea"/>
                <a:cs typeface="+mj-cs"/>
              </a:defRPr>
            </a:lvl1pPr>
          </a:lstStyle>
          <a:p>
            <a:r>
              <a:rPr lang="zh-CN" altLang="en-US" dirty="0"/>
              <a:t>单击此处编辑母版标题样式</a:t>
            </a:r>
          </a:p>
        </p:txBody>
      </p:sp>
      <p:sp>
        <p:nvSpPr>
          <p:cNvPr id="11" name="文本占位符 2">
            <a:extLst>
              <a:ext uri="{FF2B5EF4-FFF2-40B4-BE49-F238E27FC236}">
                <a16:creationId xmlns:a16="http://schemas.microsoft.com/office/drawing/2014/main" id="{62205634-E0CC-A634-33E7-C3A17EB7C88F}"/>
              </a:ext>
            </a:extLst>
          </p:cNvPr>
          <p:cNvSpPr>
            <a:spLocks noGrp="1"/>
          </p:cNvSpPr>
          <p:nvPr>
            <p:ph idx="1"/>
          </p:nvPr>
        </p:nvSpPr>
        <p:spPr>
          <a:xfrm>
            <a:off x="695399" y="1569767"/>
            <a:ext cx="10801200" cy="4351338"/>
          </a:xfrm>
          <a:prstGeom prst="rect">
            <a:avLst/>
          </a:prstGeom>
        </p:spPr>
        <p:txBody>
          <a:bodyPr vert="horz" lIns="91440" tIns="45720" rIns="91440" bIns="45720" rtlCol="0">
            <a:normAutofit/>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342900" lvl="0" indent="-342900" algn="l" defTabSz="914400" rtl="0" eaLnBrk="0" fontAlgn="base" hangingPunct="0">
              <a:spcBef>
                <a:spcPct val="20000"/>
              </a:spcBef>
              <a:spcAft>
                <a:spcPct val="0"/>
              </a:spcAft>
              <a:buClr>
                <a:srgbClr val="000000"/>
              </a:buClr>
              <a:buSzPct val="80000"/>
              <a:buFont typeface="Wingdings" panose="05000000000000000000" pitchFamily="2" charset="2"/>
              <a:buChar char="¢"/>
            </a:pPr>
            <a:r>
              <a:rPr lang="zh-CN" altLang="en-US" dirty="0"/>
              <a:t>单击此处编辑母版文本样式</a:t>
            </a:r>
          </a:p>
          <a:p>
            <a:pPr marL="742950" lvl="1" indent="-285750" algn="l" defTabSz="914400" rtl="0" eaLnBrk="0" fontAlgn="base" hangingPunct="0">
              <a:spcBef>
                <a:spcPct val="20000"/>
              </a:spcBef>
              <a:spcAft>
                <a:spcPct val="0"/>
              </a:spcAft>
              <a:buClr>
                <a:srgbClr val="C0C9F6"/>
              </a:buClr>
              <a:buSzPct val="80000"/>
              <a:buFont typeface="Wingdings" panose="05000000000000000000" pitchFamily="2" charset="2"/>
              <a:buChar char="l"/>
            </a:pPr>
            <a:r>
              <a:rPr lang="zh-CN" altLang="en-US" dirty="0"/>
              <a:t>二级</a:t>
            </a:r>
          </a:p>
          <a:p>
            <a:pPr lvl="2"/>
            <a:r>
              <a:rPr lang="zh-CN" altLang="en-US" dirty="0"/>
              <a:t>三级</a:t>
            </a:r>
          </a:p>
          <a:p>
            <a:pPr lvl="3"/>
            <a:r>
              <a:rPr lang="zh-CN" altLang="en-US" dirty="0"/>
              <a:t>四级</a:t>
            </a:r>
          </a:p>
          <a:p>
            <a:pPr lvl="4"/>
            <a:r>
              <a:rPr lang="zh-CN" altLang="en-US" dirty="0"/>
              <a:t>五级</a:t>
            </a:r>
          </a:p>
        </p:txBody>
      </p:sp>
      <p:grpSp>
        <p:nvGrpSpPr>
          <p:cNvPr id="12" name="组合 11">
            <a:extLst>
              <a:ext uri="{FF2B5EF4-FFF2-40B4-BE49-F238E27FC236}">
                <a16:creationId xmlns:a16="http://schemas.microsoft.com/office/drawing/2014/main" id="{4B9F7C76-ACF4-598A-B30C-174E4C3B86A2}"/>
              </a:ext>
            </a:extLst>
          </p:cNvPr>
          <p:cNvGrpSpPr/>
          <p:nvPr userDrawn="1"/>
        </p:nvGrpSpPr>
        <p:grpSpPr>
          <a:xfrm>
            <a:off x="0" y="980758"/>
            <a:ext cx="633730" cy="406400"/>
            <a:chOff x="56" y="2009"/>
            <a:chExt cx="998" cy="640"/>
          </a:xfrm>
        </p:grpSpPr>
        <p:sp>
          <p:nvSpPr>
            <p:cNvPr id="13" name="任意多边形: 形状 7">
              <a:extLst>
                <a:ext uri="{FF2B5EF4-FFF2-40B4-BE49-F238E27FC236}">
                  <a16:creationId xmlns:a16="http://schemas.microsoft.com/office/drawing/2014/main" id="{0AA743AC-90A1-C54A-A440-BFEF26AA00AA}"/>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14" name="椭圆 13">
              <a:extLst>
                <a:ext uri="{FF2B5EF4-FFF2-40B4-BE49-F238E27FC236}">
                  <a16:creationId xmlns:a16="http://schemas.microsoft.com/office/drawing/2014/main" id="{81BC2C7A-9EDE-398C-1866-C2C3DF5F09AD}"/>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sp>
        <p:nvSpPr>
          <p:cNvPr id="15" name="文本框 14">
            <a:extLst>
              <a:ext uri="{FF2B5EF4-FFF2-40B4-BE49-F238E27FC236}">
                <a16:creationId xmlns:a16="http://schemas.microsoft.com/office/drawing/2014/main" id="{4EE7B678-F241-85C3-A16B-8A4C743B2F8E}"/>
              </a:ext>
            </a:extLst>
          </p:cNvPr>
          <p:cNvSpPr txBox="1"/>
          <p:nvPr userDrawn="1"/>
        </p:nvSpPr>
        <p:spPr>
          <a:xfrm>
            <a:off x="152400" y="0"/>
            <a:ext cx="6807696"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a:t>
            </a:r>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：进程间通信与并发控制</a:t>
            </a:r>
          </a:p>
        </p:txBody>
      </p:sp>
    </p:spTree>
    <p:extLst>
      <p:ext uri="{BB962C8B-B14F-4D97-AF65-F5344CB8AC3E}">
        <p14:creationId xmlns:p14="http://schemas.microsoft.com/office/powerpoint/2010/main" val="1953331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4" presetClass="entr" presetSubtype="10" fill="hold" grpId="0" nodeType="after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randombar(horizontal)">
                                      <p:cBhvr>
                                        <p:cTn id="12" dur="500"/>
                                        <p:tgtEl>
                                          <p:spTgt spid="11">
                                            <p:txEl>
                                              <p:pRg st="1" end="1"/>
                                            </p:txEl>
                                          </p:spTgt>
                                        </p:tgtEl>
                                      </p:cBhvr>
                                    </p:animEffect>
                                  </p:childTnLst>
                                </p:cTn>
                              </p:par>
                            </p:childTnLst>
                          </p:cTn>
                        </p:par>
                        <p:par>
                          <p:cTn id="13" fill="hold">
                            <p:stCondLst>
                              <p:cond delay="1000"/>
                            </p:stCondLst>
                            <p:childTnLst>
                              <p:par>
                                <p:cTn id="14" presetID="14" presetClass="entr" presetSubtype="10" fill="hold" grpId="0" nodeType="afterEffect">
                                  <p:stCondLst>
                                    <p:cond delay="0"/>
                                  </p:stCondLst>
                                  <p:childTnLst>
                                    <p:set>
                                      <p:cBhvr>
                                        <p:cTn id="15" dur="1" fill="hold">
                                          <p:stCondLst>
                                            <p:cond delay="0"/>
                                          </p:stCondLst>
                                        </p:cTn>
                                        <p:tgtEl>
                                          <p:spTgt spid="11">
                                            <p:txEl>
                                              <p:pRg st="2" end="2"/>
                                            </p:txEl>
                                          </p:spTgt>
                                        </p:tgtEl>
                                        <p:attrNameLst>
                                          <p:attrName>style.visibility</p:attrName>
                                        </p:attrNameLst>
                                      </p:cBhvr>
                                      <p:to>
                                        <p:strVal val="visible"/>
                                      </p:to>
                                    </p:set>
                                    <p:animEffect transition="in" filter="randombar(horizontal)">
                                      <p:cBhvr>
                                        <p:cTn id="16" dur="500"/>
                                        <p:tgtEl>
                                          <p:spTgt spid="11">
                                            <p:txEl>
                                              <p:pRg st="2" end="2"/>
                                            </p:txEl>
                                          </p:spTgt>
                                        </p:tgtEl>
                                      </p:cBhvr>
                                    </p:animEffect>
                                  </p:childTnLst>
                                </p:cTn>
                              </p:par>
                            </p:childTnLst>
                          </p:cTn>
                        </p:par>
                        <p:par>
                          <p:cTn id="17" fill="hold">
                            <p:stCondLst>
                              <p:cond delay="1500"/>
                            </p:stCondLst>
                            <p:childTnLst>
                              <p:par>
                                <p:cTn id="18" presetID="14" presetClass="entr" presetSubtype="10" fill="hold" grpId="0" nodeType="afterEffect">
                                  <p:stCondLst>
                                    <p:cond delay="0"/>
                                  </p:stCondLst>
                                  <p:childTnLst>
                                    <p:set>
                                      <p:cBhvr>
                                        <p:cTn id="19" dur="1" fill="hold">
                                          <p:stCondLst>
                                            <p:cond delay="0"/>
                                          </p:stCondLst>
                                        </p:cTn>
                                        <p:tgtEl>
                                          <p:spTgt spid="11">
                                            <p:txEl>
                                              <p:pRg st="3" end="3"/>
                                            </p:txEl>
                                          </p:spTgt>
                                        </p:tgtEl>
                                        <p:attrNameLst>
                                          <p:attrName>style.visibility</p:attrName>
                                        </p:attrNameLst>
                                      </p:cBhvr>
                                      <p:to>
                                        <p:strVal val="visible"/>
                                      </p:to>
                                    </p:set>
                                    <p:animEffect transition="in" filter="randombar(horizontal)">
                                      <p:cBhvr>
                                        <p:cTn id="20" dur="500"/>
                                        <p:tgtEl>
                                          <p:spTgt spid="11">
                                            <p:txEl>
                                              <p:pRg st="3" end="3"/>
                                            </p:txEl>
                                          </p:spTgt>
                                        </p:tgtEl>
                                      </p:cBhvr>
                                    </p:animEffect>
                                  </p:childTnLst>
                                </p:cTn>
                              </p:par>
                            </p:childTnLst>
                          </p:cTn>
                        </p:par>
                        <p:par>
                          <p:cTn id="21" fill="hold">
                            <p:stCondLst>
                              <p:cond delay="2000"/>
                            </p:stCondLst>
                            <p:childTnLst>
                              <p:par>
                                <p:cTn id="22" presetID="14" presetClass="entr" presetSubtype="10" fill="hold" grpId="0" nodeType="afterEffect">
                                  <p:stCondLst>
                                    <p:cond delay="0"/>
                                  </p:stCondLst>
                                  <p:childTnLst>
                                    <p:set>
                                      <p:cBhvr>
                                        <p:cTn id="23" dur="1" fill="hold">
                                          <p:stCondLst>
                                            <p:cond delay="0"/>
                                          </p:stCondLst>
                                        </p:cTn>
                                        <p:tgtEl>
                                          <p:spTgt spid="11">
                                            <p:txEl>
                                              <p:pRg st="4" end="4"/>
                                            </p:txEl>
                                          </p:spTgt>
                                        </p:tgtEl>
                                        <p:attrNameLst>
                                          <p:attrName>style.visibility</p:attrName>
                                        </p:attrNameLst>
                                      </p:cBhvr>
                                      <p:to>
                                        <p:strVal val="visible"/>
                                      </p:to>
                                    </p:set>
                                    <p:animEffect transition="in" filter="randombar(horizontal)">
                                      <p:cBhvr>
                                        <p:cTn id="24" dur="5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tmplLst>
          <p:tmpl lvl="1">
            <p:tnLst>
              <p:par>
                <p:cTn presetID="2" presetClass="entr" presetSubtype="4" fill="hold" nodeType="clickEffect">
                  <p:stCondLst>
                    <p:cond delay="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500" fill="hold"/>
                        <p:tgtEl>
                          <p:spTgt spid="11"/>
                        </p:tgtEl>
                        <p:attrNameLst>
                          <p:attrName>ppt_x</p:attrName>
                        </p:attrNameLst>
                      </p:cBhvr>
                      <p:tavLst>
                        <p:tav tm="0">
                          <p:val>
                            <p:strVal val="#ppt_x"/>
                          </p:val>
                        </p:tav>
                        <p:tav tm="100000">
                          <p:val>
                            <p:strVal val="#ppt_x"/>
                          </p:val>
                        </p:tav>
                      </p:tavLst>
                    </p:anim>
                    <p:anim calcmode="lin" valueType="num">
                      <p:cBhvr additive="base">
                        <p:cTn dur="500" fill="hold"/>
                        <p:tgtEl>
                          <p:spTgt spid="11"/>
                        </p:tgtEl>
                        <p:attrNameLst>
                          <p:attrName>ppt_y</p:attrName>
                        </p:attrNameLst>
                      </p:cBhvr>
                      <p:tavLst>
                        <p:tav tm="0">
                          <p:val>
                            <p:strVal val="1+#ppt_h/2"/>
                          </p:val>
                        </p:tav>
                        <p:tav tm="100000">
                          <p:val>
                            <p:strVal val="#ppt_y"/>
                          </p:val>
                        </p:tav>
                      </p:tavLst>
                    </p:anim>
                  </p:childTnLst>
                </p:cTn>
              </p:par>
            </p:tnLst>
          </p:tmpl>
          <p:tmpl lvl="2">
            <p:tnLst>
              <p:par>
                <p:cTn presetID="14" presetClass="entr" presetSubtype="1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randombar(horizontal)">
                      <p:cBhvr>
                        <p:cTn dur="500"/>
                        <p:tgtEl>
                          <p:spTgt spid="11"/>
                        </p:tgtEl>
                      </p:cBhvr>
                    </p:animEffect>
                  </p:childTnLst>
                </p:cTn>
              </p:par>
            </p:tnLst>
          </p:tmpl>
          <p:tmpl lvl="3">
            <p:tnLst>
              <p:par>
                <p:cTn presetID="14" presetClass="entr" presetSubtype="1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randombar(horizontal)">
                      <p:cBhvr>
                        <p:cTn dur="500"/>
                        <p:tgtEl>
                          <p:spTgt spid="11"/>
                        </p:tgtEl>
                      </p:cBhvr>
                    </p:animEffect>
                  </p:childTnLst>
                </p:cTn>
              </p:par>
            </p:tnLst>
          </p:tmpl>
          <p:tmpl lvl="4">
            <p:tnLst>
              <p:par>
                <p:cTn presetID="14" presetClass="entr" presetSubtype="1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randombar(horizontal)">
                      <p:cBhvr>
                        <p:cTn dur="500"/>
                        <p:tgtEl>
                          <p:spTgt spid="11"/>
                        </p:tgtEl>
                      </p:cBhvr>
                    </p:animEffect>
                  </p:childTnLst>
                </p:cTn>
              </p:par>
            </p:tnLst>
          </p:tmpl>
          <p:tmpl lvl="5">
            <p:tnLst>
              <p:par>
                <p:cTn presetID="14" presetClass="entr" presetSubtype="1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randombar(horizontal)">
                      <p:cBhvr>
                        <p:cTn dur="500"/>
                        <p:tgtEl>
                          <p:spTgt spid="11"/>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BF5B991C-2504-B90D-707E-2F4BE818EAB5}"/>
              </a:ext>
            </a:extLst>
          </p:cNvPr>
          <p:cNvSpPr>
            <a:spLocks noGrp="1"/>
          </p:cNvSpPr>
          <p:nvPr>
            <p:ph type="sldNum" sz="quarter" idx="12"/>
          </p:nvPr>
        </p:nvSpPr>
        <p:spPr>
          <a:xfrm>
            <a:off x="9448800" y="6525344"/>
            <a:ext cx="2743200" cy="326571"/>
          </a:xfrm>
          <a:prstGeom prst="rect">
            <a:avLst/>
          </a:prstGeom>
        </p:spPr>
        <p:txBody>
          <a:bodyPr anchor="ctr"/>
          <a:lstStyle>
            <a:lvl1pPr algn="r">
              <a:defRPr sz="1600" b="1">
                <a:solidFill>
                  <a:schemeClr val="bg1"/>
                </a:solidFill>
                <a:latin typeface="微软雅黑" panose="020B0503020204020204" pitchFamily="34" charset="-122"/>
                <a:ea typeface="微软雅黑" panose="020B0503020204020204" pitchFamily="34" charset="-122"/>
              </a:defRPr>
            </a:lvl1pPr>
          </a:lstStyle>
          <a:p>
            <a:fld id="{7209BB76-661F-4F23-A2E6-DCF093FEDF36}" type="slidenum">
              <a:rPr lang="zh-CN" altLang="en-US" smtClean="0"/>
              <a:pPr/>
              <a:t>‹#›</a:t>
            </a:fld>
            <a:endParaRPr lang="zh-CN" altLang="en-US" dirty="0"/>
          </a:p>
        </p:txBody>
      </p:sp>
      <p:sp>
        <p:nvSpPr>
          <p:cNvPr id="8" name="标题占位符 1">
            <a:extLst>
              <a:ext uri="{FF2B5EF4-FFF2-40B4-BE49-F238E27FC236}">
                <a16:creationId xmlns:a16="http://schemas.microsoft.com/office/drawing/2014/main" id="{38AC2C9D-1BBC-44D3-5D27-D84AD268480D}"/>
              </a:ext>
            </a:extLst>
          </p:cNvPr>
          <p:cNvSpPr>
            <a:spLocks noGrp="1"/>
          </p:cNvSpPr>
          <p:nvPr>
            <p:ph type="title"/>
          </p:nvPr>
        </p:nvSpPr>
        <p:spPr>
          <a:xfrm>
            <a:off x="695400" y="871855"/>
            <a:ext cx="10801200" cy="680403"/>
          </a:xfrm>
          <a:prstGeom prst="rect">
            <a:avLst/>
          </a:prstGeom>
        </p:spPr>
        <p:txBody>
          <a:bodyPr vert="horz" lIns="91440" tIns="45720" rIns="91440" bIns="45720" rtlCol="0" anchor="ctr">
            <a:normAutofit/>
          </a:bodyPr>
          <a:lstStyle>
            <a:lvl1pPr algn="l">
              <a:defRPr b="0"/>
            </a:lvl1pPr>
          </a:lstStyle>
          <a:p>
            <a:r>
              <a:rPr lang="zh-CN" altLang="en-US" dirty="0"/>
              <a:t>单击此处编辑母版标题样式</a:t>
            </a:r>
          </a:p>
        </p:txBody>
      </p:sp>
      <p:sp>
        <p:nvSpPr>
          <p:cNvPr id="9" name="文本占位符 2">
            <a:extLst>
              <a:ext uri="{FF2B5EF4-FFF2-40B4-BE49-F238E27FC236}">
                <a16:creationId xmlns:a16="http://schemas.microsoft.com/office/drawing/2014/main" id="{101CCB50-3130-8446-7327-B132FCE9F68A}"/>
              </a:ext>
            </a:extLst>
          </p:cNvPr>
          <p:cNvSpPr>
            <a:spLocks noGrp="1"/>
          </p:cNvSpPr>
          <p:nvPr>
            <p:ph idx="1"/>
          </p:nvPr>
        </p:nvSpPr>
        <p:spPr>
          <a:xfrm>
            <a:off x="695399" y="1569767"/>
            <a:ext cx="10801200" cy="4351338"/>
          </a:xfrm>
          <a:prstGeom prst="rect">
            <a:avLst/>
          </a:prstGeom>
        </p:spPr>
        <p:txBody>
          <a:bodyPr vert="horz" lIns="91440" tIns="45720" rIns="91440" bIns="45720" rtlCol="0">
            <a:normAutofit/>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342900" lvl="0" indent="-342900" algn="l" defTabSz="914400" rtl="0" eaLnBrk="0" fontAlgn="base" hangingPunct="0">
              <a:spcBef>
                <a:spcPct val="20000"/>
              </a:spcBef>
              <a:spcAft>
                <a:spcPct val="0"/>
              </a:spcAft>
              <a:buClr>
                <a:srgbClr val="000000"/>
              </a:buClr>
              <a:buSzPct val="80000"/>
              <a:buFont typeface="Wingdings" panose="05000000000000000000" pitchFamily="2" charset="2"/>
              <a:buChar char="¢"/>
            </a:pPr>
            <a:r>
              <a:rPr lang="zh-CN" altLang="en-US" dirty="0"/>
              <a:t>单击此处编辑母版文本样式</a:t>
            </a:r>
          </a:p>
          <a:p>
            <a:pPr marL="742950" lvl="1" indent="-285750" algn="l" defTabSz="914400" rtl="0" eaLnBrk="0" fontAlgn="base" hangingPunct="0">
              <a:spcBef>
                <a:spcPct val="20000"/>
              </a:spcBef>
              <a:spcAft>
                <a:spcPct val="0"/>
              </a:spcAft>
              <a:buClr>
                <a:srgbClr val="C0C9F6"/>
              </a:buClr>
              <a:buSzPct val="80000"/>
              <a:buFont typeface="Wingdings" panose="05000000000000000000" pitchFamily="2" charset="2"/>
              <a:buChar char="l"/>
            </a:pPr>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6" name="文本框 5">
            <a:extLst>
              <a:ext uri="{FF2B5EF4-FFF2-40B4-BE49-F238E27FC236}">
                <a16:creationId xmlns:a16="http://schemas.microsoft.com/office/drawing/2014/main" id="{D1FF17FB-9C8F-4249-8706-8FE16D91A702}"/>
              </a:ext>
            </a:extLst>
          </p:cNvPr>
          <p:cNvSpPr txBox="1"/>
          <p:nvPr userDrawn="1"/>
        </p:nvSpPr>
        <p:spPr>
          <a:xfrm>
            <a:off x="152400" y="0"/>
            <a:ext cx="6807696"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a:t>
            </a:r>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：进程间通信与并发控制</a:t>
            </a:r>
          </a:p>
        </p:txBody>
      </p:sp>
    </p:spTree>
    <p:extLst>
      <p:ext uri="{BB962C8B-B14F-4D97-AF65-F5344CB8AC3E}">
        <p14:creationId xmlns:p14="http://schemas.microsoft.com/office/powerpoint/2010/main" val="2605109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4" presetClass="entr" presetSubtype="10" fill="hold" grpId="0" nodeType="after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randombar(horizontal)">
                                      <p:cBhvr>
                                        <p:cTn id="12" dur="500"/>
                                        <p:tgtEl>
                                          <p:spTgt spid="9">
                                            <p:txEl>
                                              <p:pRg st="1" end="1"/>
                                            </p:txEl>
                                          </p:spTgt>
                                        </p:tgtEl>
                                      </p:cBhvr>
                                    </p:animEffect>
                                  </p:childTnLst>
                                </p:cTn>
                              </p:par>
                            </p:childTnLst>
                          </p:cTn>
                        </p:par>
                        <p:par>
                          <p:cTn id="13" fill="hold">
                            <p:stCondLst>
                              <p:cond delay="1000"/>
                            </p:stCondLst>
                            <p:childTnLst>
                              <p:par>
                                <p:cTn id="14" presetID="14" presetClass="entr" presetSubtype="10" fill="hold" grpId="0" nodeType="afterEffect">
                                  <p:stCondLst>
                                    <p:cond delay="0"/>
                                  </p:stCondLst>
                                  <p:childTnLst>
                                    <p:set>
                                      <p:cBhvr>
                                        <p:cTn id="15"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6" dur="500"/>
                                        <p:tgtEl>
                                          <p:spTgt spid="9">
                                            <p:txEl>
                                              <p:pRg st="2" end="2"/>
                                            </p:txEl>
                                          </p:spTgt>
                                        </p:tgtEl>
                                      </p:cBhvr>
                                    </p:animEffect>
                                  </p:childTnLst>
                                </p:cTn>
                              </p:par>
                            </p:childTnLst>
                          </p:cTn>
                        </p:par>
                        <p:par>
                          <p:cTn id="17" fill="hold">
                            <p:stCondLst>
                              <p:cond delay="1500"/>
                            </p:stCondLst>
                            <p:childTnLst>
                              <p:par>
                                <p:cTn id="18" presetID="14" presetClass="entr" presetSubtype="10" fill="hold" grpId="0" nodeType="afterEffect">
                                  <p:stCondLst>
                                    <p:cond delay="0"/>
                                  </p:stCondLst>
                                  <p:childTnLst>
                                    <p:set>
                                      <p:cBhvr>
                                        <p:cTn id="19" dur="1" fill="hold">
                                          <p:stCondLst>
                                            <p:cond delay="0"/>
                                          </p:stCondLst>
                                        </p:cTn>
                                        <p:tgtEl>
                                          <p:spTgt spid="9">
                                            <p:txEl>
                                              <p:pRg st="3" end="3"/>
                                            </p:txEl>
                                          </p:spTgt>
                                        </p:tgtEl>
                                        <p:attrNameLst>
                                          <p:attrName>style.visibility</p:attrName>
                                        </p:attrNameLst>
                                      </p:cBhvr>
                                      <p:to>
                                        <p:strVal val="visible"/>
                                      </p:to>
                                    </p:set>
                                    <p:animEffect transition="in" filter="randombar(horizontal)">
                                      <p:cBhvr>
                                        <p:cTn id="20" dur="500"/>
                                        <p:tgtEl>
                                          <p:spTgt spid="9">
                                            <p:txEl>
                                              <p:pRg st="3" end="3"/>
                                            </p:txEl>
                                          </p:spTgt>
                                        </p:tgtEl>
                                      </p:cBhvr>
                                    </p:animEffect>
                                  </p:childTnLst>
                                </p:cTn>
                              </p:par>
                            </p:childTnLst>
                          </p:cTn>
                        </p:par>
                        <p:par>
                          <p:cTn id="21" fill="hold">
                            <p:stCondLst>
                              <p:cond delay="2000"/>
                            </p:stCondLst>
                            <p:childTnLst>
                              <p:par>
                                <p:cTn id="22" presetID="14" presetClass="entr" presetSubtype="10" fill="hold" grpId="0" nodeType="afterEffect">
                                  <p:stCondLst>
                                    <p:cond delay="0"/>
                                  </p:stCondLst>
                                  <p:childTnLst>
                                    <p:set>
                                      <p:cBhvr>
                                        <p:cTn id="23" dur="1" fill="hold">
                                          <p:stCondLst>
                                            <p:cond delay="0"/>
                                          </p:stCondLst>
                                        </p:cTn>
                                        <p:tgtEl>
                                          <p:spTgt spid="9">
                                            <p:txEl>
                                              <p:pRg st="4" end="4"/>
                                            </p:txEl>
                                          </p:spTgt>
                                        </p:tgtEl>
                                        <p:attrNameLst>
                                          <p:attrName>style.visibility</p:attrName>
                                        </p:attrNameLst>
                                      </p:cBhvr>
                                      <p:to>
                                        <p:strVal val="visible"/>
                                      </p:to>
                                    </p:set>
                                    <p:animEffect transition="in" filter="randombar(horizontal)">
                                      <p:cBhvr>
                                        <p:cTn id="24"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tmplLst>
          <p:tmpl lvl="1">
            <p:tnLst>
              <p:par>
                <p:cTn presetID="2" presetClass="entr" presetSubtype="4" fill="hold" nodeType="click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2">
            <p:tnLst>
              <p:par>
                <p:cTn presetID="14" presetClass="entr" presetSubtype="1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randombar(horizontal)">
                      <p:cBhvr>
                        <p:cTn dur="500"/>
                        <p:tgtEl>
                          <p:spTgt spid="9"/>
                        </p:tgtEl>
                      </p:cBhvr>
                    </p:animEffect>
                  </p:childTnLst>
                </p:cTn>
              </p:par>
            </p:tnLst>
          </p:tmpl>
          <p:tmpl lvl="3">
            <p:tnLst>
              <p:par>
                <p:cTn presetID="14" presetClass="entr" presetSubtype="1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randombar(horizontal)">
                      <p:cBhvr>
                        <p:cTn dur="500"/>
                        <p:tgtEl>
                          <p:spTgt spid="9"/>
                        </p:tgtEl>
                      </p:cBhvr>
                    </p:animEffect>
                  </p:childTnLst>
                </p:cTn>
              </p:par>
            </p:tnLst>
          </p:tmpl>
          <p:tmpl lvl="4">
            <p:tnLst>
              <p:par>
                <p:cTn presetID="14" presetClass="entr" presetSubtype="1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randombar(horizontal)">
                      <p:cBhvr>
                        <p:cTn dur="500"/>
                        <p:tgtEl>
                          <p:spTgt spid="9"/>
                        </p:tgtEl>
                      </p:cBhvr>
                    </p:animEffect>
                  </p:childTnLst>
                </p:cTn>
              </p:par>
            </p:tnLst>
          </p:tmpl>
          <p:tmpl lvl="5">
            <p:tnLst>
              <p:par>
                <p:cTn presetID="14" presetClass="entr" presetSubtype="1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randombar(horizontal)">
                      <p:cBhvr>
                        <p:cTn dur="500"/>
                        <p:tgtEl>
                          <p:spTgt spid="9"/>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295401" y="304801"/>
            <a:ext cx="10369551" cy="892175"/>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1295400" y="1371600"/>
            <a:ext cx="5274733" cy="49530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773334" y="1371600"/>
            <a:ext cx="5274733" cy="49530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53EAEF3E-19BA-4213-A85B-1F689728CECF}" type="slidenum">
              <a:rPr lang="en-US" altLang="ko-KR"/>
              <a:pPr>
                <a:defRPr/>
              </a:pPr>
              <a:t>‹#›</a:t>
            </a:fld>
            <a:endParaRPr lang="en-US" altLang="ko-KR"/>
          </a:p>
        </p:txBody>
      </p:sp>
    </p:spTree>
    <p:extLst>
      <p:ext uri="{BB962C8B-B14F-4D97-AF65-F5344CB8AC3E}">
        <p14:creationId xmlns:p14="http://schemas.microsoft.com/office/powerpoint/2010/main" val="2752272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7AF9EF51-6B99-4AD4-83F1-F6D419B391EC}" type="slidenum">
              <a:rPr lang="en-US" altLang="ko-KR"/>
              <a:pPr>
                <a:defRPr/>
              </a:pPr>
              <a:t>‹#›</a:t>
            </a:fld>
            <a:endParaRPr lang="en-US" altLang="ko-KR"/>
          </a:p>
        </p:txBody>
      </p:sp>
    </p:spTree>
    <p:extLst>
      <p:ext uri="{BB962C8B-B14F-4D97-AF65-F5344CB8AC3E}">
        <p14:creationId xmlns:p14="http://schemas.microsoft.com/office/powerpoint/2010/main" val="181795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295401" y="304801"/>
            <a:ext cx="10369551" cy="892175"/>
          </a:xfrm>
          <a:prstGeom prst="rect">
            <a:avLst/>
          </a:prstGeom>
        </p:spPr>
        <p:txBody>
          <a:bodyPr/>
          <a:lstStyle/>
          <a:p>
            <a:r>
              <a:rPr lang="zh-CN" altLang="en-US"/>
              <a:t>单击此处编辑母版标题样式</a:t>
            </a:r>
          </a:p>
        </p:txBody>
      </p:sp>
      <p:sp>
        <p:nvSpPr>
          <p:cNvPr id="5"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A5E20DB9-B0E4-4A81-988C-FBBB732D6F5C}" type="slidenum">
              <a:rPr lang="en-US" altLang="ko-KR"/>
              <a:pPr>
                <a:defRPr/>
              </a:pPr>
              <a:t>‹#›</a:t>
            </a:fld>
            <a:endParaRPr lang="en-US" altLang="ko-KR"/>
          </a:p>
        </p:txBody>
      </p:sp>
    </p:spTree>
    <p:extLst>
      <p:ext uri="{BB962C8B-B14F-4D97-AF65-F5344CB8AC3E}">
        <p14:creationId xmlns:p14="http://schemas.microsoft.com/office/powerpoint/2010/main" val="1411340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7FB35390-FBD5-4AD1-9630-7751BB08F3CC}" type="slidenum">
              <a:rPr lang="en-US" altLang="ko-KR"/>
              <a:pPr>
                <a:defRPr/>
              </a:pPr>
              <a:t>‹#›</a:t>
            </a:fld>
            <a:endParaRPr lang="en-US" altLang="ko-KR"/>
          </a:p>
        </p:txBody>
      </p:sp>
    </p:spTree>
    <p:extLst>
      <p:ext uri="{BB962C8B-B14F-4D97-AF65-F5344CB8AC3E}">
        <p14:creationId xmlns:p14="http://schemas.microsoft.com/office/powerpoint/2010/main" val="1866023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7"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15DEC0BD-1C9B-4238-BAF6-47B27DB7924E}" type="slidenum">
              <a:rPr lang="en-US" altLang="ko-KR"/>
              <a:pPr>
                <a:defRPr/>
              </a:pPr>
              <a:t>‹#›</a:t>
            </a:fld>
            <a:endParaRPr lang="en-US" altLang="ko-KR"/>
          </a:p>
        </p:txBody>
      </p:sp>
    </p:spTree>
    <p:extLst>
      <p:ext uri="{BB962C8B-B14F-4D97-AF65-F5344CB8AC3E}">
        <p14:creationId xmlns:p14="http://schemas.microsoft.com/office/powerpoint/2010/main" val="3000537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7"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6D0AC306-6975-496A-BFBA-CFB773CDDF28}" type="slidenum">
              <a:rPr lang="en-US" altLang="ko-KR"/>
              <a:pPr>
                <a:defRPr/>
              </a:pPr>
              <a:t>‹#›</a:t>
            </a:fld>
            <a:endParaRPr lang="en-US" altLang="ko-KR"/>
          </a:p>
        </p:txBody>
      </p:sp>
    </p:spTree>
    <p:extLst>
      <p:ext uri="{BB962C8B-B14F-4D97-AF65-F5344CB8AC3E}">
        <p14:creationId xmlns:p14="http://schemas.microsoft.com/office/powerpoint/2010/main" val="1418017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295401" y="304801"/>
            <a:ext cx="10369551" cy="8921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1295400" y="1371600"/>
            <a:ext cx="10752667" cy="501015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6F6A2EBF-6055-449F-99EE-9C06F5875DB7}" type="slidenum">
              <a:rPr lang="en-US" altLang="ko-KR"/>
              <a:pPr>
                <a:defRPr/>
              </a:pPr>
              <a:t>‹#›</a:t>
            </a:fld>
            <a:endParaRPr lang="en-US" altLang="ko-KR"/>
          </a:p>
        </p:txBody>
      </p:sp>
    </p:spTree>
    <p:extLst>
      <p:ext uri="{BB962C8B-B14F-4D97-AF65-F5344CB8AC3E}">
        <p14:creationId xmlns:p14="http://schemas.microsoft.com/office/powerpoint/2010/main" val="249117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59901" y="304800"/>
            <a:ext cx="2688167" cy="6019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295401" y="304800"/>
            <a:ext cx="7861300" cy="6019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C771EBB3-3E84-49FA-B91F-7EF666384BB3}" type="slidenum">
              <a:rPr lang="en-US" altLang="ko-KR"/>
              <a:pPr>
                <a:defRPr/>
              </a:pPr>
              <a:t>‹#›</a:t>
            </a:fld>
            <a:endParaRPr lang="en-US" altLang="ko-KR"/>
          </a:p>
        </p:txBody>
      </p:sp>
    </p:spTree>
    <p:extLst>
      <p:ext uri="{BB962C8B-B14F-4D97-AF65-F5344CB8AC3E}">
        <p14:creationId xmlns:p14="http://schemas.microsoft.com/office/powerpoint/2010/main" val="29550925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95401" y="304801"/>
            <a:ext cx="10369551" cy="892175"/>
          </a:xfrm>
          <a:prstGeom prst="rect">
            <a:avLst/>
          </a:prstGeom>
        </p:spPr>
        <p:txBody>
          <a:bodyPr/>
          <a:lstStyle/>
          <a:p>
            <a:r>
              <a:rPr lang="zh-CN" altLang="en-US"/>
              <a:t>单击此处编辑母版标题样式</a:t>
            </a:r>
          </a:p>
        </p:txBody>
      </p:sp>
      <p:sp>
        <p:nvSpPr>
          <p:cNvPr id="3" name="文本占位符 2"/>
          <p:cNvSpPr>
            <a:spLocks noGrp="1"/>
          </p:cNvSpPr>
          <p:nvPr>
            <p:ph type="body" sz="half" idx="1"/>
          </p:nvPr>
        </p:nvSpPr>
        <p:spPr>
          <a:xfrm>
            <a:off x="1295400" y="1371600"/>
            <a:ext cx="5274733" cy="49530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773334" y="1371600"/>
            <a:ext cx="5274733" cy="49530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A03282E1-CAC2-4021-9FE3-D87A9FFFE49C}" type="slidenum">
              <a:rPr lang="en-US" altLang="ko-KR"/>
              <a:pPr>
                <a:defRPr/>
              </a:pPr>
              <a:t>‹#›</a:t>
            </a:fld>
            <a:endParaRPr lang="en-US" altLang="ko-KR"/>
          </a:p>
        </p:txBody>
      </p:sp>
    </p:spTree>
    <p:extLst>
      <p:ext uri="{BB962C8B-B14F-4D97-AF65-F5344CB8AC3E}">
        <p14:creationId xmlns:p14="http://schemas.microsoft.com/office/powerpoint/2010/main" val="6706275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6"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B40D5C89-3F50-4E78-90D8-3CB123F8C3B8}" type="slidenum">
              <a:rPr lang="en-US" altLang="ko-KR"/>
              <a:pPr>
                <a:defRPr/>
              </a:pPr>
              <a:t>‹#›</a:t>
            </a:fld>
            <a:endParaRPr lang="en-US" altLang="ko-KR"/>
          </a:p>
        </p:txBody>
      </p:sp>
    </p:spTree>
    <p:extLst>
      <p:ext uri="{BB962C8B-B14F-4D97-AF65-F5344CB8AC3E}">
        <p14:creationId xmlns:p14="http://schemas.microsoft.com/office/powerpoint/2010/main" val="16618607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showMasterPhAnim="0" userDrawn="1">
  <p:cSld name="2_标题幻灯片">
    <p:bg bwMode="gray">
      <p:bgPr>
        <a:solidFill>
          <a:schemeClr val="bg1"/>
        </a:solidFill>
        <a:effectLst/>
      </p:bgPr>
    </p:bg>
    <p:spTree>
      <p:nvGrpSpPr>
        <p:cNvPr id="1" name=""/>
        <p:cNvGrpSpPr/>
        <p:nvPr/>
      </p:nvGrpSpPr>
      <p:grpSpPr>
        <a:xfrm>
          <a:off x="0" y="0"/>
          <a:ext cx="0" cy="0"/>
          <a:chOff x="0" y="0"/>
          <a:chExt cx="0" cy="0"/>
        </a:xfrm>
      </p:grpSpPr>
      <p:sp>
        <p:nvSpPr>
          <p:cNvPr id="2" name="矩形 1"/>
          <p:cNvSpPr/>
          <p:nvPr userDrawn="1"/>
        </p:nvSpPr>
        <p:spPr>
          <a:xfrm>
            <a:off x="0" y="6538324"/>
            <a:ext cx="12192000" cy="324646"/>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sp>
        <p:nvSpPr>
          <p:cNvPr id="11" name="矩形 10"/>
          <p:cNvSpPr/>
          <p:nvPr userDrawn="1"/>
        </p:nvSpPr>
        <p:spPr>
          <a:xfrm>
            <a:off x="-26035" y="-635"/>
            <a:ext cx="12217400" cy="688975"/>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a:extLst>
              <a:ext uri="{FF2B5EF4-FFF2-40B4-BE49-F238E27FC236}">
                <a16:creationId xmlns:a16="http://schemas.microsoft.com/office/drawing/2014/main" id="{4E846B4C-16BF-4D62-8241-40D33E80586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0416" y="15367"/>
            <a:ext cx="3238500" cy="714375"/>
          </a:xfrm>
          <a:prstGeom prst="rect">
            <a:avLst/>
          </a:prstGeom>
        </p:spPr>
      </p:pic>
    </p:spTree>
    <p:extLst>
      <p:ext uri="{BB962C8B-B14F-4D97-AF65-F5344CB8AC3E}">
        <p14:creationId xmlns:p14="http://schemas.microsoft.com/office/powerpoint/2010/main" val="3310828320"/>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5998"/>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399"/>
            </a:lvl1pPr>
            <a:lvl2pPr marL="457017" indent="0" algn="ctr">
              <a:buNone/>
              <a:defRPr sz="1999"/>
            </a:lvl2pPr>
            <a:lvl3pPr marL="914034" indent="0" algn="ctr">
              <a:buNone/>
              <a:defRPr sz="1799"/>
            </a:lvl3pPr>
            <a:lvl4pPr marL="1371051" indent="0" algn="ctr">
              <a:buNone/>
              <a:defRPr sz="1599"/>
            </a:lvl4pPr>
            <a:lvl5pPr marL="1828068" indent="0" algn="ctr">
              <a:buNone/>
              <a:defRPr sz="1599"/>
            </a:lvl5pPr>
            <a:lvl6pPr marL="2285086" indent="0" algn="ctr">
              <a:buNone/>
              <a:defRPr sz="1599"/>
            </a:lvl6pPr>
            <a:lvl7pPr marL="2742103" indent="0" algn="ctr">
              <a:buNone/>
              <a:defRPr sz="1599"/>
            </a:lvl7pPr>
            <a:lvl8pPr marL="3199120" indent="0" algn="ctr">
              <a:buNone/>
              <a:defRPr sz="1599"/>
            </a:lvl8pPr>
            <a:lvl9pPr marL="3656137" indent="0" algn="ctr">
              <a:buNone/>
              <a:defRPr sz="1599"/>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5D61F55F-01F5-9745-81A5-4C312B5746FC}" type="datetimeFigureOut">
              <a:rPr kumimoji="1" lang="zh-CN" altLang="en-US" smtClean="0">
                <a:solidFill>
                  <a:prstClr val="black">
                    <a:tint val="75000"/>
                  </a:prstClr>
                </a:solidFill>
              </a:rPr>
              <a:pPr/>
              <a:t>2025/11/4</a:t>
            </a:fld>
            <a:endParaRPr kumimoji="1"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kumimoji="1"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9236CC9-F3AF-5743-BB23-FB32A03CDB87}"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Tree>
    <p:extLst>
      <p:ext uri="{BB962C8B-B14F-4D97-AF65-F5344CB8AC3E}">
        <p14:creationId xmlns:p14="http://schemas.microsoft.com/office/powerpoint/2010/main" val="18540763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D61F55F-01F5-9745-81A5-4C312B5746FC}" type="datetimeFigureOut">
              <a:rPr kumimoji="1" lang="zh-CN" altLang="en-US" smtClean="0">
                <a:solidFill>
                  <a:prstClr val="black">
                    <a:tint val="75000"/>
                  </a:prstClr>
                </a:solidFill>
              </a:rPr>
              <a:pPr/>
              <a:t>2025/11/4</a:t>
            </a:fld>
            <a:endParaRPr kumimoji="1"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kumimoji="1"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9236CC9-F3AF-5743-BB23-FB32A03CDB87}"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Tree>
    <p:extLst>
      <p:ext uri="{BB962C8B-B14F-4D97-AF65-F5344CB8AC3E}">
        <p14:creationId xmlns:p14="http://schemas.microsoft.com/office/powerpoint/2010/main" val="39233112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40"/>
            <a:ext cx="10515600" cy="2852737"/>
          </a:xfrm>
        </p:spPr>
        <p:txBody>
          <a:bodyPr anchor="b"/>
          <a:lstStyle>
            <a:lvl1pPr>
              <a:defRPr sz="5998"/>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5"/>
            <a:ext cx="10515600" cy="1500187"/>
          </a:xfrm>
        </p:spPr>
        <p:txBody>
          <a:bodyPr/>
          <a:lstStyle>
            <a:lvl1pPr marL="0" indent="0">
              <a:buNone/>
              <a:defRPr sz="2399">
                <a:solidFill>
                  <a:schemeClr val="tx1">
                    <a:tint val="75000"/>
                  </a:schemeClr>
                </a:solidFill>
              </a:defRPr>
            </a:lvl1pPr>
            <a:lvl2pPr marL="457017" indent="0">
              <a:buNone/>
              <a:defRPr sz="1999">
                <a:solidFill>
                  <a:schemeClr val="tx1">
                    <a:tint val="75000"/>
                  </a:schemeClr>
                </a:solidFill>
              </a:defRPr>
            </a:lvl2pPr>
            <a:lvl3pPr marL="914034" indent="0">
              <a:buNone/>
              <a:defRPr sz="1799">
                <a:solidFill>
                  <a:schemeClr val="tx1">
                    <a:tint val="75000"/>
                  </a:schemeClr>
                </a:solidFill>
              </a:defRPr>
            </a:lvl3pPr>
            <a:lvl4pPr marL="1371051" indent="0">
              <a:buNone/>
              <a:defRPr sz="1599">
                <a:solidFill>
                  <a:schemeClr val="tx1">
                    <a:tint val="75000"/>
                  </a:schemeClr>
                </a:solidFill>
              </a:defRPr>
            </a:lvl4pPr>
            <a:lvl5pPr marL="1828068" indent="0">
              <a:buNone/>
              <a:defRPr sz="1599">
                <a:solidFill>
                  <a:schemeClr val="tx1">
                    <a:tint val="75000"/>
                  </a:schemeClr>
                </a:solidFill>
              </a:defRPr>
            </a:lvl5pPr>
            <a:lvl6pPr marL="2285086" indent="0">
              <a:buNone/>
              <a:defRPr sz="1599">
                <a:solidFill>
                  <a:schemeClr val="tx1">
                    <a:tint val="75000"/>
                  </a:schemeClr>
                </a:solidFill>
              </a:defRPr>
            </a:lvl6pPr>
            <a:lvl7pPr marL="2742103" indent="0">
              <a:buNone/>
              <a:defRPr sz="1599">
                <a:solidFill>
                  <a:schemeClr val="tx1">
                    <a:tint val="75000"/>
                  </a:schemeClr>
                </a:solidFill>
              </a:defRPr>
            </a:lvl7pPr>
            <a:lvl8pPr marL="3199120" indent="0">
              <a:buNone/>
              <a:defRPr sz="1599">
                <a:solidFill>
                  <a:schemeClr val="tx1">
                    <a:tint val="75000"/>
                  </a:schemeClr>
                </a:solidFill>
              </a:defRPr>
            </a:lvl8pPr>
            <a:lvl9pPr marL="3656137" indent="0">
              <a:buNone/>
              <a:defRPr sz="1599">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5D61F55F-01F5-9745-81A5-4C312B5746FC}" type="datetimeFigureOut">
              <a:rPr kumimoji="1" lang="zh-CN" altLang="en-US" smtClean="0">
                <a:solidFill>
                  <a:prstClr val="black">
                    <a:tint val="75000"/>
                  </a:prstClr>
                </a:solidFill>
              </a:rPr>
              <a:pPr/>
              <a:t>2025/11/4</a:t>
            </a:fld>
            <a:endParaRPr kumimoji="1"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kumimoji="1"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9236CC9-F3AF-5743-BB23-FB32A03CDB87}"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Tree>
    <p:extLst>
      <p:ext uri="{BB962C8B-B14F-4D97-AF65-F5344CB8AC3E}">
        <p14:creationId xmlns:p14="http://schemas.microsoft.com/office/powerpoint/2010/main" val="4019133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5D61F55F-01F5-9745-81A5-4C312B5746FC}" type="datetimeFigureOut">
              <a:rPr kumimoji="1" lang="zh-CN" altLang="en-US" smtClean="0">
                <a:solidFill>
                  <a:prstClr val="black">
                    <a:tint val="75000"/>
                  </a:prstClr>
                </a:solidFill>
              </a:rPr>
              <a:pPr/>
              <a:t>2025/11/4</a:t>
            </a:fld>
            <a:endParaRPr kumimoji="1"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kumimoji="1"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9236CC9-F3AF-5743-BB23-FB32A03CDB87}"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Tree>
    <p:extLst>
      <p:ext uri="{BB962C8B-B14F-4D97-AF65-F5344CB8AC3E}">
        <p14:creationId xmlns:p14="http://schemas.microsoft.com/office/powerpoint/2010/main" val="15261992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399" b="1"/>
            </a:lvl1pPr>
            <a:lvl2pPr marL="457017" indent="0">
              <a:buNone/>
              <a:defRPr sz="1999" b="1"/>
            </a:lvl2pPr>
            <a:lvl3pPr marL="914034" indent="0">
              <a:buNone/>
              <a:defRPr sz="1799" b="1"/>
            </a:lvl3pPr>
            <a:lvl4pPr marL="1371051" indent="0">
              <a:buNone/>
              <a:defRPr sz="1599" b="1"/>
            </a:lvl4pPr>
            <a:lvl5pPr marL="1828068" indent="0">
              <a:buNone/>
              <a:defRPr sz="1599" b="1"/>
            </a:lvl5pPr>
            <a:lvl6pPr marL="2285086" indent="0">
              <a:buNone/>
              <a:defRPr sz="1599" b="1"/>
            </a:lvl6pPr>
            <a:lvl7pPr marL="2742103" indent="0">
              <a:buNone/>
              <a:defRPr sz="1599" b="1"/>
            </a:lvl7pPr>
            <a:lvl8pPr marL="3199120" indent="0">
              <a:buNone/>
              <a:defRPr sz="1599" b="1"/>
            </a:lvl8pPr>
            <a:lvl9pPr marL="3656137" indent="0">
              <a:buNone/>
              <a:defRPr sz="1599" b="1"/>
            </a:lvl9pPr>
          </a:lstStyle>
          <a:p>
            <a:pPr lvl="0"/>
            <a:r>
              <a:rPr lang="zh-CN" altLang="en-US"/>
              <a:t>编辑母版文本样式</a:t>
            </a:r>
          </a:p>
        </p:txBody>
      </p:sp>
      <p:sp>
        <p:nvSpPr>
          <p:cNvPr id="4" name="Content Placeholder 3"/>
          <p:cNvSpPr>
            <a:spLocks noGrp="1"/>
          </p:cNvSpPr>
          <p:nvPr>
            <p:ph sz="half" idx="2"/>
          </p:nvPr>
        </p:nvSpPr>
        <p:spPr>
          <a:xfrm>
            <a:off x="839789"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399" b="1"/>
            </a:lvl1pPr>
            <a:lvl2pPr marL="457017" indent="0">
              <a:buNone/>
              <a:defRPr sz="1999" b="1"/>
            </a:lvl2pPr>
            <a:lvl3pPr marL="914034" indent="0">
              <a:buNone/>
              <a:defRPr sz="1799" b="1"/>
            </a:lvl3pPr>
            <a:lvl4pPr marL="1371051" indent="0">
              <a:buNone/>
              <a:defRPr sz="1599" b="1"/>
            </a:lvl4pPr>
            <a:lvl5pPr marL="1828068" indent="0">
              <a:buNone/>
              <a:defRPr sz="1599" b="1"/>
            </a:lvl5pPr>
            <a:lvl6pPr marL="2285086" indent="0">
              <a:buNone/>
              <a:defRPr sz="1599" b="1"/>
            </a:lvl6pPr>
            <a:lvl7pPr marL="2742103" indent="0">
              <a:buNone/>
              <a:defRPr sz="1599" b="1"/>
            </a:lvl7pPr>
            <a:lvl8pPr marL="3199120" indent="0">
              <a:buNone/>
              <a:defRPr sz="1599" b="1"/>
            </a:lvl8pPr>
            <a:lvl9pPr marL="3656137" indent="0">
              <a:buNone/>
              <a:defRPr sz="1599"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5D61F55F-01F5-9745-81A5-4C312B5746FC}" type="datetimeFigureOut">
              <a:rPr kumimoji="1" lang="zh-CN" altLang="en-US" smtClean="0">
                <a:solidFill>
                  <a:prstClr val="black">
                    <a:tint val="75000"/>
                  </a:prstClr>
                </a:solidFill>
              </a:rPr>
              <a:pPr/>
              <a:t>2025/11/4</a:t>
            </a:fld>
            <a:endParaRPr kumimoji="1" lang="zh-CN"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kumimoji="1" lang="zh-CN"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89236CC9-F3AF-5743-BB23-FB32A03CDB87}"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Tree>
    <p:extLst>
      <p:ext uri="{BB962C8B-B14F-4D97-AF65-F5344CB8AC3E}">
        <p14:creationId xmlns:p14="http://schemas.microsoft.com/office/powerpoint/2010/main" val="20995081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5D61F55F-01F5-9745-81A5-4C312B5746FC}" type="datetimeFigureOut">
              <a:rPr kumimoji="1" lang="zh-CN" altLang="en-US" smtClean="0">
                <a:solidFill>
                  <a:prstClr val="black">
                    <a:tint val="75000"/>
                  </a:prstClr>
                </a:solidFill>
              </a:rPr>
              <a:pPr/>
              <a:t>2025/11/4</a:t>
            </a:fld>
            <a:endParaRPr kumimoji="1" lang="zh-CN" alt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kumimoji="1"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89236CC9-F3AF-5743-BB23-FB32A03CDB87}"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Tree>
    <p:extLst>
      <p:ext uri="{BB962C8B-B14F-4D97-AF65-F5344CB8AC3E}">
        <p14:creationId xmlns:p14="http://schemas.microsoft.com/office/powerpoint/2010/main" val="42868478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61F55F-01F5-9745-81A5-4C312B5746FC}" type="datetimeFigureOut">
              <a:rPr kumimoji="1" lang="zh-CN" altLang="en-US" smtClean="0">
                <a:solidFill>
                  <a:prstClr val="black">
                    <a:tint val="75000"/>
                  </a:prstClr>
                </a:solidFill>
              </a:rPr>
              <a:pPr/>
              <a:t>2025/11/4</a:t>
            </a:fld>
            <a:endParaRPr kumimoji="1" lang="zh-CN"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kumimoji="1" lang="zh-CN"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89236CC9-F3AF-5743-BB23-FB32A03CDB87}"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Tree>
    <p:extLst>
      <p:ext uri="{BB962C8B-B14F-4D97-AF65-F5344CB8AC3E}">
        <p14:creationId xmlns:p14="http://schemas.microsoft.com/office/powerpoint/2010/main" val="36418188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199"/>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7"/>
            <a:ext cx="6172200" cy="4873625"/>
          </a:xfrm>
        </p:spPr>
        <p:txBody>
          <a:bodyPr/>
          <a:lstStyle>
            <a:lvl1pPr>
              <a:defRPr sz="3199"/>
            </a:lvl1pPr>
            <a:lvl2pPr>
              <a:defRPr sz="2799"/>
            </a:lvl2pPr>
            <a:lvl3pPr>
              <a:defRPr sz="2399"/>
            </a:lvl3pPr>
            <a:lvl4pPr>
              <a:defRPr sz="1999"/>
            </a:lvl4pPr>
            <a:lvl5pPr>
              <a:defRPr sz="1999"/>
            </a:lvl5pPr>
            <a:lvl6pPr>
              <a:defRPr sz="1999"/>
            </a:lvl6pPr>
            <a:lvl7pPr>
              <a:defRPr sz="1999"/>
            </a:lvl7pPr>
            <a:lvl8pPr>
              <a:defRPr sz="1999"/>
            </a:lvl8pPr>
            <a:lvl9pPr>
              <a:defRPr sz="1999"/>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599"/>
            </a:lvl1pPr>
            <a:lvl2pPr marL="457017" indent="0">
              <a:buNone/>
              <a:defRPr sz="1399"/>
            </a:lvl2pPr>
            <a:lvl3pPr marL="914034" indent="0">
              <a:buNone/>
              <a:defRPr sz="1200"/>
            </a:lvl3pPr>
            <a:lvl4pPr marL="1371051" indent="0">
              <a:buNone/>
              <a:defRPr sz="1000"/>
            </a:lvl4pPr>
            <a:lvl5pPr marL="1828068" indent="0">
              <a:buNone/>
              <a:defRPr sz="1000"/>
            </a:lvl5pPr>
            <a:lvl6pPr marL="2285086" indent="0">
              <a:buNone/>
              <a:defRPr sz="1000"/>
            </a:lvl6pPr>
            <a:lvl7pPr marL="2742103" indent="0">
              <a:buNone/>
              <a:defRPr sz="1000"/>
            </a:lvl7pPr>
            <a:lvl8pPr marL="3199120" indent="0">
              <a:buNone/>
              <a:defRPr sz="1000"/>
            </a:lvl8pPr>
            <a:lvl9pPr marL="3656137"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5D61F55F-01F5-9745-81A5-4C312B5746FC}" type="datetimeFigureOut">
              <a:rPr kumimoji="1" lang="zh-CN" altLang="en-US" smtClean="0">
                <a:solidFill>
                  <a:prstClr val="black">
                    <a:tint val="75000"/>
                  </a:prstClr>
                </a:solidFill>
              </a:rPr>
              <a:pPr/>
              <a:t>2025/11/4</a:t>
            </a:fld>
            <a:endParaRPr kumimoji="1"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kumimoji="1"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9236CC9-F3AF-5743-BB23-FB32A03CDB87}"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Tree>
    <p:extLst>
      <p:ext uri="{BB962C8B-B14F-4D97-AF65-F5344CB8AC3E}">
        <p14:creationId xmlns:p14="http://schemas.microsoft.com/office/powerpoint/2010/main" val="10137150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199"/>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199"/>
            </a:lvl1pPr>
            <a:lvl2pPr marL="457017" indent="0">
              <a:buNone/>
              <a:defRPr sz="2799"/>
            </a:lvl2pPr>
            <a:lvl3pPr marL="914034" indent="0">
              <a:buNone/>
              <a:defRPr sz="2399"/>
            </a:lvl3pPr>
            <a:lvl4pPr marL="1371051" indent="0">
              <a:buNone/>
              <a:defRPr sz="1999"/>
            </a:lvl4pPr>
            <a:lvl5pPr marL="1828068" indent="0">
              <a:buNone/>
              <a:defRPr sz="1999"/>
            </a:lvl5pPr>
            <a:lvl6pPr marL="2285086" indent="0">
              <a:buNone/>
              <a:defRPr sz="1999"/>
            </a:lvl6pPr>
            <a:lvl7pPr marL="2742103" indent="0">
              <a:buNone/>
              <a:defRPr sz="1999"/>
            </a:lvl7pPr>
            <a:lvl8pPr marL="3199120" indent="0">
              <a:buNone/>
              <a:defRPr sz="1999"/>
            </a:lvl8pPr>
            <a:lvl9pPr marL="3656137" indent="0">
              <a:buNone/>
              <a:defRPr sz="1999"/>
            </a:lvl9pPr>
          </a:lstStyle>
          <a:p>
            <a:r>
              <a:rPr lang="zh-CN" altLang="en-US"/>
              <a:t>单击图标添加图片</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599"/>
            </a:lvl1pPr>
            <a:lvl2pPr marL="457017" indent="0">
              <a:buNone/>
              <a:defRPr sz="1399"/>
            </a:lvl2pPr>
            <a:lvl3pPr marL="914034" indent="0">
              <a:buNone/>
              <a:defRPr sz="1200"/>
            </a:lvl3pPr>
            <a:lvl4pPr marL="1371051" indent="0">
              <a:buNone/>
              <a:defRPr sz="1000"/>
            </a:lvl4pPr>
            <a:lvl5pPr marL="1828068" indent="0">
              <a:buNone/>
              <a:defRPr sz="1000"/>
            </a:lvl5pPr>
            <a:lvl6pPr marL="2285086" indent="0">
              <a:buNone/>
              <a:defRPr sz="1000"/>
            </a:lvl6pPr>
            <a:lvl7pPr marL="2742103" indent="0">
              <a:buNone/>
              <a:defRPr sz="1000"/>
            </a:lvl7pPr>
            <a:lvl8pPr marL="3199120" indent="0">
              <a:buNone/>
              <a:defRPr sz="1000"/>
            </a:lvl8pPr>
            <a:lvl9pPr marL="3656137"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5D61F55F-01F5-9745-81A5-4C312B5746FC}" type="datetimeFigureOut">
              <a:rPr kumimoji="1" lang="zh-CN" altLang="en-US" smtClean="0">
                <a:solidFill>
                  <a:prstClr val="black">
                    <a:tint val="75000"/>
                  </a:prstClr>
                </a:solidFill>
              </a:rPr>
              <a:pPr/>
              <a:t>2025/11/4</a:t>
            </a:fld>
            <a:endParaRPr kumimoji="1"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kumimoji="1"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9236CC9-F3AF-5743-BB23-FB32A03CDB87}"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Tree>
    <p:extLst>
      <p:ext uri="{BB962C8B-B14F-4D97-AF65-F5344CB8AC3E}">
        <p14:creationId xmlns:p14="http://schemas.microsoft.com/office/powerpoint/2010/main" val="40264478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D61F55F-01F5-9745-81A5-4C312B5746FC}" type="datetimeFigureOut">
              <a:rPr kumimoji="1" lang="zh-CN" altLang="en-US" smtClean="0">
                <a:solidFill>
                  <a:prstClr val="black">
                    <a:tint val="75000"/>
                  </a:prstClr>
                </a:solidFill>
              </a:rPr>
              <a:pPr/>
              <a:t>2025/11/4</a:t>
            </a:fld>
            <a:endParaRPr kumimoji="1"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kumimoji="1"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9236CC9-F3AF-5743-BB23-FB32A03CDB87}"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Tree>
    <p:extLst>
      <p:ext uri="{BB962C8B-B14F-4D97-AF65-F5344CB8AC3E}">
        <p14:creationId xmlns:p14="http://schemas.microsoft.com/office/powerpoint/2010/main" val="33641341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D61F55F-01F5-9745-81A5-4C312B5746FC}" type="datetimeFigureOut">
              <a:rPr kumimoji="1" lang="zh-CN" altLang="en-US" smtClean="0">
                <a:solidFill>
                  <a:prstClr val="black">
                    <a:tint val="75000"/>
                  </a:prstClr>
                </a:solidFill>
              </a:rPr>
              <a:pPr/>
              <a:t>2025/11/4</a:t>
            </a:fld>
            <a:endParaRPr kumimoji="1"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kumimoji="1"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9236CC9-F3AF-5743-BB23-FB32A03CDB87}"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Tree>
    <p:extLst>
      <p:ext uri="{BB962C8B-B14F-4D97-AF65-F5344CB8AC3E}">
        <p14:creationId xmlns:p14="http://schemas.microsoft.com/office/powerpoint/2010/main" val="20881497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1_标题和内容">
    <p:bg>
      <p:bgPr>
        <a:blipFill>
          <a:blip r:embed="rId2"/>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98214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
  <p:cSld name="Blank">
    <p:bg>
      <p:bgPr>
        <a:solidFill>
          <a:schemeClr val="tx1"/>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3AF04566-0D5E-47CD-999A-F81AA4494C38}"/>
              </a:ext>
            </a:extLst>
          </p:cNvPr>
          <p:cNvSpPr/>
          <p:nvPr userDrawn="1"/>
        </p:nvSpPr>
        <p:spPr>
          <a:xfrm>
            <a:off x="0" y="0"/>
            <a:ext cx="12192000" cy="6858000"/>
          </a:xfrm>
          <a:prstGeom prst="rect">
            <a:avLst/>
          </a:prstGeom>
          <a:noFill/>
          <a:ln w="285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9993354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7#标题和内容（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731838" y="1484312"/>
            <a:ext cx="10728326"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750866369"/>
      </p:ext>
    </p:extLst>
  </p:cSld>
  <p:clrMapOvr>
    <a:masterClrMapping/>
  </p:clrMapOvr>
  <p:extLst>
    <p:ext uri="{DCECCB84-F9BA-43D5-87BE-67443E8EF086}">
      <p15:sldGuideLst xmlns:p15="http://schemas.microsoft.com/office/powerpoint/2012/main">
        <p15:guide id="1" orient="horz" pos="935">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731838" y="1047750"/>
            <a:ext cx="10728326"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556383657"/>
      </p:ext>
    </p:extLst>
  </p:cSld>
  <p:clrMapOvr>
    <a:masterClrMapping/>
  </p:clrMapOvr>
  <p:extLst>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14632511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3785722899"/>
      </p:ext>
    </p:extLst>
  </p:cSld>
  <p:clrMapOvr>
    <a:masterClrMapping/>
  </p:clrMapOvr>
  <p:extLst>
    <p:ext uri="{DCECCB84-F9BA-43D5-87BE-67443E8EF086}">
      <p15:sldGuideLst xmlns:p15="http://schemas.microsoft.com/office/powerpoint/2012/main">
        <p15:guide id="1" orient="horz" pos="595">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98002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 name="矩形 9"/>
          <p:cNvSpPr/>
          <p:nvPr userDrawn="1"/>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a:xfrm>
            <a:off x="838200" y="6538595"/>
            <a:ext cx="2743200" cy="316230"/>
          </a:xfrm>
        </p:spPr>
        <p:txBody>
          <a:bodyPr/>
          <a:lstStyle>
            <a:lvl1pPr>
              <a:defRPr>
                <a:solidFill>
                  <a:schemeClr val="bg1"/>
                </a:solidFill>
              </a:defRPr>
            </a:lvl1pPr>
          </a:lstStyle>
          <a:p>
            <a:fld id="{5F013260-E2F6-48C8-BC23-506F661997E7}" type="datetimeFigureOut">
              <a:rPr lang="zh-CN" altLang="en-US" smtClean="0"/>
              <a:t>2025/11/4</a:t>
            </a:fld>
            <a:endParaRPr lang="zh-CN" altLang="en-US"/>
          </a:p>
        </p:txBody>
      </p:sp>
      <p:sp>
        <p:nvSpPr>
          <p:cNvPr id="5" name="页脚占位符 4"/>
          <p:cNvSpPr>
            <a:spLocks noGrp="1"/>
          </p:cNvSpPr>
          <p:nvPr>
            <p:ph type="ftr" sz="quarter" idx="11"/>
          </p:nvPr>
        </p:nvSpPr>
        <p:spPr>
          <a:xfrm>
            <a:off x="4038600" y="6538595"/>
            <a:ext cx="4114800" cy="316230"/>
          </a:xfrm>
        </p:spPr>
        <p:txBody>
          <a:bodyPr/>
          <a:lstStyle>
            <a:lvl1pPr>
              <a:defRPr>
                <a:solidFill>
                  <a:schemeClr val="bg1"/>
                </a:solidFill>
              </a:defRPr>
            </a:lvl1pPr>
          </a:lstStyle>
          <a:p>
            <a:endParaRPr lang="zh-CN" altLang="en-US"/>
          </a:p>
        </p:txBody>
      </p:sp>
      <p:sp>
        <p:nvSpPr>
          <p:cNvPr id="6" name="灯片编号占位符 5"/>
          <p:cNvSpPr>
            <a:spLocks noGrp="1"/>
          </p:cNvSpPr>
          <p:nvPr>
            <p:ph type="sldNum" sz="quarter" idx="12"/>
          </p:nvPr>
        </p:nvSpPr>
        <p:spPr>
          <a:xfrm>
            <a:off x="8610600" y="6538595"/>
            <a:ext cx="2743200" cy="316230"/>
          </a:xfrm>
        </p:spPr>
        <p:txBody>
          <a:bodyPr/>
          <a:lstStyle>
            <a:lvl1pPr>
              <a:defRPr>
                <a:solidFill>
                  <a:schemeClr val="bg1"/>
                </a:solidFill>
              </a:defRPr>
            </a:lvl1pPr>
          </a:lstStyle>
          <a:p>
            <a:fld id="{DE68AD4E-5105-4F1B-8C66-A07DA4A33142}" type="slidenum">
              <a:rPr lang="zh-CN" altLang="en-US" smtClean="0"/>
              <a:t>‹#›</a:t>
            </a:fld>
            <a:endParaRPr lang="zh-CN" altLang="en-US"/>
          </a:p>
        </p:txBody>
      </p:sp>
      <p:sp>
        <p:nvSpPr>
          <p:cNvPr id="7" name="文本框 6"/>
          <p:cNvSpPr txBox="1"/>
          <p:nvPr userDrawn="1"/>
        </p:nvSpPr>
        <p:spPr>
          <a:xfrm>
            <a:off x="7884160" y="5779135"/>
            <a:ext cx="4064000" cy="368300"/>
          </a:xfrm>
          <a:prstGeom prst="rect">
            <a:avLst/>
          </a:prstGeom>
          <a:noFill/>
        </p:spPr>
        <p:txBody>
          <a:bodyPr wrap="square" rtlCol="0">
            <a:spAutoFit/>
          </a:bodyPr>
          <a:lstStyle/>
          <a:p>
            <a:endParaRPr lang="zh-CN" altLang="en-US"/>
          </a:p>
        </p:txBody>
      </p:sp>
      <p:sp>
        <p:nvSpPr>
          <p:cNvPr id="8" name="矩形 7"/>
          <p:cNvSpPr/>
          <p:nvPr userDrawn="1"/>
        </p:nvSpPr>
        <p:spPr>
          <a:xfrm>
            <a:off x="-26035" y="-635"/>
            <a:ext cx="12217400" cy="688975"/>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11" name="图片 10">
            <a:extLst>
              <a:ext uri="{FF2B5EF4-FFF2-40B4-BE49-F238E27FC236}">
                <a16:creationId xmlns:a16="http://schemas.microsoft.com/office/drawing/2014/main" id="{5BB598EF-7AE5-40FD-AD7A-7EA641BEFBE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84432" y="-20935"/>
            <a:ext cx="3131418" cy="690754"/>
          </a:xfrm>
          <a:prstGeom prst="rect">
            <a:avLst/>
          </a:prstGeom>
        </p:spPr>
      </p:pic>
    </p:spTree>
    <p:extLst>
      <p:ext uri="{BB962C8B-B14F-4D97-AF65-F5344CB8AC3E}">
        <p14:creationId xmlns:p14="http://schemas.microsoft.com/office/powerpoint/2010/main" val="141237886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F013260-E2F6-48C8-BC23-506F661997E7}" type="datetimeFigureOut">
              <a:rPr lang="zh-CN" altLang="en-US" smtClean="0"/>
              <a:t>2025/11/4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6855331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5F013260-E2F6-48C8-BC23-506F661997E7}" type="datetimeFigureOut">
              <a:rPr lang="zh-CN" altLang="en-US" smtClean="0"/>
              <a:t>2025/11/4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31413170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F013260-E2F6-48C8-BC23-506F661997E7}" type="datetimeFigureOut">
              <a:rPr lang="zh-CN" altLang="en-US" smtClean="0"/>
              <a:t>2025/11/4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24059810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F013260-E2F6-48C8-BC23-506F661997E7}" type="datetimeFigureOut">
              <a:rPr lang="zh-CN" altLang="en-US" smtClean="0"/>
              <a:t>2025/11/4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164219794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F013260-E2F6-48C8-BC23-506F661997E7}" type="datetimeFigureOut">
              <a:rPr lang="zh-CN" altLang="en-US" smtClean="0"/>
              <a:t>2025/11/4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35899550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F013260-E2F6-48C8-BC23-506F661997E7}" type="datetimeFigureOut">
              <a:rPr lang="zh-CN" altLang="en-US" smtClean="0"/>
              <a:t>2025/11/4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11148123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5F013260-E2F6-48C8-BC23-506F661997E7}" type="datetimeFigureOut">
              <a:rPr lang="zh-CN" altLang="en-US" smtClean="0"/>
              <a:t>2025/11/4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99841120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5F013260-E2F6-48C8-BC23-506F661997E7}" type="datetimeFigureOut">
              <a:rPr lang="zh-CN" altLang="en-US" smtClean="0"/>
              <a:t>2025/11/4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4170717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F013260-E2F6-48C8-BC23-506F661997E7}" type="datetimeFigureOut">
              <a:rPr lang="zh-CN" altLang="en-US" smtClean="0"/>
              <a:t>2025/11/4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288485765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F013260-E2F6-48C8-BC23-506F661997E7}" type="datetimeFigureOut">
              <a:rPr lang="zh-CN" altLang="en-US" smtClean="0"/>
              <a:t>2025/11/4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1326006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30.xml"/><Relationship Id="rId7" Type="http://schemas.openxmlformats.org/officeDocument/2006/relationships/image" Target="../media/image4.png"/><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theme" Target="../theme/theme3.xml"/><Relationship Id="rId5" Type="http://schemas.openxmlformats.org/officeDocument/2006/relationships/slideLayout" Target="../slideLayouts/slideLayout32.xml"/><Relationship Id="rId4"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4.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CC174A42-3524-63A3-2C79-B40655B149AB}"/>
              </a:ext>
            </a:extLst>
          </p:cNvPr>
          <p:cNvSpPr/>
          <p:nvPr userDrawn="1"/>
        </p:nvSpPr>
        <p:spPr>
          <a:xfrm>
            <a:off x="0" y="6538324"/>
            <a:ext cx="12192000" cy="324646"/>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sp>
        <p:nvSpPr>
          <p:cNvPr id="10" name="矩形 9">
            <a:extLst>
              <a:ext uri="{FF2B5EF4-FFF2-40B4-BE49-F238E27FC236}">
                <a16:creationId xmlns:a16="http://schemas.microsoft.com/office/drawing/2014/main" id="{7282ECCF-C647-0675-D5C5-33E981887A80}"/>
              </a:ext>
            </a:extLst>
          </p:cNvPr>
          <p:cNvSpPr/>
          <p:nvPr userDrawn="1"/>
        </p:nvSpPr>
        <p:spPr>
          <a:xfrm>
            <a:off x="-1" y="-635"/>
            <a:ext cx="12191365" cy="688975"/>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3" name="图片 2">
            <a:extLst>
              <a:ext uri="{FF2B5EF4-FFF2-40B4-BE49-F238E27FC236}">
                <a16:creationId xmlns:a16="http://schemas.microsoft.com/office/drawing/2014/main" id="{E8BA7E19-A017-4FC6-B374-B2CEA5E011FB}"/>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9840416" y="15367"/>
            <a:ext cx="3238500" cy="714375"/>
          </a:xfrm>
          <a:prstGeom prst="rect">
            <a:avLst/>
          </a:prstGeom>
        </p:spPr>
      </p:pic>
    </p:spTree>
  </p:cSld>
  <p:clrMap bg1="lt1" tx1="dk1" bg2="lt2" tx2="dk2" accent1="accent1" accent2="accent2" accent3="accent3" accent4="accent4" accent5="accent5" accent6="accent6" hlink="hlink" folHlink="folHlink"/>
  <p:sldLayoutIdLst>
    <p:sldLayoutId id="2147484015" r:id="rId1"/>
    <p:sldLayoutId id="2147483992" r:id="rId2"/>
    <p:sldLayoutId id="2147483993" r:id="rId3"/>
    <p:sldLayoutId id="2147483994" r:id="rId4"/>
    <p:sldLayoutId id="2147483995" r:id="rId5"/>
    <p:sldLayoutId id="2147483996" r:id="rId6"/>
    <p:sldLayoutId id="2147483997" r:id="rId7"/>
    <p:sldLayoutId id="2147483998" r:id="rId8"/>
    <p:sldLayoutId id="2147483999" r:id="rId9"/>
    <p:sldLayoutId id="2147484000" r:id="rId10"/>
    <p:sldLayoutId id="2147484001" r:id="rId11"/>
    <p:sldLayoutId id="2147484002" r:id="rId12"/>
    <p:sldLayoutId id="2147484003" r:id="rId13"/>
    <p:sldLayoutId id="2147484016" r:id="rId14"/>
  </p:sldLayoutIdLst>
  <p:hf hdr="0"/>
  <p:txStyles>
    <p:titleStyle>
      <a:lvl1pPr algn="ctr" rtl="0" eaLnBrk="0" fontAlgn="base" hangingPunct="0">
        <a:spcBef>
          <a:spcPct val="0"/>
        </a:spcBef>
        <a:spcAft>
          <a:spcPct val="0"/>
        </a:spcAft>
        <a:defRPr sz="40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p:titleStyle>
    <p:bodyStyle>
      <a:lvl1pPr marL="342900" indent="-342900" algn="l" rtl="0" eaLnBrk="0" fontAlgn="base" hangingPunct="0">
        <a:spcBef>
          <a:spcPct val="20000"/>
        </a:spcBef>
        <a:spcAft>
          <a:spcPct val="0"/>
        </a:spcAft>
        <a:buClr>
          <a:schemeClr val="tx1"/>
        </a:buClr>
        <a:buSzPct val="80000"/>
        <a:buFont typeface="Wingdings" panose="05000000000000000000" pitchFamily="2" charset="2"/>
        <a:buChar char="¢"/>
        <a:defRPr sz="2800">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SzPct val="80000"/>
        <a:buFont typeface="Wingdings" panose="05000000000000000000" pitchFamily="2" charset="2"/>
        <a:buChar char="l"/>
        <a:defRPr sz="2400">
          <a:solidFill>
            <a:schemeClr val="tx1"/>
          </a:solidFill>
          <a:latin typeface="+mn-lt"/>
        </a:defRPr>
      </a:lvl2pPr>
      <a:lvl3pPr marL="1143000" indent="-228600" algn="l" rtl="0" eaLnBrk="0" fontAlgn="base" hangingPunct="0">
        <a:spcBef>
          <a:spcPct val="20000"/>
        </a:spcBef>
        <a:spcAft>
          <a:spcPct val="0"/>
        </a:spcAft>
        <a:buClr>
          <a:schemeClr val="folHlink"/>
        </a:buClr>
        <a:buSzPct val="70000"/>
        <a:buFont typeface="Wingdings" panose="05000000000000000000"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0000"/>
        <a:buFont typeface="Wingdings" panose="05000000000000000000" pitchFamily="2" charset="2"/>
        <a:buChar char="l"/>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mn-lt"/>
        </a:defRPr>
      </a:lvl5pPr>
      <a:lvl6pPr marL="2514600" indent="-228600" algn="l" rtl="0" fontAlgn="base">
        <a:spcBef>
          <a:spcPct val="20000"/>
        </a:spcBef>
        <a:spcAft>
          <a:spcPct val="0"/>
        </a:spcAft>
        <a:buClr>
          <a:schemeClr val="hlink"/>
        </a:buClr>
        <a:buSzPct val="50000"/>
        <a:buFont typeface="Wingdings" pitchFamily="2" charset="2"/>
        <a:buChar char="l"/>
        <a:defRPr sz="2000">
          <a:solidFill>
            <a:schemeClr val="tx1"/>
          </a:solidFill>
          <a:latin typeface="+mn-lt"/>
        </a:defRPr>
      </a:lvl6pPr>
      <a:lvl7pPr marL="2971800" indent="-228600" algn="l" rtl="0" fontAlgn="base">
        <a:spcBef>
          <a:spcPct val="20000"/>
        </a:spcBef>
        <a:spcAft>
          <a:spcPct val="0"/>
        </a:spcAft>
        <a:buClr>
          <a:schemeClr val="hlink"/>
        </a:buClr>
        <a:buSzPct val="50000"/>
        <a:buFont typeface="Wingdings" pitchFamily="2" charset="2"/>
        <a:buChar char="l"/>
        <a:defRPr sz="2000">
          <a:solidFill>
            <a:schemeClr val="tx1"/>
          </a:solidFill>
          <a:latin typeface="+mn-lt"/>
        </a:defRPr>
      </a:lvl7pPr>
      <a:lvl8pPr marL="3429000" indent="-228600" algn="l" rtl="0" fontAlgn="base">
        <a:spcBef>
          <a:spcPct val="20000"/>
        </a:spcBef>
        <a:spcAft>
          <a:spcPct val="0"/>
        </a:spcAft>
        <a:buClr>
          <a:schemeClr val="hlink"/>
        </a:buClr>
        <a:buSzPct val="50000"/>
        <a:buFont typeface="Wingdings" pitchFamily="2" charset="2"/>
        <a:buChar char="l"/>
        <a:defRPr sz="2000">
          <a:solidFill>
            <a:schemeClr val="tx1"/>
          </a:solidFill>
          <a:latin typeface="+mn-lt"/>
        </a:defRPr>
      </a:lvl8pPr>
      <a:lvl9pPr marL="3886200" indent="-228600" algn="l" rtl="0" fontAlgn="base">
        <a:spcBef>
          <a:spcPct val="20000"/>
        </a:spcBef>
        <a:spcAft>
          <a:spcPct val="0"/>
        </a:spcAft>
        <a:buClr>
          <a:schemeClr val="hlink"/>
        </a:buClr>
        <a:buSzPct val="50000"/>
        <a:buFont typeface="Wingdings" pitchFamily="2" charset="2"/>
        <a:buChar char="l"/>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199" y="6356352"/>
            <a:ext cx="6686332" cy="365125"/>
          </a:xfrm>
          <a:prstGeom prst="rect">
            <a:avLst/>
          </a:prstGeom>
        </p:spPr>
        <p:txBody>
          <a:bodyPr vert="horz" lIns="91440" tIns="45720" rIns="91440" bIns="45720" rtlCol="0" anchor="ctr"/>
          <a:lstStyle>
            <a:lvl1pPr algn="l">
              <a:defRPr sz="1200">
                <a:solidFill>
                  <a:schemeClr val="bg1"/>
                </a:solidFill>
                <a:latin typeface="+mn-lt"/>
              </a:defRPr>
            </a:lvl1pPr>
          </a:lstStyle>
          <a:p>
            <a:r>
              <a:rPr lang="en-US" altLang="zh-CN" dirty="0"/>
              <a:t>Huawei Proprietary - Restricted Distribution (Course-related teachers and students only) </a:t>
            </a:r>
            <a:endParaRPr 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CB4B4D-7CA3-9044-876B-883B54F8677D}" type="slidenum">
              <a:rPr lang="en-US" altLang="zh-CN" smtClean="0"/>
              <a:t>‹#›</a:t>
            </a:fld>
            <a:endParaRPr lang="zh-CN" altLang="en-US"/>
          </a:p>
        </p:txBody>
      </p:sp>
    </p:spTree>
    <p:extLst>
      <p:ext uri="{BB962C8B-B14F-4D97-AF65-F5344CB8AC3E}">
        <p14:creationId xmlns:p14="http://schemas.microsoft.com/office/powerpoint/2010/main" val="1907380877"/>
      </p:ext>
    </p:extLst>
  </p:cSld>
  <p:clrMap bg1="lt1" tx1="dk1" bg2="lt2" tx2="dk2" accent1="accent1" accent2="accent2" accent3="accent3" accent4="accent4" accent5="accent5" accent6="accent6" hlink="hlink" folHlink="folHlink"/>
  <p:sldLayoutIdLst>
    <p:sldLayoutId id="2147484018" r:id="rId1"/>
    <p:sldLayoutId id="2147484019" r:id="rId2"/>
    <p:sldLayoutId id="2147484020" r:id="rId3"/>
    <p:sldLayoutId id="2147484021" r:id="rId4"/>
    <p:sldLayoutId id="2147484022" r:id="rId5"/>
    <p:sldLayoutId id="2147484023" r:id="rId6"/>
    <p:sldLayoutId id="2147484024" r:id="rId7"/>
    <p:sldLayoutId id="2147484025" r:id="rId8"/>
    <p:sldLayoutId id="2147484026" r:id="rId9"/>
    <p:sldLayoutId id="2147484027" r:id="rId10"/>
    <p:sldLayoutId id="2147484028" r:id="rId11"/>
    <p:sldLayoutId id="2147484029" r:id="rId12"/>
    <p:sldLayoutId id="2147484030" r:id="rId13"/>
  </p:sldLayoutIdLst>
  <p:txStyles>
    <p:titleStyle>
      <a:lvl1pPr algn="l" defTabSz="914034" rtl="0" eaLnBrk="1" latinLnBrk="0" hangingPunct="1">
        <a:lnSpc>
          <a:spcPct val="90000"/>
        </a:lnSpc>
        <a:spcBef>
          <a:spcPct val="0"/>
        </a:spcBef>
        <a:buNone/>
        <a:defRPr sz="4398" kern="1200">
          <a:solidFill>
            <a:schemeClr val="tx1"/>
          </a:solidFill>
          <a:latin typeface="+mj-lt"/>
          <a:ea typeface="+mj-ea"/>
          <a:cs typeface="+mj-cs"/>
        </a:defRPr>
      </a:lvl1pPr>
    </p:titleStyle>
    <p:bodyStyle>
      <a:lvl1pPr marL="228509" indent="-228509" algn="l" defTabSz="914034"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26" indent="-228509" algn="l" defTabSz="914034"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543" indent="-228509" algn="l" defTabSz="914034"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560"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577"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734131" y="457499"/>
            <a:ext cx="10726032"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731838" y="1484313"/>
            <a:ext cx="1072832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6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6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6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6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6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7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7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7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7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7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7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7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7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7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7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8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8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8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8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8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8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8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8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8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8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1296839178"/>
      </p:ext>
    </p:extLst>
  </p:cSld>
  <p:clrMap bg1="lt1" tx1="dk1" bg2="lt2" tx2="dk2" accent1="accent1" accent2="accent2" accent3="accent3" accent4="accent4" accent5="accent5" accent6="accent6" hlink="hlink" folHlink="folHlink"/>
  <p:sldLayoutIdLst>
    <p:sldLayoutId id="2147484032" r:id="rId1"/>
    <p:sldLayoutId id="2147484033" r:id="rId2"/>
    <p:sldLayoutId id="2147484034" r:id="rId3"/>
    <p:sldLayoutId id="2147484035" r:id="rId4"/>
    <p:sldLayoutId id="2147484036" r:id="rId5"/>
  </p:sldLayoutIdLst>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219">
          <p15:clr>
            <a:srgbClr val="F26B43"/>
          </p15:clr>
        </p15:guide>
        <p15:guide id="3" orient="horz" pos="278">
          <p15:clr>
            <a:srgbClr val="F26B43"/>
          </p15:clr>
        </p15:guide>
        <p15:guide id="4" orient="horz" pos="3906">
          <p15:clr>
            <a:srgbClr val="F26B43"/>
          </p15:clr>
        </p15:guide>
        <p15:guide id="6" pos="3840">
          <p15:clr>
            <a:srgbClr val="F26B43"/>
          </p15:clr>
        </p15:guide>
        <p15:guide id="7" pos="461">
          <p15:clr>
            <a:srgbClr val="F26B43"/>
          </p15:clr>
        </p15:guide>
        <p15:guide id="8" orient="horz" pos="216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013260-E2F6-48C8-BC23-506F661997E7}" type="datetimeFigureOut">
              <a:rPr lang="zh-CN" altLang="en-US" smtClean="0"/>
              <a:t>2025/11/4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1722303"/>
      </p:ext>
    </p:extLst>
  </p:cSld>
  <p:clrMap bg1="lt1" tx1="dk1" bg2="lt2" tx2="dk2" accent1="accent1" accent2="accent2" accent3="accent3" accent4="accent4" accent5="accent5" accent6="accent6" hlink="hlink" folHlink="folHlink"/>
  <p:sldLayoutIdLst>
    <p:sldLayoutId id="2147484038" r:id="rId1"/>
    <p:sldLayoutId id="2147484039" r:id="rId2"/>
    <p:sldLayoutId id="2147484040" r:id="rId3"/>
    <p:sldLayoutId id="2147484041" r:id="rId4"/>
    <p:sldLayoutId id="2147484042" r:id="rId5"/>
    <p:sldLayoutId id="2147484043" r:id="rId6"/>
    <p:sldLayoutId id="2147484044" r:id="rId7"/>
    <p:sldLayoutId id="2147484045" r:id="rId8"/>
    <p:sldLayoutId id="2147484046" r:id="rId9"/>
    <p:sldLayoutId id="2147484047" r:id="rId10"/>
    <p:sldLayoutId id="214748404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9.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0.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0.xml"/></Relationships>
</file>

<file path=ppt/slides/_rels/slide9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7.xml"/></Relationships>
</file>

<file path=ppt/slides/_rels/slide9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7.xml"/><Relationship Id="rId5" Type="http://schemas.openxmlformats.org/officeDocument/2006/relationships/image" Target="../media/image23.png"/><Relationship Id="rId4" Type="http://schemas.openxmlformats.org/officeDocument/2006/relationships/image" Target="../media/image22.png"/></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
            <a:lum/>
          </a:blip>
          <a:srcRect/>
          <a:stretch>
            <a:fillRect l="22000" t="5000" r="22000" b="-1000"/>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0" y="2330450"/>
            <a:ext cx="12192000" cy="1192530"/>
          </a:xfrm>
        </p:spPr>
        <p:txBody>
          <a:bodyPr>
            <a:normAutofit/>
          </a:bodyPr>
          <a:lstStyle/>
          <a:p>
            <a:pPr algn="ctr"/>
            <a:r>
              <a:rPr lang="zh-CN" altLang="en-US" b="1" dirty="0">
                <a:solidFill>
                  <a:srgbClr val="712355"/>
                </a:solidFill>
                <a:latin typeface="微软雅黑" panose="020B0503020204020204" pitchFamily="34" charset="-122"/>
                <a:ea typeface="微软雅黑" panose="020B0503020204020204" pitchFamily="34" charset="-122"/>
              </a:rPr>
              <a:t>操作系统</a:t>
            </a:r>
          </a:p>
        </p:txBody>
      </p:sp>
      <p:sp>
        <p:nvSpPr>
          <p:cNvPr id="3" name="副标题 2"/>
          <p:cNvSpPr>
            <a:spLocks noGrp="1"/>
          </p:cNvSpPr>
          <p:nvPr>
            <p:ph type="subTitle" idx="1"/>
          </p:nvPr>
        </p:nvSpPr>
        <p:spPr>
          <a:xfrm>
            <a:off x="1991497" y="3880332"/>
            <a:ext cx="8607212" cy="1923701"/>
          </a:xfrm>
        </p:spPr>
        <p:txBody>
          <a:bodyPr>
            <a:normAutofit/>
          </a:bodyPr>
          <a:lstStyle/>
          <a:p>
            <a:pPr algn="ctr"/>
            <a:r>
              <a:rPr lang="zh-CN" altLang="en-US"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rPr>
              <a:t>宫晓利、蒲凌君、张久武、李浩然    </a:t>
            </a:r>
            <a:endParaRPr lang="en-US" altLang="zh-CN"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rPr>
              <a:t>gongxiaoli@nankai.edu.cn</a:t>
            </a:r>
            <a:r>
              <a:rPr lang="zh-CN" altLang="en-US"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rPr>
              <a:t>、pulingjun</a:t>
            </a:r>
            <a:r>
              <a:rPr lang="en-US" altLang="zh-CN"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sym typeface="+mn-ea"/>
              </a:rPr>
              <a:t>@nankai.edu.cn</a:t>
            </a:r>
            <a:r>
              <a:rPr lang="zh-CN" altLang="en-US"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sym typeface="+mn-ea"/>
              </a:rPr>
              <a:t>zhangjiuwu@nankai.edu.cn wanch_lhr@nankai.edu.cn</a:t>
            </a:r>
            <a:endParaRPr lang="zh-CN" altLang="en-US"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rPr>
              <a:t>南开大学 计算机学院  密码与网络空间安全学院</a:t>
            </a:r>
            <a:endParaRPr lang="en-US" altLang="zh-CN"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endParaRPr>
          </a:p>
          <a:p>
            <a:pPr algn="ctr"/>
            <a:endParaRPr lang="zh-CN" altLang="en-US"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圆角矩形 6"/>
          <p:cNvSpPr/>
          <p:nvPr/>
        </p:nvSpPr>
        <p:spPr>
          <a:xfrm flipV="1">
            <a:off x="2133974" y="3701853"/>
            <a:ext cx="8322258" cy="45719"/>
          </a:xfrm>
          <a:prstGeom prst="round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8" name="文本框 7"/>
          <p:cNvSpPr txBox="1"/>
          <p:nvPr/>
        </p:nvSpPr>
        <p:spPr>
          <a:xfrm>
            <a:off x="6398895" y="1233805"/>
            <a:ext cx="4064000" cy="3683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2000" advTm="15189"/>
    </mc:Choice>
    <mc:Fallback xmlns="">
      <p:transition spd="slow" advTm="1518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492375"/>
            <a:ext cx="12192000" cy="1192213"/>
          </a:xfrm>
          <a:prstGeom prst="rect">
            <a:avLst/>
          </a:prstGeom>
        </p:spPr>
        <p:txBody>
          <a:bodyPr>
            <a:normAutofit/>
          </a:bodyPr>
          <a:lstStyle/>
          <a:p>
            <a:pPr algn="ctr"/>
            <a:r>
              <a:rPr lang="zh-CN" altLang="en-US" sz="6000" dirty="0">
                <a:solidFill>
                  <a:srgbClr val="712355"/>
                </a:solidFill>
                <a:latin typeface="微软雅黑" panose="020B0503020204020204" pitchFamily="34" charset="-122"/>
                <a:ea typeface="微软雅黑" panose="020B0503020204020204" pitchFamily="34" charset="-122"/>
              </a:rPr>
              <a:t>章节</a:t>
            </a:r>
            <a:r>
              <a:rPr lang="en-US" altLang="zh-CN" sz="6000" dirty="0">
                <a:solidFill>
                  <a:srgbClr val="712355"/>
                </a:solidFill>
                <a:latin typeface="微软雅黑" panose="020B0503020204020204" pitchFamily="34" charset="-122"/>
                <a:ea typeface="微软雅黑" panose="020B0503020204020204" pitchFamily="34" charset="-122"/>
              </a:rPr>
              <a:t>5</a:t>
            </a:r>
            <a:r>
              <a:rPr lang="zh-CN" altLang="en-US" sz="6000" dirty="0">
                <a:solidFill>
                  <a:srgbClr val="712355"/>
                </a:solidFill>
                <a:latin typeface="微软雅黑" panose="020B0503020204020204" pitchFamily="34" charset="-122"/>
                <a:ea typeface="微软雅黑" panose="020B0503020204020204" pitchFamily="34" charset="-122"/>
              </a:rPr>
              <a:t>：进程间通信与并发控制</a:t>
            </a:r>
            <a:endParaRPr lang="en-US" altLang="zh-CN" sz="6000" dirty="0">
              <a:solidFill>
                <a:srgbClr val="712355"/>
              </a:solidFill>
              <a:latin typeface="微软雅黑" panose="020B0503020204020204" pitchFamily="34" charset="-122"/>
              <a:ea typeface="微软雅黑" panose="020B0503020204020204" pitchFamily="34" charset="-122"/>
            </a:endParaRPr>
          </a:p>
        </p:txBody>
      </p:sp>
      <p:sp>
        <p:nvSpPr>
          <p:cNvPr id="7" name="圆角矩形 6"/>
          <p:cNvSpPr/>
          <p:nvPr/>
        </p:nvSpPr>
        <p:spPr>
          <a:xfrm flipV="1">
            <a:off x="2133974" y="3701853"/>
            <a:ext cx="8322258" cy="45719"/>
          </a:xfrm>
          <a:prstGeom prst="round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文本框 7"/>
          <p:cNvSpPr txBox="1"/>
          <p:nvPr/>
        </p:nvSpPr>
        <p:spPr>
          <a:xfrm>
            <a:off x="6398895" y="1233805"/>
            <a:ext cx="4064000" cy="3683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2000" advTm="15189"/>
    </mc:Choice>
    <mc:Fallback xmlns="">
      <p:transition spd="slow" advTm="1518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4"/>
          <p:cNvSpPr>
            <a:spLocks noGrp="1" noChangeArrowheads="1"/>
          </p:cNvSpPr>
          <p:nvPr>
            <p:ph type="title"/>
          </p:nvPr>
        </p:nvSpPr>
        <p:spPr>
          <a:xfrm>
            <a:off x="4691844" y="3088798"/>
            <a:ext cx="2808312" cy="680403"/>
          </a:xfrm>
        </p:spPr>
        <p:txBody>
          <a:bodyPr>
            <a:normAutofit fontScale="90000"/>
          </a:bodyPr>
          <a:lstStyle/>
          <a:p>
            <a:pPr algn="ctr"/>
            <a:r>
              <a:rPr lang="zh-CN" altLang="en-US" b="1" dirty="0">
                <a:latin typeface="微软雅黑" panose="020B0503020204020204" pitchFamily="34" charset="-122"/>
                <a:ea typeface="微软雅黑" panose="020B0503020204020204" pitchFamily="34" charset="-122"/>
              </a:rPr>
              <a:t>经典</a:t>
            </a:r>
            <a:r>
              <a:rPr lang="en-US" altLang="zh-CN" b="1" dirty="0">
                <a:latin typeface="微软雅黑" panose="020B0503020204020204" pitchFamily="34" charset="-122"/>
                <a:ea typeface="微软雅黑" panose="020B0503020204020204" pitchFamily="34" charset="-122"/>
              </a:rPr>
              <a:t>IPC</a:t>
            </a:r>
            <a:r>
              <a:rPr lang="zh-CN" altLang="en-US" b="1" dirty="0">
                <a:latin typeface="微软雅黑" panose="020B0503020204020204" pitchFamily="34" charset="-122"/>
                <a:ea typeface="微软雅黑" panose="020B0503020204020204" pitchFamily="34" charset="-122"/>
              </a:rPr>
              <a:t>问题</a:t>
            </a:r>
          </a:p>
        </p:txBody>
      </p:sp>
    </p:spTree>
    <p:extLst>
      <p:ext uri="{BB962C8B-B14F-4D97-AF65-F5344CB8AC3E}">
        <p14:creationId xmlns:p14="http://schemas.microsoft.com/office/powerpoint/2010/main" val="2357135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4"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52D9EA6A-827A-4AAC-8CF6-1638C321E1D1}" type="slidenum">
              <a:rPr lang="en-US" altLang="ko-KR" sz="1200">
                <a:solidFill>
                  <a:schemeClr val="bg1"/>
                </a:solidFill>
              </a:rPr>
              <a:pPr>
                <a:spcBef>
                  <a:spcPct val="0"/>
                </a:spcBef>
                <a:buClrTx/>
                <a:buSzTx/>
                <a:buFontTx/>
                <a:buNone/>
              </a:pPr>
              <a:t>4</a:t>
            </a:fld>
            <a:endParaRPr lang="en-US" altLang="ko-KR" sz="1200">
              <a:solidFill>
                <a:schemeClr val="bg1"/>
              </a:solidFill>
            </a:endParaRPr>
          </a:p>
        </p:txBody>
      </p:sp>
      <p:sp>
        <p:nvSpPr>
          <p:cNvPr id="140290" name="标题 1"/>
          <p:cNvSpPr>
            <a:spLocks noGrp="1"/>
          </p:cNvSpPr>
          <p:nvPr>
            <p:ph type="title"/>
          </p:nvPr>
        </p:nvSpPr>
        <p:spPr>
          <a:prstGeom prst="rect">
            <a:avLst/>
          </a:prstGeom>
        </p:spPr>
        <p:txBody>
          <a:bodyPr/>
          <a:lstStyle/>
          <a:p>
            <a:r>
              <a:rPr lang="en-US" altLang="zh-CN">
                <a:ea typeface="宋体" panose="02010600030101010101" pitchFamily="2" charset="-122"/>
              </a:rPr>
              <a:t>Problem models of IPC</a:t>
            </a:r>
            <a:endParaRPr lang="zh-CN" altLang="en-US">
              <a:ea typeface="宋体" panose="02010600030101010101" pitchFamily="2" charset="-122"/>
            </a:endParaRPr>
          </a:p>
        </p:txBody>
      </p:sp>
      <p:sp>
        <p:nvSpPr>
          <p:cNvPr id="140291" name="内容占位符 2"/>
          <p:cNvSpPr>
            <a:spLocks noGrp="1"/>
          </p:cNvSpPr>
          <p:nvPr>
            <p:ph idx="1"/>
          </p:nvPr>
        </p:nvSpPr>
        <p:spPr>
          <a:prstGeom prst="rect">
            <a:avLst/>
          </a:prstGeom>
        </p:spPr>
        <p:txBody>
          <a:bodyPr>
            <a:normAutofit lnSpcReduction="10000"/>
          </a:bodyPr>
          <a:lstStyle/>
          <a:p>
            <a:pPr>
              <a:lnSpc>
                <a:spcPct val="110000"/>
              </a:lnSpc>
            </a:pPr>
            <a:r>
              <a:rPr lang="en-US" altLang="zh-CN">
                <a:ea typeface="宋体" panose="02010600030101010101" pitchFamily="2" charset="-122"/>
              </a:rPr>
              <a:t>Producer-Consumer</a:t>
            </a:r>
          </a:p>
          <a:p>
            <a:pPr lvl="1">
              <a:lnSpc>
                <a:spcPct val="110000"/>
              </a:lnSpc>
            </a:pPr>
            <a:r>
              <a:rPr lang="en-US" altLang="zh-CN">
                <a:ea typeface="宋体" panose="02010600030101010101" pitchFamily="2" charset="-122"/>
              </a:rPr>
              <a:t>Bounded-buffer problem</a:t>
            </a:r>
          </a:p>
          <a:p>
            <a:pPr>
              <a:lnSpc>
                <a:spcPct val="110000"/>
              </a:lnSpc>
            </a:pPr>
            <a:r>
              <a:rPr lang="en-US" altLang="zh-CN">
                <a:ea typeface="宋体" panose="02010600030101010101" pitchFamily="2" charset="-122"/>
              </a:rPr>
              <a:t>Dinning philosophers</a:t>
            </a:r>
          </a:p>
          <a:p>
            <a:pPr lvl="1">
              <a:lnSpc>
                <a:spcPct val="110000"/>
              </a:lnSpc>
            </a:pPr>
            <a:r>
              <a:rPr lang="en-US" altLang="zh-CN">
                <a:ea typeface="宋体" panose="02010600030101010101" pitchFamily="2" charset="-122"/>
              </a:rPr>
              <a:t>Synchronism based on mutual exclusion</a:t>
            </a:r>
          </a:p>
          <a:p>
            <a:pPr>
              <a:lnSpc>
                <a:spcPct val="110000"/>
              </a:lnSpc>
            </a:pPr>
            <a:r>
              <a:rPr lang="en-US" altLang="zh-CN">
                <a:ea typeface="宋体" panose="02010600030101010101" pitchFamily="2" charset="-122"/>
              </a:rPr>
              <a:t>Reader-Writher</a:t>
            </a:r>
          </a:p>
          <a:p>
            <a:pPr lvl="1">
              <a:lnSpc>
                <a:spcPct val="110000"/>
              </a:lnSpc>
            </a:pPr>
            <a:r>
              <a:rPr lang="en-US" altLang="zh-CN">
                <a:ea typeface="宋体" panose="02010600030101010101" pitchFamily="2" charset="-122"/>
              </a:rPr>
              <a:t>Multi-process synchronism based on mutual exclusion</a:t>
            </a:r>
          </a:p>
          <a:p>
            <a:pPr>
              <a:lnSpc>
                <a:spcPct val="110000"/>
              </a:lnSpc>
            </a:pPr>
            <a:r>
              <a:rPr lang="en-US" altLang="zh-CN">
                <a:ea typeface="宋体" panose="02010600030101010101" pitchFamily="2" charset="-122"/>
              </a:rPr>
              <a:t>Sleeping barber</a:t>
            </a:r>
          </a:p>
          <a:p>
            <a:pPr lvl="1">
              <a:lnSpc>
                <a:spcPct val="110000"/>
              </a:lnSpc>
            </a:pPr>
            <a:r>
              <a:rPr lang="en-US" altLang="zh-CN">
                <a:ea typeface="宋体" panose="02010600030101010101" pitchFamily="2" charset="-122"/>
              </a:rPr>
              <a:t>Synchronism and mutual exclusion under complex application environment</a:t>
            </a:r>
          </a:p>
        </p:txBody>
      </p:sp>
    </p:spTree>
    <p:extLst>
      <p:ext uri="{BB962C8B-B14F-4D97-AF65-F5344CB8AC3E}">
        <p14:creationId xmlns:p14="http://schemas.microsoft.com/office/powerpoint/2010/main" val="3688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p:cNvSpPr>
          <p:nvPr/>
        </p:nvSpPr>
        <p:spPr>
          <a:xfrm>
            <a:off x="1952596" y="1084930"/>
            <a:ext cx="8229600" cy="508383"/>
          </a:xfrm>
          <a:prstGeom prst="rect">
            <a:avLst/>
          </a:prstGeom>
        </p:spPr>
        <p:txBody>
          <a:bodyPr/>
          <a:lstStyle>
            <a:lvl1pPr>
              <a:defRPr sz="3000" b="1">
                <a:solidFill>
                  <a:srgbClr val="11576A"/>
                </a:solidFill>
                <a:latin typeface="微软雅黑" pitchFamily="34" charset="-122"/>
                <a:ea typeface="微软雅黑" pitchFamily="34" charset="-122"/>
              </a:defRPr>
            </a:lvl1pPr>
          </a:lstStyle>
          <a:p>
            <a:pPr lvl="0" algn="ctr">
              <a:spcBef>
                <a:spcPct val="0"/>
              </a:spcBef>
            </a:pPr>
            <a:r>
              <a:rPr lang="zh-CN" altLang="en-US" dirty="0"/>
              <a:t>生产者</a:t>
            </a:r>
            <a:r>
              <a:rPr lang="en-US" altLang="zh-CN" dirty="0"/>
              <a:t>-</a:t>
            </a:r>
            <a:r>
              <a:rPr lang="zh-CN" altLang="en-US" dirty="0"/>
              <a:t>消费者问题</a:t>
            </a:r>
            <a:endParaRPr lang="zh-CN" altLang="en-US" dirty="0">
              <a:cs typeface="+mj-cs"/>
            </a:endParaRPr>
          </a:p>
        </p:txBody>
      </p:sp>
      <p:grpSp>
        <p:nvGrpSpPr>
          <p:cNvPr id="4" name="组合 3"/>
          <p:cNvGrpSpPr/>
          <p:nvPr/>
        </p:nvGrpSpPr>
        <p:grpSpPr>
          <a:xfrm>
            <a:off x="3218470" y="3961790"/>
            <a:ext cx="6189898" cy="337743"/>
            <a:chOff x="1163054" y="3104538"/>
            <a:chExt cx="6189898" cy="337743"/>
          </a:xfrm>
        </p:grpSpPr>
        <p:pic>
          <p:nvPicPr>
            <p:cNvPr id="27" name="图片 26" descr="小点1.png"/>
            <p:cNvPicPr>
              <a:picLocks noChangeAspect="1"/>
            </p:cNvPicPr>
            <p:nvPr/>
          </p:nvPicPr>
          <p:blipFill>
            <a:blip r:embed="rId2" cstate="print"/>
            <a:stretch>
              <a:fillRect/>
            </a:stretch>
          </p:blipFill>
          <p:spPr>
            <a:xfrm>
              <a:off x="1163054" y="3209314"/>
              <a:ext cx="151066" cy="148997"/>
            </a:xfrm>
            <a:prstGeom prst="rect">
              <a:avLst/>
            </a:prstGeom>
            <a:effectLst/>
          </p:spPr>
        </p:pic>
        <p:sp>
          <p:nvSpPr>
            <p:cNvPr id="28" name="内容占位符 2"/>
            <p:cNvSpPr txBox="1">
              <a:spLocks/>
            </p:cNvSpPr>
            <p:nvPr/>
          </p:nvSpPr>
          <p:spPr>
            <a:xfrm>
              <a:off x="1295618" y="3104538"/>
              <a:ext cx="6057334" cy="337743"/>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一个或多个</a:t>
              </a:r>
              <a:r>
                <a:rPr lang="zh-CN" altLang="en-US" dirty="0">
                  <a:solidFill>
                    <a:srgbClr val="C00000"/>
                  </a:solidFill>
                </a:rPr>
                <a:t>生产者</a:t>
              </a:r>
              <a:r>
                <a:rPr lang="zh-CN" altLang="en-US" dirty="0"/>
                <a:t>在生成数据后放在一个缓冲区里</a:t>
              </a:r>
            </a:p>
          </p:txBody>
        </p:sp>
      </p:grpSp>
      <p:grpSp>
        <p:nvGrpSpPr>
          <p:cNvPr id="6" name="组合 5"/>
          <p:cNvGrpSpPr/>
          <p:nvPr/>
        </p:nvGrpSpPr>
        <p:grpSpPr>
          <a:xfrm>
            <a:off x="3218470" y="4637218"/>
            <a:ext cx="6405922" cy="571504"/>
            <a:chOff x="1163054" y="3779968"/>
            <a:chExt cx="6405922" cy="571504"/>
          </a:xfrm>
        </p:grpSpPr>
        <p:pic>
          <p:nvPicPr>
            <p:cNvPr id="31" name="图片 30" descr="小点1.png"/>
            <p:cNvPicPr>
              <a:picLocks noChangeAspect="1"/>
            </p:cNvPicPr>
            <p:nvPr/>
          </p:nvPicPr>
          <p:blipFill>
            <a:blip r:embed="rId2" cstate="print"/>
            <a:stretch>
              <a:fillRect/>
            </a:stretch>
          </p:blipFill>
          <p:spPr>
            <a:xfrm>
              <a:off x="1163054" y="3872044"/>
              <a:ext cx="151066" cy="148997"/>
            </a:xfrm>
            <a:prstGeom prst="rect">
              <a:avLst/>
            </a:prstGeom>
            <a:effectLst/>
          </p:spPr>
        </p:pic>
        <p:sp>
          <p:nvSpPr>
            <p:cNvPr id="32" name="内容占位符 2"/>
            <p:cNvSpPr txBox="1">
              <a:spLocks/>
            </p:cNvSpPr>
            <p:nvPr/>
          </p:nvSpPr>
          <p:spPr>
            <a:xfrm>
              <a:off x="1295618" y="3779968"/>
              <a:ext cx="6273358" cy="571504"/>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任何时刻</a:t>
              </a:r>
              <a:r>
                <a:rPr lang="zh-CN" altLang="en-US" dirty="0">
                  <a:solidFill>
                    <a:srgbClr val="C00000"/>
                  </a:solidFill>
                </a:rPr>
                <a:t>只能有一个</a:t>
              </a:r>
              <a:r>
                <a:rPr lang="zh-CN" altLang="en-US" dirty="0"/>
                <a:t>生产者或消费者可访问缓冲区</a:t>
              </a:r>
              <a:endParaRPr lang="zh-CN" altLang="en-US" dirty="0">
                <a:solidFill>
                  <a:srgbClr val="C00000"/>
                </a:solidFill>
              </a:endParaRPr>
            </a:p>
          </p:txBody>
        </p:sp>
      </p:grpSp>
      <p:grpSp>
        <p:nvGrpSpPr>
          <p:cNvPr id="3" name="组合 2"/>
          <p:cNvGrpSpPr/>
          <p:nvPr/>
        </p:nvGrpSpPr>
        <p:grpSpPr>
          <a:xfrm>
            <a:off x="2800943" y="3573016"/>
            <a:ext cx="4870115" cy="428628"/>
            <a:chOff x="745525" y="2715766"/>
            <a:chExt cx="4870115" cy="428628"/>
          </a:xfrm>
        </p:grpSpPr>
        <p:sp>
          <p:nvSpPr>
            <p:cNvPr id="13" name="内容占位符 2"/>
            <p:cNvSpPr txBox="1">
              <a:spLocks/>
            </p:cNvSpPr>
            <p:nvPr/>
          </p:nvSpPr>
          <p:spPr>
            <a:xfrm>
              <a:off x="1043608" y="2715766"/>
              <a:ext cx="4572032"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zh-CN" altLang="en-US" dirty="0"/>
                <a:t>有界缓冲区的生产者</a:t>
              </a:r>
              <a:r>
                <a:rPr lang="en-US" altLang="zh-CN" dirty="0"/>
                <a:t>-</a:t>
              </a:r>
              <a:r>
                <a:rPr lang="zh-CN" altLang="en-US" dirty="0"/>
                <a:t>消费者问题描述</a:t>
              </a:r>
            </a:p>
          </p:txBody>
        </p:sp>
        <p:sp>
          <p:nvSpPr>
            <p:cNvPr id="14" name="TextBox 13"/>
            <p:cNvSpPr txBox="1"/>
            <p:nvPr/>
          </p:nvSpPr>
          <p:spPr>
            <a:xfrm>
              <a:off x="745525" y="2715766"/>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5" name="组合 4"/>
          <p:cNvGrpSpPr/>
          <p:nvPr/>
        </p:nvGrpSpPr>
        <p:grpSpPr>
          <a:xfrm>
            <a:off x="3218470" y="4289100"/>
            <a:ext cx="4533714" cy="354014"/>
            <a:chOff x="1163054" y="3431850"/>
            <a:chExt cx="4533714" cy="354014"/>
          </a:xfrm>
        </p:grpSpPr>
        <p:pic>
          <p:nvPicPr>
            <p:cNvPr id="24" name="图片 23" descr="小点1.png"/>
            <p:cNvPicPr>
              <a:picLocks noChangeAspect="1"/>
            </p:cNvPicPr>
            <p:nvPr/>
          </p:nvPicPr>
          <p:blipFill>
            <a:blip r:embed="rId2" cstate="print"/>
            <a:stretch>
              <a:fillRect/>
            </a:stretch>
          </p:blipFill>
          <p:spPr>
            <a:xfrm>
              <a:off x="1163054" y="3536626"/>
              <a:ext cx="151066" cy="148997"/>
            </a:xfrm>
            <a:prstGeom prst="rect">
              <a:avLst/>
            </a:prstGeom>
            <a:effectLst/>
          </p:spPr>
        </p:pic>
        <p:sp>
          <p:nvSpPr>
            <p:cNvPr id="25" name="内容占位符 2"/>
            <p:cNvSpPr txBox="1">
              <a:spLocks/>
            </p:cNvSpPr>
            <p:nvPr/>
          </p:nvSpPr>
          <p:spPr>
            <a:xfrm>
              <a:off x="1295618" y="3431850"/>
              <a:ext cx="4401150" cy="354014"/>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单个</a:t>
              </a:r>
              <a:r>
                <a:rPr lang="zh-CN" altLang="en-US" dirty="0">
                  <a:solidFill>
                    <a:srgbClr val="C00000"/>
                  </a:solidFill>
                </a:rPr>
                <a:t>消费者</a:t>
              </a:r>
              <a:r>
                <a:rPr lang="zh-CN" altLang="en-US" dirty="0"/>
                <a:t>从缓冲区取出数据处理</a:t>
              </a:r>
            </a:p>
          </p:txBody>
        </p:sp>
      </p:grpSp>
      <p:grpSp>
        <p:nvGrpSpPr>
          <p:cNvPr id="2" name="组合 1"/>
          <p:cNvGrpSpPr/>
          <p:nvPr/>
        </p:nvGrpSpPr>
        <p:grpSpPr>
          <a:xfrm>
            <a:off x="3027784" y="2202908"/>
            <a:ext cx="4724400" cy="838200"/>
            <a:chOff x="972368" y="1276343"/>
            <a:chExt cx="4724400" cy="838200"/>
          </a:xfrm>
        </p:grpSpPr>
        <p:sp>
          <p:nvSpPr>
            <p:cNvPr id="16" name="Rectangle 4"/>
            <p:cNvSpPr>
              <a:spLocks noChangeArrowheads="1"/>
            </p:cNvSpPr>
            <p:nvPr/>
          </p:nvSpPr>
          <p:spPr bwMode="auto">
            <a:xfrm>
              <a:off x="972368" y="1276343"/>
              <a:ext cx="1371600" cy="838200"/>
            </a:xfrm>
            <a:prstGeom prst="rect">
              <a:avLst/>
            </a:prstGeom>
            <a:gradFill>
              <a:gsLst>
                <a:gs pos="100000">
                  <a:srgbClr val="11576A"/>
                </a:gs>
                <a:gs pos="0">
                  <a:srgbClr val="0EB1C8"/>
                </a:gs>
                <a:gs pos="100000">
                  <a:schemeClr val="accent1">
                    <a:tint val="23500"/>
                    <a:satMod val="160000"/>
                  </a:schemeClr>
                </a:gs>
              </a:gsLst>
              <a:lin ang="5400000" scaled="0"/>
            </a:gradFill>
            <a:ln w="38100">
              <a:noFill/>
              <a:miter lim="800000"/>
              <a:headEnd/>
              <a:tailEnd/>
            </a:ln>
          </p:spPr>
          <p:txBody>
            <a:bodyPr wrap="none" anchor="ctr"/>
            <a:lstStyle/>
            <a:p>
              <a:pPr algn="ctr"/>
              <a:r>
                <a:rPr lang="zh-CN" altLang="en-US" b="1" dirty="0">
                  <a:solidFill>
                    <a:schemeClr val="bg1"/>
                  </a:solidFill>
                  <a:latin typeface="+mn-ea"/>
                  <a:cs typeface="宋体" charset="0"/>
                </a:rPr>
                <a:t>生产者</a:t>
              </a:r>
              <a:endParaRPr lang="en-US" altLang="zh-CN" b="1" dirty="0">
                <a:solidFill>
                  <a:schemeClr val="bg1"/>
                </a:solidFill>
                <a:latin typeface="+mn-ea"/>
                <a:cs typeface="宋体" charset="0"/>
              </a:endParaRPr>
            </a:p>
          </p:txBody>
        </p:sp>
        <p:sp>
          <p:nvSpPr>
            <p:cNvPr id="17" name="Rectangle 5"/>
            <p:cNvSpPr>
              <a:spLocks noChangeArrowheads="1"/>
            </p:cNvSpPr>
            <p:nvPr/>
          </p:nvSpPr>
          <p:spPr bwMode="auto">
            <a:xfrm>
              <a:off x="4325168" y="1276343"/>
              <a:ext cx="1371600" cy="838200"/>
            </a:xfrm>
            <a:prstGeom prst="rect">
              <a:avLst/>
            </a:prstGeom>
            <a:gradFill>
              <a:gsLst>
                <a:gs pos="100000">
                  <a:srgbClr val="11576A"/>
                </a:gs>
                <a:gs pos="0">
                  <a:srgbClr val="0EB1C8"/>
                </a:gs>
                <a:gs pos="100000">
                  <a:schemeClr val="accent1">
                    <a:tint val="23500"/>
                    <a:satMod val="160000"/>
                  </a:schemeClr>
                </a:gs>
              </a:gsLst>
              <a:lin ang="5400000" scaled="0"/>
            </a:gradFill>
            <a:ln w="38100">
              <a:noFill/>
              <a:miter lim="800000"/>
              <a:headEnd/>
              <a:tailEnd/>
            </a:ln>
          </p:spPr>
          <p:txBody>
            <a:bodyPr wrap="none" anchor="ctr"/>
            <a:lstStyle/>
            <a:p>
              <a:pPr algn="ctr" eaLnBrk="1" hangingPunct="1">
                <a:buFont typeface="Monotype Sorts" charset="0"/>
                <a:buNone/>
              </a:pPr>
              <a:r>
                <a:rPr lang="zh-CN" altLang="en-US" b="1" dirty="0">
                  <a:solidFill>
                    <a:schemeClr val="bg1"/>
                  </a:solidFill>
                  <a:latin typeface="+mn-ea"/>
                  <a:cs typeface="宋体" charset="0"/>
                </a:rPr>
                <a:t>消费者</a:t>
              </a:r>
              <a:endParaRPr lang="en-US" altLang="zh-CN" b="1" dirty="0">
                <a:solidFill>
                  <a:schemeClr val="bg1"/>
                </a:solidFill>
                <a:latin typeface="+mn-ea"/>
                <a:cs typeface="宋体" charset="0"/>
              </a:endParaRPr>
            </a:p>
          </p:txBody>
        </p:sp>
        <p:sp>
          <p:nvSpPr>
            <p:cNvPr id="18" name="Rectangle 7"/>
            <p:cNvSpPr>
              <a:spLocks noChangeArrowheads="1"/>
            </p:cNvSpPr>
            <p:nvPr/>
          </p:nvSpPr>
          <p:spPr bwMode="auto">
            <a:xfrm>
              <a:off x="2877368" y="1428743"/>
              <a:ext cx="914400" cy="5334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miter lim="800000"/>
              <a:headEnd/>
              <a:tailEnd/>
            </a:ln>
          </p:spPr>
          <p:txBody>
            <a:bodyPr wrap="none" anchor="ctr"/>
            <a:lstStyle/>
            <a:p>
              <a:pPr algn="ctr" eaLnBrk="1" hangingPunct="1">
                <a:buFont typeface="Monotype Sorts" charset="0"/>
                <a:buNone/>
              </a:pPr>
              <a:r>
                <a:rPr lang="zh-CN" altLang="en-US" b="1" dirty="0">
                  <a:solidFill>
                    <a:srgbClr val="11576A"/>
                  </a:solidFill>
                  <a:latin typeface="+mn-ea"/>
                  <a:cs typeface="宋体" charset="0"/>
                </a:rPr>
                <a:t>缓冲区</a:t>
              </a:r>
              <a:endParaRPr lang="en-US" altLang="zh-CN" b="1" dirty="0">
                <a:solidFill>
                  <a:srgbClr val="11576A"/>
                </a:solidFill>
                <a:latin typeface="+mn-ea"/>
                <a:cs typeface="宋体" charset="0"/>
              </a:endParaRPr>
            </a:p>
          </p:txBody>
        </p:sp>
        <p:sp>
          <p:nvSpPr>
            <p:cNvPr id="19" name="Line 8"/>
            <p:cNvSpPr>
              <a:spLocks noChangeShapeType="1"/>
            </p:cNvSpPr>
            <p:nvPr/>
          </p:nvSpPr>
          <p:spPr bwMode="auto">
            <a:xfrm>
              <a:off x="2343968" y="1695443"/>
              <a:ext cx="533400" cy="0"/>
            </a:xfrm>
            <a:prstGeom prst="line">
              <a:avLst/>
            </a:prstGeom>
            <a:noFill/>
            <a:ln w="76200">
              <a:solidFill>
                <a:srgbClr val="11576A"/>
              </a:solidFill>
              <a:round/>
              <a:headEnd/>
              <a:tailEnd type="triangle" w="med" len="med"/>
            </a:ln>
            <a:extLst>
              <a:ext uri="{909E8E84-426E-40dd-AFC4-6F175D3DCCD1}">
                <a14:hiddenFill xmlns="" xmlns:a14="http://schemas.microsoft.com/office/drawing/2010/main">
                  <a:noFill/>
                </a14:hiddenFill>
              </a:ext>
            </a:extLst>
          </p:spPr>
          <p:txBody>
            <a:bodyPr vert="eaVert" wrap="none" anchor="ctr"/>
            <a:lstStyle/>
            <a:p>
              <a:endParaRPr lang="zh-CN" altLang="en-US"/>
            </a:p>
          </p:txBody>
        </p:sp>
        <p:sp>
          <p:nvSpPr>
            <p:cNvPr id="20" name="Line 9"/>
            <p:cNvSpPr>
              <a:spLocks noChangeShapeType="1"/>
            </p:cNvSpPr>
            <p:nvPr/>
          </p:nvSpPr>
          <p:spPr bwMode="auto">
            <a:xfrm>
              <a:off x="3791768" y="1695443"/>
              <a:ext cx="533400" cy="0"/>
            </a:xfrm>
            <a:prstGeom prst="line">
              <a:avLst/>
            </a:prstGeom>
            <a:noFill/>
            <a:ln w="76200">
              <a:solidFill>
                <a:srgbClr val="11576A"/>
              </a:solidFill>
              <a:round/>
              <a:headEnd/>
              <a:tailEnd type="triangle" w="med" len="med"/>
            </a:ln>
            <a:extLst>
              <a:ext uri="{909E8E84-426E-40dd-AFC4-6F175D3DCCD1}">
                <a14:hiddenFill xmlns="" xmlns:a14="http://schemas.microsoft.com/office/drawing/2010/main">
                  <a:noFill/>
                </a14:hiddenFill>
              </a:ext>
            </a:extLst>
          </p:spPr>
          <p:txBody>
            <a:bodyPr vert="eaVert" wrap="none" anchor="ctr"/>
            <a:lstStyle/>
            <a:p>
              <a:endParaRPr lang="zh-CN" altLang="en-US"/>
            </a:p>
          </p:txBody>
        </p:sp>
      </p:grpSp>
      <p:sp>
        <p:nvSpPr>
          <p:cNvPr id="21" name="Rectangle 4"/>
          <p:cNvSpPr>
            <a:spLocks noChangeArrowheads="1"/>
          </p:cNvSpPr>
          <p:nvPr/>
        </p:nvSpPr>
        <p:spPr bwMode="auto">
          <a:xfrm>
            <a:off x="3027784" y="2202662"/>
            <a:ext cx="1371600" cy="8382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6200000" scaled="1"/>
            <a:tileRect/>
          </a:gradFill>
          <a:ln w="38100">
            <a:noFill/>
            <a:miter lim="800000"/>
            <a:headEnd/>
            <a:tailEnd/>
          </a:ln>
        </p:spPr>
        <p:txBody>
          <a:bodyPr wrap="none" anchor="ctr"/>
          <a:lstStyle/>
          <a:p>
            <a:pPr algn="ctr"/>
            <a:r>
              <a:rPr lang="zh-CN" altLang="en-US" b="1" dirty="0">
                <a:solidFill>
                  <a:schemeClr val="bg1"/>
                </a:solidFill>
                <a:latin typeface="+mn-ea"/>
                <a:cs typeface="宋体" charset="0"/>
              </a:rPr>
              <a:t>生产者</a:t>
            </a:r>
            <a:endParaRPr lang="en-US" altLang="zh-CN" b="1" dirty="0">
              <a:solidFill>
                <a:schemeClr val="bg1"/>
              </a:solidFill>
              <a:latin typeface="+mn-ea"/>
              <a:cs typeface="宋体" charset="0"/>
            </a:endParaRPr>
          </a:p>
        </p:txBody>
      </p:sp>
      <p:sp>
        <p:nvSpPr>
          <p:cNvPr id="22" name="Rectangle 5"/>
          <p:cNvSpPr>
            <a:spLocks noChangeArrowheads="1"/>
          </p:cNvSpPr>
          <p:nvPr/>
        </p:nvSpPr>
        <p:spPr bwMode="auto">
          <a:xfrm>
            <a:off x="6380584" y="2202662"/>
            <a:ext cx="1371600" cy="8382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16200000" scaled="1"/>
            <a:tileRect/>
          </a:gradFill>
          <a:ln w="38100">
            <a:noFill/>
            <a:miter lim="800000"/>
            <a:headEnd/>
            <a:tailEnd/>
          </a:ln>
        </p:spPr>
        <p:txBody>
          <a:bodyPr wrap="none" anchor="ctr"/>
          <a:lstStyle/>
          <a:p>
            <a:pPr algn="ctr" eaLnBrk="1" hangingPunct="1">
              <a:buFont typeface="Monotype Sorts" charset="0"/>
              <a:buNone/>
            </a:pPr>
            <a:r>
              <a:rPr lang="zh-CN" altLang="en-US" b="1" dirty="0">
                <a:solidFill>
                  <a:schemeClr val="bg1"/>
                </a:solidFill>
                <a:latin typeface="+mn-ea"/>
                <a:cs typeface="宋体" charset="0"/>
              </a:rPr>
              <a:t>消费者</a:t>
            </a:r>
            <a:endParaRPr lang="en-US" altLang="zh-CN" b="1" dirty="0">
              <a:solidFill>
                <a:schemeClr val="bg1"/>
              </a:solidFill>
              <a:latin typeface="+mn-ea"/>
              <a:cs typeface="宋体" charset="0"/>
            </a:endParaRPr>
          </a:p>
        </p:txBody>
      </p:sp>
      <p:sp>
        <p:nvSpPr>
          <p:cNvPr id="7" name="标题 6">
            <a:extLst>
              <a:ext uri="{FF2B5EF4-FFF2-40B4-BE49-F238E27FC236}">
                <a16:creationId xmlns:a16="http://schemas.microsoft.com/office/drawing/2014/main" id="{0EB25803-B05E-831E-2906-A330405CD412}"/>
              </a:ext>
            </a:extLst>
          </p:cNvPr>
          <p:cNvSpPr>
            <a:spLocks noGrp="1"/>
          </p:cNvSpPr>
          <p:nvPr>
            <p:ph type="title"/>
          </p:nvPr>
        </p:nvSpPr>
        <p:spPr/>
        <p:txBody>
          <a:bodyPr/>
          <a:lstStyle/>
          <a:p>
            <a:endParaRPr lang="zh-CN" altLang="en-US"/>
          </a:p>
        </p:txBody>
      </p:sp>
      <p:sp>
        <p:nvSpPr>
          <p:cNvPr id="9" name="内容占位符 8">
            <a:extLst>
              <a:ext uri="{FF2B5EF4-FFF2-40B4-BE49-F238E27FC236}">
                <a16:creationId xmlns:a16="http://schemas.microsoft.com/office/drawing/2014/main" id="{DF6B623F-915D-31D3-176E-62279F7185EE}"/>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897339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childTnLst>
                                </p:cTn>
                              </p:par>
                              <p:par>
                                <p:cTn id="20" presetID="35" presetClass="emph" presetSubtype="0" repeatCount="indefinite" fill="hold" grpId="1" nodeType="withEffect">
                                  <p:stCondLst>
                                    <p:cond delay="0"/>
                                  </p:stCondLst>
                                  <p:endCondLst>
                                    <p:cond evt="onNext" delay="0">
                                      <p:tgtEl>
                                        <p:sldTgt/>
                                      </p:tgtEl>
                                    </p:cond>
                                  </p:endCondLst>
                                  <p:childTnLst>
                                    <p:anim calcmode="discrete" valueType="str">
                                      <p:cBhvr>
                                        <p:cTn id="21" dur="500" fill="hold"/>
                                        <p:tgtEl>
                                          <p:spTgt spid="21"/>
                                        </p:tgtEl>
                                        <p:attrNameLst>
                                          <p:attrName>style.visibility</p:attrName>
                                        </p:attrNameLst>
                                      </p:cBhvr>
                                      <p:tavLst>
                                        <p:tav tm="0">
                                          <p:val>
                                            <p:strVal val="hidden"/>
                                          </p:val>
                                        </p:tav>
                                        <p:tav tm="50000">
                                          <p:val>
                                            <p:strVal val="visible"/>
                                          </p:val>
                                        </p:tav>
                                      </p:tavLst>
                                    </p:anim>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2" nodeType="clickEffect">
                                  <p:stCondLst>
                                    <p:cond delay="0"/>
                                  </p:stCondLst>
                                  <p:childTnLst>
                                    <p:set>
                                      <p:cBhvr>
                                        <p:cTn id="25" dur="1" fill="hold">
                                          <p:stCondLst>
                                            <p:cond delay="0"/>
                                          </p:stCondLst>
                                        </p:cTn>
                                        <p:tgtEl>
                                          <p:spTgt spid="21"/>
                                        </p:tgtEl>
                                        <p:attrNameLst>
                                          <p:attrName>style.visibility</p:attrName>
                                        </p:attrNameLst>
                                      </p:cBhvr>
                                      <p:to>
                                        <p:strVal val="hidden"/>
                                      </p:to>
                                    </p:set>
                                  </p:childTnLst>
                                </p:cTn>
                              </p:par>
                              <p:par>
                                <p:cTn id="26" presetID="22" presetClass="entr" presetSubtype="8"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500"/>
                                        <p:tgtEl>
                                          <p:spTgt spid="5"/>
                                        </p:tgtEl>
                                      </p:cBhvr>
                                    </p:animEffect>
                                  </p:childTnLst>
                                </p:cTn>
                              </p:par>
                            </p:childTnLst>
                          </p:cTn>
                        </p:par>
                        <p:par>
                          <p:cTn id="29" fill="hold">
                            <p:stCondLst>
                              <p:cond delay="500"/>
                            </p:stCondLst>
                            <p:childTnLst>
                              <p:par>
                                <p:cTn id="30" presetID="1" presetClass="entr" presetSubtype="0" fill="hold" grpId="0" nodeType="afterEffect">
                                  <p:stCondLst>
                                    <p:cond delay="0"/>
                                  </p:stCondLst>
                                  <p:childTnLst>
                                    <p:set>
                                      <p:cBhvr>
                                        <p:cTn id="31" dur="1" fill="hold">
                                          <p:stCondLst>
                                            <p:cond delay="0"/>
                                          </p:stCondLst>
                                        </p:cTn>
                                        <p:tgtEl>
                                          <p:spTgt spid="22"/>
                                        </p:tgtEl>
                                        <p:attrNameLst>
                                          <p:attrName>style.visibility</p:attrName>
                                        </p:attrNameLst>
                                      </p:cBhvr>
                                      <p:to>
                                        <p:strVal val="visible"/>
                                      </p:to>
                                    </p:set>
                                  </p:childTnLst>
                                </p:cTn>
                              </p:par>
                              <p:par>
                                <p:cTn id="32" presetID="35" presetClass="emph" presetSubtype="0" repeatCount="indefinite" fill="hold" grpId="1" nodeType="withEffect">
                                  <p:stCondLst>
                                    <p:cond delay="0"/>
                                  </p:stCondLst>
                                  <p:endCondLst>
                                    <p:cond evt="onNext" delay="0">
                                      <p:tgtEl>
                                        <p:sldTgt/>
                                      </p:tgtEl>
                                    </p:cond>
                                  </p:endCondLst>
                                  <p:childTnLst>
                                    <p:anim calcmode="discrete" valueType="str">
                                      <p:cBhvr>
                                        <p:cTn id="33" dur="500" fill="hold"/>
                                        <p:tgtEl>
                                          <p:spTgt spid="22"/>
                                        </p:tgtEl>
                                        <p:attrNameLst>
                                          <p:attrName>style.visibility</p:attrName>
                                        </p:attrNameLst>
                                      </p:cBhvr>
                                      <p:tavLst>
                                        <p:tav tm="0">
                                          <p:val>
                                            <p:strVal val="hidden"/>
                                          </p:val>
                                        </p:tav>
                                        <p:tav tm="50000">
                                          <p:val>
                                            <p:strVal val="visible"/>
                                          </p:val>
                                        </p:tav>
                                      </p:tavLst>
                                    </p:anim>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grpId="2" nodeType="clickEffect">
                                  <p:stCondLst>
                                    <p:cond delay="0"/>
                                  </p:stCondLst>
                                  <p:childTnLst>
                                    <p:set>
                                      <p:cBhvr>
                                        <p:cTn id="37" dur="1" fill="hold">
                                          <p:stCondLst>
                                            <p:cond delay="0"/>
                                          </p:stCondLst>
                                        </p:cTn>
                                        <p:tgtEl>
                                          <p:spTgt spid="22"/>
                                        </p:tgtEl>
                                        <p:attrNameLst>
                                          <p:attrName>style.visibility</p:attrName>
                                        </p:attrNameLst>
                                      </p:cBhvr>
                                      <p:to>
                                        <p:strVal val="hidden"/>
                                      </p:to>
                                    </p:set>
                                  </p:childTnLst>
                                </p:cTn>
                              </p:par>
                              <p:par>
                                <p:cTn id="38" presetID="22" presetClass="entr" presetSubtype="8" fill="hold"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left)">
                                      <p:cBhvr>
                                        <p:cTn id="4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21" grpId="2" animBg="1"/>
      <p:bldP spid="22" grpId="0" animBg="1"/>
      <p:bldP spid="22" grpId="1" animBg="1"/>
      <p:bldP spid="22" grpId="2"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p:cNvSpPr>
          <p:nvPr/>
        </p:nvSpPr>
        <p:spPr>
          <a:xfrm>
            <a:off x="1952596" y="1084930"/>
            <a:ext cx="8229600" cy="508383"/>
          </a:xfrm>
          <a:prstGeom prst="rect">
            <a:avLst/>
          </a:prstGeom>
        </p:spPr>
        <p:txBody>
          <a:bodyPr/>
          <a:lstStyle>
            <a:lvl1pPr>
              <a:defRPr sz="3000" b="1">
                <a:solidFill>
                  <a:srgbClr val="11576A"/>
                </a:solidFill>
                <a:latin typeface="微软雅黑" pitchFamily="34" charset="-122"/>
                <a:ea typeface="微软雅黑" pitchFamily="34" charset="-122"/>
              </a:defRPr>
            </a:lvl1pPr>
          </a:lstStyle>
          <a:p>
            <a:pPr lvl="0" algn="ctr">
              <a:spcBef>
                <a:spcPct val="0"/>
              </a:spcBef>
            </a:pPr>
            <a:r>
              <a:rPr lang="zh-CN" altLang="en-US" dirty="0"/>
              <a:t>用信号量解决生产者</a:t>
            </a:r>
            <a:r>
              <a:rPr lang="en-US" altLang="zh-CN" dirty="0"/>
              <a:t>-</a:t>
            </a:r>
            <a:r>
              <a:rPr lang="zh-CN" altLang="en-US" dirty="0"/>
              <a:t>消费者问题</a:t>
            </a:r>
            <a:endParaRPr lang="zh-CN" altLang="en-US" dirty="0">
              <a:cs typeface="+mj-cs"/>
            </a:endParaRPr>
          </a:p>
        </p:txBody>
      </p:sp>
      <p:grpSp>
        <p:nvGrpSpPr>
          <p:cNvPr id="3" name="组合 2"/>
          <p:cNvGrpSpPr/>
          <p:nvPr/>
        </p:nvGrpSpPr>
        <p:grpSpPr>
          <a:xfrm>
            <a:off x="2786422" y="2244603"/>
            <a:ext cx="6261906" cy="374512"/>
            <a:chOff x="1262422" y="1387353"/>
            <a:chExt cx="6261906" cy="374512"/>
          </a:xfrm>
        </p:grpSpPr>
        <p:pic>
          <p:nvPicPr>
            <p:cNvPr id="27" name="图片 26" descr="小点1.png"/>
            <p:cNvPicPr>
              <a:picLocks noChangeAspect="1"/>
            </p:cNvPicPr>
            <p:nvPr/>
          </p:nvPicPr>
          <p:blipFill>
            <a:blip r:embed="rId2" cstate="print"/>
            <a:stretch>
              <a:fillRect/>
            </a:stretch>
          </p:blipFill>
          <p:spPr>
            <a:xfrm>
              <a:off x="1262422" y="1492129"/>
              <a:ext cx="151066" cy="148997"/>
            </a:xfrm>
            <a:prstGeom prst="rect">
              <a:avLst/>
            </a:prstGeom>
            <a:effectLst/>
          </p:spPr>
        </p:pic>
        <p:sp>
          <p:nvSpPr>
            <p:cNvPr id="28" name="内容占位符 2"/>
            <p:cNvSpPr txBox="1">
              <a:spLocks/>
            </p:cNvSpPr>
            <p:nvPr/>
          </p:nvSpPr>
          <p:spPr>
            <a:xfrm>
              <a:off x="1394986" y="1387353"/>
              <a:ext cx="6129342" cy="374512"/>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任何时刻只能有一个线程操作缓冲区</a:t>
              </a:r>
            </a:p>
          </p:txBody>
        </p:sp>
      </p:grpSp>
      <p:grpSp>
        <p:nvGrpSpPr>
          <p:cNvPr id="5" name="组合 4"/>
          <p:cNvGrpSpPr/>
          <p:nvPr/>
        </p:nvGrpSpPr>
        <p:grpSpPr>
          <a:xfrm>
            <a:off x="2786422" y="3016133"/>
            <a:ext cx="4533714" cy="353164"/>
            <a:chOff x="1262422" y="2158883"/>
            <a:chExt cx="4533714" cy="353164"/>
          </a:xfrm>
        </p:grpSpPr>
        <p:pic>
          <p:nvPicPr>
            <p:cNvPr id="31" name="图片 30" descr="小点1.png"/>
            <p:cNvPicPr>
              <a:picLocks noChangeAspect="1"/>
            </p:cNvPicPr>
            <p:nvPr/>
          </p:nvPicPr>
          <p:blipFill>
            <a:blip r:embed="rId2" cstate="print"/>
            <a:stretch>
              <a:fillRect/>
            </a:stretch>
          </p:blipFill>
          <p:spPr>
            <a:xfrm>
              <a:off x="1262422" y="2250959"/>
              <a:ext cx="151066" cy="148997"/>
            </a:xfrm>
            <a:prstGeom prst="rect">
              <a:avLst/>
            </a:prstGeom>
            <a:effectLst/>
          </p:spPr>
        </p:pic>
        <p:sp>
          <p:nvSpPr>
            <p:cNvPr id="32" name="内容占位符 2"/>
            <p:cNvSpPr txBox="1">
              <a:spLocks/>
            </p:cNvSpPr>
            <p:nvPr/>
          </p:nvSpPr>
          <p:spPr>
            <a:xfrm>
              <a:off x="1394986" y="2158883"/>
              <a:ext cx="4401150" cy="353164"/>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缓冲区满时，生产者必须等待消费者</a:t>
              </a:r>
              <a:endParaRPr lang="zh-CN" altLang="en-US" dirty="0">
                <a:solidFill>
                  <a:srgbClr val="C00000"/>
                </a:solidFill>
              </a:endParaRPr>
            </a:p>
          </p:txBody>
        </p:sp>
      </p:grpSp>
      <p:grpSp>
        <p:nvGrpSpPr>
          <p:cNvPr id="6" name="组合 5"/>
          <p:cNvGrpSpPr/>
          <p:nvPr/>
        </p:nvGrpSpPr>
        <p:grpSpPr>
          <a:xfrm>
            <a:off x="2368895" y="1865302"/>
            <a:ext cx="1583967" cy="428628"/>
            <a:chOff x="844893" y="1008052"/>
            <a:chExt cx="1583967" cy="428628"/>
          </a:xfrm>
        </p:grpSpPr>
        <p:sp>
          <p:nvSpPr>
            <p:cNvPr id="13" name="内容占位符 2"/>
            <p:cNvSpPr txBox="1">
              <a:spLocks/>
            </p:cNvSpPr>
            <p:nvPr/>
          </p:nvSpPr>
          <p:spPr>
            <a:xfrm>
              <a:off x="1142976" y="1008052"/>
              <a:ext cx="1285884"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zh-CN" altLang="en-US" dirty="0"/>
                <a:t>问题分析</a:t>
              </a:r>
            </a:p>
          </p:txBody>
        </p:sp>
        <p:sp>
          <p:nvSpPr>
            <p:cNvPr id="14" name="TextBox 13"/>
            <p:cNvSpPr txBox="1"/>
            <p:nvPr/>
          </p:nvSpPr>
          <p:spPr>
            <a:xfrm>
              <a:off x="844893" y="1008052"/>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4" name="组合 3"/>
          <p:cNvGrpSpPr/>
          <p:nvPr/>
        </p:nvGrpSpPr>
        <p:grpSpPr>
          <a:xfrm>
            <a:off x="2786422" y="2611811"/>
            <a:ext cx="6333914" cy="354014"/>
            <a:chOff x="1262422" y="1754561"/>
            <a:chExt cx="6333914" cy="354014"/>
          </a:xfrm>
        </p:grpSpPr>
        <p:pic>
          <p:nvPicPr>
            <p:cNvPr id="24" name="图片 23" descr="小点1.png"/>
            <p:cNvPicPr>
              <a:picLocks noChangeAspect="1"/>
            </p:cNvPicPr>
            <p:nvPr/>
          </p:nvPicPr>
          <p:blipFill>
            <a:blip r:embed="rId2" cstate="print"/>
            <a:stretch>
              <a:fillRect/>
            </a:stretch>
          </p:blipFill>
          <p:spPr>
            <a:xfrm>
              <a:off x="1262422" y="1859337"/>
              <a:ext cx="151066" cy="148997"/>
            </a:xfrm>
            <a:prstGeom prst="rect">
              <a:avLst/>
            </a:prstGeom>
            <a:effectLst/>
          </p:spPr>
        </p:pic>
        <p:sp>
          <p:nvSpPr>
            <p:cNvPr id="25" name="内容占位符 2"/>
            <p:cNvSpPr txBox="1">
              <a:spLocks/>
            </p:cNvSpPr>
            <p:nvPr/>
          </p:nvSpPr>
          <p:spPr>
            <a:xfrm>
              <a:off x="1394986" y="1754561"/>
              <a:ext cx="6201350" cy="354014"/>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缓冲区空时，消费者必须等待生产者</a:t>
              </a:r>
            </a:p>
          </p:txBody>
        </p:sp>
      </p:grpSp>
      <p:grpSp>
        <p:nvGrpSpPr>
          <p:cNvPr id="10" name="组合 9"/>
          <p:cNvGrpSpPr/>
          <p:nvPr/>
        </p:nvGrpSpPr>
        <p:grpSpPr>
          <a:xfrm>
            <a:off x="2786422" y="4020393"/>
            <a:ext cx="3309578" cy="377828"/>
            <a:chOff x="1262422" y="3163143"/>
            <a:chExt cx="3309578" cy="377828"/>
          </a:xfrm>
        </p:grpSpPr>
        <p:pic>
          <p:nvPicPr>
            <p:cNvPr id="21" name="图片 20" descr="小点1.png"/>
            <p:cNvPicPr>
              <a:picLocks noChangeAspect="1"/>
            </p:cNvPicPr>
            <p:nvPr/>
          </p:nvPicPr>
          <p:blipFill>
            <a:blip r:embed="rId2" cstate="print"/>
            <a:stretch>
              <a:fillRect/>
            </a:stretch>
          </p:blipFill>
          <p:spPr>
            <a:xfrm>
              <a:off x="1262422" y="3267919"/>
              <a:ext cx="151066" cy="148997"/>
            </a:xfrm>
            <a:prstGeom prst="rect">
              <a:avLst/>
            </a:prstGeom>
            <a:effectLst/>
          </p:spPr>
        </p:pic>
        <p:sp>
          <p:nvSpPr>
            <p:cNvPr id="22" name="内容占位符 2"/>
            <p:cNvSpPr txBox="1">
              <a:spLocks/>
            </p:cNvSpPr>
            <p:nvPr/>
          </p:nvSpPr>
          <p:spPr>
            <a:xfrm>
              <a:off x="1394986" y="3163143"/>
              <a:ext cx="3177014" cy="3778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二进制信号量</a:t>
              </a:r>
              <a:r>
                <a:rPr lang="en-US" altLang="zh-CN" dirty="0" err="1"/>
                <a:t>mutex</a:t>
              </a:r>
              <a:endParaRPr lang="zh-CN" altLang="en-US" dirty="0"/>
            </a:p>
          </p:txBody>
        </p:sp>
      </p:grpSp>
      <p:grpSp>
        <p:nvGrpSpPr>
          <p:cNvPr id="9" name="组合 8"/>
          <p:cNvGrpSpPr/>
          <p:nvPr/>
        </p:nvGrpSpPr>
        <p:grpSpPr>
          <a:xfrm>
            <a:off x="2368895" y="3573743"/>
            <a:ext cx="3155603" cy="428628"/>
            <a:chOff x="844893" y="2716493"/>
            <a:chExt cx="3155603" cy="428628"/>
          </a:xfrm>
        </p:grpSpPr>
        <p:sp>
          <p:nvSpPr>
            <p:cNvPr id="23" name="内容占位符 2"/>
            <p:cNvSpPr txBox="1">
              <a:spLocks/>
            </p:cNvSpPr>
            <p:nvPr/>
          </p:nvSpPr>
          <p:spPr>
            <a:xfrm>
              <a:off x="1142976" y="2716493"/>
              <a:ext cx="2857520"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zh-CN" altLang="en-US" dirty="0"/>
                <a:t>用信号量描述每个约束</a:t>
              </a:r>
            </a:p>
          </p:txBody>
        </p:sp>
        <p:sp>
          <p:nvSpPr>
            <p:cNvPr id="26" name="TextBox 25"/>
            <p:cNvSpPr txBox="1"/>
            <p:nvPr/>
          </p:nvSpPr>
          <p:spPr>
            <a:xfrm>
              <a:off x="844893" y="2716493"/>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11" name="组合 10"/>
          <p:cNvGrpSpPr/>
          <p:nvPr/>
        </p:nvGrpSpPr>
        <p:grpSpPr>
          <a:xfrm>
            <a:off x="2786422" y="4386689"/>
            <a:ext cx="3309578" cy="377828"/>
            <a:chOff x="1262422" y="3529439"/>
            <a:chExt cx="3309578" cy="377828"/>
          </a:xfrm>
        </p:grpSpPr>
        <p:pic>
          <p:nvPicPr>
            <p:cNvPr id="29" name="图片 28" descr="小点1.png"/>
            <p:cNvPicPr>
              <a:picLocks noChangeAspect="1"/>
            </p:cNvPicPr>
            <p:nvPr/>
          </p:nvPicPr>
          <p:blipFill>
            <a:blip r:embed="rId2" cstate="print"/>
            <a:stretch>
              <a:fillRect/>
            </a:stretch>
          </p:blipFill>
          <p:spPr>
            <a:xfrm>
              <a:off x="1262422" y="3634215"/>
              <a:ext cx="151066" cy="148997"/>
            </a:xfrm>
            <a:prstGeom prst="rect">
              <a:avLst/>
            </a:prstGeom>
            <a:effectLst/>
          </p:spPr>
        </p:pic>
        <p:sp>
          <p:nvSpPr>
            <p:cNvPr id="30" name="内容占位符 2"/>
            <p:cNvSpPr txBox="1">
              <a:spLocks/>
            </p:cNvSpPr>
            <p:nvPr/>
          </p:nvSpPr>
          <p:spPr>
            <a:xfrm>
              <a:off x="1394986" y="3529439"/>
              <a:ext cx="3177014" cy="3778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资源信号量</a:t>
              </a:r>
              <a:r>
                <a:rPr lang="en-US" altLang="zh-CN" dirty="0" err="1"/>
                <a:t>fullBuffers</a:t>
              </a:r>
              <a:endParaRPr lang="zh-CN" altLang="en-US" dirty="0"/>
            </a:p>
          </p:txBody>
        </p:sp>
      </p:grpSp>
      <p:grpSp>
        <p:nvGrpSpPr>
          <p:cNvPr id="12" name="组合 11"/>
          <p:cNvGrpSpPr/>
          <p:nvPr/>
        </p:nvGrpSpPr>
        <p:grpSpPr>
          <a:xfrm>
            <a:off x="2786422" y="4752985"/>
            <a:ext cx="3738206" cy="377828"/>
            <a:chOff x="1262422" y="3895735"/>
            <a:chExt cx="3738206" cy="377828"/>
          </a:xfrm>
        </p:grpSpPr>
        <p:pic>
          <p:nvPicPr>
            <p:cNvPr id="33" name="图片 32" descr="小点1.png"/>
            <p:cNvPicPr>
              <a:picLocks noChangeAspect="1"/>
            </p:cNvPicPr>
            <p:nvPr/>
          </p:nvPicPr>
          <p:blipFill>
            <a:blip r:embed="rId2" cstate="print"/>
            <a:stretch>
              <a:fillRect/>
            </a:stretch>
          </p:blipFill>
          <p:spPr>
            <a:xfrm>
              <a:off x="1262422" y="4000511"/>
              <a:ext cx="151066" cy="148997"/>
            </a:xfrm>
            <a:prstGeom prst="rect">
              <a:avLst/>
            </a:prstGeom>
            <a:effectLst/>
          </p:spPr>
        </p:pic>
        <p:sp>
          <p:nvSpPr>
            <p:cNvPr id="34" name="内容占位符 2"/>
            <p:cNvSpPr txBox="1">
              <a:spLocks/>
            </p:cNvSpPr>
            <p:nvPr/>
          </p:nvSpPr>
          <p:spPr>
            <a:xfrm>
              <a:off x="1394986" y="3895735"/>
              <a:ext cx="3605642" cy="3778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资源信号量</a:t>
              </a:r>
              <a:r>
                <a:rPr lang="en-US" altLang="zh-CN" dirty="0" err="1"/>
                <a:t>emptyBuffers</a:t>
              </a:r>
              <a:endParaRPr lang="zh-CN" altLang="en-US" dirty="0"/>
            </a:p>
          </p:txBody>
        </p:sp>
      </p:grpSp>
      <p:grpSp>
        <p:nvGrpSpPr>
          <p:cNvPr id="2" name="组合 1"/>
          <p:cNvGrpSpPr/>
          <p:nvPr/>
        </p:nvGrpSpPr>
        <p:grpSpPr>
          <a:xfrm>
            <a:off x="6960096" y="2234855"/>
            <a:ext cx="2448272" cy="1124210"/>
            <a:chOff x="5436096" y="1377605"/>
            <a:chExt cx="1728192" cy="1124210"/>
          </a:xfrm>
        </p:grpSpPr>
        <p:sp>
          <p:nvSpPr>
            <p:cNvPr id="19" name="内容占位符 2"/>
            <p:cNvSpPr txBox="1">
              <a:spLocks/>
            </p:cNvSpPr>
            <p:nvPr/>
          </p:nvSpPr>
          <p:spPr>
            <a:xfrm>
              <a:off x="5436096" y="1377605"/>
              <a:ext cx="1728192" cy="351306"/>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（互斥访问）</a:t>
              </a:r>
            </a:p>
          </p:txBody>
        </p:sp>
        <p:sp>
          <p:nvSpPr>
            <p:cNvPr id="20" name="内容占位符 2"/>
            <p:cNvSpPr txBox="1">
              <a:spLocks/>
            </p:cNvSpPr>
            <p:nvPr/>
          </p:nvSpPr>
          <p:spPr>
            <a:xfrm>
              <a:off x="5462085" y="1754561"/>
              <a:ext cx="1676214" cy="354014"/>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（条件同步）</a:t>
              </a:r>
            </a:p>
          </p:txBody>
        </p:sp>
        <p:sp>
          <p:nvSpPr>
            <p:cNvPr id="35" name="内容占位符 2"/>
            <p:cNvSpPr txBox="1">
              <a:spLocks/>
            </p:cNvSpPr>
            <p:nvPr/>
          </p:nvSpPr>
          <p:spPr>
            <a:xfrm>
              <a:off x="5462085" y="2147801"/>
              <a:ext cx="1676214" cy="354014"/>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（条件同步）</a:t>
              </a:r>
            </a:p>
          </p:txBody>
        </p:sp>
      </p:grpSp>
      <p:sp>
        <p:nvSpPr>
          <p:cNvPr id="37" name="内容占位符 2"/>
          <p:cNvSpPr txBox="1">
            <a:spLocks/>
          </p:cNvSpPr>
          <p:nvPr/>
        </p:nvSpPr>
        <p:spPr>
          <a:xfrm>
            <a:off x="6962078" y="2239645"/>
            <a:ext cx="1728192" cy="351306"/>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solidFill>
                  <a:srgbClr val="C00000"/>
                </a:solidFill>
              </a:rPr>
              <a:t>（互斥访问）</a:t>
            </a:r>
          </a:p>
        </p:txBody>
      </p:sp>
      <p:sp>
        <p:nvSpPr>
          <p:cNvPr id="40" name="内容占位符 2"/>
          <p:cNvSpPr txBox="1">
            <a:spLocks/>
          </p:cNvSpPr>
          <p:nvPr/>
        </p:nvSpPr>
        <p:spPr>
          <a:xfrm>
            <a:off x="6986085" y="2611811"/>
            <a:ext cx="1728192" cy="351306"/>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solidFill>
                  <a:srgbClr val="C00000"/>
                </a:solidFill>
              </a:rPr>
              <a:t>（条件同步）</a:t>
            </a:r>
          </a:p>
        </p:txBody>
      </p:sp>
      <p:sp>
        <p:nvSpPr>
          <p:cNvPr id="41" name="内容占位符 2"/>
          <p:cNvSpPr txBox="1">
            <a:spLocks/>
          </p:cNvSpPr>
          <p:nvPr/>
        </p:nvSpPr>
        <p:spPr>
          <a:xfrm>
            <a:off x="6986085" y="3001110"/>
            <a:ext cx="1728192" cy="351306"/>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solidFill>
                  <a:srgbClr val="C00000"/>
                </a:solidFill>
              </a:rPr>
              <a:t>（条件同步）</a:t>
            </a:r>
          </a:p>
        </p:txBody>
      </p:sp>
      <p:sp>
        <p:nvSpPr>
          <p:cNvPr id="7" name="标题 6">
            <a:extLst>
              <a:ext uri="{FF2B5EF4-FFF2-40B4-BE49-F238E27FC236}">
                <a16:creationId xmlns:a16="http://schemas.microsoft.com/office/drawing/2014/main" id="{AC26184F-EA25-458A-4474-B2E0A60C2BC5}"/>
              </a:ext>
            </a:extLst>
          </p:cNvPr>
          <p:cNvSpPr>
            <a:spLocks noGrp="1"/>
          </p:cNvSpPr>
          <p:nvPr>
            <p:ph type="title"/>
          </p:nvPr>
        </p:nvSpPr>
        <p:spPr/>
        <p:txBody>
          <a:bodyPr/>
          <a:lstStyle/>
          <a:p>
            <a:endParaRPr lang="zh-CN" altLang="en-US"/>
          </a:p>
        </p:txBody>
      </p:sp>
      <p:sp>
        <p:nvSpPr>
          <p:cNvPr id="15" name="内容占位符 14">
            <a:extLst>
              <a:ext uri="{FF2B5EF4-FFF2-40B4-BE49-F238E27FC236}">
                <a16:creationId xmlns:a16="http://schemas.microsoft.com/office/drawing/2014/main" id="{48F153E3-DDE9-F2D6-EDA7-3D1B5303B450}"/>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2652761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left)">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500"/>
                                        <p:tgtEl>
                                          <p:spTgt spid="9"/>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500"/>
                                        <p:tgtEl>
                                          <p:spTgt spid="10"/>
                                        </p:tgtEl>
                                      </p:cBhvr>
                                    </p:animEffect>
                                  </p:childTnLst>
                                </p:cTn>
                              </p:par>
                            </p:childTnLst>
                          </p:cTn>
                        </p:par>
                        <p:par>
                          <p:cTn id="36" fill="hold">
                            <p:stCondLst>
                              <p:cond delay="1000"/>
                            </p:stCondLst>
                            <p:childTnLst>
                              <p:par>
                                <p:cTn id="37" presetID="1" presetClass="entr" presetSubtype="0" fill="hold" grpId="0" nodeType="after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par>
                                <p:cTn id="39" presetID="35" presetClass="emph" presetSubtype="0" repeatCount="indefinite" fill="hold" grpId="1" nodeType="withEffect">
                                  <p:stCondLst>
                                    <p:cond delay="0"/>
                                  </p:stCondLst>
                                  <p:endCondLst>
                                    <p:cond evt="onNext" delay="0">
                                      <p:tgtEl>
                                        <p:sldTgt/>
                                      </p:tgtEl>
                                    </p:cond>
                                  </p:endCondLst>
                                  <p:childTnLst>
                                    <p:anim calcmode="discrete" valueType="str">
                                      <p:cBhvr>
                                        <p:cTn id="40" dur="500" fill="hold"/>
                                        <p:tgtEl>
                                          <p:spTgt spid="37"/>
                                        </p:tgtEl>
                                        <p:attrNameLst>
                                          <p:attrName>style.visibility</p:attrName>
                                        </p:attrNameLst>
                                      </p:cBhvr>
                                      <p:tavLst>
                                        <p:tav tm="0">
                                          <p:val>
                                            <p:strVal val="hidden"/>
                                          </p:val>
                                        </p:tav>
                                        <p:tav tm="50000">
                                          <p:val>
                                            <p:strVal val="visible"/>
                                          </p:val>
                                        </p:tav>
                                      </p:tavLst>
                                    </p:anim>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2" nodeType="clickEffect">
                                  <p:stCondLst>
                                    <p:cond delay="0"/>
                                  </p:stCondLst>
                                  <p:childTnLst>
                                    <p:set>
                                      <p:cBhvr>
                                        <p:cTn id="44" dur="1" fill="hold">
                                          <p:stCondLst>
                                            <p:cond delay="0"/>
                                          </p:stCondLst>
                                        </p:cTn>
                                        <p:tgtEl>
                                          <p:spTgt spid="37"/>
                                        </p:tgtEl>
                                        <p:attrNameLst>
                                          <p:attrName>style.visibility</p:attrName>
                                        </p:attrNameLst>
                                      </p:cBhvr>
                                      <p:to>
                                        <p:strVal val="hidden"/>
                                      </p:to>
                                    </p:set>
                                  </p:childTnLst>
                                </p:cTn>
                              </p:par>
                              <p:par>
                                <p:cTn id="45" presetID="22" presetClass="entr" presetSubtype="8" fill="hold" nodeType="with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par>
                          <p:cTn id="48" fill="hold">
                            <p:stCondLst>
                              <p:cond delay="500"/>
                            </p:stCondLst>
                            <p:childTnLst>
                              <p:par>
                                <p:cTn id="49" presetID="1" presetClass="entr" presetSubtype="0" fill="hold" grpId="0" nodeType="after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par>
                                <p:cTn id="51" presetID="35" presetClass="emph" presetSubtype="0" repeatCount="indefinite" fill="hold" grpId="1" nodeType="withEffect">
                                  <p:stCondLst>
                                    <p:cond delay="0"/>
                                  </p:stCondLst>
                                  <p:endCondLst>
                                    <p:cond evt="onNext" delay="0">
                                      <p:tgtEl>
                                        <p:sldTgt/>
                                      </p:tgtEl>
                                    </p:cond>
                                  </p:endCondLst>
                                  <p:childTnLst>
                                    <p:anim calcmode="discrete" valueType="str">
                                      <p:cBhvr>
                                        <p:cTn id="52" dur="500" fill="hold"/>
                                        <p:tgtEl>
                                          <p:spTgt spid="40"/>
                                        </p:tgtEl>
                                        <p:attrNameLst>
                                          <p:attrName>style.visibility</p:attrName>
                                        </p:attrNameLst>
                                      </p:cBhvr>
                                      <p:tavLst>
                                        <p:tav tm="0">
                                          <p:val>
                                            <p:strVal val="hidden"/>
                                          </p:val>
                                        </p:tav>
                                        <p:tav tm="50000">
                                          <p:val>
                                            <p:strVal val="visible"/>
                                          </p:val>
                                        </p:tav>
                                      </p:tavLst>
                                    </p:anim>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2" nodeType="clickEffect">
                                  <p:stCondLst>
                                    <p:cond delay="0"/>
                                  </p:stCondLst>
                                  <p:childTnLst>
                                    <p:set>
                                      <p:cBhvr>
                                        <p:cTn id="56" dur="1" fill="hold">
                                          <p:stCondLst>
                                            <p:cond delay="0"/>
                                          </p:stCondLst>
                                        </p:cTn>
                                        <p:tgtEl>
                                          <p:spTgt spid="40"/>
                                        </p:tgtEl>
                                        <p:attrNameLst>
                                          <p:attrName>style.visibility</p:attrName>
                                        </p:attrNameLst>
                                      </p:cBhvr>
                                      <p:to>
                                        <p:strVal val="hidden"/>
                                      </p:to>
                                    </p:set>
                                  </p:childTnLst>
                                </p:cTn>
                              </p:par>
                              <p:par>
                                <p:cTn id="57" presetID="22" presetClass="entr" presetSubtype="8" fill="hold"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wipe(left)">
                                      <p:cBhvr>
                                        <p:cTn id="59" dur="500"/>
                                        <p:tgtEl>
                                          <p:spTgt spid="12"/>
                                        </p:tgtEl>
                                      </p:cBhvr>
                                    </p:animEffect>
                                  </p:childTnLst>
                                </p:cTn>
                              </p:par>
                            </p:childTnLst>
                          </p:cTn>
                        </p:par>
                        <p:par>
                          <p:cTn id="60" fill="hold">
                            <p:stCondLst>
                              <p:cond delay="500"/>
                            </p:stCondLst>
                            <p:childTnLst>
                              <p:par>
                                <p:cTn id="61" presetID="1" presetClass="entr" presetSubtype="0" fill="hold" grpId="0" nodeType="after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par>
                                <p:cTn id="63" presetID="35" presetClass="emph" presetSubtype="0" repeatCount="indefinite" fill="hold" grpId="1" nodeType="withEffect">
                                  <p:stCondLst>
                                    <p:cond delay="0"/>
                                  </p:stCondLst>
                                  <p:endCondLst>
                                    <p:cond evt="onNext" delay="0">
                                      <p:tgtEl>
                                        <p:sldTgt/>
                                      </p:tgtEl>
                                    </p:cond>
                                  </p:endCondLst>
                                  <p:childTnLst>
                                    <p:anim calcmode="discrete" valueType="str">
                                      <p:cBhvr>
                                        <p:cTn id="64" dur="500" fill="hold"/>
                                        <p:tgtEl>
                                          <p:spTgt spid="4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7" grpId="1"/>
      <p:bldP spid="37" grpId="2"/>
      <p:bldP spid="40" grpId="0"/>
      <p:bldP spid="40" grpId="1"/>
      <p:bldP spid="40" grpId="2"/>
      <p:bldP spid="41" grpId="0"/>
      <p:bldP spid="41"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p:cNvSpPr>
          <p:nvPr/>
        </p:nvSpPr>
        <p:spPr>
          <a:xfrm>
            <a:off x="1952596" y="1084930"/>
            <a:ext cx="8229600" cy="508383"/>
          </a:xfrm>
          <a:prstGeom prst="rect">
            <a:avLst/>
          </a:prstGeom>
        </p:spPr>
        <p:txBody>
          <a:bodyPr/>
          <a:lstStyle>
            <a:lvl1pPr>
              <a:defRPr sz="3000" b="1">
                <a:solidFill>
                  <a:srgbClr val="11576A"/>
                </a:solidFill>
                <a:latin typeface="微软雅黑" pitchFamily="34" charset="-122"/>
                <a:ea typeface="微软雅黑" pitchFamily="34" charset="-122"/>
              </a:defRPr>
            </a:lvl1pPr>
          </a:lstStyle>
          <a:p>
            <a:pPr lvl="0" algn="ctr">
              <a:spcBef>
                <a:spcPct val="0"/>
              </a:spcBef>
            </a:pPr>
            <a:r>
              <a:rPr lang="zh-CN" altLang="en-US" dirty="0"/>
              <a:t>用信号量解决生产者</a:t>
            </a:r>
            <a:r>
              <a:rPr lang="en-US" altLang="zh-CN" dirty="0"/>
              <a:t>-</a:t>
            </a:r>
            <a:r>
              <a:rPr lang="zh-CN" altLang="en-US" dirty="0"/>
              <a:t>消费者问题</a:t>
            </a:r>
            <a:endParaRPr lang="zh-CN" altLang="en-US" dirty="0">
              <a:cs typeface="+mj-cs"/>
            </a:endParaRPr>
          </a:p>
        </p:txBody>
      </p:sp>
      <p:sp>
        <p:nvSpPr>
          <p:cNvPr id="19" name="Text Box 4"/>
          <p:cNvSpPr txBox="1">
            <a:spLocks noChangeArrowheads="1"/>
          </p:cNvSpPr>
          <p:nvPr/>
        </p:nvSpPr>
        <p:spPr bwMode="auto">
          <a:xfrm>
            <a:off x="3527638" y="1785928"/>
            <a:ext cx="4607987" cy="1323439"/>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Class </a:t>
            </a:r>
            <a:r>
              <a:rPr lang="en-US" altLang="zh-CN" sz="1600" b="1" dirty="0" err="1">
                <a:latin typeface="Courier New" panose="02070309020205020404" pitchFamily="49" charset="0"/>
                <a:ea typeface="+mj-ea"/>
                <a:cs typeface="Courier New" panose="02070309020205020404" pitchFamily="49" charset="0"/>
              </a:rPr>
              <a:t>BoundedBuffer</a:t>
            </a:r>
            <a:r>
              <a:rPr lang="en-US" altLang="zh-CN" sz="1600" b="1" dirty="0">
                <a:latin typeface="Courier New" panose="02070309020205020404" pitchFamily="49" charset="0"/>
                <a:ea typeface="+mj-ea"/>
                <a:cs typeface="Courier New" panose="02070309020205020404" pitchFamily="49" charset="0"/>
              </a:rPr>
              <a:t> {</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mutex</a:t>
            </a:r>
            <a:r>
              <a:rPr lang="en-US" altLang="zh-CN" sz="1600" b="1" dirty="0">
                <a:latin typeface="Courier New" panose="02070309020205020404" pitchFamily="49" charset="0"/>
                <a:ea typeface="+mj-ea"/>
                <a:cs typeface="Courier New" panose="02070309020205020404" pitchFamily="49" charset="0"/>
              </a:rPr>
              <a:t> = new Semaphore(1);</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fullBuffers</a:t>
            </a:r>
            <a:r>
              <a:rPr lang="en-US" altLang="zh-CN" sz="1600" b="1" dirty="0">
                <a:latin typeface="Courier New" panose="02070309020205020404" pitchFamily="49" charset="0"/>
                <a:ea typeface="+mj-ea"/>
                <a:cs typeface="Courier New" panose="02070309020205020404" pitchFamily="49" charset="0"/>
              </a:rPr>
              <a:t> = new Semaphore(0);</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emptyBuffers</a:t>
            </a:r>
            <a:r>
              <a:rPr lang="en-US" altLang="zh-CN" sz="1600" b="1" dirty="0">
                <a:latin typeface="Courier New" panose="02070309020205020404" pitchFamily="49" charset="0"/>
                <a:ea typeface="+mj-ea"/>
                <a:cs typeface="Courier New" panose="02070309020205020404" pitchFamily="49" charset="0"/>
              </a:rPr>
              <a:t> = new Semaphore(n);</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a:t>
            </a:r>
          </a:p>
        </p:txBody>
      </p:sp>
      <p:sp>
        <p:nvSpPr>
          <p:cNvPr id="20" name="Text Box 5"/>
          <p:cNvSpPr txBox="1">
            <a:spLocks noChangeArrowheads="1"/>
          </p:cNvSpPr>
          <p:nvPr/>
        </p:nvSpPr>
        <p:spPr bwMode="auto">
          <a:xfrm>
            <a:off x="2166910" y="3316287"/>
            <a:ext cx="3526112"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err="1">
                <a:latin typeface="Courier New" panose="02070309020205020404" pitchFamily="49" charset="0"/>
                <a:ea typeface="+mj-ea"/>
                <a:cs typeface="Courier New" panose="02070309020205020404" pitchFamily="49" charset="0"/>
              </a:rPr>
              <a:t>BoundedBuffer</a:t>
            </a:r>
            <a:r>
              <a:rPr lang="en-US" altLang="zh-CN" sz="1600" b="1" dirty="0">
                <a:latin typeface="Courier New" panose="02070309020205020404" pitchFamily="49" charset="0"/>
                <a:ea typeface="+mj-ea"/>
                <a:cs typeface="Courier New" panose="02070309020205020404" pitchFamily="49" charset="0"/>
              </a:rPr>
              <a:t>::Deposit(c) {</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emptyBuffers</a:t>
            </a:r>
            <a:r>
              <a:rPr lang="en-US" altLang="zh-CN" sz="1600" b="1" dirty="0">
                <a:latin typeface="Courier New" panose="02070309020205020404" pitchFamily="49" charset="0"/>
                <a:ea typeface="+mj-ea"/>
                <a:cs typeface="Courier New" panose="02070309020205020404" pitchFamily="49" charset="0"/>
                <a:sym typeface="Wingdings" charset="0"/>
              </a:rPr>
              <a:t>-&gt;P(); </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sym typeface="Wingdings" charset="0"/>
              </a:rPr>
              <a:t>    </a:t>
            </a:r>
            <a:r>
              <a:rPr lang="en-US" altLang="zh-CN" sz="1600" b="1" dirty="0" err="1">
                <a:latin typeface="Courier New" panose="02070309020205020404" pitchFamily="49" charset="0"/>
                <a:ea typeface="+mj-ea"/>
                <a:cs typeface="Courier New" panose="02070309020205020404" pitchFamily="49" charset="0"/>
                <a:sym typeface="Wingdings" charset="0"/>
              </a:rPr>
              <a:t>mutex</a:t>
            </a:r>
            <a:r>
              <a:rPr lang="en-US" altLang="zh-CN" sz="1600" b="1" dirty="0">
                <a:latin typeface="Courier New" panose="02070309020205020404" pitchFamily="49" charset="0"/>
                <a:ea typeface="+mj-ea"/>
                <a:cs typeface="Courier New" panose="02070309020205020404" pitchFamily="49" charset="0"/>
                <a:sym typeface="Wingdings" charset="0"/>
              </a:rPr>
              <a:t>-&gt;P(); </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sym typeface="Wingdings" charset="0"/>
              </a:rPr>
              <a:t>    Add c to the buffer;</a:t>
            </a:r>
            <a:endParaRPr lang="en-US" altLang="zh-CN" sz="1600" b="1" dirty="0">
              <a:latin typeface="Courier New" panose="02070309020205020404" pitchFamily="49" charset="0"/>
              <a:ea typeface="+mj-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mutex</a:t>
            </a:r>
            <a:r>
              <a:rPr lang="en-US" altLang="zh-CN" sz="1600" b="1" dirty="0">
                <a:latin typeface="Courier New" panose="02070309020205020404" pitchFamily="49" charset="0"/>
                <a:ea typeface="+mj-ea"/>
                <a:cs typeface="Courier New" panose="02070309020205020404" pitchFamily="49" charset="0"/>
                <a:sym typeface="Wingdings" charset="0"/>
              </a:rPr>
              <a:t>-&gt;V();</a:t>
            </a:r>
            <a:endParaRPr lang="en-US" altLang="zh-CN" sz="1600" b="1" dirty="0">
              <a:latin typeface="Courier New" panose="02070309020205020404" pitchFamily="49" charset="0"/>
              <a:ea typeface="+mj-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fullBuffers</a:t>
            </a:r>
            <a:r>
              <a:rPr lang="en-US" altLang="zh-CN" sz="1600" b="1" dirty="0">
                <a:latin typeface="Courier New" panose="02070309020205020404" pitchFamily="49" charset="0"/>
                <a:ea typeface="+mj-ea"/>
                <a:cs typeface="Courier New" panose="02070309020205020404" pitchFamily="49" charset="0"/>
                <a:sym typeface="Wingdings" charset="0"/>
              </a:rPr>
              <a:t>-&gt;V();</a:t>
            </a:r>
            <a:endParaRPr lang="en-US" altLang="zh-CN" sz="1600" b="1" dirty="0">
              <a:latin typeface="Courier New" panose="02070309020205020404" pitchFamily="49" charset="0"/>
              <a:ea typeface="+mj-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a:t>
            </a:r>
          </a:p>
        </p:txBody>
      </p:sp>
      <p:sp>
        <p:nvSpPr>
          <p:cNvPr id="35" name="Text Box 6"/>
          <p:cNvSpPr txBox="1">
            <a:spLocks noChangeArrowheads="1"/>
          </p:cNvSpPr>
          <p:nvPr/>
        </p:nvSpPr>
        <p:spPr bwMode="auto">
          <a:xfrm>
            <a:off x="5810248" y="3316287"/>
            <a:ext cx="3526112"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err="1">
                <a:latin typeface="Courier New" panose="02070309020205020404" pitchFamily="49" charset="0"/>
                <a:ea typeface="+mj-ea"/>
                <a:cs typeface="Courier New" panose="02070309020205020404" pitchFamily="49" charset="0"/>
              </a:rPr>
              <a:t>BoundedBuffer</a:t>
            </a:r>
            <a:r>
              <a:rPr lang="en-US" altLang="zh-CN" sz="1600" b="1" dirty="0">
                <a:latin typeface="Courier New" panose="02070309020205020404" pitchFamily="49" charset="0"/>
                <a:ea typeface="+mj-ea"/>
                <a:cs typeface="Courier New" panose="02070309020205020404" pitchFamily="49" charset="0"/>
              </a:rPr>
              <a:t>::Remove(c) {</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fullBuffers</a:t>
            </a:r>
            <a:r>
              <a:rPr lang="en-US" altLang="zh-CN" sz="1600" b="1" dirty="0">
                <a:latin typeface="Courier New" panose="02070309020205020404" pitchFamily="49" charset="0"/>
                <a:ea typeface="+mj-ea"/>
                <a:cs typeface="Courier New" panose="02070309020205020404" pitchFamily="49" charset="0"/>
                <a:sym typeface="Wingdings" charset="0"/>
              </a:rPr>
              <a:t>-&gt;P();</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sym typeface="Wingdings" charset="0"/>
              </a:rPr>
              <a:t>    </a:t>
            </a:r>
            <a:r>
              <a:rPr lang="en-US" altLang="zh-CN" sz="1600" b="1" dirty="0" err="1">
                <a:latin typeface="Courier New" panose="02070309020205020404" pitchFamily="49" charset="0"/>
                <a:ea typeface="+mj-ea"/>
                <a:cs typeface="Courier New" panose="02070309020205020404" pitchFamily="49" charset="0"/>
                <a:sym typeface="Wingdings" charset="0"/>
              </a:rPr>
              <a:t>mutex</a:t>
            </a:r>
            <a:r>
              <a:rPr lang="en-US" altLang="zh-CN" sz="1600" b="1" dirty="0">
                <a:latin typeface="Courier New" panose="02070309020205020404" pitchFamily="49" charset="0"/>
                <a:ea typeface="+mj-ea"/>
                <a:cs typeface="Courier New" panose="02070309020205020404" pitchFamily="49" charset="0"/>
                <a:sym typeface="Wingdings" charset="0"/>
              </a:rPr>
              <a:t>-&gt;P();</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sym typeface="Wingdings" charset="0"/>
              </a:rPr>
              <a:t>    Remove c from buffer;</a:t>
            </a:r>
            <a:endParaRPr lang="en-US" altLang="zh-CN" sz="1600" b="1" dirty="0">
              <a:latin typeface="Courier New" panose="02070309020205020404" pitchFamily="49" charset="0"/>
              <a:ea typeface="+mj-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mutex</a:t>
            </a:r>
            <a:r>
              <a:rPr lang="en-US" altLang="zh-CN" sz="1600" b="1" dirty="0">
                <a:latin typeface="Courier New" panose="02070309020205020404" pitchFamily="49" charset="0"/>
                <a:ea typeface="+mj-ea"/>
                <a:cs typeface="Courier New" panose="02070309020205020404" pitchFamily="49" charset="0"/>
                <a:sym typeface="Wingdings" charset="0"/>
              </a:rPr>
              <a:t>-&gt;V();</a:t>
            </a:r>
            <a:endParaRPr lang="en-US" altLang="zh-CN" sz="1600" b="1" dirty="0">
              <a:latin typeface="Courier New" panose="02070309020205020404" pitchFamily="49" charset="0"/>
              <a:ea typeface="+mj-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emptyBuffers</a:t>
            </a:r>
            <a:r>
              <a:rPr lang="en-US" altLang="zh-CN" sz="1600" b="1" dirty="0">
                <a:latin typeface="Courier New" panose="02070309020205020404" pitchFamily="49" charset="0"/>
                <a:ea typeface="+mj-ea"/>
                <a:cs typeface="Courier New" panose="02070309020205020404" pitchFamily="49" charset="0"/>
                <a:sym typeface="Wingdings" charset="0"/>
              </a:rPr>
              <a:t>-&gt;V();</a:t>
            </a:r>
            <a:endParaRPr lang="en-US" altLang="zh-CN" sz="1600" b="1" dirty="0">
              <a:latin typeface="Courier New" panose="02070309020205020404" pitchFamily="49" charset="0"/>
              <a:ea typeface="+mj-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a:t>
            </a:r>
          </a:p>
        </p:txBody>
      </p:sp>
      <p:grpSp>
        <p:nvGrpSpPr>
          <p:cNvPr id="2" name="组合 1"/>
          <p:cNvGrpSpPr/>
          <p:nvPr/>
        </p:nvGrpSpPr>
        <p:grpSpPr>
          <a:xfrm>
            <a:off x="2423593" y="5445224"/>
            <a:ext cx="3727107" cy="420730"/>
            <a:chOff x="500034" y="4378338"/>
            <a:chExt cx="3727107" cy="420730"/>
          </a:xfrm>
        </p:grpSpPr>
        <p:sp>
          <p:nvSpPr>
            <p:cNvPr id="36" name="内容占位符 2"/>
            <p:cNvSpPr txBox="1">
              <a:spLocks/>
            </p:cNvSpPr>
            <p:nvPr/>
          </p:nvSpPr>
          <p:spPr>
            <a:xfrm>
              <a:off x="811999" y="4421240"/>
              <a:ext cx="3415142" cy="3778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en-US" altLang="zh-CN" dirty="0"/>
                <a:t>P</a:t>
              </a:r>
              <a:r>
                <a:rPr lang="zh-CN" altLang="en-US" dirty="0"/>
                <a:t>、</a:t>
              </a:r>
              <a:r>
                <a:rPr lang="en-US" altLang="zh-CN" dirty="0"/>
                <a:t>V</a:t>
              </a:r>
              <a:r>
                <a:rPr lang="zh-CN" altLang="en-US" dirty="0"/>
                <a:t>操作的顺序有影响吗？</a:t>
              </a:r>
            </a:p>
          </p:txBody>
        </p:sp>
        <p:sp>
          <p:nvSpPr>
            <p:cNvPr id="37" name="TextBox 36"/>
            <p:cNvSpPr txBox="1"/>
            <p:nvPr/>
          </p:nvSpPr>
          <p:spPr>
            <a:xfrm>
              <a:off x="500034" y="4378338"/>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cxnSp>
        <p:nvCxnSpPr>
          <p:cNvPr id="9" name="直接箭头连接符 8"/>
          <p:cNvCxnSpPr/>
          <p:nvPr/>
        </p:nvCxnSpPr>
        <p:spPr>
          <a:xfrm>
            <a:off x="5015880" y="3708584"/>
            <a:ext cx="1368152" cy="1016560"/>
          </a:xfrm>
          <a:prstGeom prst="straightConnector1">
            <a:avLst/>
          </a:prstGeom>
          <a:ln w="762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H="1">
            <a:off x="4799858" y="3708584"/>
            <a:ext cx="1423713" cy="1016560"/>
          </a:xfrm>
          <a:prstGeom prst="straightConnector1">
            <a:avLst/>
          </a:prstGeom>
          <a:ln w="762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 name="标题 2">
            <a:extLst>
              <a:ext uri="{FF2B5EF4-FFF2-40B4-BE49-F238E27FC236}">
                <a16:creationId xmlns:a16="http://schemas.microsoft.com/office/drawing/2014/main" id="{10C42C72-F3F8-9747-C905-644895C962C3}"/>
              </a:ext>
            </a:extLst>
          </p:cNvPr>
          <p:cNvSpPr>
            <a:spLocks noGrp="1"/>
          </p:cNvSpPr>
          <p:nvPr>
            <p:ph type="title"/>
          </p:nvPr>
        </p:nvSpPr>
        <p:spPr/>
        <p:txBody>
          <a:bodyPr/>
          <a:lstStyle/>
          <a:p>
            <a:endParaRPr lang="zh-CN" altLang="en-US"/>
          </a:p>
        </p:txBody>
      </p:sp>
      <p:sp>
        <p:nvSpPr>
          <p:cNvPr id="4" name="内容占位符 3">
            <a:extLst>
              <a:ext uri="{FF2B5EF4-FFF2-40B4-BE49-F238E27FC236}">
                <a16:creationId xmlns:a16="http://schemas.microsoft.com/office/drawing/2014/main" id="{106E73E1-89E1-7E2D-0714-162E7178EA6C}"/>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747199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
                                            <p:bg/>
                                          </p:spTgt>
                                        </p:tgtEl>
                                        <p:attrNameLst>
                                          <p:attrName>style.visibility</p:attrName>
                                        </p:attrNameLst>
                                      </p:cBhvr>
                                      <p:to>
                                        <p:strVal val="visible"/>
                                      </p:to>
                                    </p:set>
                                    <p:animEffect transition="in" filter="wipe(left)">
                                      <p:cBhvr>
                                        <p:cTn id="12" dur="500"/>
                                        <p:tgtEl>
                                          <p:spTgt spid="20">
                                            <p:bg/>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0">
                                            <p:txEl>
                                              <p:pRg st="0" end="0"/>
                                            </p:txEl>
                                          </p:spTgt>
                                        </p:tgtEl>
                                        <p:attrNameLst>
                                          <p:attrName>style.visibility</p:attrName>
                                        </p:attrNameLst>
                                      </p:cBhvr>
                                      <p:to>
                                        <p:strVal val="visible"/>
                                      </p:to>
                                    </p:set>
                                    <p:animEffect transition="in" filter="wipe(left)">
                                      <p:cBhvr>
                                        <p:cTn id="15" dur="500"/>
                                        <p:tgtEl>
                                          <p:spTgt spid="20">
                                            <p:txEl>
                                              <p:pRg st="0" end="0"/>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0">
                                            <p:txEl>
                                              <p:pRg st="3" end="3"/>
                                            </p:txEl>
                                          </p:spTgt>
                                        </p:tgtEl>
                                        <p:attrNameLst>
                                          <p:attrName>style.visibility</p:attrName>
                                        </p:attrNameLst>
                                      </p:cBhvr>
                                      <p:to>
                                        <p:strVal val="visible"/>
                                      </p:to>
                                    </p:set>
                                    <p:animEffect transition="in" filter="wipe(left)">
                                      <p:cBhvr>
                                        <p:cTn id="18" dur="500"/>
                                        <p:tgtEl>
                                          <p:spTgt spid="20">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0">
                                            <p:txEl>
                                              <p:pRg st="6" end="6"/>
                                            </p:txEl>
                                          </p:spTgt>
                                        </p:tgtEl>
                                        <p:attrNameLst>
                                          <p:attrName>style.visibility</p:attrName>
                                        </p:attrNameLst>
                                      </p:cBhvr>
                                      <p:to>
                                        <p:strVal val="visible"/>
                                      </p:to>
                                    </p:set>
                                    <p:animEffect transition="in" filter="wipe(left)">
                                      <p:cBhvr>
                                        <p:cTn id="21" dur="500"/>
                                        <p:tgtEl>
                                          <p:spTgt spid="20">
                                            <p:txEl>
                                              <p:pRg st="6" end="6"/>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5">
                                            <p:bg/>
                                          </p:spTgt>
                                        </p:tgtEl>
                                        <p:attrNameLst>
                                          <p:attrName>style.visibility</p:attrName>
                                        </p:attrNameLst>
                                      </p:cBhvr>
                                      <p:to>
                                        <p:strVal val="visible"/>
                                      </p:to>
                                    </p:set>
                                    <p:animEffect transition="in" filter="wipe(left)">
                                      <p:cBhvr>
                                        <p:cTn id="24" dur="500"/>
                                        <p:tgtEl>
                                          <p:spTgt spid="35">
                                            <p:bg/>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35">
                                            <p:txEl>
                                              <p:pRg st="0" end="0"/>
                                            </p:txEl>
                                          </p:spTgt>
                                        </p:tgtEl>
                                        <p:attrNameLst>
                                          <p:attrName>style.visibility</p:attrName>
                                        </p:attrNameLst>
                                      </p:cBhvr>
                                      <p:to>
                                        <p:strVal val="visible"/>
                                      </p:to>
                                    </p:set>
                                    <p:animEffect transition="in" filter="wipe(left)">
                                      <p:cBhvr>
                                        <p:cTn id="27" dur="500"/>
                                        <p:tgtEl>
                                          <p:spTgt spid="35">
                                            <p:txEl>
                                              <p:pRg st="0" end="0"/>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35">
                                            <p:txEl>
                                              <p:pRg st="3" end="3"/>
                                            </p:txEl>
                                          </p:spTgt>
                                        </p:tgtEl>
                                        <p:attrNameLst>
                                          <p:attrName>style.visibility</p:attrName>
                                        </p:attrNameLst>
                                      </p:cBhvr>
                                      <p:to>
                                        <p:strVal val="visible"/>
                                      </p:to>
                                    </p:set>
                                    <p:animEffect transition="in" filter="wipe(left)">
                                      <p:cBhvr>
                                        <p:cTn id="30" dur="500"/>
                                        <p:tgtEl>
                                          <p:spTgt spid="35">
                                            <p:txEl>
                                              <p:pRg st="3" end="3"/>
                                            </p:txEl>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35">
                                            <p:txEl>
                                              <p:pRg st="6" end="6"/>
                                            </p:txEl>
                                          </p:spTgt>
                                        </p:tgtEl>
                                        <p:attrNameLst>
                                          <p:attrName>style.visibility</p:attrName>
                                        </p:attrNameLst>
                                      </p:cBhvr>
                                      <p:to>
                                        <p:strVal val="visible"/>
                                      </p:to>
                                    </p:set>
                                    <p:animEffect transition="in" filter="wipe(left)">
                                      <p:cBhvr>
                                        <p:cTn id="33" dur="500"/>
                                        <p:tgtEl>
                                          <p:spTgt spid="35">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20">
                                            <p:txEl>
                                              <p:pRg st="2" end="2"/>
                                            </p:txEl>
                                          </p:spTgt>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35">
                                            <p:txEl>
                                              <p:pRg st="2" end="2"/>
                                            </p:txEl>
                                          </p:spTgt>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35">
                                            <p:txEl>
                                              <p:pRg st="4" end="4"/>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20">
                                            <p:txEl>
                                              <p:pRg st="1" end="1"/>
                                            </p:txEl>
                                          </p:spTgt>
                                        </p:tgtEl>
                                        <p:attrNameLst>
                                          <p:attrName>style.visibility</p:attrName>
                                        </p:attrNameLst>
                                      </p:cBhvr>
                                      <p:to>
                                        <p:strVal val="visible"/>
                                      </p:to>
                                    </p:set>
                                  </p:childTnLst>
                                </p:cTn>
                              </p:par>
                              <p:par>
                                <p:cTn id="50" presetID="22" presetClass="entr" presetSubtype="8" fill="hold" nodeType="with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left)">
                                      <p:cBhvr>
                                        <p:cTn id="52" dur="500"/>
                                        <p:tgtEl>
                                          <p:spTgt spid="9"/>
                                        </p:tgtEl>
                                      </p:cBhvr>
                                    </p:animEffect>
                                  </p:childTnLst>
                                </p:cTn>
                              </p:par>
                            </p:childTnLst>
                          </p:cTn>
                        </p:par>
                        <p:par>
                          <p:cTn id="53" fill="hold">
                            <p:stCondLst>
                              <p:cond delay="500"/>
                            </p:stCondLst>
                            <p:childTnLst>
                              <p:par>
                                <p:cTn id="54" presetID="1" presetClass="entr" presetSubtype="0" fill="hold" nodeType="afterEffect">
                                  <p:stCondLst>
                                    <p:cond delay="0"/>
                                  </p:stCondLst>
                                  <p:childTnLst>
                                    <p:set>
                                      <p:cBhvr>
                                        <p:cTn id="55" dur="1" fill="hold">
                                          <p:stCondLst>
                                            <p:cond delay="0"/>
                                          </p:stCondLst>
                                        </p:cTn>
                                        <p:tgtEl>
                                          <p:spTgt spid="35">
                                            <p:txEl>
                                              <p:pRg st="5" end="5"/>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35">
                                            <p:txEl>
                                              <p:pRg st="1" end="1"/>
                                            </p:txEl>
                                          </p:spTgt>
                                        </p:tgtEl>
                                        <p:attrNameLst>
                                          <p:attrName>style.visibility</p:attrName>
                                        </p:attrNameLst>
                                      </p:cBhvr>
                                      <p:to>
                                        <p:strVal val="visible"/>
                                      </p:to>
                                    </p:set>
                                  </p:childTnLst>
                                </p:cTn>
                              </p:par>
                              <p:par>
                                <p:cTn id="60" presetID="10" presetClass="exit" presetSubtype="0" fill="hold" nodeType="withEffect">
                                  <p:stCondLst>
                                    <p:cond delay="0"/>
                                  </p:stCondLst>
                                  <p:childTnLst>
                                    <p:animEffect transition="out" filter="fade">
                                      <p:cBhvr>
                                        <p:cTn id="61" dur="500"/>
                                        <p:tgtEl>
                                          <p:spTgt spid="9"/>
                                        </p:tgtEl>
                                      </p:cBhvr>
                                    </p:animEffect>
                                    <p:set>
                                      <p:cBhvr>
                                        <p:cTn id="62" dur="1" fill="hold">
                                          <p:stCondLst>
                                            <p:cond delay="499"/>
                                          </p:stCondLst>
                                        </p:cTn>
                                        <p:tgtEl>
                                          <p:spTgt spid="9"/>
                                        </p:tgtEl>
                                        <p:attrNameLst>
                                          <p:attrName>style.visibility</p:attrName>
                                        </p:attrNameLst>
                                      </p:cBhvr>
                                      <p:to>
                                        <p:strVal val="hidden"/>
                                      </p:to>
                                    </p:set>
                                  </p:childTnLst>
                                </p:cTn>
                              </p:par>
                              <p:par>
                                <p:cTn id="63" presetID="22" presetClass="entr" presetSubtype="2" fill="hold" nodeType="withEffect">
                                  <p:stCondLst>
                                    <p:cond delay="0"/>
                                  </p:stCondLst>
                                  <p:childTnLst>
                                    <p:set>
                                      <p:cBhvr>
                                        <p:cTn id="64" dur="1" fill="hold">
                                          <p:stCondLst>
                                            <p:cond delay="0"/>
                                          </p:stCondLst>
                                        </p:cTn>
                                        <p:tgtEl>
                                          <p:spTgt spid="12"/>
                                        </p:tgtEl>
                                        <p:attrNameLst>
                                          <p:attrName>style.visibility</p:attrName>
                                        </p:attrNameLst>
                                      </p:cBhvr>
                                      <p:to>
                                        <p:strVal val="visible"/>
                                      </p:to>
                                    </p:set>
                                    <p:animEffect transition="in" filter="wipe(right)">
                                      <p:cBhvr>
                                        <p:cTn id="65" dur="500"/>
                                        <p:tgtEl>
                                          <p:spTgt spid="12"/>
                                        </p:tgtEl>
                                      </p:cBhvr>
                                    </p:animEffect>
                                  </p:childTnLst>
                                </p:cTn>
                              </p:par>
                            </p:childTnLst>
                          </p:cTn>
                        </p:par>
                        <p:par>
                          <p:cTn id="66" fill="hold">
                            <p:stCondLst>
                              <p:cond delay="500"/>
                            </p:stCondLst>
                            <p:childTnLst>
                              <p:par>
                                <p:cTn id="67" presetID="1" presetClass="entr" presetSubtype="0" fill="hold" nodeType="afterEffect">
                                  <p:stCondLst>
                                    <p:cond delay="0"/>
                                  </p:stCondLst>
                                  <p:childTnLst>
                                    <p:set>
                                      <p:cBhvr>
                                        <p:cTn id="68" dur="1" fill="hold">
                                          <p:stCondLst>
                                            <p:cond delay="0"/>
                                          </p:stCondLst>
                                        </p:cTn>
                                        <p:tgtEl>
                                          <p:spTgt spid="20">
                                            <p:txEl>
                                              <p:pRg st="5" end="5"/>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2"/>
                                        </p:tgtEl>
                                        <p:attrNameLst>
                                          <p:attrName>style.visibility</p:attrName>
                                        </p:attrNameLst>
                                      </p:cBhvr>
                                      <p:to>
                                        <p:strVal val="visible"/>
                                      </p:to>
                                    </p:set>
                                    <p:animEffect transition="in" filter="wipe(left)">
                                      <p:cBhvr>
                                        <p:cTn id="7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uiExpand="1" build="allAtOnce" animBg="1"/>
      <p:bldP spid="35" grpId="0" uiExpand="1" build="allAtOnce"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p:cNvSpPr>
          <p:nvPr/>
        </p:nvSpPr>
        <p:spPr>
          <a:xfrm>
            <a:off x="1952596" y="1084930"/>
            <a:ext cx="8229600" cy="508383"/>
          </a:xfrm>
          <a:prstGeom prst="rect">
            <a:avLst/>
          </a:prstGeom>
        </p:spPr>
        <p:txBody>
          <a:bodyPr/>
          <a:lstStyle>
            <a:lvl1pPr>
              <a:defRPr sz="3000" b="1">
                <a:solidFill>
                  <a:srgbClr val="11576A"/>
                </a:solidFill>
                <a:latin typeface="微软雅黑" pitchFamily="34" charset="-122"/>
                <a:ea typeface="微软雅黑" pitchFamily="34" charset="-122"/>
              </a:defRPr>
            </a:lvl1pPr>
          </a:lstStyle>
          <a:p>
            <a:pPr lvl="0" algn="ctr">
              <a:spcBef>
                <a:spcPct val="0"/>
              </a:spcBef>
            </a:pPr>
            <a:r>
              <a:rPr lang="zh-CN" altLang="en-US" dirty="0"/>
              <a:t>用信号量解决生产者</a:t>
            </a:r>
            <a:r>
              <a:rPr lang="en-US" altLang="zh-CN" dirty="0"/>
              <a:t>-</a:t>
            </a:r>
            <a:r>
              <a:rPr lang="zh-CN" altLang="en-US" dirty="0"/>
              <a:t>消费者问题</a:t>
            </a:r>
            <a:endParaRPr lang="zh-CN" altLang="en-US" dirty="0">
              <a:cs typeface="+mj-cs"/>
            </a:endParaRPr>
          </a:p>
        </p:txBody>
      </p:sp>
      <p:sp>
        <p:nvSpPr>
          <p:cNvPr id="19" name="Text Box 4"/>
          <p:cNvSpPr txBox="1">
            <a:spLocks noChangeArrowheads="1"/>
          </p:cNvSpPr>
          <p:nvPr/>
        </p:nvSpPr>
        <p:spPr bwMode="auto">
          <a:xfrm>
            <a:off x="3527638" y="1785928"/>
            <a:ext cx="4607987" cy="1323439"/>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Class </a:t>
            </a:r>
            <a:r>
              <a:rPr lang="en-US" altLang="zh-CN" sz="1600" b="1" dirty="0" err="1">
                <a:latin typeface="Courier New" panose="02070309020205020404" pitchFamily="49" charset="0"/>
                <a:ea typeface="+mj-ea"/>
                <a:cs typeface="Courier New" panose="02070309020205020404" pitchFamily="49" charset="0"/>
              </a:rPr>
              <a:t>BoundedBuffer</a:t>
            </a:r>
            <a:r>
              <a:rPr lang="en-US" altLang="zh-CN" sz="1600" b="1" dirty="0">
                <a:latin typeface="Courier New" panose="02070309020205020404" pitchFamily="49" charset="0"/>
                <a:ea typeface="+mj-ea"/>
                <a:cs typeface="Courier New" panose="02070309020205020404" pitchFamily="49" charset="0"/>
              </a:rPr>
              <a:t> {</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mutex</a:t>
            </a:r>
            <a:r>
              <a:rPr lang="en-US" altLang="zh-CN" sz="1600" b="1" dirty="0">
                <a:latin typeface="Courier New" panose="02070309020205020404" pitchFamily="49" charset="0"/>
                <a:ea typeface="+mj-ea"/>
                <a:cs typeface="Courier New" panose="02070309020205020404" pitchFamily="49" charset="0"/>
              </a:rPr>
              <a:t> = new Semaphore(1);</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fullBuffers</a:t>
            </a:r>
            <a:r>
              <a:rPr lang="en-US" altLang="zh-CN" sz="1600" b="1" dirty="0">
                <a:latin typeface="Courier New" panose="02070309020205020404" pitchFamily="49" charset="0"/>
                <a:ea typeface="+mj-ea"/>
                <a:cs typeface="Courier New" panose="02070309020205020404" pitchFamily="49" charset="0"/>
              </a:rPr>
              <a:t> = new Semaphore(0);</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emptyBuffers</a:t>
            </a:r>
            <a:r>
              <a:rPr lang="en-US" altLang="zh-CN" sz="1600" b="1" dirty="0">
                <a:latin typeface="Courier New" panose="02070309020205020404" pitchFamily="49" charset="0"/>
                <a:ea typeface="+mj-ea"/>
                <a:cs typeface="Courier New" panose="02070309020205020404" pitchFamily="49" charset="0"/>
              </a:rPr>
              <a:t> = new Semaphore(n);</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a:t>
            </a:r>
          </a:p>
        </p:txBody>
      </p:sp>
      <p:sp>
        <p:nvSpPr>
          <p:cNvPr id="20" name="Text Box 5"/>
          <p:cNvSpPr txBox="1">
            <a:spLocks noChangeArrowheads="1"/>
          </p:cNvSpPr>
          <p:nvPr/>
        </p:nvSpPr>
        <p:spPr bwMode="auto">
          <a:xfrm>
            <a:off x="2166910" y="3316287"/>
            <a:ext cx="3526112"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err="1">
                <a:latin typeface="Courier New" panose="02070309020205020404" pitchFamily="49" charset="0"/>
                <a:ea typeface="+mj-ea"/>
                <a:cs typeface="Courier New" panose="02070309020205020404" pitchFamily="49" charset="0"/>
              </a:rPr>
              <a:t>BoundedBuffer</a:t>
            </a:r>
            <a:r>
              <a:rPr lang="en-US" altLang="zh-CN" sz="1600" b="1" dirty="0">
                <a:latin typeface="Courier New" panose="02070309020205020404" pitchFamily="49" charset="0"/>
                <a:ea typeface="+mj-ea"/>
                <a:cs typeface="Courier New" panose="02070309020205020404" pitchFamily="49" charset="0"/>
              </a:rPr>
              <a:t>::Deposit(c) {</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sym typeface="Wingdings" charset="0"/>
              </a:rPr>
              <a:t>mutex</a:t>
            </a:r>
            <a:r>
              <a:rPr lang="en-US" altLang="zh-CN" sz="1600" b="1" dirty="0">
                <a:latin typeface="Courier New" panose="02070309020205020404" pitchFamily="49" charset="0"/>
                <a:cs typeface="Courier New" panose="02070309020205020404" pitchFamily="49" charset="0"/>
                <a:sym typeface="Wingdings" charset="0"/>
              </a:rPr>
              <a:t>-&gt;P(); </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emptyBuffers</a:t>
            </a:r>
            <a:r>
              <a:rPr lang="en-US" altLang="zh-CN" sz="1600" b="1" dirty="0">
                <a:latin typeface="Courier New" panose="02070309020205020404" pitchFamily="49" charset="0"/>
                <a:ea typeface="+mj-ea"/>
                <a:cs typeface="Courier New" panose="02070309020205020404" pitchFamily="49" charset="0"/>
                <a:sym typeface="Wingdings" charset="0"/>
              </a:rPr>
              <a:t>-&gt;P(); </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sym typeface="Wingdings" charset="0"/>
              </a:rPr>
              <a:t>    Add c to the buffer;</a:t>
            </a:r>
            <a:endParaRPr lang="en-US" altLang="zh-CN" sz="1600" b="1" dirty="0">
              <a:latin typeface="Courier New" panose="02070309020205020404" pitchFamily="49" charset="0"/>
              <a:ea typeface="+mj-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fullBuffers</a:t>
            </a:r>
            <a:r>
              <a:rPr lang="en-US" altLang="zh-CN" sz="1600" b="1" dirty="0">
                <a:latin typeface="Courier New" panose="02070309020205020404" pitchFamily="49" charset="0"/>
                <a:ea typeface="+mj-ea"/>
                <a:cs typeface="Courier New" panose="02070309020205020404" pitchFamily="49" charset="0"/>
                <a:sym typeface="Wingdings" charset="0"/>
              </a:rPr>
              <a:t>-&gt;V();</a:t>
            </a:r>
          </a:p>
          <a:p>
            <a:pPr eaLnBrk="1" hangingPunct="1"/>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mutex</a:t>
            </a:r>
            <a:r>
              <a:rPr lang="en-US" altLang="zh-CN" sz="1600" b="1" dirty="0">
                <a:latin typeface="Courier New" panose="02070309020205020404" pitchFamily="49" charset="0"/>
                <a:cs typeface="Courier New" panose="02070309020205020404" pitchFamily="49" charset="0"/>
                <a:sym typeface="Wingdings" charset="0"/>
              </a:rPr>
              <a:t>-&gt;V();</a:t>
            </a:r>
            <a:endParaRPr lang="en-US" altLang="zh-CN" sz="1600" b="1" dirty="0">
              <a:latin typeface="Courier New" panose="02070309020205020404" pitchFamily="49" charset="0"/>
              <a:ea typeface="+mj-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a:t>
            </a:r>
          </a:p>
        </p:txBody>
      </p:sp>
      <p:sp>
        <p:nvSpPr>
          <p:cNvPr id="35" name="Text Box 6"/>
          <p:cNvSpPr txBox="1">
            <a:spLocks noChangeArrowheads="1"/>
          </p:cNvSpPr>
          <p:nvPr/>
        </p:nvSpPr>
        <p:spPr bwMode="auto">
          <a:xfrm>
            <a:off x="5810248" y="3316287"/>
            <a:ext cx="3526112"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err="1">
                <a:latin typeface="Courier New" panose="02070309020205020404" pitchFamily="49" charset="0"/>
                <a:ea typeface="+mj-ea"/>
                <a:cs typeface="Courier New" panose="02070309020205020404" pitchFamily="49" charset="0"/>
              </a:rPr>
              <a:t>BoundedBuffer</a:t>
            </a:r>
            <a:r>
              <a:rPr lang="en-US" altLang="zh-CN" sz="1600" b="1" dirty="0">
                <a:latin typeface="Courier New" panose="02070309020205020404" pitchFamily="49" charset="0"/>
                <a:ea typeface="+mj-ea"/>
                <a:cs typeface="Courier New" panose="02070309020205020404" pitchFamily="49" charset="0"/>
              </a:rPr>
              <a:t>::Remove(c) {</a:t>
            </a:r>
          </a:p>
          <a:p>
            <a:pPr eaLnBrk="1" hangingPunct="1"/>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sym typeface="Wingdings" charset="0"/>
              </a:rPr>
              <a:t>mutex</a:t>
            </a:r>
            <a:r>
              <a:rPr lang="en-US" altLang="zh-CN" sz="1600" b="1" dirty="0">
                <a:latin typeface="Courier New" panose="02070309020205020404" pitchFamily="49" charset="0"/>
                <a:cs typeface="Courier New" panose="02070309020205020404" pitchFamily="49" charset="0"/>
                <a:sym typeface="Wingdings" charset="0"/>
              </a:rPr>
              <a:t>-&gt;P();</a:t>
            </a:r>
            <a:endParaRPr lang="en-US" altLang="zh-CN" sz="1600" b="1" dirty="0">
              <a:latin typeface="Courier New" panose="02070309020205020404" pitchFamily="49" charset="0"/>
              <a:ea typeface="+mj-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fullBuffers</a:t>
            </a:r>
            <a:r>
              <a:rPr lang="en-US" altLang="zh-CN" sz="1600" b="1" dirty="0">
                <a:latin typeface="Courier New" panose="02070309020205020404" pitchFamily="49" charset="0"/>
                <a:ea typeface="+mj-ea"/>
                <a:cs typeface="Courier New" panose="02070309020205020404" pitchFamily="49" charset="0"/>
                <a:sym typeface="Wingdings" charset="0"/>
              </a:rPr>
              <a:t>-&gt;P();</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sym typeface="Wingdings" charset="0"/>
              </a:rPr>
              <a:t>    Remove c from buffer;</a:t>
            </a:r>
            <a:endParaRPr lang="en-US" altLang="zh-CN" sz="1600" b="1" dirty="0">
              <a:latin typeface="Courier New" panose="02070309020205020404" pitchFamily="49" charset="0"/>
              <a:ea typeface="+mj-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    </a:t>
            </a:r>
            <a:r>
              <a:rPr lang="en-US" altLang="zh-CN" sz="1600" b="1" dirty="0" err="1">
                <a:latin typeface="Courier New" panose="02070309020205020404" pitchFamily="49" charset="0"/>
                <a:ea typeface="+mj-ea"/>
                <a:cs typeface="Courier New" panose="02070309020205020404" pitchFamily="49" charset="0"/>
              </a:rPr>
              <a:t>emptyBuffers</a:t>
            </a:r>
            <a:r>
              <a:rPr lang="en-US" altLang="zh-CN" sz="1600" b="1" dirty="0">
                <a:latin typeface="Courier New" panose="02070309020205020404" pitchFamily="49" charset="0"/>
                <a:ea typeface="+mj-ea"/>
                <a:cs typeface="Courier New" panose="02070309020205020404" pitchFamily="49" charset="0"/>
                <a:sym typeface="Wingdings" charset="0"/>
              </a:rPr>
              <a:t>-&gt;V();</a:t>
            </a: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sym typeface="Wingdings" charset="0"/>
              </a:rPr>
              <a:t>    </a:t>
            </a:r>
            <a:r>
              <a:rPr lang="en-US" altLang="zh-CN" sz="1600" b="1" dirty="0" err="1">
                <a:latin typeface="Courier New" panose="02070309020205020404" pitchFamily="49" charset="0"/>
                <a:cs typeface="Courier New" panose="02070309020205020404" pitchFamily="49" charset="0"/>
              </a:rPr>
              <a:t>mutex</a:t>
            </a:r>
            <a:r>
              <a:rPr lang="en-US" altLang="zh-CN" sz="1600" b="1" dirty="0">
                <a:latin typeface="Courier New" panose="02070309020205020404" pitchFamily="49" charset="0"/>
                <a:cs typeface="Courier New" panose="02070309020205020404" pitchFamily="49" charset="0"/>
                <a:sym typeface="Wingdings" charset="0"/>
              </a:rPr>
              <a:t>-&gt;V();</a:t>
            </a:r>
            <a:endParaRPr lang="en-US" altLang="zh-CN" sz="1600" b="1" dirty="0">
              <a:latin typeface="Courier New" panose="02070309020205020404" pitchFamily="49" charset="0"/>
              <a:ea typeface="+mj-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j-ea"/>
                <a:cs typeface="Courier New" panose="02070309020205020404" pitchFamily="49" charset="0"/>
              </a:rPr>
              <a:t>}</a:t>
            </a:r>
          </a:p>
        </p:txBody>
      </p:sp>
      <p:grpSp>
        <p:nvGrpSpPr>
          <p:cNvPr id="2" name="组合 1"/>
          <p:cNvGrpSpPr/>
          <p:nvPr/>
        </p:nvGrpSpPr>
        <p:grpSpPr>
          <a:xfrm>
            <a:off x="2423592" y="5550892"/>
            <a:ext cx="4032448" cy="420730"/>
            <a:chOff x="500034" y="4378338"/>
            <a:chExt cx="3727107" cy="420730"/>
          </a:xfrm>
        </p:grpSpPr>
        <p:sp>
          <p:nvSpPr>
            <p:cNvPr id="36" name="内容占位符 2"/>
            <p:cNvSpPr txBox="1">
              <a:spLocks/>
            </p:cNvSpPr>
            <p:nvPr/>
          </p:nvSpPr>
          <p:spPr>
            <a:xfrm>
              <a:off x="811999" y="4421240"/>
              <a:ext cx="3415142" cy="3778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这个解决方案有什么问题吗？</a:t>
              </a:r>
            </a:p>
          </p:txBody>
        </p:sp>
        <p:sp>
          <p:nvSpPr>
            <p:cNvPr id="37" name="TextBox 36"/>
            <p:cNvSpPr txBox="1"/>
            <p:nvPr/>
          </p:nvSpPr>
          <p:spPr>
            <a:xfrm>
              <a:off x="500034" y="4378338"/>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sp>
        <p:nvSpPr>
          <p:cNvPr id="3" name="标题 2">
            <a:extLst>
              <a:ext uri="{FF2B5EF4-FFF2-40B4-BE49-F238E27FC236}">
                <a16:creationId xmlns:a16="http://schemas.microsoft.com/office/drawing/2014/main" id="{E0FC55A9-0529-466D-59ED-9B80490015FB}"/>
              </a:ext>
            </a:extLst>
          </p:cNvPr>
          <p:cNvSpPr>
            <a:spLocks noGrp="1"/>
          </p:cNvSpPr>
          <p:nvPr>
            <p:ph type="title"/>
          </p:nvPr>
        </p:nvSpPr>
        <p:spPr/>
        <p:txBody>
          <a:bodyPr/>
          <a:lstStyle/>
          <a:p>
            <a:endParaRPr lang="zh-CN" altLang="en-US"/>
          </a:p>
        </p:txBody>
      </p:sp>
      <p:sp>
        <p:nvSpPr>
          <p:cNvPr id="4" name="内容占位符 3">
            <a:extLst>
              <a:ext uri="{FF2B5EF4-FFF2-40B4-BE49-F238E27FC236}">
                <a16:creationId xmlns:a16="http://schemas.microsoft.com/office/drawing/2014/main" id="{8A4A04EC-07B3-AE23-C4FB-1E5D63996751}"/>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1100373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866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B6C34FB6-485C-4A84-89AD-7D51D52E5A77}" type="slidenum">
              <a:rPr lang="en-US" altLang="ko-KR" sz="1200">
                <a:solidFill>
                  <a:schemeClr val="bg1"/>
                </a:solidFill>
              </a:rPr>
              <a:pPr>
                <a:spcBef>
                  <a:spcPct val="0"/>
                </a:spcBef>
                <a:buClrTx/>
                <a:buSzTx/>
                <a:buFontTx/>
                <a:buNone/>
              </a:pPr>
              <a:t>9</a:t>
            </a:fld>
            <a:endParaRPr lang="en-US" altLang="ko-KR" sz="1200">
              <a:solidFill>
                <a:schemeClr val="bg1"/>
              </a:solidFill>
            </a:endParaRPr>
          </a:p>
        </p:txBody>
      </p:sp>
      <p:sp>
        <p:nvSpPr>
          <p:cNvPr id="198658" name="标题 1"/>
          <p:cNvSpPr>
            <a:spLocks noGrp="1"/>
          </p:cNvSpPr>
          <p:nvPr>
            <p:ph type="title"/>
          </p:nvPr>
        </p:nvSpPr>
        <p:spPr/>
        <p:txBody>
          <a:bodyPr/>
          <a:lstStyle/>
          <a:p>
            <a:r>
              <a:rPr lang="zh-CN" altLang="en-US">
                <a:ea typeface="宋体" panose="02010600030101010101" pitchFamily="2" charset="-122"/>
              </a:rPr>
              <a:t>信号量的代码示意</a:t>
            </a:r>
          </a:p>
        </p:txBody>
      </p:sp>
      <p:sp>
        <p:nvSpPr>
          <p:cNvPr id="198659" name="内容占位符 2"/>
          <p:cNvSpPr>
            <a:spLocks noGrp="1"/>
          </p:cNvSpPr>
          <p:nvPr>
            <p:ph idx="1"/>
          </p:nvPr>
        </p:nvSpPr>
        <p:spPr/>
        <p:txBody>
          <a:bodyPr/>
          <a:lstStyle/>
          <a:p>
            <a:pPr>
              <a:lnSpc>
                <a:spcPct val="80000"/>
              </a:lnSpc>
            </a:pPr>
            <a:r>
              <a:rPr lang="en-US" altLang="zh-CN" sz="2600">
                <a:ea typeface="宋体" panose="02010600030101010101" pitchFamily="2" charset="-122"/>
              </a:rPr>
              <a:t>#include &lt;sys/sem.h&gt;</a:t>
            </a:r>
          </a:p>
          <a:p>
            <a:pPr>
              <a:lnSpc>
                <a:spcPct val="80000"/>
              </a:lnSpc>
            </a:pPr>
            <a:r>
              <a:rPr lang="en-US" altLang="zh-CN" sz="2600">
                <a:ea typeface="宋体" panose="02010600030101010101" pitchFamily="2" charset="-122"/>
              </a:rPr>
              <a:t>int semctl(int sem_id, int sem_num, int command, ...);</a:t>
            </a:r>
          </a:p>
          <a:p>
            <a:pPr>
              <a:lnSpc>
                <a:spcPct val="80000"/>
              </a:lnSpc>
            </a:pPr>
            <a:r>
              <a:rPr lang="en-US" altLang="zh-CN" sz="2600">
                <a:ea typeface="宋体" panose="02010600030101010101" pitchFamily="2" charset="-122"/>
              </a:rPr>
              <a:t>int semget(key_t key, int num_sems, int sem_flags);</a:t>
            </a:r>
          </a:p>
          <a:p>
            <a:pPr>
              <a:lnSpc>
                <a:spcPct val="80000"/>
              </a:lnSpc>
            </a:pPr>
            <a:r>
              <a:rPr lang="en-US" altLang="zh-CN" sz="2600">
                <a:ea typeface="宋体" panose="02010600030101010101" pitchFamily="2" charset="-122"/>
              </a:rPr>
              <a:t>int semop(int sem_id, struct sembuf *sem_ops, size_t num_sem_ops);</a:t>
            </a:r>
            <a:endParaRPr lang="zh-CN" altLang="en-US" sz="2600">
              <a:ea typeface="宋体" panose="02010600030101010101" pitchFamily="2" charset="-122"/>
            </a:endParaRPr>
          </a:p>
        </p:txBody>
      </p:sp>
      <p:sp>
        <p:nvSpPr>
          <p:cNvPr id="8" name="内容占位符 6"/>
          <p:cNvSpPr txBox="1">
            <a:spLocks/>
          </p:cNvSpPr>
          <p:nvPr/>
        </p:nvSpPr>
        <p:spPr bwMode="auto">
          <a:xfrm>
            <a:off x="2566988" y="1341438"/>
            <a:ext cx="3956050" cy="4953000"/>
          </a:xfrm>
          <a:prstGeom prst="rect">
            <a:avLst/>
          </a:prstGeom>
          <a:solidFill>
            <a:schemeClr val="bg1"/>
          </a:solidFill>
          <a:ln>
            <a:noFill/>
          </a:ln>
        </p:spPr>
        <p:txBody>
          <a:bodyPr>
            <a:normAutofit fontScale="55000" lnSpcReduction="20000"/>
          </a:bodyPr>
          <a:lstStyle>
            <a:lvl1pPr marL="342900" indent="-342900" algn="l" rtl="0" eaLnBrk="0" fontAlgn="base" hangingPunct="0">
              <a:spcBef>
                <a:spcPct val="20000"/>
              </a:spcBef>
              <a:spcAft>
                <a:spcPct val="0"/>
              </a:spcAft>
              <a:buClr>
                <a:schemeClr val="tx1"/>
              </a:buClr>
              <a:buSzPct val="80000"/>
              <a:buFont typeface="Wingdings" pitchFamily="2" charset="2"/>
              <a:buChar char="¢"/>
              <a:defRPr sz="2800">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SzPct val="80000"/>
              <a:buFont typeface="Wingdings" pitchFamily="2" charset="2"/>
              <a:buChar char="l"/>
              <a:defRPr sz="2400">
                <a:solidFill>
                  <a:schemeClr val="tx1"/>
                </a:solidFill>
                <a:latin typeface="+mn-lt"/>
              </a:defRPr>
            </a:lvl2pPr>
            <a:lvl3pPr marL="1143000" indent="-228600" algn="l" rtl="0" eaLnBrk="0" fontAlgn="base" hangingPunct="0">
              <a:spcBef>
                <a:spcPct val="20000"/>
              </a:spcBef>
              <a:spcAft>
                <a:spcPct val="0"/>
              </a:spcAft>
              <a:buClr>
                <a:schemeClr val="folHlink"/>
              </a:buClr>
              <a:buSzPct val="70000"/>
              <a:buFont typeface="Wingdings" pitchFamily="2" charset="2"/>
              <a:buChar char="l"/>
              <a:defRPr sz="2000">
                <a:solidFill>
                  <a:schemeClr val="tx1"/>
                </a:solidFill>
                <a:latin typeface="+mn-lt"/>
              </a:defRPr>
            </a:lvl3pPr>
            <a:lvl4pPr marL="1600200" indent="-228600" algn="l" rtl="0" eaLnBrk="0" fontAlgn="base" hangingPunct="0">
              <a:spcBef>
                <a:spcPct val="20000"/>
              </a:spcBef>
              <a:spcAft>
                <a:spcPct val="0"/>
              </a:spcAft>
              <a:buClr>
                <a:schemeClr val="tx1"/>
              </a:buClr>
              <a:buSzPct val="60000"/>
              <a:buFont typeface="Wingdings" pitchFamily="2" charset="2"/>
              <a:buChar char="l"/>
              <a:defRPr sz="1800">
                <a:solidFill>
                  <a:schemeClr val="tx1"/>
                </a:solidFill>
                <a:latin typeface="+mn-lt"/>
              </a:defRPr>
            </a:lvl4pPr>
            <a:lvl5pPr marL="2057400" indent="-228600" algn="l" rtl="0" eaLnBrk="0" fontAlgn="base" hangingPunct="0">
              <a:spcBef>
                <a:spcPct val="20000"/>
              </a:spcBef>
              <a:spcAft>
                <a:spcPct val="0"/>
              </a:spcAft>
              <a:buClr>
                <a:schemeClr val="hlink"/>
              </a:buClr>
              <a:buSzPct val="50000"/>
              <a:buFont typeface="Wingdings" pitchFamily="2" charset="2"/>
              <a:buChar char="l"/>
              <a:defRPr sz="1800">
                <a:solidFill>
                  <a:schemeClr val="tx1"/>
                </a:solidFill>
                <a:latin typeface="+mn-lt"/>
              </a:defRPr>
            </a:lvl5pPr>
            <a:lvl6pPr marL="2514600" indent="-228600" algn="l" rtl="0" fontAlgn="base">
              <a:spcBef>
                <a:spcPct val="20000"/>
              </a:spcBef>
              <a:spcAft>
                <a:spcPct val="0"/>
              </a:spcAft>
              <a:buClr>
                <a:schemeClr val="hlink"/>
              </a:buClr>
              <a:buSzPct val="50000"/>
              <a:buFont typeface="Wingdings" pitchFamily="2" charset="2"/>
              <a:buChar char="l"/>
              <a:defRPr sz="1800">
                <a:solidFill>
                  <a:schemeClr val="tx1"/>
                </a:solidFill>
                <a:latin typeface="+mn-lt"/>
              </a:defRPr>
            </a:lvl6pPr>
            <a:lvl7pPr marL="2971800" indent="-228600" algn="l" rtl="0" fontAlgn="base">
              <a:spcBef>
                <a:spcPct val="20000"/>
              </a:spcBef>
              <a:spcAft>
                <a:spcPct val="0"/>
              </a:spcAft>
              <a:buClr>
                <a:schemeClr val="hlink"/>
              </a:buClr>
              <a:buSzPct val="50000"/>
              <a:buFont typeface="Wingdings" pitchFamily="2" charset="2"/>
              <a:buChar char="l"/>
              <a:defRPr sz="1800">
                <a:solidFill>
                  <a:schemeClr val="tx1"/>
                </a:solidFill>
                <a:latin typeface="+mn-lt"/>
              </a:defRPr>
            </a:lvl7pPr>
            <a:lvl8pPr marL="3429000" indent="-228600" algn="l" rtl="0" fontAlgn="base">
              <a:spcBef>
                <a:spcPct val="20000"/>
              </a:spcBef>
              <a:spcAft>
                <a:spcPct val="0"/>
              </a:spcAft>
              <a:buClr>
                <a:schemeClr val="hlink"/>
              </a:buClr>
              <a:buSzPct val="50000"/>
              <a:buFont typeface="Wingdings" pitchFamily="2" charset="2"/>
              <a:buChar char="l"/>
              <a:defRPr sz="1800">
                <a:solidFill>
                  <a:schemeClr val="tx1"/>
                </a:solidFill>
                <a:latin typeface="+mn-lt"/>
              </a:defRPr>
            </a:lvl8pPr>
            <a:lvl9pPr marL="3886200" indent="-228600" algn="l" rtl="0" fontAlgn="base">
              <a:spcBef>
                <a:spcPct val="20000"/>
              </a:spcBef>
              <a:spcAft>
                <a:spcPct val="0"/>
              </a:spcAft>
              <a:buClr>
                <a:schemeClr val="hlink"/>
              </a:buClr>
              <a:buSzPct val="50000"/>
              <a:buFont typeface="Wingdings" pitchFamily="2" charset="2"/>
              <a:buChar char="l"/>
              <a:defRPr sz="1800">
                <a:solidFill>
                  <a:schemeClr val="tx1"/>
                </a:solidFill>
                <a:latin typeface="+mn-lt"/>
              </a:defRPr>
            </a:lvl9pPr>
          </a:lstStyle>
          <a:p>
            <a:pPr>
              <a:lnSpc>
                <a:spcPct val="120000"/>
              </a:lnSpc>
              <a:defRPr/>
            </a:pPr>
            <a:r>
              <a:rPr lang="en-US" altLang="zh-CN" dirty="0"/>
              <a:t>static </a:t>
            </a:r>
            <a:r>
              <a:rPr lang="en-US" altLang="zh-CN" dirty="0" err="1"/>
              <a:t>int</a:t>
            </a:r>
            <a:r>
              <a:rPr lang="en-US" altLang="zh-CN" dirty="0"/>
              <a:t> </a:t>
            </a:r>
            <a:r>
              <a:rPr lang="en-US" altLang="zh-CN" dirty="0" err="1"/>
              <a:t>semaphore_v</a:t>
            </a:r>
            <a:r>
              <a:rPr lang="en-US" altLang="zh-CN" dirty="0"/>
              <a:t>(void)</a:t>
            </a:r>
          </a:p>
          <a:p>
            <a:pPr>
              <a:lnSpc>
                <a:spcPct val="120000"/>
              </a:lnSpc>
              <a:defRPr/>
            </a:pPr>
            <a:r>
              <a:rPr lang="en-US" altLang="zh-CN" dirty="0"/>
              <a:t>{</a:t>
            </a:r>
          </a:p>
          <a:p>
            <a:pPr>
              <a:lnSpc>
                <a:spcPct val="120000"/>
              </a:lnSpc>
              <a:defRPr/>
            </a:pPr>
            <a:r>
              <a:rPr lang="en-US" altLang="zh-CN" dirty="0"/>
              <a:t>    </a:t>
            </a:r>
            <a:r>
              <a:rPr lang="en-US" altLang="zh-CN" dirty="0" err="1"/>
              <a:t>struct</a:t>
            </a:r>
            <a:r>
              <a:rPr lang="en-US" altLang="zh-CN" dirty="0"/>
              <a:t> </a:t>
            </a:r>
            <a:r>
              <a:rPr lang="en-US" altLang="zh-CN" dirty="0" err="1"/>
              <a:t>sembuf</a:t>
            </a:r>
            <a:r>
              <a:rPr lang="en-US" altLang="zh-CN" dirty="0"/>
              <a:t> </a:t>
            </a:r>
            <a:r>
              <a:rPr lang="en-US" altLang="zh-CN" dirty="0" err="1"/>
              <a:t>sem_b</a:t>
            </a:r>
            <a:r>
              <a:rPr lang="en-US" altLang="zh-CN" dirty="0"/>
              <a:t>;</a:t>
            </a:r>
          </a:p>
          <a:p>
            <a:pPr>
              <a:lnSpc>
                <a:spcPct val="120000"/>
              </a:lnSpc>
              <a:defRPr/>
            </a:pPr>
            <a:endParaRPr lang="en-US" altLang="zh-CN" dirty="0"/>
          </a:p>
          <a:p>
            <a:pPr>
              <a:lnSpc>
                <a:spcPct val="120000"/>
              </a:lnSpc>
              <a:defRPr/>
            </a:pPr>
            <a:endParaRPr lang="en-US" altLang="zh-CN" dirty="0"/>
          </a:p>
          <a:p>
            <a:pPr>
              <a:lnSpc>
                <a:spcPct val="120000"/>
              </a:lnSpc>
              <a:defRPr/>
            </a:pPr>
            <a:r>
              <a:rPr lang="en-US" altLang="zh-CN" dirty="0"/>
              <a:t>    </a:t>
            </a:r>
            <a:r>
              <a:rPr lang="en-US" altLang="zh-CN" dirty="0" err="1"/>
              <a:t>sem_b.sem_num</a:t>
            </a:r>
            <a:r>
              <a:rPr lang="en-US" altLang="zh-CN" dirty="0"/>
              <a:t> = 0;</a:t>
            </a:r>
          </a:p>
          <a:p>
            <a:pPr>
              <a:lnSpc>
                <a:spcPct val="120000"/>
              </a:lnSpc>
              <a:defRPr/>
            </a:pPr>
            <a:r>
              <a:rPr lang="en-US" altLang="zh-CN" dirty="0"/>
              <a:t>    </a:t>
            </a:r>
            <a:r>
              <a:rPr lang="en-US" altLang="zh-CN" dirty="0" err="1"/>
              <a:t>sem_b.sem_op</a:t>
            </a:r>
            <a:r>
              <a:rPr lang="en-US" altLang="zh-CN" dirty="0"/>
              <a:t> = 1;</a:t>
            </a:r>
          </a:p>
          <a:p>
            <a:pPr>
              <a:lnSpc>
                <a:spcPct val="120000"/>
              </a:lnSpc>
              <a:defRPr/>
            </a:pPr>
            <a:r>
              <a:rPr lang="en-US" altLang="zh-CN" dirty="0"/>
              <a:t>    </a:t>
            </a:r>
            <a:r>
              <a:rPr lang="en-US" altLang="zh-CN" dirty="0" err="1"/>
              <a:t>sem_b.sem_flag</a:t>
            </a:r>
            <a:r>
              <a:rPr lang="en-US" altLang="zh-CN" dirty="0"/>
              <a:t> = SEM_UNDO;</a:t>
            </a:r>
          </a:p>
          <a:p>
            <a:pPr>
              <a:lnSpc>
                <a:spcPct val="120000"/>
              </a:lnSpc>
              <a:defRPr/>
            </a:pPr>
            <a:r>
              <a:rPr lang="en-US" altLang="zh-CN" dirty="0"/>
              <a:t>    if(</a:t>
            </a:r>
            <a:r>
              <a:rPr lang="en-US" altLang="zh-CN" dirty="0" err="1"/>
              <a:t>semop</a:t>
            </a:r>
            <a:r>
              <a:rPr lang="en-US" altLang="zh-CN" dirty="0"/>
              <a:t>(</a:t>
            </a:r>
            <a:r>
              <a:rPr lang="en-US" altLang="zh-CN" dirty="0" err="1"/>
              <a:t>sem_id</a:t>
            </a:r>
            <a:r>
              <a:rPr lang="en-US" altLang="zh-CN" dirty="0"/>
              <a:t>, &amp;</a:t>
            </a:r>
            <a:r>
              <a:rPr lang="en-US" altLang="zh-CN" dirty="0" err="1"/>
              <a:t>sem_b</a:t>
            </a:r>
            <a:r>
              <a:rPr lang="en-US" altLang="zh-CN" dirty="0"/>
              <a:t>, 1) == -1)</a:t>
            </a:r>
          </a:p>
          <a:p>
            <a:pPr>
              <a:lnSpc>
                <a:spcPct val="120000"/>
              </a:lnSpc>
              <a:defRPr/>
            </a:pPr>
            <a:r>
              <a:rPr lang="en-US" altLang="zh-CN" dirty="0"/>
              <a:t>    {</a:t>
            </a:r>
          </a:p>
          <a:p>
            <a:pPr>
              <a:lnSpc>
                <a:spcPct val="120000"/>
              </a:lnSpc>
              <a:defRPr/>
            </a:pPr>
            <a:r>
              <a:rPr lang="en-US" altLang="zh-CN" dirty="0"/>
              <a:t>        </a:t>
            </a:r>
            <a:r>
              <a:rPr lang="en-US" altLang="zh-CN" dirty="0" err="1"/>
              <a:t>fprintf</a:t>
            </a:r>
            <a:r>
              <a:rPr lang="en-US" altLang="zh-CN" dirty="0"/>
              <a:t>(</a:t>
            </a:r>
            <a:r>
              <a:rPr lang="en-US" altLang="zh-CN" dirty="0" err="1"/>
              <a:t>stderr</a:t>
            </a:r>
            <a:r>
              <a:rPr lang="en-US" altLang="zh-CN" dirty="0"/>
              <a:t>, "</a:t>
            </a:r>
            <a:r>
              <a:rPr lang="en-US" altLang="zh-CN" dirty="0" err="1"/>
              <a:t>semaphore_v</a:t>
            </a:r>
            <a:r>
              <a:rPr lang="en-US" altLang="zh-CN" dirty="0"/>
              <a:t> failed/n");</a:t>
            </a:r>
          </a:p>
          <a:p>
            <a:pPr>
              <a:lnSpc>
                <a:spcPct val="120000"/>
              </a:lnSpc>
              <a:defRPr/>
            </a:pPr>
            <a:r>
              <a:rPr lang="en-US" altLang="zh-CN" dirty="0"/>
              <a:t>        return 0;</a:t>
            </a:r>
          </a:p>
          <a:p>
            <a:pPr>
              <a:lnSpc>
                <a:spcPct val="120000"/>
              </a:lnSpc>
              <a:defRPr/>
            </a:pPr>
            <a:r>
              <a:rPr lang="en-US" altLang="zh-CN" dirty="0"/>
              <a:t>    }</a:t>
            </a:r>
          </a:p>
          <a:p>
            <a:pPr>
              <a:lnSpc>
                <a:spcPct val="120000"/>
              </a:lnSpc>
              <a:defRPr/>
            </a:pPr>
            <a:r>
              <a:rPr lang="en-US" altLang="zh-CN" dirty="0"/>
              <a:t>    return 1;</a:t>
            </a:r>
          </a:p>
          <a:p>
            <a:pPr>
              <a:lnSpc>
                <a:spcPct val="120000"/>
              </a:lnSpc>
              <a:defRPr/>
            </a:pPr>
            <a:r>
              <a:rPr lang="en-US" altLang="zh-CN" dirty="0"/>
              <a:t>}</a:t>
            </a:r>
            <a:endParaRPr lang="zh-CN" altLang="en-US" dirty="0"/>
          </a:p>
        </p:txBody>
      </p:sp>
      <p:sp>
        <p:nvSpPr>
          <p:cNvPr id="10" name="内容占位符 6"/>
          <p:cNvSpPr txBox="1">
            <a:spLocks/>
          </p:cNvSpPr>
          <p:nvPr/>
        </p:nvSpPr>
        <p:spPr bwMode="auto">
          <a:xfrm>
            <a:off x="6604000" y="1341438"/>
            <a:ext cx="3956050" cy="4953000"/>
          </a:xfrm>
          <a:prstGeom prst="rect">
            <a:avLst/>
          </a:prstGeom>
          <a:solidFill>
            <a:schemeClr val="bg1"/>
          </a:solidFill>
          <a:ln>
            <a:noFill/>
          </a:ln>
        </p:spPr>
        <p:txBody>
          <a:bodyPr>
            <a:normAutofit fontScale="55000" lnSpcReduction="20000"/>
          </a:bodyPr>
          <a:lstStyle>
            <a:lvl1pPr marL="342900" indent="-342900" algn="l" rtl="0" eaLnBrk="0" fontAlgn="base" hangingPunct="0">
              <a:spcBef>
                <a:spcPct val="20000"/>
              </a:spcBef>
              <a:spcAft>
                <a:spcPct val="0"/>
              </a:spcAft>
              <a:buClr>
                <a:schemeClr val="tx1"/>
              </a:buClr>
              <a:buSzPct val="80000"/>
              <a:buFont typeface="Wingdings" pitchFamily="2" charset="2"/>
              <a:buChar char="¢"/>
              <a:defRPr sz="2800">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SzPct val="80000"/>
              <a:buFont typeface="Wingdings" pitchFamily="2" charset="2"/>
              <a:buChar char="l"/>
              <a:defRPr sz="2400">
                <a:solidFill>
                  <a:schemeClr val="tx1"/>
                </a:solidFill>
                <a:latin typeface="+mn-lt"/>
              </a:defRPr>
            </a:lvl2pPr>
            <a:lvl3pPr marL="1143000" indent="-228600" algn="l" rtl="0" eaLnBrk="0" fontAlgn="base" hangingPunct="0">
              <a:spcBef>
                <a:spcPct val="20000"/>
              </a:spcBef>
              <a:spcAft>
                <a:spcPct val="0"/>
              </a:spcAft>
              <a:buClr>
                <a:schemeClr val="folHlink"/>
              </a:buClr>
              <a:buSzPct val="70000"/>
              <a:buFont typeface="Wingdings" pitchFamily="2" charset="2"/>
              <a:buChar char="l"/>
              <a:defRPr sz="2000">
                <a:solidFill>
                  <a:schemeClr val="tx1"/>
                </a:solidFill>
                <a:latin typeface="+mn-lt"/>
              </a:defRPr>
            </a:lvl3pPr>
            <a:lvl4pPr marL="1600200" indent="-228600" algn="l" rtl="0" eaLnBrk="0" fontAlgn="base" hangingPunct="0">
              <a:spcBef>
                <a:spcPct val="20000"/>
              </a:spcBef>
              <a:spcAft>
                <a:spcPct val="0"/>
              </a:spcAft>
              <a:buClr>
                <a:schemeClr val="tx1"/>
              </a:buClr>
              <a:buSzPct val="60000"/>
              <a:buFont typeface="Wingdings" pitchFamily="2" charset="2"/>
              <a:buChar char="l"/>
              <a:defRPr sz="1800">
                <a:solidFill>
                  <a:schemeClr val="tx1"/>
                </a:solidFill>
                <a:latin typeface="+mn-lt"/>
              </a:defRPr>
            </a:lvl4pPr>
            <a:lvl5pPr marL="2057400" indent="-228600" algn="l" rtl="0" eaLnBrk="0" fontAlgn="base" hangingPunct="0">
              <a:spcBef>
                <a:spcPct val="20000"/>
              </a:spcBef>
              <a:spcAft>
                <a:spcPct val="0"/>
              </a:spcAft>
              <a:buClr>
                <a:schemeClr val="hlink"/>
              </a:buClr>
              <a:buSzPct val="50000"/>
              <a:buFont typeface="Wingdings" pitchFamily="2" charset="2"/>
              <a:buChar char="l"/>
              <a:defRPr sz="1800">
                <a:solidFill>
                  <a:schemeClr val="tx1"/>
                </a:solidFill>
                <a:latin typeface="+mn-lt"/>
              </a:defRPr>
            </a:lvl5pPr>
            <a:lvl6pPr marL="2514600" indent="-228600" algn="l" rtl="0" fontAlgn="base">
              <a:spcBef>
                <a:spcPct val="20000"/>
              </a:spcBef>
              <a:spcAft>
                <a:spcPct val="0"/>
              </a:spcAft>
              <a:buClr>
                <a:schemeClr val="hlink"/>
              </a:buClr>
              <a:buSzPct val="50000"/>
              <a:buFont typeface="Wingdings" pitchFamily="2" charset="2"/>
              <a:buChar char="l"/>
              <a:defRPr sz="1800">
                <a:solidFill>
                  <a:schemeClr val="tx1"/>
                </a:solidFill>
                <a:latin typeface="+mn-lt"/>
              </a:defRPr>
            </a:lvl6pPr>
            <a:lvl7pPr marL="2971800" indent="-228600" algn="l" rtl="0" fontAlgn="base">
              <a:spcBef>
                <a:spcPct val="20000"/>
              </a:spcBef>
              <a:spcAft>
                <a:spcPct val="0"/>
              </a:spcAft>
              <a:buClr>
                <a:schemeClr val="hlink"/>
              </a:buClr>
              <a:buSzPct val="50000"/>
              <a:buFont typeface="Wingdings" pitchFamily="2" charset="2"/>
              <a:buChar char="l"/>
              <a:defRPr sz="1800">
                <a:solidFill>
                  <a:schemeClr val="tx1"/>
                </a:solidFill>
                <a:latin typeface="+mn-lt"/>
              </a:defRPr>
            </a:lvl7pPr>
            <a:lvl8pPr marL="3429000" indent="-228600" algn="l" rtl="0" fontAlgn="base">
              <a:spcBef>
                <a:spcPct val="20000"/>
              </a:spcBef>
              <a:spcAft>
                <a:spcPct val="0"/>
              </a:spcAft>
              <a:buClr>
                <a:schemeClr val="hlink"/>
              </a:buClr>
              <a:buSzPct val="50000"/>
              <a:buFont typeface="Wingdings" pitchFamily="2" charset="2"/>
              <a:buChar char="l"/>
              <a:defRPr sz="1800">
                <a:solidFill>
                  <a:schemeClr val="tx1"/>
                </a:solidFill>
                <a:latin typeface="+mn-lt"/>
              </a:defRPr>
            </a:lvl8pPr>
            <a:lvl9pPr marL="3886200" indent="-228600" algn="l" rtl="0" fontAlgn="base">
              <a:spcBef>
                <a:spcPct val="20000"/>
              </a:spcBef>
              <a:spcAft>
                <a:spcPct val="0"/>
              </a:spcAft>
              <a:buClr>
                <a:schemeClr val="hlink"/>
              </a:buClr>
              <a:buSzPct val="50000"/>
              <a:buFont typeface="Wingdings" pitchFamily="2" charset="2"/>
              <a:buChar char="l"/>
              <a:defRPr sz="1800">
                <a:solidFill>
                  <a:schemeClr val="tx1"/>
                </a:solidFill>
                <a:latin typeface="+mn-lt"/>
              </a:defRPr>
            </a:lvl9pPr>
          </a:lstStyle>
          <a:p>
            <a:pPr>
              <a:lnSpc>
                <a:spcPct val="120000"/>
              </a:lnSpc>
              <a:defRPr/>
            </a:pPr>
            <a:r>
              <a:rPr lang="en-US" altLang="zh-CN" dirty="0"/>
              <a:t>static </a:t>
            </a:r>
            <a:r>
              <a:rPr lang="en-US" altLang="zh-CN" dirty="0" err="1"/>
              <a:t>int</a:t>
            </a:r>
            <a:r>
              <a:rPr lang="en-US" altLang="zh-CN" dirty="0"/>
              <a:t> </a:t>
            </a:r>
            <a:r>
              <a:rPr lang="en-US" altLang="zh-CN" dirty="0" err="1"/>
              <a:t>semaphore_p</a:t>
            </a:r>
            <a:r>
              <a:rPr lang="en-US" altLang="zh-CN" dirty="0"/>
              <a:t>(void)</a:t>
            </a:r>
          </a:p>
          <a:p>
            <a:pPr>
              <a:lnSpc>
                <a:spcPct val="120000"/>
              </a:lnSpc>
              <a:defRPr/>
            </a:pPr>
            <a:r>
              <a:rPr lang="en-US" altLang="zh-CN" dirty="0"/>
              <a:t>{</a:t>
            </a:r>
          </a:p>
          <a:p>
            <a:pPr>
              <a:lnSpc>
                <a:spcPct val="120000"/>
              </a:lnSpc>
              <a:defRPr/>
            </a:pPr>
            <a:r>
              <a:rPr lang="en-US" altLang="zh-CN" dirty="0"/>
              <a:t>    </a:t>
            </a:r>
            <a:r>
              <a:rPr lang="en-US" altLang="zh-CN" dirty="0" err="1"/>
              <a:t>struct</a:t>
            </a:r>
            <a:r>
              <a:rPr lang="en-US" altLang="zh-CN" dirty="0"/>
              <a:t> </a:t>
            </a:r>
            <a:r>
              <a:rPr lang="en-US" altLang="zh-CN" dirty="0" err="1"/>
              <a:t>sembuf</a:t>
            </a:r>
            <a:r>
              <a:rPr lang="en-US" altLang="zh-CN" dirty="0"/>
              <a:t> </a:t>
            </a:r>
            <a:r>
              <a:rPr lang="en-US" altLang="zh-CN" dirty="0" err="1"/>
              <a:t>sem_b</a:t>
            </a:r>
            <a:r>
              <a:rPr lang="en-US" altLang="zh-CN" dirty="0"/>
              <a:t>;</a:t>
            </a:r>
          </a:p>
          <a:p>
            <a:pPr>
              <a:lnSpc>
                <a:spcPct val="120000"/>
              </a:lnSpc>
              <a:defRPr/>
            </a:pPr>
            <a:endParaRPr lang="en-US" altLang="zh-CN" dirty="0"/>
          </a:p>
          <a:p>
            <a:pPr>
              <a:lnSpc>
                <a:spcPct val="120000"/>
              </a:lnSpc>
              <a:defRPr/>
            </a:pPr>
            <a:endParaRPr lang="en-US" altLang="zh-CN" dirty="0"/>
          </a:p>
          <a:p>
            <a:pPr>
              <a:lnSpc>
                <a:spcPct val="120000"/>
              </a:lnSpc>
              <a:defRPr/>
            </a:pPr>
            <a:r>
              <a:rPr lang="en-US" altLang="zh-CN" dirty="0"/>
              <a:t>    </a:t>
            </a:r>
            <a:r>
              <a:rPr lang="en-US" altLang="zh-CN" dirty="0" err="1"/>
              <a:t>sem_b.sem_num</a:t>
            </a:r>
            <a:r>
              <a:rPr lang="en-US" altLang="zh-CN" dirty="0"/>
              <a:t> = 0;</a:t>
            </a:r>
          </a:p>
          <a:p>
            <a:pPr>
              <a:lnSpc>
                <a:spcPct val="120000"/>
              </a:lnSpc>
              <a:defRPr/>
            </a:pPr>
            <a:r>
              <a:rPr lang="en-US" altLang="zh-CN" dirty="0"/>
              <a:t>    </a:t>
            </a:r>
            <a:r>
              <a:rPr lang="en-US" altLang="zh-CN" dirty="0" err="1"/>
              <a:t>sem_b.sem_op</a:t>
            </a:r>
            <a:r>
              <a:rPr lang="en-US" altLang="zh-CN" dirty="0"/>
              <a:t> = -1;</a:t>
            </a:r>
          </a:p>
          <a:p>
            <a:pPr>
              <a:lnSpc>
                <a:spcPct val="120000"/>
              </a:lnSpc>
              <a:defRPr/>
            </a:pPr>
            <a:r>
              <a:rPr lang="en-US" altLang="zh-CN" dirty="0"/>
              <a:t>    </a:t>
            </a:r>
            <a:r>
              <a:rPr lang="en-US" altLang="zh-CN" dirty="0" err="1"/>
              <a:t>sem_b.sem_flag</a:t>
            </a:r>
            <a:r>
              <a:rPr lang="en-US" altLang="zh-CN" dirty="0"/>
              <a:t> = SEM_UNDO;</a:t>
            </a:r>
          </a:p>
          <a:p>
            <a:pPr>
              <a:lnSpc>
                <a:spcPct val="120000"/>
              </a:lnSpc>
              <a:defRPr/>
            </a:pPr>
            <a:r>
              <a:rPr lang="en-US" altLang="zh-CN" dirty="0"/>
              <a:t>    if(</a:t>
            </a:r>
            <a:r>
              <a:rPr lang="en-US" altLang="zh-CN" dirty="0" err="1"/>
              <a:t>semop</a:t>
            </a:r>
            <a:r>
              <a:rPr lang="en-US" altLang="zh-CN" dirty="0"/>
              <a:t>(</a:t>
            </a:r>
            <a:r>
              <a:rPr lang="en-US" altLang="zh-CN" dirty="0" err="1"/>
              <a:t>sem_id</a:t>
            </a:r>
            <a:r>
              <a:rPr lang="en-US" altLang="zh-CN" dirty="0"/>
              <a:t>, &amp;</a:t>
            </a:r>
            <a:r>
              <a:rPr lang="en-US" altLang="zh-CN" dirty="0" err="1"/>
              <a:t>sem_b</a:t>
            </a:r>
            <a:r>
              <a:rPr lang="en-US" altLang="zh-CN" dirty="0"/>
              <a:t>, 1) == -1)</a:t>
            </a:r>
          </a:p>
          <a:p>
            <a:pPr>
              <a:lnSpc>
                <a:spcPct val="120000"/>
              </a:lnSpc>
              <a:defRPr/>
            </a:pPr>
            <a:r>
              <a:rPr lang="en-US" altLang="zh-CN" dirty="0"/>
              <a:t>    {</a:t>
            </a:r>
          </a:p>
          <a:p>
            <a:pPr>
              <a:lnSpc>
                <a:spcPct val="120000"/>
              </a:lnSpc>
              <a:defRPr/>
            </a:pPr>
            <a:r>
              <a:rPr lang="en-US" altLang="zh-CN" dirty="0"/>
              <a:t>        </a:t>
            </a:r>
            <a:r>
              <a:rPr lang="en-US" altLang="zh-CN" dirty="0" err="1"/>
              <a:t>fprintf</a:t>
            </a:r>
            <a:r>
              <a:rPr lang="en-US" altLang="zh-CN" dirty="0"/>
              <a:t>(</a:t>
            </a:r>
            <a:r>
              <a:rPr lang="en-US" altLang="zh-CN" dirty="0" err="1"/>
              <a:t>stderr</a:t>
            </a:r>
            <a:r>
              <a:rPr lang="en-US" altLang="zh-CN" dirty="0"/>
              <a:t>, "</a:t>
            </a:r>
            <a:r>
              <a:rPr lang="en-US" altLang="zh-CN" dirty="0" err="1"/>
              <a:t>semaphore_p</a:t>
            </a:r>
            <a:r>
              <a:rPr lang="en-US" altLang="zh-CN" dirty="0"/>
              <a:t> failed/n");</a:t>
            </a:r>
          </a:p>
          <a:p>
            <a:pPr>
              <a:lnSpc>
                <a:spcPct val="120000"/>
              </a:lnSpc>
              <a:defRPr/>
            </a:pPr>
            <a:r>
              <a:rPr lang="en-US" altLang="zh-CN" dirty="0"/>
              <a:t>        return 0;</a:t>
            </a:r>
          </a:p>
          <a:p>
            <a:pPr>
              <a:lnSpc>
                <a:spcPct val="120000"/>
              </a:lnSpc>
              <a:defRPr/>
            </a:pPr>
            <a:r>
              <a:rPr lang="en-US" altLang="zh-CN" dirty="0"/>
              <a:t>    }</a:t>
            </a:r>
          </a:p>
          <a:p>
            <a:pPr>
              <a:lnSpc>
                <a:spcPct val="120000"/>
              </a:lnSpc>
              <a:defRPr/>
            </a:pPr>
            <a:r>
              <a:rPr lang="en-US" altLang="zh-CN" dirty="0"/>
              <a:t>    return 1;</a:t>
            </a:r>
          </a:p>
          <a:p>
            <a:pPr>
              <a:lnSpc>
                <a:spcPct val="120000"/>
              </a:lnSpc>
              <a:defRPr/>
            </a:pPr>
            <a:r>
              <a:rPr lang="en-US" altLang="zh-CN" dirty="0"/>
              <a:t>}</a:t>
            </a:r>
            <a:endParaRPr lang="zh-CN" altLang="en-US" dirty="0"/>
          </a:p>
        </p:txBody>
      </p:sp>
      <p:grpSp>
        <p:nvGrpSpPr>
          <p:cNvPr id="11" name="组合 10"/>
          <p:cNvGrpSpPr/>
          <p:nvPr/>
        </p:nvGrpSpPr>
        <p:grpSpPr>
          <a:xfrm>
            <a:off x="2999656" y="6093296"/>
            <a:ext cx="4032448" cy="420730"/>
            <a:chOff x="500034" y="4378338"/>
            <a:chExt cx="3727107" cy="420730"/>
          </a:xfrm>
        </p:grpSpPr>
        <p:sp>
          <p:nvSpPr>
            <p:cNvPr id="12" name="内容占位符 2"/>
            <p:cNvSpPr txBox="1">
              <a:spLocks/>
            </p:cNvSpPr>
            <p:nvPr/>
          </p:nvSpPr>
          <p:spPr>
            <a:xfrm>
              <a:off x="811999" y="4421240"/>
              <a:ext cx="3415142" cy="3778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在实际编程中极易引入错误</a:t>
              </a:r>
            </a:p>
          </p:txBody>
        </p:sp>
        <p:sp>
          <p:nvSpPr>
            <p:cNvPr id="13" name="TextBox 36"/>
            <p:cNvSpPr txBox="1"/>
            <p:nvPr/>
          </p:nvSpPr>
          <p:spPr>
            <a:xfrm>
              <a:off x="500034" y="4378338"/>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spTree>
    <p:extLst>
      <p:ext uri="{BB962C8B-B14F-4D97-AF65-F5344CB8AC3E}">
        <p14:creationId xmlns:p14="http://schemas.microsoft.com/office/powerpoint/2010/main" val="32958099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9"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CB039037-C880-4473-BB7D-8521FC3BA072}" type="slidenum">
              <a:rPr lang="en-US" altLang="ko-KR" sz="1200">
                <a:solidFill>
                  <a:schemeClr val="bg1"/>
                </a:solidFill>
              </a:rPr>
              <a:pPr>
                <a:spcBef>
                  <a:spcPct val="0"/>
                </a:spcBef>
                <a:buClrTx/>
                <a:buSzTx/>
                <a:buFontTx/>
                <a:buNone/>
              </a:pPr>
              <a:t>10</a:t>
            </a:fld>
            <a:endParaRPr lang="en-US" altLang="ko-KR" sz="1200">
              <a:solidFill>
                <a:schemeClr val="bg1"/>
              </a:solidFill>
            </a:endParaRPr>
          </a:p>
        </p:txBody>
      </p:sp>
      <p:sp>
        <p:nvSpPr>
          <p:cNvPr id="200706" name="标题 1"/>
          <p:cNvSpPr>
            <a:spLocks noGrp="1"/>
          </p:cNvSpPr>
          <p:nvPr>
            <p:ph type="title"/>
          </p:nvPr>
        </p:nvSpPr>
        <p:spPr>
          <a:prstGeom prst="rect">
            <a:avLst/>
          </a:prstGeom>
        </p:spPr>
        <p:txBody>
          <a:bodyPr/>
          <a:lstStyle/>
          <a:p>
            <a:r>
              <a:rPr lang="en-US" altLang="zh-CN">
                <a:ea typeface="宋体" panose="02010600030101010101" pitchFamily="2" charset="-122"/>
              </a:rPr>
              <a:t>Monitor solution</a:t>
            </a:r>
            <a:endParaRPr lang="zh-CN" altLang="en-US">
              <a:ea typeface="宋体" panose="02010600030101010101" pitchFamily="2" charset="-122"/>
            </a:endParaRPr>
          </a:p>
        </p:txBody>
      </p:sp>
      <p:sp>
        <p:nvSpPr>
          <p:cNvPr id="8" name="内容占位符 2"/>
          <p:cNvSpPr>
            <a:spLocks noGrp="1"/>
          </p:cNvSpPr>
          <p:nvPr>
            <p:ph idx="1"/>
          </p:nvPr>
        </p:nvSpPr>
        <p:spPr>
          <a:prstGeom prst="rect">
            <a:avLst/>
          </a:prstGeom>
        </p:spPr>
        <p:txBody>
          <a:bodyPr>
            <a:normAutofit fontScale="85000" lnSpcReduction="20000"/>
          </a:bodyPr>
          <a:lstStyle/>
          <a:p>
            <a:pPr>
              <a:lnSpc>
                <a:spcPct val="110000"/>
              </a:lnSpc>
              <a:defRPr/>
            </a:pPr>
            <a:r>
              <a:rPr lang="en-US" altLang="zh-CN" dirty="0">
                <a:ea typeface="宋体" pitchFamily="2" charset="-122"/>
              </a:rPr>
              <a:t>Design rules</a:t>
            </a:r>
          </a:p>
          <a:p>
            <a:pPr lvl="1">
              <a:lnSpc>
                <a:spcPct val="110000"/>
              </a:lnSpc>
              <a:defRPr/>
            </a:pPr>
            <a:r>
              <a:rPr lang="en-US" altLang="zh-CN" dirty="0">
                <a:ea typeface="宋体" pitchFamily="2" charset="-122"/>
              </a:rPr>
              <a:t>Disadvantage of Semaphore: it is very dangerous and difficult for programmer to write proper code</a:t>
            </a:r>
          </a:p>
          <a:p>
            <a:pPr lvl="1">
              <a:lnSpc>
                <a:spcPct val="110000"/>
              </a:lnSpc>
              <a:defRPr/>
            </a:pPr>
            <a:r>
              <a:rPr lang="en-US" altLang="zh-CN" dirty="0">
                <a:ea typeface="宋体" pitchFamily="2" charset="-122"/>
              </a:rPr>
              <a:t>Monitor: a collection of procedures, variables and data structures that can be recognized by </a:t>
            </a:r>
            <a:r>
              <a:rPr lang="en-US" altLang="zh-CN" dirty="0">
                <a:solidFill>
                  <a:srgbClr val="FF0000"/>
                </a:solidFill>
                <a:ea typeface="宋体" pitchFamily="2" charset="-122"/>
              </a:rPr>
              <a:t>compiler</a:t>
            </a:r>
          </a:p>
          <a:p>
            <a:pPr lvl="1">
              <a:lnSpc>
                <a:spcPct val="110000"/>
              </a:lnSpc>
              <a:defRPr/>
            </a:pPr>
            <a:r>
              <a:rPr lang="en-US" altLang="zh-CN" dirty="0">
                <a:ea typeface="宋体" pitchFamily="2" charset="-122"/>
              </a:rPr>
              <a:t>Hoare (1974) and </a:t>
            </a:r>
            <a:r>
              <a:rPr lang="en-US" altLang="zh-CN" dirty="0" err="1">
                <a:ea typeface="宋体" pitchFamily="2" charset="-122"/>
              </a:rPr>
              <a:t>Brinch</a:t>
            </a:r>
            <a:r>
              <a:rPr lang="en-US" altLang="zh-CN" dirty="0">
                <a:ea typeface="宋体" pitchFamily="2" charset="-122"/>
              </a:rPr>
              <a:t> </a:t>
            </a:r>
            <a:r>
              <a:rPr lang="en-US" altLang="zh-CN" dirty="0" err="1">
                <a:ea typeface="宋体" pitchFamily="2" charset="-122"/>
              </a:rPr>
              <a:t>hansen</a:t>
            </a:r>
            <a:r>
              <a:rPr lang="en-US" altLang="zh-CN" dirty="0">
                <a:ea typeface="宋体" pitchFamily="2" charset="-122"/>
              </a:rPr>
              <a:t>(1975)</a:t>
            </a:r>
          </a:p>
          <a:p>
            <a:pPr>
              <a:lnSpc>
                <a:spcPct val="110000"/>
              </a:lnSpc>
              <a:defRPr/>
            </a:pPr>
            <a:r>
              <a:rPr lang="en-US" altLang="zh-CN" dirty="0">
                <a:ea typeface="宋体" pitchFamily="2" charset="-122"/>
              </a:rPr>
              <a:t>Application</a:t>
            </a:r>
          </a:p>
          <a:p>
            <a:pPr lvl="1">
              <a:lnSpc>
                <a:spcPct val="110000"/>
              </a:lnSpc>
              <a:defRPr/>
            </a:pPr>
            <a:r>
              <a:rPr lang="en-US" altLang="zh-CN" dirty="0">
                <a:ea typeface="宋体" pitchFamily="2" charset="-122"/>
              </a:rPr>
              <a:t>Procedures in monitor: only one procedure can be activated in a monitor at any instant</a:t>
            </a:r>
          </a:p>
          <a:p>
            <a:pPr lvl="1">
              <a:lnSpc>
                <a:spcPct val="110000"/>
              </a:lnSpc>
              <a:defRPr/>
            </a:pPr>
            <a:r>
              <a:rPr lang="en-US" altLang="zh-CN" dirty="0">
                <a:ea typeface="宋体" pitchFamily="2" charset="-122"/>
              </a:rPr>
              <a:t>Wait and signal: like P/V or D/U primitives, realize mutual exclusion and synchronism</a:t>
            </a:r>
          </a:p>
          <a:p>
            <a:pPr lvl="1">
              <a:lnSpc>
                <a:spcPct val="110000"/>
              </a:lnSpc>
              <a:defRPr/>
            </a:pPr>
            <a:r>
              <a:rPr lang="en-US" altLang="zh-CN" dirty="0">
                <a:ea typeface="宋体" pitchFamily="2" charset="-122"/>
              </a:rPr>
              <a:t>Disadvantage: only few languages support this mechanism, such as Pidgin </a:t>
            </a:r>
            <a:r>
              <a:rPr lang="en-US" altLang="zh-CN" dirty="0" err="1">
                <a:ea typeface="宋体" pitchFamily="2" charset="-122"/>
              </a:rPr>
              <a:t>pascal</a:t>
            </a:r>
            <a:r>
              <a:rPr lang="en-US" altLang="zh-CN" dirty="0">
                <a:ea typeface="宋体" pitchFamily="2" charset="-122"/>
              </a:rPr>
              <a:t> and Java</a:t>
            </a:r>
          </a:p>
          <a:p>
            <a:pPr lvl="1">
              <a:lnSpc>
                <a:spcPct val="110000"/>
              </a:lnSpc>
              <a:defRPr/>
            </a:pPr>
            <a:endParaRPr lang="en-US" altLang="zh-CN" dirty="0">
              <a:ea typeface="宋体" pitchFamily="2" charset="-122"/>
            </a:endParaRPr>
          </a:p>
          <a:p>
            <a:pPr lvl="1">
              <a:lnSpc>
                <a:spcPct val="110000"/>
              </a:lnSpc>
              <a:defRPr/>
            </a:pPr>
            <a:endParaRPr lang="en-US" altLang="zh-CN" dirty="0">
              <a:ea typeface="宋体" pitchFamily="2" charset="-122"/>
            </a:endParaRPr>
          </a:p>
        </p:txBody>
      </p:sp>
    </p:spTree>
    <p:extLst>
      <p:ext uri="{BB962C8B-B14F-4D97-AF65-F5344CB8AC3E}">
        <p14:creationId xmlns:p14="http://schemas.microsoft.com/office/powerpoint/2010/main" val="3691591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 name="组合 68"/>
          <p:cNvGrpSpPr/>
          <p:nvPr/>
        </p:nvGrpSpPr>
        <p:grpSpPr>
          <a:xfrm>
            <a:off x="5046802" y="3068960"/>
            <a:ext cx="2078367" cy="2928958"/>
            <a:chOff x="1791414" y="2156471"/>
            <a:chExt cx="2078367" cy="2928958"/>
          </a:xfrm>
        </p:grpSpPr>
        <p:grpSp>
          <p:nvGrpSpPr>
            <p:cNvPr id="10" name="组合 25"/>
            <p:cNvGrpSpPr/>
            <p:nvPr/>
          </p:nvGrpSpPr>
          <p:grpSpPr>
            <a:xfrm>
              <a:off x="1791414" y="2156471"/>
              <a:ext cx="2078367" cy="2928958"/>
              <a:chOff x="2684132" y="1895470"/>
              <a:chExt cx="2078367" cy="2928958"/>
            </a:xfrm>
          </p:grpSpPr>
          <p:sp>
            <p:nvSpPr>
              <p:cNvPr id="61" name="椭圆 60"/>
              <p:cNvSpPr/>
              <p:nvPr/>
            </p:nvSpPr>
            <p:spPr>
              <a:xfrm>
                <a:off x="2684132" y="1895470"/>
                <a:ext cx="2071702" cy="2928958"/>
              </a:xfrm>
              <a:prstGeom prst="ellipse">
                <a:avLst/>
              </a:prstGeom>
              <a:gradFill>
                <a:gsLst>
                  <a:gs pos="100000">
                    <a:srgbClr val="33FFFF"/>
                  </a:gs>
                  <a:gs pos="0">
                    <a:srgbClr val="CC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2" name="矩形 61"/>
              <p:cNvSpPr/>
              <p:nvPr/>
            </p:nvSpPr>
            <p:spPr>
              <a:xfrm>
                <a:off x="2805100" y="2684463"/>
                <a:ext cx="1836000" cy="1355735"/>
              </a:xfrm>
              <a:prstGeom prst="rect">
                <a:avLst/>
              </a:prstGeom>
              <a:solidFill>
                <a:schemeClr val="bg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3" name="新月形 22"/>
              <p:cNvSpPr/>
              <p:nvPr/>
            </p:nvSpPr>
            <p:spPr>
              <a:xfrm>
                <a:off x="2690813" y="2700339"/>
                <a:ext cx="166675" cy="1340642"/>
              </a:xfrm>
              <a:prstGeom prst="moon">
                <a:avLst>
                  <a:gd name="adj" fmla="val 68573"/>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4" name="新月形 23"/>
              <p:cNvSpPr/>
              <p:nvPr/>
            </p:nvSpPr>
            <p:spPr>
              <a:xfrm>
                <a:off x="4587645" y="2679815"/>
                <a:ext cx="166675" cy="1340642"/>
              </a:xfrm>
              <a:prstGeom prst="moon">
                <a:avLst>
                  <a:gd name="adj" fmla="val 68573"/>
                </a:avLst>
              </a:prstGeom>
              <a:solidFill>
                <a:schemeClr val="bg1"/>
              </a:solidFill>
              <a:ln>
                <a:noFill/>
              </a:ln>
              <a:scene3d>
                <a:camera prst="orthographicFront">
                  <a:rot lat="0" lon="10800000" rev="0"/>
                </a:camera>
                <a:lightRig rig="threePt" dir="t"/>
              </a:scene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5" name="椭圆 64"/>
              <p:cNvSpPr/>
              <p:nvPr/>
            </p:nvSpPr>
            <p:spPr>
              <a:xfrm>
                <a:off x="2690797" y="1895470"/>
                <a:ext cx="2071702" cy="2928958"/>
              </a:xfrm>
              <a:prstGeom prst="ellipse">
                <a:avLst/>
              </a:prstGeom>
              <a:no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cxnSp>
          <p:nvCxnSpPr>
            <p:cNvPr id="11" name="直接连接符 27"/>
            <p:cNvCxnSpPr/>
            <p:nvPr/>
          </p:nvCxnSpPr>
          <p:spPr>
            <a:xfrm flipV="1">
              <a:off x="1902858" y="2942287"/>
              <a:ext cx="1857388" cy="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2" name="直接连接符 28"/>
            <p:cNvCxnSpPr/>
            <p:nvPr/>
          </p:nvCxnSpPr>
          <p:spPr>
            <a:xfrm flipV="1">
              <a:off x="1902858" y="4290089"/>
              <a:ext cx="1857388" cy="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036208" y="3123266"/>
              <a:ext cx="285752" cy="785818"/>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矩形 15"/>
            <p:cNvSpPr/>
            <p:nvPr/>
          </p:nvSpPr>
          <p:spPr>
            <a:xfrm>
              <a:off x="2464836" y="3123266"/>
              <a:ext cx="285752" cy="785818"/>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矩形 16"/>
            <p:cNvSpPr/>
            <p:nvPr/>
          </p:nvSpPr>
          <p:spPr>
            <a:xfrm>
              <a:off x="3288754" y="3123266"/>
              <a:ext cx="285752" cy="785818"/>
            </a:xfrm>
            <a:prstGeom prst="rect">
              <a:avLst/>
            </a:prstGeom>
            <a:gradFill>
              <a:gsLst>
                <a:gs pos="100000">
                  <a:srgbClr val="666666"/>
                </a:gs>
                <a:gs pos="0">
                  <a:srgbClr val="CCCCCC"/>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右大括号 17"/>
            <p:cNvSpPr/>
            <p:nvPr/>
          </p:nvSpPr>
          <p:spPr>
            <a:xfrm rot="5400000">
              <a:off x="2737084" y="3280623"/>
              <a:ext cx="142876" cy="1476000"/>
            </a:xfrm>
            <a:prstGeom prst="rightBrace">
              <a:avLst/>
            </a:prstGeom>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TextBox 33"/>
            <p:cNvSpPr txBox="1"/>
            <p:nvPr/>
          </p:nvSpPr>
          <p:spPr>
            <a:xfrm>
              <a:off x="2052233" y="4043250"/>
              <a:ext cx="1582484" cy="276999"/>
            </a:xfrm>
            <a:prstGeom prst="rect">
              <a:avLst/>
            </a:prstGeom>
            <a:noFill/>
          </p:spPr>
          <p:txBody>
            <a:bodyPr wrap="none" rtlCol="0">
              <a:spAutoFit/>
            </a:bodyPr>
            <a:lstStyle/>
            <a:p>
              <a:r>
                <a:rPr lang="zh-CN" altLang="en-US" sz="1200" b="1" dirty="0">
                  <a:solidFill>
                    <a:srgbClr val="11576A"/>
                  </a:solidFill>
                  <a:latin typeface="+mj-ea"/>
                  <a:ea typeface="+mj-ea"/>
                </a:rPr>
                <a:t>管程的操作成员函数</a:t>
              </a:r>
            </a:p>
          </p:txBody>
        </p:sp>
        <p:sp>
          <p:nvSpPr>
            <p:cNvPr id="23" name="TextBox 34"/>
            <p:cNvSpPr txBox="1"/>
            <p:nvPr/>
          </p:nvSpPr>
          <p:spPr>
            <a:xfrm>
              <a:off x="2393398" y="2294023"/>
              <a:ext cx="813043" cy="276999"/>
            </a:xfrm>
            <a:prstGeom prst="rect">
              <a:avLst/>
            </a:prstGeom>
            <a:noFill/>
          </p:spPr>
          <p:txBody>
            <a:bodyPr wrap="none" rtlCol="0">
              <a:spAutoFit/>
            </a:bodyPr>
            <a:lstStyle/>
            <a:p>
              <a:r>
                <a:rPr lang="zh-CN" altLang="en-US" sz="1200" b="1" dirty="0">
                  <a:solidFill>
                    <a:srgbClr val="11576A"/>
                  </a:solidFill>
                  <a:latin typeface="+mj-ea"/>
                  <a:ea typeface="+mj-ea"/>
                </a:rPr>
                <a:t>共享数据</a:t>
              </a:r>
            </a:p>
          </p:txBody>
        </p:sp>
        <p:sp>
          <p:nvSpPr>
            <p:cNvPr id="46" name="TextBox 67"/>
            <p:cNvSpPr txBox="1"/>
            <p:nvPr/>
          </p:nvSpPr>
          <p:spPr>
            <a:xfrm>
              <a:off x="2325056" y="4477304"/>
              <a:ext cx="966931" cy="276999"/>
            </a:xfrm>
            <a:prstGeom prst="rect">
              <a:avLst/>
            </a:prstGeom>
            <a:noFill/>
          </p:spPr>
          <p:txBody>
            <a:bodyPr wrap="none" rtlCol="0">
              <a:spAutoFit/>
            </a:bodyPr>
            <a:lstStyle/>
            <a:p>
              <a:r>
                <a:rPr lang="zh-CN" altLang="en-US" sz="1200" b="1" dirty="0">
                  <a:solidFill>
                    <a:srgbClr val="11576A"/>
                  </a:solidFill>
                  <a:latin typeface="+mj-ea"/>
                  <a:ea typeface="+mj-ea"/>
                </a:rPr>
                <a:t>初始化代码</a:t>
              </a:r>
            </a:p>
          </p:txBody>
        </p:sp>
        <p:sp>
          <p:nvSpPr>
            <p:cNvPr id="47" name="TextBox 68"/>
            <p:cNvSpPr txBox="1"/>
            <p:nvPr/>
          </p:nvSpPr>
          <p:spPr>
            <a:xfrm>
              <a:off x="2776306" y="3144221"/>
              <a:ext cx="476412" cy="523220"/>
            </a:xfrm>
            <a:prstGeom prst="rect">
              <a:avLst/>
            </a:prstGeom>
            <a:noFill/>
          </p:spPr>
          <p:txBody>
            <a:bodyPr wrap="none" rtlCol="0">
              <a:spAutoFit/>
            </a:bodyPr>
            <a:lstStyle/>
            <a:p>
              <a:r>
                <a:rPr lang="en-US" altLang="zh-CN" sz="2800" dirty="0">
                  <a:solidFill>
                    <a:srgbClr val="11576A"/>
                  </a:solidFill>
                  <a:latin typeface="+mj-ea"/>
                  <a:ea typeface="+mj-ea"/>
                </a:rPr>
                <a:t>…</a:t>
              </a:r>
              <a:endParaRPr lang="zh-CN" altLang="en-US" sz="2800" dirty="0">
                <a:solidFill>
                  <a:srgbClr val="11576A"/>
                </a:solidFill>
                <a:latin typeface="+mj-ea"/>
                <a:ea typeface="+mj-ea"/>
              </a:endParaRPr>
            </a:p>
          </p:txBody>
        </p:sp>
      </p:grpSp>
      <p:grpSp>
        <p:nvGrpSpPr>
          <p:cNvPr id="68" name="组合 67"/>
          <p:cNvGrpSpPr/>
          <p:nvPr/>
        </p:nvGrpSpPr>
        <p:grpSpPr>
          <a:xfrm>
            <a:off x="6779332" y="3153232"/>
            <a:ext cx="1910097" cy="608758"/>
            <a:chOff x="3523944" y="2240743"/>
            <a:chExt cx="1910097" cy="608758"/>
          </a:xfrm>
        </p:grpSpPr>
        <p:grpSp>
          <p:nvGrpSpPr>
            <p:cNvPr id="3" name="组合 2"/>
            <p:cNvGrpSpPr/>
            <p:nvPr/>
          </p:nvGrpSpPr>
          <p:grpSpPr>
            <a:xfrm>
              <a:off x="3523944" y="2587806"/>
              <a:ext cx="1910097" cy="261695"/>
              <a:chOff x="3523944" y="2587806"/>
              <a:chExt cx="1910097" cy="261695"/>
            </a:xfrm>
          </p:grpSpPr>
          <p:sp>
            <p:nvSpPr>
              <p:cNvPr id="48" name="矩形 47"/>
              <p:cNvSpPr/>
              <p:nvPr/>
            </p:nvSpPr>
            <p:spPr>
              <a:xfrm rot="5385077">
                <a:off x="3743162" y="2587806"/>
                <a:ext cx="214314" cy="214314"/>
              </a:xfrm>
              <a:prstGeom prst="rect">
                <a:avLst/>
              </a:prstGeom>
              <a:gradFill>
                <a:gsLst>
                  <a:gs pos="100000">
                    <a:srgbClr val="33FFFF"/>
                  </a:gs>
                  <a:gs pos="0">
                    <a:srgbClr val="CCFFFF"/>
                  </a:gs>
                  <a:gs pos="100000">
                    <a:schemeClr val="accent1">
                      <a:tint val="23500"/>
                      <a:satMod val="160000"/>
                    </a:schemeClr>
                  </a:gs>
                </a:gsLst>
                <a:lin ang="5400000" scaled="0"/>
              </a:gradFill>
              <a:ln w="1270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49" name="直接箭头连接符 71"/>
              <p:cNvCxnSpPr/>
              <p:nvPr/>
            </p:nvCxnSpPr>
            <p:spPr>
              <a:xfrm rot="1485077" flipV="1">
                <a:off x="3903748" y="2636110"/>
                <a:ext cx="241300" cy="107950"/>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sp>
            <p:nvSpPr>
              <p:cNvPr id="50" name="矩形 49"/>
              <p:cNvSpPr/>
              <p:nvPr/>
            </p:nvSpPr>
            <p:spPr>
              <a:xfrm rot="5385077">
                <a:off x="4163321" y="2590262"/>
                <a:ext cx="214314" cy="214314"/>
              </a:xfrm>
              <a:prstGeom prst="rect">
                <a:avLst/>
              </a:prstGeom>
              <a:gradFill>
                <a:gsLst>
                  <a:gs pos="100000">
                    <a:srgbClr val="666666"/>
                  </a:gs>
                  <a:gs pos="0">
                    <a:srgbClr val="CCCCCC"/>
                  </a:gs>
                  <a:gs pos="100000">
                    <a:schemeClr val="accent1">
                      <a:tint val="23500"/>
                      <a:satMod val="160000"/>
                    </a:schemeClr>
                  </a:gs>
                </a:gsLst>
                <a:lin ang="5400000" scaled="0"/>
              </a:gradFill>
              <a:ln w="1270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51" name="直接箭头连接符 73"/>
              <p:cNvCxnSpPr/>
              <p:nvPr/>
            </p:nvCxnSpPr>
            <p:spPr>
              <a:xfrm rot="1485077" flipV="1">
                <a:off x="4306568" y="2638269"/>
                <a:ext cx="241300" cy="107950"/>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rot="5385077">
                <a:off x="4572187" y="2590676"/>
                <a:ext cx="214314" cy="214314"/>
              </a:xfrm>
              <a:prstGeom prst="rect">
                <a:avLst/>
              </a:prstGeom>
              <a:gradFill>
                <a:gsLst>
                  <a:gs pos="100000">
                    <a:srgbClr val="33FFFF"/>
                  </a:gs>
                  <a:gs pos="0">
                    <a:srgbClr val="CCFFFF"/>
                  </a:gs>
                  <a:gs pos="100000">
                    <a:schemeClr val="accent1">
                      <a:tint val="23500"/>
                      <a:satMod val="160000"/>
                    </a:schemeClr>
                  </a:gs>
                </a:gsLst>
                <a:lin ang="5400000" scaled="0"/>
              </a:gradFill>
              <a:ln w="1270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53" name="直接箭头连接符 76"/>
              <p:cNvCxnSpPr/>
              <p:nvPr/>
            </p:nvCxnSpPr>
            <p:spPr>
              <a:xfrm rot="1485077" flipV="1">
                <a:off x="4732773" y="2638980"/>
                <a:ext cx="241300" cy="107950"/>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sp>
            <p:nvSpPr>
              <p:cNvPr id="54" name="矩形 53"/>
              <p:cNvSpPr/>
              <p:nvPr/>
            </p:nvSpPr>
            <p:spPr>
              <a:xfrm rot="5385077">
                <a:off x="4988202" y="2605914"/>
                <a:ext cx="214314" cy="214314"/>
              </a:xfrm>
              <a:prstGeom prst="rect">
                <a:avLst/>
              </a:prstGeom>
              <a:gradFill>
                <a:gsLst>
                  <a:gs pos="100000">
                    <a:srgbClr val="666666"/>
                  </a:gs>
                  <a:gs pos="0">
                    <a:srgbClr val="CCCCCC"/>
                  </a:gs>
                  <a:gs pos="100000">
                    <a:schemeClr val="accent1">
                      <a:tint val="23500"/>
                      <a:satMod val="160000"/>
                    </a:schemeClr>
                  </a:gs>
                </a:gsLst>
                <a:lin ang="5400000" scaled="0"/>
              </a:gradFill>
              <a:ln w="1270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55" name="直接连接符 79"/>
              <p:cNvCxnSpPr>
                <a:stCxn id="54" idx="0"/>
              </p:cNvCxnSpPr>
              <p:nvPr/>
            </p:nvCxnSpPr>
            <p:spPr>
              <a:xfrm rot="1485077" flipV="1">
                <a:off x="5209148" y="2682375"/>
                <a:ext cx="146234" cy="63772"/>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6" name="直接连接符 81"/>
              <p:cNvCxnSpPr/>
              <p:nvPr/>
            </p:nvCxnSpPr>
            <p:spPr>
              <a:xfrm rot="17685077" flipH="1">
                <a:off x="5320605" y="2726811"/>
                <a:ext cx="76207" cy="3809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7" name="直接连接符 83"/>
              <p:cNvCxnSpPr/>
              <p:nvPr/>
            </p:nvCxnSpPr>
            <p:spPr>
              <a:xfrm rot="1485077" flipV="1">
                <a:off x="5300691" y="2752981"/>
                <a:ext cx="133350" cy="61913"/>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8" name="直接连接符 85"/>
              <p:cNvCxnSpPr/>
              <p:nvPr/>
            </p:nvCxnSpPr>
            <p:spPr>
              <a:xfrm rot="1485077" flipV="1">
                <a:off x="5332944" y="2816164"/>
                <a:ext cx="76200" cy="33337"/>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9" name="直接连接符 87"/>
              <p:cNvCxnSpPr>
                <a:stCxn id="48" idx="2"/>
              </p:cNvCxnSpPr>
              <p:nvPr/>
            </p:nvCxnSpPr>
            <p:spPr>
              <a:xfrm rot="12285077" flipV="1">
                <a:off x="3523944" y="2647327"/>
                <a:ext cx="207213" cy="102825"/>
              </a:xfrm>
              <a:prstGeom prst="line">
                <a:avLst/>
              </a:prstGeom>
              <a:ln w="28575">
                <a:solidFill>
                  <a:srgbClr val="11576A"/>
                </a:solidFill>
                <a:tailEnd type="oval"/>
              </a:ln>
            </p:spPr>
            <p:style>
              <a:lnRef idx="1">
                <a:schemeClr val="accent1"/>
              </a:lnRef>
              <a:fillRef idx="0">
                <a:schemeClr val="accent1"/>
              </a:fillRef>
              <a:effectRef idx="0">
                <a:schemeClr val="accent1"/>
              </a:effectRef>
              <a:fontRef idx="minor">
                <a:schemeClr val="tx1"/>
              </a:fontRef>
            </p:style>
          </p:cxnSp>
        </p:grpSp>
        <p:sp>
          <p:nvSpPr>
            <p:cNvPr id="60" name="TextBox 89"/>
            <p:cNvSpPr txBox="1"/>
            <p:nvPr/>
          </p:nvSpPr>
          <p:spPr>
            <a:xfrm>
              <a:off x="3643812" y="2240743"/>
              <a:ext cx="800219" cy="276999"/>
            </a:xfrm>
            <a:prstGeom prst="rect">
              <a:avLst/>
            </a:prstGeom>
            <a:noFill/>
          </p:spPr>
          <p:txBody>
            <a:bodyPr wrap="none" rtlCol="0">
              <a:spAutoFit/>
            </a:bodyPr>
            <a:lstStyle/>
            <a:p>
              <a:r>
                <a:rPr lang="zh-CN" altLang="en-US" sz="1200" b="1" dirty="0">
                  <a:solidFill>
                    <a:srgbClr val="11576A"/>
                  </a:solidFill>
                  <a:latin typeface="+mj-ea"/>
                  <a:ea typeface="+mj-ea"/>
                </a:rPr>
                <a:t>入口队列</a:t>
              </a:r>
            </a:p>
          </p:txBody>
        </p:sp>
      </p:grpSp>
      <p:grpSp>
        <p:nvGrpSpPr>
          <p:cNvPr id="7" name="组合 6"/>
          <p:cNvGrpSpPr/>
          <p:nvPr/>
        </p:nvGrpSpPr>
        <p:grpSpPr>
          <a:xfrm>
            <a:off x="770999" y="1628800"/>
            <a:ext cx="3528391" cy="599898"/>
            <a:chOff x="766662" y="690431"/>
            <a:chExt cx="3528391" cy="599898"/>
          </a:xfrm>
        </p:grpSpPr>
        <p:grpSp>
          <p:nvGrpSpPr>
            <p:cNvPr id="5" name="组合 4"/>
            <p:cNvGrpSpPr/>
            <p:nvPr/>
          </p:nvGrpSpPr>
          <p:grpSpPr>
            <a:xfrm>
              <a:off x="766662" y="690431"/>
              <a:ext cx="3528391" cy="554859"/>
              <a:chOff x="827584" y="627534"/>
              <a:chExt cx="3528391" cy="554859"/>
            </a:xfrm>
          </p:grpSpPr>
          <p:sp>
            <p:nvSpPr>
              <p:cNvPr id="13" name="内容占位符 2"/>
              <p:cNvSpPr txBox="1">
                <a:spLocks/>
              </p:cNvSpPr>
              <p:nvPr/>
            </p:nvSpPr>
            <p:spPr>
              <a:xfrm>
                <a:off x="1125666" y="690265"/>
                <a:ext cx="3230309" cy="4921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a:lnSpc>
                    <a:spcPct val="80000"/>
                  </a:lnSpc>
                  <a:spcBef>
                    <a:spcPct val="20000"/>
                  </a:spcBef>
                </a:pPr>
                <a:r>
                  <a:rPr lang="zh-CN" altLang="en-US" dirty="0"/>
                  <a:t>一个锁</a:t>
                </a:r>
                <a:endParaRPr lang="en-US" altLang="zh-CN" dirty="0"/>
              </a:p>
              <a:p>
                <a:pPr marL="0" indent="0">
                  <a:lnSpc>
                    <a:spcPct val="80000"/>
                  </a:lnSpc>
                  <a:spcBef>
                    <a:spcPct val="20000"/>
                  </a:spcBef>
                </a:pPr>
                <a:r>
                  <a:rPr lang="zh-CN" altLang="en-US" dirty="0"/>
                  <a:t>   </a:t>
                </a:r>
                <a:r>
                  <a:rPr lang="zh-CN" altLang="en-US" sz="1800" dirty="0"/>
                  <a:t>控制管程代码的互斥访问</a:t>
                </a:r>
              </a:p>
            </p:txBody>
          </p:sp>
          <p:sp>
            <p:nvSpPr>
              <p:cNvPr id="14" name="TextBox 13"/>
              <p:cNvSpPr txBox="1"/>
              <p:nvPr/>
            </p:nvSpPr>
            <p:spPr>
              <a:xfrm>
                <a:off x="827584" y="62753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pic>
          <p:nvPicPr>
            <p:cNvPr id="66" name="图片 65" descr="小点1.png"/>
            <p:cNvPicPr>
              <a:picLocks noChangeAspect="1"/>
            </p:cNvPicPr>
            <p:nvPr/>
          </p:nvPicPr>
          <p:blipFill>
            <a:blip r:embed="rId2" cstate="print"/>
            <a:stretch>
              <a:fillRect/>
            </a:stretch>
          </p:blipFill>
          <p:spPr>
            <a:xfrm>
              <a:off x="1149039" y="1141332"/>
              <a:ext cx="151066" cy="148997"/>
            </a:xfrm>
            <a:prstGeom prst="rect">
              <a:avLst/>
            </a:prstGeom>
            <a:effectLst/>
          </p:spPr>
        </p:pic>
      </p:grpSp>
      <p:grpSp>
        <p:nvGrpSpPr>
          <p:cNvPr id="21" name="组合 20"/>
          <p:cNvGrpSpPr/>
          <p:nvPr/>
        </p:nvGrpSpPr>
        <p:grpSpPr>
          <a:xfrm>
            <a:off x="767408" y="2315295"/>
            <a:ext cx="3292556" cy="757621"/>
            <a:chOff x="783971" y="1420201"/>
            <a:chExt cx="3292556" cy="757621"/>
          </a:xfrm>
        </p:grpSpPr>
        <p:grpSp>
          <p:nvGrpSpPr>
            <p:cNvPr id="6" name="组合 5"/>
            <p:cNvGrpSpPr/>
            <p:nvPr/>
          </p:nvGrpSpPr>
          <p:grpSpPr>
            <a:xfrm>
              <a:off x="783971" y="1420201"/>
              <a:ext cx="3292556" cy="757621"/>
              <a:chOff x="844893" y="1357304"/>
              <a:chExt cx="3292556" cy="757621"/>
            </a:xfrm>
          </p:grpSpPr>
          <p:sp>
            <p:nvSpPr>
              <p:cNvPr id="19" name="内容占位符 2"/>
              <p:cNvSpPr txBox="1">
                <a:spLocks/>
              </p:cNvSpPr>
              <p:nvPr/>
            </p:nvSpPr>
            <p:spPr>
              <a:xfrm>
                <a:off x="1131808" y="1428441"/>
                <a:ext cx="3005641" cy="686484"/>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a:lnSpc>
                    <a:spcPct val="80000"/>
                  </a:lnSpc>
                  <a:spcBef>
                    <a:spcPct val="20000"/>
                  </a:spcBef>
                </a:pPr>
                <a:r>
                  <a:rPr lang="en-US" altLang="zh-CN" dirty="0"/>
                  <a:t>0</a:t>
                </a:r>
                <a:r>
                  <a:rPr lang="zh-CN" altLang="en-US" dirty="0"/>
                  <a:t>或者多个条件变量</a:t>
                </a:r>
                <a:endParaRPr lang="en-US" altLang="zh-CN" dirty="0"/>
              </a:p>
              <a:p>
                <a:pPr marL="0" indent="0">
                  <a:lnSpc>
                    <a:spcPct val="80000"/>
                  </a:lnSpc>
                  <a:spcBef>
                    <a:spcPct val="20000"/>
                  </a:spcBef>
                </a:pPr>
                <a:r>
                  <a:rPr lang="zh-CN" altLang="en-US" dirty="0"/>
                  <a:t>   </a:t>
                </a:r>
                <a:r>
                  <a:rPr lang="zh-CN" altLang="en-US" sz="1800" dirty="0"/>
                  <a:t>管理共享数据的并发访问</a:t>
                </a:r>
              </a:p>
            </p:txBody>
          </p:sp>
          <p:sp>
            <p:nvSpPr>
              <p:cNvPr id="20" name="TextBox 19"/>
              <p:cNvSpPr txBox="1"/>
              <p:nvPr/>
            </p:nvSpPr>
            <p:spPr>
              <a:xfrm>
                <a:off x="844893" y="135730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pic>
          <p:nvPicPr>
            <p:cNvPr id="67" name="图片 66" descr="小点1.png"/>
            <p:cNvPicPr>
              <a:picLocks noChangeAspect="1"/>
            </p:cNvPicPr>
            <p:nvPr/>
          </p:nvPicPr>
          <p:blipFill>
            <a:blip r:embed="rId2" cstate="print"/>
            <a:stretch>
              <a:fillRect/>
            </a:stretch>
          </p:blipFill>
          <p:spPr>
            <a:xfrm>
              <a:off x="1149039" y="1874085"/>
              <a:ext cx="151066" cy="148997"/>
            </a:xfrm>
            <a:prstGeom prst="rect">
              <a:avLst/>
            </a:prstGeom>
            <a:effectLst/>
          </p:spPr>
        </p:pic>
      </p:grpSp>
      <p:grpSp>
        <p:nvGrpSpPr>
          <p:cNvPr id="4" name="组合 3"/>
          <p:cNvGrpSpPr/>
          <p:nvPr/>
        </p:nvGrpSpPr>
        <p:grpSpPr>
          <a:xfrm>
            <a:off x="3722751" y="3434220"/>
            <a:ext cx="2376708" cy="461665"/>
            <a:chOff x="467544" y="2548345"/>
            <a:chExt cx="2376708" cy="461665"/>
          </a:xfrm>
        </p:grpSpPr>
        <p:sp>
          <p:nvSpPr>
            <p:cNvPr id="24" name="矩形 23"/>
            <p:cNvSpPr>
              <a:spLocks noChangeAspect="1"/>
            </p:cNvSpPr>
            <p:nvPr/>
          </p:nvSpPr>
          <p:spPr>
            <a:xfrm>
              <a:off x="2309260" y="2658125"/>
              <a:ext cx="90000" cy="90000"/>
            </a:xfrm>
            <a:prstGeom prst="rect">
              <a:avLst/>
            </a:prstGeom>
            <a:gradFill>
              <a:gsLst>
                <a:gs pos="100000">
                  <a:srgbClr val="666666"/>
                </a:gs>
                <a:gs pos="0">
                  <a:srgbClr val="CCCCCC"/>
                </a:gs>
                <a:gs pos="100000">
                  <a:schemeClr val="accent1">
                    <a:tint val="23500"/>
                    <a:satMod val="160000"/>
                  </a:schemeClr>
                </a:gs>
              </a:gsLst>
              <a:lin ang="5400000" scaled="0"/>
            </a:gradFill>
            <a:ln>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矩形 24"/>
            <p:cNvSpPr>
              <a:spLocks noChangeAspect="1"/>
            </p:cNvSpPr>
            <p:nvPr/>
          </p:nvSpPr>
          <p:spPr>
            <a:xfrm>
              <a:off x="2483886" y="2658125"/>
              <a:ext cx="90000" cy="90000"/>
            </a:xfrm>
            <a:prstGeom prst="rect">
              <a:avLst/>
            </a:prstGeom>
            <a:gradFill>
              <a:gsLst>
                <a:gs pos="100000">
                  <a:srgbClr val="666666"/>
                </a:gs>
                <a:gs pos="0">
                  <a:srgbClr val="CCCCCC"/>
                </a:gs>
                <a:gs pos="100000">
                  <a:schemeClr val="accent1">
                    <a:tint val="23500"/>
                    <a:satMod val="160000"/>
                  </a:schemeClr>
                </a:gs>
              </a:gsLst>
              <a:lin ang="5400000" scaled="0"/>
            </a:gradFill>
            <a:ln>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6" name="直接连接符 41"/>
            <p:cNvCxnSpPr/>
            <p:nvPr/>
          </p:nvCxnSpPr>
          <p:spPr>
            <a:xfrm>
              <a:off x="2164798" y="2704161"/>
              <a:ext cx="142876" cy="1588"/>
            </a:xfrm>
            <a:prstGeom prst="line">
              <a:avLst/>
            </a:prstGeom>
            <a:ln w="19050">
              <a:solidFill>
                <a:srgbClr val="11576A"/>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7" name="直接连接符 42"/>
            <p:cNvCxnSpPr/>
            <p:nvPr/>
          </p:nvCxnSpPr>
          <p:spPr>
            <a:xfrm>
              <a:off x="2393398" y="2704161"/>
              <a:ext cx="90000" cy="1588"/>
            </a:xfrm>
            <a:prstGeom prst="line">
              <a:avLst/>
            </a:prstGeom>
            <a:ln w="19050">
              <a:solidFill>
                <a:srgbClr val="11576A"/>
              </a:solidFill>
              <a:tailEnd type="triangle" w="sm" len="sm"/>
            </a:ln>
          </p:spPr>
          <p:style>
            <a:lnRef idx="1">
              <a:schemeClr val="accent1"/>
            </a:lnRef>
            <a:fillRef idx="0">
              <a:schemeClr val="accent1"/>
            </a:fillRef>
            <a:effectRef idx="0">
              <a:schemeClr val="accent1"/>
            </a:effectRef>
            <a:fontRef idx="minor">
              <a:schemeClr val="tx1"/>
            </a:fontRef>
          </p:style>
        </p:cxnSp>
        <p:sp>
          <p:nvSpPr>
            <p:cNvPr id="28" name="矩形 27"/>
            <p:cNvSpPr>
              <a:spLocks noChangeAspect="1"/>
            </p:cNvSpPr>
            <p:nvPr/>
          </p:nvSpPr>
          <p:spPr>
            <a:xfrm>
              <a:off x="2674388" y="2658125"/>
              <a:ext cx="90000" cy="90000"/>
            </a:xfrm>
            <a:prstGeom prst="rect">
              <a:avLst/>
            </a:prstGeom>
            <a:gradFill>
              <a:gsLst>
                <a:gs pos="100000">
                  <a:srgbClr val="666666"/>
                </a:gs>
                <a:gs pos="0">
                  <a:srgbClr val="CCCCCC"/>
                </a:gs>
                <a:gs pos="100000">
                  <a:schemeClr val="accent1">
                    <a:tint val="23500"/>
                    <a:satMod val="160000"/>
                  </a:schemeClr>
                </a:gs>
              </a:gsLst>
              <a:lin ang="5400000" scaled="0"/>
            </a:gradFill>
            <a:ln>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9" name="直接连接符 44"/>
            <p:cNvCxnSpPr/>
            <p:nvPr/>
          </p:nvCxnSpPr>
          <p:spPr>
            <a:xfrm>
              <a:off x="2583900" y="2704161"/>
              <a:ext cx="90000" cy="1588"/>
            </a:xfrm>
            <a:prstGeom prst="line">
              <a:avLst/>
            </a:prstGeom>
            <a:ln w="19050">
              <a:solidFill>
                <a:srgbClr val="11576A"/>
              </a:solidFill>
              <a:tailEnd type="triangle" w="sm" len="sm"/>
            </a:ln>
          </p:spPr>
          <p:style>
            <a:lnRef idx="1">
              <a:schemeClr val="accent1"/>
            </a:lnRef>
            <a:fillRef idx="0">
              <a:schemeClr val="accent1"/>
            </a:fillRef>
            <a:effectRef idx="0">
              <a:schemeClr val="accent1"/>
            </a:effectRef>
            <a:fontRef idx="minor">
              <a:schemeClr val="tx1"/>
            </a:fontRef>
          </p:style>
        </p:cxnSp>
        <p:sp>
          <p:nvSpPr>
            <p:cNvPr id="30" name="矩形 29"/>
            <p:cNvSpPr>
              <a:spLocks noChangeAspect="1"/>
            </p:cNvSpPr>
            <p:nvPr/>
          </p:nvSpPr>
          <p:spPr>
            <a:xfrm>
              <a:off x="2309260" y="2787751"/>
              <a:ext cx="90000" cy="90000"/>
            </a:xfrm>
            <a:prstGeom prst="rect">
              <a:avLst/>
            </a:prstGeom>
            <a:gradFill>
              <a:gsLst>
                <a:gs pos="100000">
                  <a:srgbClr val="666666"/>
                </a:gs>
                <a:gs pos="0">
                  <a:srgbClr val="CCCCCC"/>
                </a:gs>
                <a:gs pos="100000">
                  <a:schemeClr val="accent1">
                    <a:tint val="23500"/>
                    <a:satMod val="160000"/>
                  </a:schemeClr>
                </a:gs>
              </a:gsLst>
              <a:lin ang="5400000" scaled="0"/>
            </a:gradFill>
            <a:ln>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矩形 30"/>
            <p:cNvSpPr>
              <a:spLocks noChangeAspect="1"/>
            </p:cNvSpPr>
            <p:nvPr/>
          </p:nvSpPr>
          <p:spPr>
            <a:xfrm>
              <a:off x="2483886" y="2787751"/>
              <a:ext cx="90000" cy="90000"/>
            </a:xfrm>
            <a:prstGeom prst="rect">
              <a:avLst/>
            </a:prstGeom>
            <a:gradFill>
              <a:gsLst>
                <a:gs pos="100000">
                  <a:srgbClr val="666666"/>
                </a:gs>
                <a:gs pos="0">
                  <a:srgbClr val="CCCCCC"/>
                </a:gs>
                <a:gs pos="100000">
                  <a:schemeClr val="accent1">
                    <a:tint val="23500"/>
                    <a:satMod val="160000"/>
                  </a:schemeClr>
                </a:gs>
              </a:gsLst>
              <a:lin ang="5400000" scaled="0"/>
            </a:gradFill>
            <a:ln>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32" name="直接连接符 47"/>
            <p:cNvCxnSpPr/>
            <p:nvPr/>
          </p:nvCxnSpPr>
          <p:spPr>
            <a:xfrm>
              <a:off x="2164798" y="2833787"/>
              <a:ext cx="142876" cy="1588"/>
            </a:xfrm>
            <a:prstGeom prst="line">
              <a:avLst/>
            </a:prstGeom>
            <a:ln w="19050">
              <a:solidFill>
                <a:srgbClr val="11576A"/>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3" name="直接连接符 48"/>
            <p:cNvCxnSpPr/>
            <p:nvPr/>
          </p:nvCxnSpPr>
          <p:spPr>
            <a:xfrm>
              <a:off x="2393398" y="2833787"/>
              <a:ext cx="90000" cy="1588"/>
            </a:xfrm>
            <a:prstGeom prst="line">
              <a:avLst/>
            </a:prstGeom>
            <a:ln w="19050">
              <a:solidFill>
                <a:srgbClr val="11576A"/>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4" name="直接连接符 52"/>
            <p:cNvCxnSpPr>
              <a:stCxn id="31" idx="3"/>
            </p:cNvCxnSpPr>
            <p:nvPr/>
          </p:nvCxnSpPr>
          <p:spPr>
            <a:xfrm flipV="1">
              <a:off x="2573886" y="2825607"/>
              <a:ext cx="52884" cy="0"/>
            </a:xfrm>
            <a:prstGeom prst="line">
              <a:avLst/>
            </a:prstGeom>
            <a:ln w="1270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35" name="直接连接符 54"/>
            <p:cNvCxnSpPr/>
            <p:nvPr/>
          </p:nvCxnSpPr>
          <p:spPr>
            <a:xfrm rot="5400000">
              <a:off x="2613672" y="2836323"/>
              <a:ext cx="21432" cy="1588"/>
            </a:xfrm>
            <a:prstGeom prst="line">
              <a:avLst/>
            </a:prstGeom>
            <a:ln w="1270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36" name="直接连接符 56"/>
            <p:cNvCxnSpPr/>
            <p:nvPr/>
          </p:nvCxnSpPr>
          <p:spPr>
            <a:xfrm>
              <a:off x="2600576" y="2849420"/>
              <a:ext cx="47625" cy="1588"/>
            </a:xfrm>
            <a:prstGeom prst="line">
              <a:avLst/>
            </a:prstGeom>
            <a:ln w="1270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37" name="直接连接符 58"/>
            <p:cNvCxnSpPr/>
            <p:nvPr/>
          </p:nvCxnSpPr>
          <p:spPr>
            <a:xfrm>
              <a:off x="2617245" y="2866089"/>
              <a:ext cx="16668" cy="1588"/>
            </a:xfrm>
            <a:prstGeom prst="line">
              <a:avLst/>
            </a:prstGeom>
            <a:ln w="1270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38" name="直接连接符 59"/>
            <p:cNvCxnSpPr/>
            <p:nvPr/>
          </p:nvCxnSpPr>
          <p:spPr>
            <a:xfrm flipV="1">
              <a:off x="2769937" y="2703367"/>
              <a:ext cx="52884" cy="0"/>
            </a:xfrm>
            <a:prstGeom prst="line">
              <a:avLst/>
            </a:prstGeom>
            <a:ln w="1270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39" name="直接连接符 60"/>
            <p:cNvCxnSpPr/>
            <p:nvPr/>
          </p:nvCxnSpPr>
          <p:spPr>
            <a:xfrm rot="5400000">
              <a:off x="2809723" y="2714083"/>
              <a:ext cx="21432" cy="1588"/>
            </a:xfrm>
            <a:prstGeom prst="line">
              <a:avLst/>
            </a:prstGeom>
            <a:ln w="1270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40" name="直接连接符 61"/>
            <p:cNvCxnSpPr/>
            <p:nvPr/>
          </p:nvCxnSpPr>
          <p:spPr>
            <a:xfrm>
              <a:off x="2796627" y="2727180"/>
              <a:ext cx="47625" cy="1588"/>
            </a:xfrm>
            <a:prstGeom prst="line">
              <a:avLst/>
            </a:prstGeom>
            <a:ln w="1270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41" name="直接连接符 62"/>
            <p:cNvCxnSpPr/>
            <p:nvPr/>
          </p:nvCxnSpPr>
          <p:spPr>
            <a:xfrm>
              <a:off x="2813296" y="2743849"/>
              <a:ext cx="16668" cy="1588"/>
            </a:xfrm>
            <a:prstGeom prst="line">
              <a:avLst/>
            </a:prstGeom>
            <a:ln w="12700">
              <a:solidFill>
                <a:srgbClr val="11576A"/>
              </a:solidFill>
            </a:ln>
          </p:spPr>
          <p:style>
            <a:lnRef idx="1">
              <a:schemeClr val="accent1"/>
            </a:lnRef>
            <a:fillRef idx="0">
              <a:schemeClr val="accent1"/>
            </a:fillRef>
            <a:effectRef idx="0">
              <a:schemeClr val="accent1"/>
            </a:effectRef>
            <a:fontRef idx="minor">
              <a:schemeClr val="tx1"/>
            </a:fontRef>
          </p:style>
        </p:cxnSp>
        <p:sp>
          <p:nvSpPr>
            <p:cNvPr id="42" name="TextBox 63"/>
            <p:cNvSpPr txBox="1"/>
            <p:nvPr/>
          </p:nvSpPr>
          <p:spPr>
            <a:xfrm>
              <a:off x="1993348" y="2555752"/>
              <a:ext cx="287258" cy="276999"/>
            </a:xfrm>
            <a:prstGeom prst="rect">
              <a:avLst/>
            </a:prstGeom>
            <a:noFill/>
          </p:spPr>
          <p:txBody>
            <a:bodyPr wrap="none" rtlCol="0">
              <a:spAutoFit/>
            </a:bodyPr>
            <a:lstStyle/>
            <a:p>
              <a:r>
                <a:rPr lang="en-US" altLang="zh-CN" sz="1200" b="1" dirty="0">
                  <a:solidFill>
                    <a:srgbClr val="11576A"/>
                  </a:solidFill>
                  <a:latin typeface="+mn-ea"/>
                </a:rPr>
                <a:t>x</a:t>
              </a:r>
              <a:endParaRPr lang="zh-CN" altLang="en-US" sz="1200" b="1" dirty="0">
                <a:solidFill>
                  <a:srgbClr val="11576A"/>
                </a:solidFill>
                <a:latin typeface="+mn-ea"/>
              </a:endParaRPr>
            </a:p>
          </p:txBody>
        </p:sp>
        <p:sp>
          <p:nvSpPr>
            <p:cNvPr id="43" name="TextBox 64"/>
            <p:cNvSpPr txBox="1"/>
            <p:nvPr/>
          </p:nvSpPr>
          <p:spPr>
            <a:xfrm>
              <a:off x="1993348" y="2666874"/>
              <a:ext cx="284052" cy="276999"/>
            </a:xfrm>
            <a:prstGeom prst="rect">
              <a:avLst/>
            </a:prstGeom>
            <a:noFill/>
          </p:spPr>
          <p:txBody>
            <a:bodyPr wrap="none" rtlCol="0">
              <a:spAutoFit/>
            </a:bodyPr>
            <a:lstStyle/>
            <a:p>
              <a:r>
                <a:rPr lang="en-US" altLang="zh-CN" sz="1200" b="1" dirty="0">
                  <a:solidFill>
                    <a:srgbClr val="11576A"/>
                  </a:solidFill>
                  <a:latin typeface="+mn-ea"/>
                </a:rPr>
                <a:t>y</a:t>
              </a:r>
              <a:endParaRPr lang="zh-CN" altLang="en-US" sz="1200" b="1" dirty="0">
                <a:solidFill>
                  <a:srgbClr val="11576A"/>
                </a:solidFill>
                <a:latin typeface="+mn-ea"/>
              </a:endParaRPr>
            </a:p>
          </p:txBody>
        </p:sp>
        <p:sp>
          <p:nvSpPr>
            <p:cNvPr id="44" name="左大括号 43"/>
            <p:cNvSpPr/>
            <p:nvPr/>
          </p:nvSpPr>
          <p:spPr>
            <a:xfrm>
              <a:off x="1821894" y="2669237"/>
              <a:ext cx="71438" cy="214314"/>
            </a:xfrm>
            <a:prstGeom prst="leftBrace">
              <a:avLst/>
            </a:prstGeom>
            <a:ln w="12700">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TextBox 66"/>
            <p:cNvSpPr txBox="1"/>
            <p:nvPr/>
          </p:nvSpPr>
          <p:spPr>
            <a:xfrm>
              <a:off x="467544" y="2548345"/>
              <a:ext cx="1344939" cy="461665"/>
            </a:xfrm>
            <a:prstGeom prst="rect">
              <a:avLst/>
            </a:prstGeom>
            <a:noFill/>
          </p:spPr>
          <p:txBody>
            <a:bodyPr wrap="square" rtlCol="0">
              <a:spAutoFit/>
            </a:bodyPr>
            <a:lstStyle/>
            <a:p>
              <a:pPr algn="r"/>
              <a:r>
                <a:rPr lang="zh-CN" altLang="en-US" sz="1200" b="1" dirty="0">
                  <a:solidFill>
                    <a:srgbClr val="11576A"/>
                  </a:solidFill>
                  <a:latin typeface="+mj-ea"/>
                  <a:ea typeface="+mj-ea"/>
                </a:rPr>
                <a:t>与条件变量相关的等待队列</a:t>
              </a:r>
            </a:p>
          </p:txBody>
        </p:sp>
      </p:grpSp>
      <p:grpSp>
        <p:nvGrpSpPr>
          <p:cNvPr id="71" name="组合 70"/>
          <p:cNvGrpSpPr/>
          <p:nvPr/>
        </p:nvGrpSpPr>
        <p:grpSpPr>
          <a:xfrm>
            <a:off x="6781612" y="3498876"/>
            <a:ext cx="1910097" cy="261695"/>
            <a:chOff x="3523944" y="2587806"/>
            <a:chExt cx="1910097" cy="261695"/>
          </a:xfrm>
        </p:grpSpPr>
        <p:sp>
          <p:nvSpPr>
            <p:cNvPr id="73" name="矩形 72"/>
            <p:cNvSpPr/>
            <p:nvPr/>
          </p:nvSpPr>
          <p:spPr>
            <a:xfrm rot="5385077">
              <a:off x="3743162" y="2587806"/>
              <a:ext cx="214314" cy="214314"/>
            </a:xfrm>
            <a:prstGeom prst="rect">
              <a:avLst/>
            </a:prstGeom>
            <a:gradFill flip="none" rotWithShape="1">
              <a:gsLst>
                <a:gs pos="0">
                  <a:srgbClr val="FF5050">
                    <a:shade val="30000"/>
                    <a:satMod val="115000"/>
                  </a:srgbClr>
                </a:gs>
                <a:gs pos="50000">
                  <a:srgbClr val="FF5050">
                    <a:shade val="67500"/>
                    <a:satMod val="115000"/>
                  </a:srgbClr>
                </a:gs>
                <a:gs pos="100000">
                  <a:srgbClr val="FF5050">
                    <a:shade val="100000"/>
                    <a:satMod val="115000"/>
                  </a:srgbClr>
                </a:gs>
              </a:gsLst>
              <a:lin ang="16200000" scaled="1"/>
              <a:tileRect/>
            </a:gradFill>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74" name="直接箭头连接符 71"/>
            <p:cNvCxnSpPr/>
            <p:nvPr/>
          </p:nvCxnSpPr>
          <p:spPr>
            <a:xfrm rot="1485077" flipV="1">
              <a:off x="3903748" y="2636110"/>
              <a:ext cx="241300" cy="10795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5" name="矩形 74"/>
            <p:cNvSpPr/>
            <p:nvPr/>
          </p:nvSpPr>
          <p:spPr>
            <a:xfrm rot="5385077">
              <a:off x="4163321" y="2590262"/>
              <a:ext cx="214314" cy="214314"/>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lin ang="16200000" scaled="1"/>
              <a:tileRect/>
            </a:gradFill>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76" name="直接箭头连接符 73"/>
            <p:cNvCxnSpPr/>
            <p:nvPr/>
          </p:nvCxnSpPr>
          <p:spPr>
            <a:xfrm rot="1485077" flipV="1">
              <a:off x="4306568" y="2638269"/>
              <a:ext cx="241300" cy="10795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7" name="矩形 76"/>
            <p:cNvSpPr/>
            <p:nvPr/>
          </p:nvSpPr>
          <p:spPr>
            <a:xfrm rot="5385077">
              <a:off x="4572187" y="2590676"/>
              <a:ext cx="214314" cy="214314"/>
            </a:xfrm>
            <a:prstGeom prst="rect">
              <a:avLst/>
            </a:prstGeom>
            <a:gradFill flip="none" rotWithShape="1">
              <a:gsLst>
                <a:gs pos="0">
                  <a:srgbClr val="FF5050">
                    <a:shade val="30000"/>
                    <a:satMod val="115000"/>
                  </a:srgbClr>
                </a:gs>
                <a:gs pos="50000">
                  <a:srgbClr val="FF5050">
                    <a:shade val="67500"/>
                    <a:satMod val="115000"/>
                  </a:srgbClr>
                </a:gs>
                <a:gs pos="100000">
                  <a:srgbClr val="FF5050">
                    <a:shade val="100000"/>
                    <a:satMod val="115000"/>
                  </a:srgbClr>
                </a:gs>
              </a:gsLst>
              <a:lin ang="16200000" scaled="1"/>
              <a:tileRect/>
            </a:gradFill>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78" name="直接箭头连接符 76"/>
            <p:cNvCxnSpPr/>
            <p:nvPr/>
          </p:nvCxnSpPr>
          <p:spPr>
            <a:xfrm rot="1485077" flipV="1">
              <a:off x="4732773" y="2638980"/>
              <a:ext cx="241300" cy="10795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9" name="矩形 78"/>
            <p:cNvSpPr/>
            <p:nvPr/>
          </p:nvSpPr>
          <p:spPr>
            <a:xfrm rot="5385077">
              <a:off x="4988202" y="2605914"/>
              <a:ext cx="214314" cy="214314"/>
            </a:xfrm>
            <a:prstGeom prst="rect">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lin ang="16200000" scaled="1"/>
              <a:tileRect/>
            </a:gradFill>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80" name="直接连接符 79"/>
            <p:cNvCxnSpPr>
              <a:stCxn id="79" idx="0"/>
            </p:cNvCxnSpPr>
            <p:nvPr/>
          </p:nvCxnSpPr>
          <p:spPr>
            <a:xfrm rot="1485077" flipV="1">
              <a:off x="5209148" y="2682375"/>
              <a:ext cx="146234" cy="63772"/>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1" name="直接连接符 81"/>
            <p:cNvCxnSpPr/>
            <p:nvPr/>
          </p:nvCxnSpPr>
          <p:spPr>
            <a:xfrm rot="17685077" flipH="1">
              <a:off x="5320605" y="2726811"/>
              <a:ext cx="76207" cy="3809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2" name="直接连接符 83"/>
            <p:cNvCxnSpPr/>
            <p:nvPr/>
          </p:nvCxnSpPr>
          <p:spPr>
            <a:xfrm rot="1485077" flipV="1">
              <a:off x="5300691" y="2752981"/>
              <a:ext cx="133350" cy="61913"/>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3" name="直接连接符 85"/>
            <p:cNvCxnSpPr/>
            <p:nvPr/>
          </p:nvCxnSpPr>
          <p:spPr>
            <a:xfrm rot="1485077" flipV="1">
              <a:off x="5332944" y="2816164"/>
              <a:ext cx="76200" cy="33337"/>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4" name="直接连接符 87"/>
            <p:cNvCxnSpPr>
              <a:stCxn id="73" idx="2"/>
            </p:cNvCxnSpPr>
            <p:nvPr/>
          </p:nvCxnSpPr>
          <p:spPr>
            <a:xfrm rot="12285077" flipV="1">
              <a:off x="3523944" y="2647327"/>
              <a:ext cx="207213" cy="102825"/>
            </a:xfrm>
            <a:prstGeom prst="line">
              <a:avLst/>
            </a:prstGeom>
            <a:ln w="28575">
              <a:solidFill>
                <a:srgbClr val="C00000"/>
              </a:solidFill>
              <a:tailEnd type="oval"/>
            </a:ln>
          </p:spPr>
          <p:style>
            <a:lnRef idx="1">
              <a:schemeClr val="accent1"/>
            </a:lnRef>
            <a:fillRef idx="0">
              <a:schemeClr val="accent1"/>
            </a:fillRef>
            <a:effectRef idx="0">
              <a:schemeClr val="accent1"/>
            </a:effectRef>
            <a:fontRef idx="minor">
              <a:schemeClr val="tx1"/>
            </a:fontRef>
          </p:style>
        </p:cxnSp>
      </p:grpSp>
      <p:grpSp>
        <p:nvGrpSpPr>
          <p:cNvPr id="85" name="组合 84"/>
          <p:cNvGrpSpPr/>
          <p:nvPr/>
        </p:nvGrpSpPr>
        <p:grpSpPr>
          <a:xfrm>
            <a:off x="5079828" y="3439783"/>
            <a:ext cx="1022358" cy="388121"/>
            <a:chOff x="1821894" y="2555752"/>
            <a:chExt cx="1022358" cy="388121"/>
          </a:xfrm>
        </p:grpSpPr>
        <p:sp>
          <p:nvSpPr>
            <p:cNvPr id="86" name="矩形 85"/>
            <p:cNvSpPr>
              <a:spLocks noChangeAspect="1"/>
            </p:cNvSpPr>
            <p:nvPr/>
          </p:nvSpPr>
          <p:spPr>
            <a:xfrm>
              <a:off x="2309260" y="2658125"/>
              <a:ext cx="90000" cy="90000"/>
            </a:xfrm>
            <a:prstGeom prst="rect">
              <a:avLst/>
            </a:prstGeom>
            <a:gradFill flip="none" rotWithShape="1">
              <a:gsLst>
                <a:gs pos="0">
                  <a:schemeClr val="bg2">
                    <a:lumMod val="90000"/>
                    <a:shade val="30000"/>
                    <a:satMod val="115000"/>
                  </a:schemeClr>
                </a:gs>
                <a:gs pos="50000">
                  <a:schemeClr val="bg2">
                    <a:lumMod val="90000"/>
                    <a:shade val="67500"/>
                    <a:satMod val="115000"/>
                  </a:schemeClr>
                </a:gs>
                <a:gs pos="100000">
                  <a:schemeClr val="bg2">
                    <a:lumMod val="90000"/>
                    <a:shade val="100000"/>
                    <a:satMod val="115000"/>
                  </a:schemeClr>
                </a:gs>
              </a:gsLst>
              <a:lin ang="16200000" scaled="1"/>
              <a:tileRect/>
            </a:gradFill>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7" name="矩形 86"/>
            <p:cNvSpPr>
              <a:spLocks noChangeAspect="1"/>
            </p:cNvSpPr>
            <p:nvPr/>
          </p:nvSpPr>
          <p:spPr>
            <a:xfrm>
              <a:off x="2483886" y="2658125"/>
              <a:ext cx="90000" cy="90000"/>
            </a:xfrm>
            <a:prstGeom prst="rect">
              <a:avLst/>
            </a:prstGeom>
            <a:gradFill flip="none" rotWithShape="1">
              <a:gsLst>
                <a:gs pos="0">
                  <a:schemeClr val="bg2">
                    <a:lumMod val="90000"/>
                    <a:shade val="30000"/>
                    <a:satMod val="115000"/>
                  </a:schemeClr>
                </a:gs>
                <a:gs pos="50000">
                  <a:schemeClr val="bg2">
                    <a:lumMod val="90000"/>
                    <a:shade val="67500"/>
                    <a:satMod val="115000"/>
                  </a:schemeClr>
                </a:gs>
                <a:gs pos="100000">
                  <a:schemeClr val="bg2">
                    <a:lumMod val="90000"/>
                    <a:shade val="100000"/>
                    <a:satMod val="115000"/>
                  </a:schemeClr>
                </a:gs>
              </a:gsLst>
              <a:lin ang="16200000" scaled="1"/>
              <a:tileRect/>
            </a:gradFill>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88" name="直接连接符 41"/>
            <p:cNvCxnSpPr/>
            <p:nvPr/>
          </p:nvCxnSpPr>
          <p:spPr>
            <a:xfrm>
              <a:off x="2164798" y="2704161"/>
              <a:ext cx="142876" cy="1588"/>
            </a:xfrm>
            <a:prstGeom prst="line">
              <a:avLst/>
            </a:prstGeom>
            <a:ln w="19050">
              <a:solidFill>
                <a:srgbClr val="C00000"/>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9" name="直接连接符 42"/>
            <p:cNvCxnSpPr/>
            <p:nvPr/>
          </p:nvCxnSpPr>
          <p:spPr>
            <a:xfrm>
              <a:off x="2393398" y="2704161"/>
              <a:ext cx="90000" cy="1588"/>
            </a:xfrm>
            <a:prstGeom prst="line">
              <a:avLst/>
            </a:prstGeom>
            <a:ln w="19050">
              <a:solidFill>
                <a:srgbClr val="C00000"/>
              </a:solidFill>
              <a:tailEnd type="triangle" w="sm" len="sm"/>
            </a:ln>
          </p:spPr>
          <p:style>
            <a:lnRef idx="1">
              <a:schemeClr val="accent1"/>
            </a:lnRef>
            <a:fillRef idx="0">
              <a:schemeClr val="accent1"/>
            </a:fillRef>
            <a:effectRef idx="0">
              <a:schemeClr val="accent1"/>
            </a:effectRef>
            <a:fontRef idx="minor">
              <a:schemeClr val="tx1"/>
            </a:fontRef>
          </p:style>
        </p:cxnSp>
        <p:sp>
          <p:nvSpPr>
            <p:cNvPr id="90" name="矩形 89"/>
            <p:cNvSpPr>
              <a:spLocks noChangeAspect="1"/>
            </p:cNvSpPr>
            <p:nvPr/>
          </p:nvSpPr>
          <p:spPr>
            <a:xfrm>
              <a:off x="2674388" y="2658125"/>
              <a:ext cx="90000" cy="90000"/>
            </a:xfrm>
            <a:prstGeom prst="rect">
              <a:avLst/>
            </a:prstGeom>
            <a:gradFill flip="none" rotWithShape="1">
              <a:gsLst>
                <a:gs pos="0">
                  <a:schemeClr val="bg2">
                    <a:lumMod val="90000"/>
                    <a:shade val="30000"/>
                    <a:satMod val="115000"/>
                  </a:schemeClr>
                </a:gs>
                <a:gs pos="50000">
                  <a:schemeClr val="bg2">
                    <a:lumMod val="90000"/>
                    <a:shade val="67500"/>
                    <a:satMod val="115000"/>
                  </a:schemeClr>
                </a:gs>
                <a:gs pos="100000">
                  <a:schemeClr val="bg2">
                    <a:lumMod val="90000"/>
                    <a:shade val="100000"/>
                    <a:satMod val="115000"/>
                  </a:schemeClr>
                </a:gs>
              </a:gsLst>
              <a:lin ang="16200000" scaled="1"/>
              <a:tileRect/>
            </a:gradFill>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91" name="直接连接符 44"/>
            <p:cNvCxnSpPr/>
            <p:nvPr/>
          </p:nvCxnSpPr>
          <p:spPr>
            <a:xfrm>
              <a:off x="2583900" y="2704161"/>
              <a:ext cx="90000" cy="1588"/>
            </a:xfrm>
            <a:prstGeom prst="line">
              <a:avLst/>
            </a:prstGeom>
            <a:ln w="19050">
              <a:solidFill>
                <a:srgbClr val="C00000"/>
              </a:solidFill>
              <a:tailEnd type="triangle" w="sm" len="sm"/>
            </a:ln>
          </p:spPr>
          <p:style>
            <a:lnRef idx="1">
              <a:schemeClr val="accent1"/>
            </a:lnRef>
            <a:fillRef idx="0">
              <a:schemeClr val="accent1"/>
            </a:fillRef>
            <a:effectRef idx="0">
              <a:schemeClr val="accent1"/>
            </a:effectRef>
            <a:fontRef idx="minor">
              <a:schemeClr val="tx1"/>
            </a:fontRef>
          </p:style>
        </p:cxnSp>
        <p:sp>
          <p:nvSpPr>
            <p:cNvPr id="92" name="矩形 91"/>
            <p:cNvSpPr>
              <a:spLocks noChangeAspect="1"/>
            </p:cNvSpPr>
            <p:nvPr/>
          </p:nvSpPr>
          <p:spPr>
            <a:xfrm>
              <a:off x="2309260" y="2787751"/>
              <a:ext cx="90000" cy="90000"/>
            </a:xfrm>
            <a:prstGeom prst="rect">
              <a:avLst/>
            </a:prstGeom>
            <a:gradFill flip="none" rotWithShape="1">
              <a:gsLst>
                <a:gs pos="0">
                  <a:schemeClr val="bg2">
                    <a:lumMod val="90000"/>
                    <a:shade val="30000"/>
                    <a:satMod val="115000"/>
                  </a:schemeClr>
                </a:gs>
                <a:gs pos="50000">
                  <a:schemeClr val="bg2">
                    <a:lumMod val="90000"/>
                    <a:shade val="67500"/>
                    <a:satMod val="115000"/>
                  </a:schemeClr>
                </a:gs>
                <a:gs pos="100000">
                  <a:schemeClr val="bg2">
                    <a:lumMod val="90000"/>
                    <a:shade val="100000"/>
                    <a:satMod val="115000"/>
                  </a:schemeClr>
                </a:gs>
              </a:gsLst>
              <a:lin ang="16200000" scaled="1"/>
              <a:tileRect/>
            </a:gradFill>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3" name="矩形 92"/>
            <p:cNvSpPr>
              <a:spLocks noChangeAspect="1"/>
            </p:cNvSpPr>
            <p:nvPr/>
          </p:nvSpPr>
          <p:spPr>
            <a:xfrm>
              <a:off x="2483886" y="2787751"/>
              <a:ext cx="90000" cy="90000"/>
            </a:xfrm>
            <a:prstGeom prst="rect">
              <a:avLst/>
            </a:prstGeom>
            <a:gradFill flip="none" rotWithShape="1">
              <a:gsLst>
                <a:gs pos="0">
                  <a:schemeClr val="bg2">
                    <a:lumMod val="90000"/>
                    <a:shade val="30000"/>
                    <a:satMod val="115000"/>
                  </a:schemeClr>
                </a:gs>
                <a:gs pos="50000">
                  <a:schemeClr val="bg2">
                    <a:lumMod val="90000"/>
                    <a:shade val="67500"/>
                    <a:satMod val="115000"/>
                  </a:schemeClr>
                </a:gs>
                <a:gs pos="100000">
                  <a:schemeClr val="bg2">
                    <a:lumMod val="90000"/>
                    <a:shade val="100000"/>
                    <a:satMod val="115000"/>
                  </a:schemeClr>
                </a:gs>
              </a:gsLst>
              <a:lin ang="16200000" scaled="1"/>
              <a:tileRect/>
            </a:gradFill>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94" name="直接连接符 47"/>
            <p:cNvCxnSpPr/>
            <p:nvPr/>
          </p:nvCxnSpPr>
          <p:spPr>
            <a:xfrm>
              <a:off x="2164798" y="2833787"/>
              <a:ext cx="142876" cy="1588"/>
            </a:xfrm>
            <a:prstGeom prst="line">
              <a:avLst/>
            </a:prstGeom>
            <a:ln w="19050">
              <a:solidFill>
                <a:srgbClr val="C00000"/>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5" name="直接连接符 48"/>
            <p:cNvCxnSpPr/>
            <p:nvPr/>
          </p:nvCxnSpPr>
          <p:spPr>
            <a:xfrm>
              <a:off x="2393398" y="2833787"/>
              <a:ext cx="90000" cy="1588"/>
            </a:xfrm>
            <a:prstGeom prst="line">
              <a:avLst/>
            </a:prstGeom>
            <a:ln w="19050">
              <a:solidFill>
                <a:srgbClr val="C00000"/>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6" name="直接连接符 52"/>
            <p:cNvCxnSpPr>
              <a:stCxn id="93" idx="3"/>
            </p:cNvCxnSpPr>
            <p:nvPr/>
          </p:nvCxnSpPr>
          <p:spPr>
            <a:xfrm flipV="1">
              <a:off x="2573886" y="2825607"/>
              <a:ext cx="52884"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7" name="直接连接符 54"/>
            <p:cNvCxnSpPr/>
            <p:nvPr/>
          </p:nvCxnSpPr>
          <p:spPr>
            <a:xfrm rot="5400000">
              <a:off x="2613672" y="2836323"/>
              <a:ext cx="21432" cy="1588"/>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8" name="直接连接符 56"/>
            <p:cNvCxnSpPr/>
            <p:nvPr/>
          </p:nvCxnSpPr>
          <p:spPr>
            <a:xfrm>
              <a:off x="2600576" y="2849420"/>
              <a:ext cx="47625" cy="1588"/>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9" name="直接连接符 58"/>
            <p:cNvCxnSpPr/>
            <p:nvPr/>
          </p:nvCxnSpPr>
          <p:spPr>
            <a:xfrm>
              <a:off x="2617245" y="2866089"/>
              <a:ext cx="16668" cy="1588"/>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0" name="直接连接符 59"/>
            <p:cNvCxnSpPr/>
            <p:nvPr/>
          </p:nvCxnSpPr>
          <p:spPr>
            <a:xfrm flipV="1">
              <a:off x="2769937" y="2703367"/>
              <a:ext cx="52884"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1" name="直接连接符 60"/>
            <p:cNvCxnSpPr/>
            <p:nvPr/>
          </p:nvCxnSpPr>
          <p:spPr>
            <a:xfrm rot="5400000">
              <a:off x="2809723" y="2714083"/>
              <a:ext cx="21432" cy="1588"/>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2" name="直接连接符 61"/>
            <p:cNvCxnSpPr/>
            <p:nvPr/>
          </p:nvCxnSpPr>
          <p:spPr>
            <a:xfrm>
              <a:off x="2796627" y="2727180"/>
              <a:ext cx="47625" cy="1588"/>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3" name="直接连接符 62"/>
            <p:cNvCxnSpPr/>
            <p:nvPr/>
          </p:nvCxnSpPr>
          <p:spPr>
            <a:xfrm>
              <a:off x="2813296" y="2743849"/>
              <a:ext cx="16668" cy="1588"/>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104" name="TextBox 63"/>
            <p:cNvSpPr txBox="1"/>
            <p:nvPr/>
          </p:nvSpPr>
          <p:spPr>
            <a:xfrm>
              <a:off x="1993348" y="2555752"/>
              <a:ext cx="287258" cy="276999"/>
            </a:xfrm>
            <a:prstGeom prst="rect">
              <a:avLst/>
            </a:prstGeom>
            <a:noFill/>
            <a:ln>
              <a:noFill/>
            </a:ln>
          </p:spPr>
          <p:txBody>
            <a:bodyPr wrap="none" rtlCol="0">
              <a:spAutoFit/>
            </a:bodyPr>
            <a:lstStyle/>
            <a:p>
              <a:r>
                <a:rPr lang="en-US" altLang="zh-CN" sz="1200" b="1" dirty="0">
                  <a:solidFill>
                    <a:srgbClr val="C00000"/>
                  </a:solidFill>
                  <a:latin typeface="+mn-ea"/>
                </a:rPr>
                <a:t>x</a:t>
              </a:r>
              <a:endParaRPr lang="zh-CN" altLang="en-US" sz="1200" b="1" dirty="0">
                <a:solidFill>
                  <a:srgbClr val="C00000"/>
                </a:solidFill>
                <a:latin typeface="+mn-ea"/>
              </a:endParaRPr>
            </a:p>
          </p:txBody>
        </p:sp>
        <p:sp>
          <p:nvSpPr>
            <p:cNvPr id="105" name="TextBox 64"/>
            <p:cNvSpPr txBox="1"/>
            <p:nvPr/>
          </p:nvSpPr>
          <p:spPr>
            <a:xfrm>
              <a:off x="1993348" y="2666874"/>
              <a:ext cx="284052" cy="276999"/>
            </a:xfrm>
            <a:prstGeom prst="rect">
              <a:avLst/>
            </a:prstGeom>
            <a:noFill/>
            <a:ln>
              <a:noFill/>
            </a:ln>
          </p:spPr>
          <p:txBody>
            <a:bodyPr wrap="none" rtlCol="0">
              <a:spAutoFit/>
            </a:bodyPr>
            <a:lstStyle/>
            <a:p>
              <a:r>
                <a:rPr lang="en-US" altLang="zh-CN" sz="1200" b="1" dirty="0">
                  <a:solidFill>
                    <a:srgbClr val="C00000"/>
                  </a:solidFill>
                  <a:latin typeface="+mn-ea"/>
                </a:rPr>
                <a:t>y</a:t>
              </a:r>
              <a:endParaRPr lang="zh-CN" altLang="en-US" sz="1200" b="1" dirty="0">
                <a:solidFill>
                  <a:srgbClr val="C00000"/>
                </a:solidFill>
                <a:latin typeface="+mn-ea"/>
              </a:endParaRPr>
            </a:p>
          </p:txBody>
        </p:sp>
        <p:sp>
          <p:nvSpPr>
            <p:cNvPr id="106" name="左大括号 105"/>
            <p:cNvSpPr/>
            <p:nvPr/>
          </p:nvSpPr>
          <p:spPr>
            <a:xfrm>
              <a:off x="1821894" y="2669237"/>
              <a:ext cx="71438" cy="214314"/>
            </a:xfrm>
            <a:prstGeom prst="leftBrace">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08" name="TextBox 89"/>
          <p:cNvSpPr txBox="1"/>
          <p:nvPr/>
        </p:nvSpPr>
        <p:spPr>
          <a:xfrm>
            <a:off x="6898578" y="3156563"/>
            <a:ext cx="800219" cy="276999"/>
          </a:xfrm>
          <a:prstGeom prst="rect">
            <a:avLst/>
          </a:prstGeom>
          <a:noFill/>
        </p:spPr>
        <p:txBody>
          <a:bodyPr wrap="none" rtlCol="0">
            <a:spAutoFit/>
          </a:bodyPr>
          <a:lstStyle/>
          <a:p>
            <a:r>
              <a:rPr lang="zh-CN" altLang="en-US" sz="1200" b="1" dirty="0">
                <a:solidFill>
                  <a:srgbClr val="C00000"/>
                </a:solidFill>
                <a:latin typeface="+mj-ea"/>
                <a:ea typeface="+mj-ea"/>
              </a:rPr>
              <a:t>入口队列</a:t>
            </a:r>
          </a:p>
        </p:txBody>
      </p:sp>
      <p:sp>
        <p:nvSpPr>
          <p:cNvPr id="109" name="TextBox 66"/>
          <p:cNvSpPr txBox="1"/>
          <p:nvPr/>
        </p:nvSpPr>
        <p:spPr>
          <a:xfrm>
            <a:off x="3719736" y="3430281"/>
            <a:ext cx="1344939" cy="461665"/>
          </a:xfrm>
          <a:prstGeom prst="rect">
            <a:avLst/>
          </a:prstGeom>
          <a:noFill/>
        </p:spPr>
        <p:txBody>
          <a:bodyPr wrap="square" rtlCol="0">
            <a:spAutoFit/>
          </a:bodyPr>
          <a:lstStyle/>
          <a:p>
            <a:pPr algn="r"/>
            <a:r>
              <a:rPr lang="zh-CN" altLang="en-US" sz="1200" b="1" dirty="0">
                <a:solidFill>
                  <a:srgbClr val="C00000"/>
                </a:solidFill>
                <a:latin typeface="+mj-ea"/>
                <a:ea typeface="+mj-ea"/>
              </a:rPr>
              <a:t>与条件变量相关的等待队列</a:t>
            </a:r>
          </a:p>
        </p:txBody>
      </p:sp>
      <p:sp>
        <p:nvSpPr>
          <p:cNvPr id="2" name="标题 1">
            <a:extLst>
              <a:ext uri="{FF2B5EF4-FFF2-40B4-BE49-F238E27FC236}">
                <a16:creationId xmlns:a16="http://schemas.microsoft.com/office/drawing/2014/main" id="{FE087254-3341-DE9A-E3ED-3965143010AB}"/>
              </a:ext>
            </a:extLst>
          </p:cNvPr>
          <p:cNvSpPr>
            <a:spLocks noGrp="1"/>
          </p:cNvSpPr>
          <p:nvPr>
            <p:ph type="title"/>
          </p:nvPr>
        </p:nvSpPr>
        <p:spPr/>
        <p:txBody>
          <a:bodyPr>
            <a:normAutofit/>
          </a:bodyPr>
          <a:lstStyle/>
          <a:p>
            <a:r>
              <a:rPr lang="zh-CN" altLang="en-US" dirty="0"/>
              <a:t>管程的组成</a:t>
            </a:r>
          </a:p>
        </p:txBody>
      </p:sp>
    </p:spTree>
    <p:extLst>
      <p:ext uri="{BB962C8B-B14F-4D97-AF65-F5344CB8AC3E}">
        <p14:creationId xmlns:p14="http://schemas.microsoft.com/office/powerpoint/2010/main" val="290226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wipe(left)">
                                      <p:cBhvr>
                                        <p:cTn id="7" dur="500"/>
                                        <p:tgtEl>
                                          <p:spTgt spid="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par>
                                <p:cTn id="13" presetID="22" presetClass="entr" presetSubtype="8" fill="hold" nodeType="with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wipe(left)">
                                      <p:cBhvr>
                                        <p:cTn id="15" dur="500"/>
                                        <p:tgtEl>
                                          <p:spTgt spid="68"/>
                                        </p:tgtEl>
                                      </p:cBhvr>
                                    </p:animEffect>
                                  </p:childTnLst>
                                </p:cTn>
                              </p:par>
                              <p:par>
                                <p:cTn id="16" presetID="1" presetClass="entr" presetSubtype="0" fill="hold" nodeType="withEffect">
                                  <p:stCondLst>
                                    <p:cond delay="0"/>
                                  </p:stCondLst>
                                  <p:childTnLst>
                                    <p:set>
                                      <p:cBhvr>
                                        <p:cTn id="17" dur="1" fill="hold">
                                          <p:stCondLst>
                                            <p:cond delay="0"/>
                                          </p:stCondLst>
                                        </p:cTn>
                                        <p:tgtEl>
                                          <p:spTgt spid="71"/>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08"/>
                                        </p:tgtEl>
                                        <p:attrNameLst>
                                          <p:attrName>style.visibility</p:attrName>
                                        </p:attrNameLst>
                                      </p:cBhvr>
                                      <p:to>
                                        <p:strVal val="visible"/>
                                      </p:to>
                                    </p:set>
                                  </p:childTnLst>
                                </p:cTn>
                              </p:par>
                              <p:par>
                                <p:cTn id="20" presetID="35" presetClass="emph" presetSubtype="0" repeatCount="indefinite" fill="hold" nodeType="withEffect">
                                  <p:stCondLst>
                                    <p:cond delay="0"/>
                                  </p:stCondLst>
                                  <p:endCondLst>
                                    <p:cond evt="onNext" delay="0">
                                      <p:tgtEl>
                                        <p:sldTgt/>
                                      </p:tgtEl>
                                    </p:cond>
                                  </p:endCondLst>
                                  <p:childTnLst>
                                    <p:anim calcmode="discrete" valueType="str">
                                      <p:cBhvr>
                                        <p:cTn id="21" dur="500" fill="hold"/>
                                        <p:tgtEl>
                                          <p:spTgt spid="71"/>
                                        </p:tgtEl>
                                        <p:attrNameLst>
                                          <p:attrName>style.visibility</p:attrName>
                                        </p:attrNameLst>
                                      </p:cBhvr>
                                      <p:tavLst>
                                        <p:tav tm="0">
                                          <p:val>
                                            <p:strVal val="hidden"/>
                                          </p:val>
                                        </p:tav>
                                        <p:tav tm="50000">
                                          <p:val>
                                            <p:strVal val="visible"/>
                                          </p:val>
                                        </p:tav>
                                      </p:tavLst>
                                    </p:anim>
                                  </p:childTnLst>
                                </p:cTn>
                              </p:par>
                              <p:par>
                                <p:cTn id="22" presetID="35" presetClass="emph" presetSubtype="0" repeatCount="indefinite" fill="hold" grpId="1" nodeType="withEffect">
                                  <p:stCondLst>
                                    <p:cond delay="0"/>
                                  </p:stCondLst>
                                  <p:endCondLst>
                                    <p:cond evt="onNext" delay="0">
                                      <p:tgtEl>
                                        <p:sldTgt/>
                                      </p:tgtEl>
                                    </p:cond>
                                  </p:endCondLst>
                                  <p:childTnLst>
                                    <p:anim calcmode="discrete" valueType="str">
                                      <p:cBhvr>
                                        <p:cTn id="23" dur="500" fill="hold"/>
                                        <p:tgtEl>
                                          <p:spTgt spid="108"/>
                                        </p:tgtEl>
                                        <p:attrNameLst>
                                          <p:attrName>style.visibility</p:attrName>
                                        </p:attrNameLst>
                                      </p:cBhvr>
                                      <p:tavLst>
                                        <p:tav tm="0">
                                          <p:val>
                                            <p:strVal val="hidden"/>
                                          </p:val>
                                        </p:tav>
                                        <p:tav tm="50000">
                                          <p:val>
                                            <p:strVal val="visible"/>
                                          </p:val>
                                        </p:tav>
                                      </p:tavLst>
                                    </p:anim>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nodeType="clickEffect">
                                  <p:stCondLst>
                                    <p:cond delay="0"/>
                                  </p:stCondLst>
                                  <p:childTnLst>
                                    <p:set>
                                      <p:cBhvr>
                                        <p:cTn id="27" dur="1" fill="hold">
                                          <p:stCondLst>
                                            <p:cond delay="0"/>
                                          </p:stCondLst>
                                        </p:cTn>
                                        <p:tgtEl>
                                          <p:spTgt spid="71"/>
                                        </p:tgtEl>
                                        <p:attrNameLst>
                                          <p:attrName>style.visibility</p:attrName>
                                        </p:attrNameLst>
                                      </p:cBhvr>
                                      <p:to>
                                        <p:strVal val="hidden"/>
                                      </p:to>
                                    </p:set>
                                  </p:childTnLst>
                                </p:cTn>
                              </p:par>
                              <p:par>
                                <p:cTn id="28" presetID="1" presetClass="exit" presetSubtype="0" fill="hold" grpId="2" nodeType="withEffect">
                                  <p:stCondLst>
                                    <p:cond delay="0"/>
                                  </p:stCondLst>
                                  <p:childTnLst>
                                    <p:set>
                                      <p:cBhvr>
                                        <p:cTn id="29" dur="1" fill="hold">
                                          <p:stCondLst>
                                            <p:cond delay="0"/>
                                          </p:stCondLst>
                                        </p:cTn>
                                        <p:tgtEl>
                                          <p:spTgt spid="108"/>
                                        </p:tgtEl>
                                        <p:attrNameLst>
                                          <p:attrName>style.visibility</p:attrName>
                                        </p:attrNameLst>
                                      </p:cBhvr>
                                      <p:to>
                                        <p:strVal val="hidden"/>
                                      </p:to>
                                    </p:set>
                                  </p:childTnLst>
                                </p:cTn>
                              </p:par>
                              <p:par>
                                <p:cTn id="30" presetID="22" presetClass="entr" presetSubtype="8" fill="hold"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500"/>
                                        <p:tgtEl>
                                          <p:spTgt spid="21"/>
                                        </p:tgtEl>
                                      </p:cBhvr>
                                    </p:animEffect>
                                  </p:childTnLst>
                                </p:cTn>
                              </p:par>
                              <p:par>
                                <p:cTn id="33" presetID="22" presetClass="entr" presetSubtype="8" fill="hold" nodeType="with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left)">
                                      <p:cBhvr>
                                        <p:cTn id="35" dur="500"/>
                                        <p:tgtEl>
                                          <p:spTgt spid="4"/>
                                        </p:tgtEl>
                                      </p:cBhvr>
                                    </p:animEffect>
                                  </p:childTnLst>
                                </p:cTn>
                              </p:par>
                              <p:par>
                                <p:cTn id="36" presetID="1" presetClass="entr" presetSubtype="0" fill="hold" nodeType="withEffect">
                                  <p:stCondLst>
                                    <p:cond delay="0"/>
                                  </p:stCondLst>
                                  <p:childTnLst>
                                    <p:set>
                                      <p:cBhvr>
                                        <p:cTn id="37" dur="1" fill="hold">
                                          <p:stCondLst>
                                            <p:cond delay="0"/>
                                          </p:stCondLst>
                                        </p:cTn>
                                        <p:tgtEl>
                                          <p:spTgt spid="85"/>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09"/>
                                        </p:tgtEl>
                                        <p:attrNameLst>
                                          <p:attrName>style.visibility</p:attrName>
                                        </p:attrNameLst>
                                      </p:cBhvr>
                                      <p:to>
                                        <p:strVal val="visible"/>
                                      </p:to>
                                    </p:set>
                                  </p:childTnLst>
                                </p:cTn>
                              </p:par>
                              <p:par>
                                <p:cTn id="40" presetID="35" presetClass="emph" presetSubtype="0" repeatCount="indefinite" fill="hold" nodeType="withEffect">
                                  <p:stCondLst>
                                    <p:cond delay="0"/>
                                  </p:stCondLst>
                                  <p:endCondLst>
                                    <p:cond evt="onNext" delay="0">
                                      <p:tgtEl>
                                        <p:sldTgt/>
                                      </p:tgtEl>
                                    </p:cond>
                                  </p:endCondLst>
                                  <p:childTnLst>
                                    <p:anim calcmode="discrete" valueType="str">
                                      <p:cBhvr>
                                        <p:cTn id="41" dur="500" fill="hold"/>
                                        <p:tgtEl>
                                          <p:spTgt spid="85"/>
                                        </p:tgtEl>
                                        <p:attrNameLst>
                                          <p:attrName>style.visibility</p:attrName>
                                        </p:attrNameLst>
                                      </p:cBhvr>
                                      <p:tavLst>
                                        <p:tav tm="0">
                                          <p:val>
                                            <p:strVal val="hidden"/>
                                          </p:val>
                                        </p:tav>
                                        <p:tav tm="50000">
                                          <p:val>
                                            <p:strVal val="visible"/>
                                          </p:val>
                                        </p:tav>
                                      </p:tavLst>
                                    </p:anim>
                                  </p:childTnLst>
                                </p:cTn>
                              </p:par>
                              <p:par>
                                <p:cTn id="42" presetID="35" presetClass="emph" presetSubtype="0" repeatCount="indefinite" fill="hold" grpId="1" nodeType="withEffect">
                                  <p:stCondLst>
                                    <p:cond delay="0"/>
                                  </p:stCondLst>
                                  <p:endCondLst>
                                    <p:cond evt="onNext" delay="0">
                                      <p:tgtEl>
                                        <p:sldTgt/>
                                      </p:tgtEl>
                                    </p:cond>
                                  </p:endCondLst>
                                  <p:childTnLst>
                                    <p:anim calcmode="discrete" valueType="str">
                                      <p:cBhvr>
                                        <p:cTn id="43" dur="500" fill="hold"/>
                                        <p:tgtEl>
                                          <p:spTgt spid="10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P spid="108" grpId="1"/>
      <p:bldP spid="108" grpId="2"/>
      <p:bldP spid="109" grpId="0"/>
      <p:bldP spid="109"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67408" y="2844125"/>
            <a:ext cx="5173176" cy="984250"/>
            <a:chOff x="827584" y="2214560"/>
            <a:chExt cx="5173176" cy="984250"/>
          </a:xfrm>
        </p:grpSpPr>
        <p:sp>
          <p:nvSpPr>
            <p:cNvPr id="15" name="内容占位符 2"/>
            <p:cNvSpPr txBox="1">
              <a:spLocks/>
            </p:cNvSpPr>
            <p:nvPr/>
          </p:nvSpPr>
          <p:spPr>
            <a:xfrm>
              <a:off x="1142976" y="2214560"/>
              <a:ext cx="1643074"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en-US" altLang="zh-CN" dirty="0"/>
                <a:t>Wait()</a:t>
              </a:r>
              <a:r>
                <a:rPr lang="zh-CN" altLang="en-US" dirty="0"/>
                <a:t>操作</a:t>
              </a:r>
            </a:p>
          </p:txBody>
        </p:sp>
        <p:sp>
          <p:nvSpPr>
            <p:cNvPr id="16" name="TextBox 15"/>
            <p:cNvSpPr txBox="1"/>
            <p:nvPr/>
          </p:nvSpPr>
          <p:spPr>
            <a:xfrm>
              <a:off x="827584" y="2214560"/>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pic>
          <p:nvPicPr>
            <p:cNvPr id="29" name="图片 28" descr="小点1.png"/>
            <p:cNvPicPr>
              <a:picLocks noChangeAspect="1"/>
            </p:cNvPicPr>
            <p:nvPr/>
          </p:nvPicPr>
          <p:blipFill>
            <a:blip r:embed="rId2" cstate="print"/>
            <a:stretch>
              <a:fillRect/>
            </a:stretch>
          </p:blipFill>
          <p:spPr>
            <a:xfrm>
              <a:off x="1262422" y="2651126"/>
              <a:ext cx="151066" cy="148997"/>
            </a:xfrm>
            <a:prstGeom prst="rect">
              <a:avLst/>
            </a:prstGeom>
            <a:effectLst/>
          </p:spPr>
        </p:pic>
        <p:sp>
          <p:nvSpPr>
            <p:cNvPr id="30" name="内容占位符 2"/>
            <p:cNvSpPr txBox="1">
              <a:spLocks/>
            </p:cNvSpPr>
            <p:nvPr/>
          </p:nvSpPr>
          <p:spPr>
            <a:xfrm>
              <a:off x="1394985" y="2546350"/>
              <a:ext cx="3534205" cy="35559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将自己阻塞在等待队列中</a:t>
              </a:r>
            </a:p>
          </p:txBody>
        </p:sp>
        <p:pic>
          <p:nvPicPr>
            <p:cNvPr id="27" name="图片 26" descr="小点1.png"/>
            <p:cNvPicPr>
              <a:picLocks noChangeAspect="1"/>
            </p:cNvPicPr>
            <p:nvPr/>
          </p:nvPicPr>
          <p:blipFill>
            <a:blip r:embed="rId2" cstate="print"/>
            <a:stretch>
              <a:fillRect/>
            </a:stretch>
          </p:blipFill>
          <p:spPr>
            <a:xfrm>
              <a:off x="1262422" y="2960686"/>
              <a:ext cx="151066" cy="148997"/>
            </a:xfrm>
            <a:prstGeom prst="rect">
              <a:avLst/>
            </a:prstGeom>
            <a:effectLst/>
          </p:spPr>
        </p:pic>
        <p:sp>
          <p:nvSpPr>
            <p:cNvPr id="28" name="内容占位符 2"/>
            <p:cNvSpPr txBox="1">
              <a:spLocks/>
            </p:cNvSpPr>
            <p:nvPr/>
          </p:nvSpPr>
          <p:spPr>
            <a:xfrm>
              <a:off x="1394986" y="2855910"/>
              <a:ext cx="4605774" cy="342900"/>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唤醒一个等待者或释放管程的互斥访问</a:t>
              </a:r>
            </a:p>
          </p:txBody>
        </p:sp>
      </p:grpSp>
      <p:grpSp>
        <p:nvGrpSpPr>
          <p:cNvPr id="6" name="组合 5"/>
          <p:cNvGrpSpPr/>
          <p:nvPr/>
        </p:nvGrpSpPr>
        <p:grpSpPr>
          <a:xfrm>
            <a:off x="767408" y="3799811"/>
            <a:ext cx="2101342" cy="428628"/>
            <a:chOff x="827584" y="3170246"/>
            <a:chExt cx="2101342" cy="428628"/>
          </a:xfrm>
        </p:grpSpPr>
        <p:sp>
          <p:nvSpPr>
            <p:cNvPr id="17" name="内容占位符 2"/>
            <p:cNvSpPr txBox="1">
              <a:spLocks/>
            </p:cNvSpPr>
            <p:nvPr/>
          </p:nvSpPr>
          <p:spPr>
            <a:xfrm>
              <a:off x="1142976" y="3170246"/>
              <a:ext cx="1785950"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en-US" altLang="zh-CN" dirty="0"/>
                <a:t>Signal()</a:t>
              </a:r>
              <a:r>
                <a:rPr lang="zh-CN" altLang="en-US" dirty="0"/>
                <a:t>操作</a:t>
              </a:r>
            </a:p>
          </p:txBody>
        </p:sp>
        <p:sp>
          <p:nvSpPr>
            <p:cNvPr id="18" name="TextBox 17"/>
            <p:cNvSpPr txBox="1"/>
            <p:nvPr/>
          </p:nvSpPr>
          <p:spPr>
            <a:xfrm>
              <a:off x="827584" y="3170246"/>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7" name="组合 6"/>
          <p:cNvGrpSpPr/>
          <p:nvPr/>
        </p:nvGrpSpPr>
        <p:grpSpPr>
          <a:xfrm>
            <a:off x="1202246" y="4131601"/>
            <a:ext cx="3666768" cy="355598"/>
            <a:chOff x="1262422" y="3502036"/>
            <a:chExt cx="3666768" cy="355598"/>
          </a:xfrm>
        </p:grpSpPr>
        <p:pic>
          <p:nvPicPr>
            <p:cNvPr id="19" name="图片 18" descr="小点1.png"/>
            <p:cNvPicPr>
              <a:picLocks noChangeAspect="1"/>
            </p:cNvPicPr>
            <p:nvPr/>
          </p:nvPicPr>
          <p:blipFill>
            <a:blip r:embed="rId2" cstate="print"/>
            <a:stretch>
              <a:fillRect/>
            </a:stretch>
          </p:blipFill>
          <p:spPr>
            <a:xfrm>
              <a:off x="1262422" y="3606812"/>
              <a:ext cx="151066" cy="148997"/>
            </a:xfrm>
            <a:prstGeom prst="rect">
              <a:avLst/>
            </a:prstGeom>
            <a:effectLst/>
          </p:spPr>
        </p:pic>
        <p:sp>
          <p:nvSpPr>
            <p:cNvPr id="20" name="内容占位符 2"/>
            <p:cNvSpPr txBox="1">
              <a:spLocks/>
            </p:cNvSpPr>
            <p:nvPr/>
          </p:nvSpPr>
          <p:spPr>
            <a:xfrm>
              <a:off x="1394985" y="3502036"/>
              <a:ext cx="3534205" cy="35559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将等待队列中的一个线程唤醒</a:t>
              </a:r>
            </a:p>
          </p:txBody>
        </p:sp>
      </p:grpSp>
      <p:grpSp>
        <p:nvGrpSpPr>
          <p:cNvPr id="5" name="组合 4"/>
          <p:cNvGrpSpPr/>
          <p:nvPr/>
        </p:nvGrpSpPr>
        <p:grpSpPr>
          <a:xfrm>
            <a:off x="1202246" y="4441161"/>
            <a:ext cx="4965762" cy="342900"/>
            <a:chOff x="1262422" y="3811596"/>
            <a:chExt cx="4965762" cy="342900"/>
          </a:xfrm>
        </p:grpSpPr>
        <p:pic>
          <p:nvPicPr>
            <p:cNvPr id="21" name="图片 20" descr="小点1.png"/>
            <p:cNvPicPr>
              <a:picLocks noChangeAspect="1"/>
            </p:cNvPicPr>
            <p:nvPr/>
          </p:nvPicPr>
          <p:blipFill>
            <a:blip r:embed="rId2" cstate="print"/>
            <a:stretch>
              <a:fillRect/>
            </a:stretch>
          </p:blipFill>
          <p:spPr>
            <a:xfrm>
              <a:off x="1262422" y="3916372"/>
              <a:ext cx="151066" cy="148997"/>
            </a:xfrm>
            <a:prstGeom prst="rect">
              <a:avLst/>
            </a:prstGeom>
            <a:effectLst/>
          </p:spPr>
        </p:pic>
        <p:sp>
          <p:nvSpPr>
            <p:cNvPr id="22" name="内容占位符 2"/>
            <p:cNvSpPr txBox="1">
              <a:spLocks/>
            </p:cNvSpPr>
            <p:nvPr/>
          </p:nvSpPr>
          <p:spPr>
            <a:xfrm>
              <a:off x="1394986" y="3811596"/>
              <a:ext cx="4833198" cy="342900"/>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如果等待队列为空，则等同空操作</a:t>
              </a:r>
            </a:p>
          </p:txBody>
        </p:sp>
      </p:grpSp>
      <p:grpSp>
        <p:nvGrpSpPr>
          <p:cNvPr id="2" name="组合 1"/>
          <p:cNvGrpSpPr/>
          <p:nvPr/>
        </p:nvGrpSpPr>
        <p:grpSpPr>
          <a:xfrm>
            <a:off x="767408" y="1628800"/>
            <a:ext cx="6294176" cy="1215327"/>
            <a:chOff x="827584" y="999233"/>
            <a:chExt cx="6294176" cy="1215327"/>
          </a:xfrm>
        </p:grpSpPr>
        <p:sp>
          <p:nvSpPr>
            <p:cNvPr id="9" name="内容占位符 2"/>
            <p:cNvSpPr txBox="1">
              <a:spLocks/>
            </p:cNvSpPr>
            <p:nvPr/>
          </p:nvSpPr>
          <p:spPr>
            <a:xfrm>
              <a:off x="1100448" y="999233"/>
              <a:ext cx="6021312" cy="714380"/>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a:spcBef>
                  <a:spcPct val="20000"/>
                </a:spcBef>
              </a:pPr>
              <a:r>
                <a:rPr lang="zh-CN" altLang="en-US" dirty="0"/>
                <a:t>条件变量是管程内的等待机制</a:t>
              </a:r>
              <a:endParaRPr lang="en-US" altLang="zh-CN" dirty="0"/>
            </a:p>
            <a:p>
              <a:pPr marL="0" indent="0">
                <a:spcBef>
                  <a:spcPct val="20000"/>
                </a:spcBef>
              </a:pPr>
              <a:r>
                <a:rPr lang="zh-CN" altLang="en-US" dirty="0"/>
                <a:t>    进入管程的线程因资源被占用而进入等待状态</a:t>
              </a:r>
            </a:p>
          </p:txBody>
        </p:sp>
        <p:sp>
          <p:nvSpPr>
            <p:cNvPr id="12" name="TextBox 11"/>
            <p:cNvSpPr txBox="1"/>
            <p:nvPr/>
          </p:nvSpPr>
          <p:spPr>
            <a:xfrm>
              <a:off x="827584" y="100011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pic>
          <p:nvPicPr>
            <p:cNvPr id="13" name="图片 12" descr="小点1.png"/>
            <p:cNvPicPr>
              <a:picLocks noChangeAspect="1"/>
            </p:cNvPicPr>
            <p:nvPr/>
          </p:nvPicPr>
          <p:blipFill>
            <a:blip r:embed="rId2" cstate="print"/>
            <a:stretch>
              <a:fillRect/>
            </a:stretch>
          </p:blipFill>
          <p:spPr>
            <a:xfrm>
              <a:off x="1262422" y="1762346"/>
              <a:ext cx="151066" cy="148997"/>
            </a:xfrm>
            <a:prstGeom prst="rect">
              <a:avLst/>
            </a:prstGeom>
            <a:effectLst/>
          </p:spPr>
        </p:pic>
        <p:sp>
          <p:nvSpPr>
            <p:cNvPr id="14" name="内容占位符 2"/>
            <p:cNvSpPr txBox="1">
              <a:spLocks/>
            </p:cNvSpPr>
            <p:nvPr/>
          </p:nvSpPr>
          <p:spPr>
            <a:xfrm>
              <a:off x="1394985" y="1657570"/>
              <a:ext cx="5320155" cy="556990"/>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lvl="1" indent="0">
                <a:lnSpc>
                  <a:spcPct val="90000"/>
                </a:lnSpc>
              </a:pPr>
              <a:r>
                <a:rPr lang="zh-CN" altLang="en-US" dirty="0"/>
                <a:t>每个条件变量表示一种等待原因，对应一个等待队列</a:t>
              </a:r>
            </a:p>
          </p:txBody>
        </p:sp>
        <p:pic>
          <p:nvPicPr>
            <p:cNvPr id="23" name="图片 22" descr="小点1.png"/>
            <p:cNvPicPr>
              <a:picLocks noChangeAspect="1"/>
            </p:cNvPicPr>
            <p:nvPr/>
          </p:nvPicPr>
          <p:blipFill>
            <a:blip r:embed="rId2" cstate="print"/>
            <a:stretch>
              <a:fillRect/>
            </a:stretch>
          </p:blipFill>
          <p:spPr>
            <a:xfrm>
              <a:off x="1259632" y="1491630"/>
              <a:ext cx="151066" cy="148997"/>
            </a:xfrm>
            <a:prstGeom prst="rect">
              <a:avLst/>
            </a:prstGeom>
            <a:effectLst/>
          </p:spPr>
        </p:pic>
      </p:grpSp>
      <p:sp>
        <p:nvSpPr>
          <p:cNvPr id="4" name="文本框 3">
            <a:extLst>
              <a:ext uri="{FF2B5EF4-FFF2-40B4-BE49-F238E27FC236}">
                <a16:creationId xmlns:a16="http://schemas.microsoft.com/office/drawing/2014/main" id="{6E812A54-3230-9552-2A19-30E783D63393}"/>
              </a:ext>
            </a:extLst>
          </p:cNvPr>
          <p:cNvSpPr txBox="1"/>
          <p:nvPr/>
        </p:nvSpPr>
        <p:spPr>
          <a:xfrm>
            <a:off x="7752184" y="2237613"/>
            <a:ext cx="3024336" cy="2308324"/>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管程的设计思路是面向对象的编程方法与操作系统的权限管理的结合</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操作系统负责管理线程的状态</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用一个变量与线程紧密绑定，并且不许其他线程访问和操作</a:t>
            </a:r>
          </a:p>
        </p:txBody>
      </p:sp>
      <p:sp>
        <p:nvSpPr>
          <p:cNvPr id="10" name="标题 9">
            <a:extLst>
              <a:ext uri="{FF2B5EF4-FFF2-40B4-BE49-F238E27FC236}">
                <a16:creationId xmlns:a16="http://schemas.microsoft.com/office/drawing/2014/main" id="{89082796-1D33-699B-6190-49C7AE7BE5DD}"/>
              </a:ext>
            </a:extLst>
          </p:cNvPr>
          <p:cNvSpPr>
            <a:spLocks noGrp="1"/>
          </p:cNvSpPr>
          <p:nvPr>
            <p:ph type="title"/>
          </p:nvPr>
        </p:nvSpPr>
        <p:spPr/>
        <p:txBody>
          <a:bodyPr>
            <a:normAutofit/>
          </a:bodyPr>
          <a:lstStyle/>
          <a:p>
            <a:r>
              <a:rPr lang="zh-CN" altLang="en-US" dirty="0"/>
              <a:t>条件变量（</a:t>
            </a:r>
            <a:r>
              <a:rPr lang="en-US" altLang="zh-CN" dirty="0"/>
              <a:t>Condition Variable</a:t>
            </a:r>
            <a:r>
              <a:rPr lang="zh-CN" altLang="en-US" dirty="0"/>
              <a:t>）</a:t>
            </a:r>
          </a:p>
        </p:txBody>
      </p:sp>
    </p:spTree>
    <p:extLst>
      <p:ext uri="{BB962C8B-B14F-4D97-AF65-F5344CB8AC3E}">
        <p14:creationId xmlns:p14="http://schemas.microsoft.com/office/powerpoint/2010/main" val="3887482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down)">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Box 6"/>
          <p:cNvSpPr txBox="1">
            <a:spLocks noChangeArrowheads="1"/>
          </p:cNvSpPr>
          <p:nvPr/>
        </p:nvSpPr>
        <p:spPr bwMode="auto">
          <a:xfrm>
            <a:off x="1703513" y="3216151"/>
            <a:ext cx="3672408"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Condition::Wait(lock){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4" name="Text Box 7"/>
          <p:cNvSpPr txBox="1">
            <a:spLocks noChangeArrowheads="1"/>
          </p:cNvSpPr>
          <p:nvPr/>
        </p:nvSpPr>
        <p:spPr bwMode="auto">
          <a:xfrm>
            <a:off x="5476163" y="3216151"/>
            <a:ext cx="4508271"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Condition::Signal(){</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5" name="Text Box 8"/>
          <p:cNvSpPr txBox="1">
            <a:spLocks noChangeArrowheads="1"/>
          </p:cNvSpPr>
          <p:nvPr/>
        </p:nvSpPr>
        <p:spPr bwMode="auto">
          <a:xfrm>
            <a:off x="3965243" y="1793751"/>
            <a:ext cx="2994855" cy="1077218"/>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Class Condition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int</a:t>
            </a: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 0;</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WaitQueue</a:t>
            </a:r>
            <a:r>
              <a:rPr lang="en-US" altLang="zh-CN" sz="1600" b="1" dirty="0">
                <a:latin typeface="Courier New" panose="02070309020205020404" pitchFamily="49" charset="0"/>
                <a:ea typeface="+mn-ea"/>
                <a:cs typeface="Courier New" panose="02070309020205020404" pitchFamily="49" charset="0"/>
              </a:rPr>
              <a:t>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 name="标题 1">
            <a:extLst>
              <a:ext uri="{FF2B5EF4-FFF2-40B4-BE49-F238E27FC236}">
                <a16:creationId xmlns:a16="http://schemas.microsoft.com/office/drawing/2014/main" id="{1B657EE1-985C-7847-2993-DA20DC0CD5AA}"/>
              </a:ext>
            </a:extLst>
          </p:cNvPr>
          <p:cNvSpPr>
            <a:spLocks noGrp="1"/>
          </p:cNvSpPr>
          <p:nvPr>
            <p:ph type="title"/>
          </p:nvPr>
        </p:nvSpPr>
        <p:spPr/>
        <p:txBody>
          <a:bodyPr>
            <a:normAutofit/>
          </a:bodyPr>
          <a:lstStyle/>
          <a:p>
            <a:r>
              <a:rPr lang="zh-CN" altLang="en-US" dirty="0"/>
              <a:t>条件变量实现</a:t>
            </a:r>
          </a:p>
        </p:txBody>
      </p:sp>
    </p:spTree>
    <p:extLst>
      <p:ext uri="{BB962C8B-B14F-4D97-AF65-F5344CB8AC3E}">
        <p14:creationId xmlns:p14="http://schemas.microsoft.com/office/powerpoint/2010/main" val="1415932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Box 6"/>
          <p:cNvSpPr txBox="1">
            <a:spLocks noChangeArrowheads="1"/>
          </p:cNvSpPr>
          <p:nvPr/>
        </p:nvSpPr>
        <p:spPr bwMode="auto">
          <a:xfrm>
            <a:off x="1703513" y="3216151"/>
            <a:ext cx="3672408"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Condition::Wait(lock){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4" name="Text Box 7"/>
          <p:cNvSpPr txBox="1">
            <a:spLocks noChangeArrowheads="1"/>
          </p:cNvSpPr>
          <p:nvPr/>
        </p:nvSpPr>
        <p:spPr bwMode="auto">
          <a:xfrm>
            <a:off x="5476163" y="3216151"/>
            <a:ext cx="4508271"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Condition::Signal(){</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5" name="Text Box 8"/>
          <p:cNvSpPr txBox="1">
            <a:spLocks noChangeArrowheads="1"/>
          </p:cNvSpPr>
          <p:nvPr/>
        </p:nvSpPr>
        <p:spPr bwMode="auto">
          <a:xfrm>
            <a:off x="3965243" y="1793751"/>
            <a:ext cx="2994855" cy="1077218"/>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Class Condition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int</a:t>
            </a: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 0;</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WaitQueue</a:t>
            </a:r>
            <a:r>
              <a:rPr lang="en-US" altLang="zh-CN" sz="1600" b="1" dirty="0">
                <a:latin typeface="Courier New" panose="02070309020205020404" pitchFamily="49" charset="0"/>
                <a:ea typeface="+mn-ea"/>
                <a:cs typeface="Courier New" panose="02070309020205020404" pitchFamily="49" charset="0"/>
              </a:rPr>
              <a:t>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4" name="标题 1">
            <a:extLst>
              <a:ext uri="{FF2B5EF4-FFF2-40B4-BE49-F238E27FC236}">
                <a16:creationId xmlns:a16="http://schemas.microsoft.com/office/drawing/2014/main" id="{62BB6134-2BB1-BA7B-26AA-BC8B02C9A54A}"/>
              </a:ext>
            </a:extLst>
          </p:cNvPr>
          <p:cNvSpPr>
            <a:spLocks noGrp="1"/>
          </p:cNvSpPr>
          <p:nvPr>
            <p:ph type="title"/>
          </p:nvPr>
        </p:nvSpPr>
        <p:spPr>
          <a:xfrm>
            <a:off x="695400" y="871855"/>
            <a:ext cx="10801200" cy="680403"/>
          </a:xfrm>
        </p:spPr>
        <p:txBody>
          <a:bodyPr>
            <a:normAutofit/>
          </a:bodyPr>
          <a:lstStyle/>
          <a:p>
            <a:r>
              <a:rPr lang="zh-CN" altLang="en-US" dirty="0"/>
              <a:t>条件变量实现</a:t>
            </a:r>
          </a:p>
        </p:txBody>
      </p:sp>
    </p:spTree>
    <p:extLst>
      <p:ext uri="{BB962C8B-B14F-4D97-AF65-F5344CB8AC3E}">
        <p14:creationId xmlns:p14="http://schemas.microsoft.com/office/powerpoint/2010/main" val="1615945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Box 6"/>
          <p:cNvSpPr txBox="1">
            <a:spLocks noChangeArrowheads="1"/>
          </p:cNvSpPr>
          <p:nvPr/>
        </p:nvSpPr>
        <p:spPr bwMode="auto">
          <a:xfrm>
            <a:off x="1703513" y="3216151"/>
            <a:ext cx="3672408"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Condition::Wait(lock){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Add this thread t  to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4" name="Text Box 7"/>
          <p:cNvSpPr txBox="1">
            <a:spLocks noChangeArrowheads="1"/>
          </p:cNvSpPr>
          <p:nvPr/>
        </p:nvSpPr>
        <p:spPr bwMode="auto">
          <a:xfrm>
            <a:off x="5476163" y="3216151"/>
            <a:ext cx="4508271"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Condition::Signal(){</a:t>
            </a: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5" name="Text Box 8"/>
          <p:cNvSpPr txBox="1">
            <a:spLocks noChangeArrowheads="1"/>
          </p:cNvSpPr>
          <p:nvPr/>
        </p:nvSpPr>
        <p:spPr bwMode="auto">
          <a:xfrm>
            <a:off x="3965243" y="1793751"/>
            <a:ext cx="2994855" cy="1077218"/>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Class Condition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int</a:t>
            </a: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 0;</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WaitQueue</a:t>
            </a:r>
            <a:r>
              <a:rPr lang="en-US" altLang="zh-CN" sz="1600" b="1" dirty="0">
                <a:latin typeface="Courier New" panose="02070309020205020404" pitchFamily="49" charset="0"/>
                <a:ea typeface="+mn-ea"/>
                <a:cs typeface="Courier New" panose="02070309020205020404" pitchFamily="49" charset="0"/>
              </a:rPr>
              <a:t>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5" name="标题 1">
            <a:extLst>
              <a:ext uri="{FF2B5EF4-FFF2-40B4-BE49-F238E27FC236}">
                <a16:creationId xmlns:a16="http://schemas.microsoft.com/office/drawing/2014/main" id="{4E42A76F-E5DA-2E78-5927-79E7364F70AE}"/>
              </a:ext>
            </a:extLst>
          </p:cNvPr>
          <p:cNvSpPr>
            <a:spLocks noGrp="1"/>
          </p:cNvSpPr>
          <p:nvPr>
            <p:ph type="title"/>
          </p:nvPr>
        </p:nvSpPr>
        <p:spPr>
          <a:xfrm>
            <a:off x="695400" y="871855"/>
            <a:ext cx="10801200" cy="680403"/>
          </a:xfrm>
        </p:spPr>
        <p:txBody>
          <a:bodyPr>
            <a:normAutofit/>
          </a:bodyPr>
          <a:lstStyle/>
          <a:p>
            <a:r>
              <a:rPr lang="zh-CN" altLang="en-US" dirty="0"/>
              <a:t>条件变量实现</a:t>
            </a:r>
          </a:p>
        </p:txBody>
      </p:sp>
    </p:spTree>
    <p:extLst>
      <p:ext uri="{BB962C8B-B14F-4D97-AF65-F5344CB8AC3E}">
        <p14:creationId xmlns:p14="http://schemas.microsoft.com/office/powerpoint/2010/main" val="698513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Box 6"/>
          <p:cNvSpPr txBox="1">
            <a:spLocks noChangeArrowheads="1"/>
          </p:cNvSpPr>
          <p:nvPr/>
        </p:nvSpPr>
        <p:spPr bwMode="auto">
          <a:xfrm>
            <a:off x="1703513" y="3216151"/>
            <a:ext cx="3672408"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Condition::Wait(lock){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Add this thread t  to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release(lock);</a:t>
            </a:r>
          </a:p>
          <a:p>
            <a:r>
              <a:rPr lang="en-US" altLang="zh-CN" sz="1600" b="1" dirty="0">
                <a:latin typeface="Courier New" panose="02070309020205020404" pitchFamily="49" charset="0"/>
                <a:ea typeface="+mn-ea"/>
                <a:cs typeface="Courier New" panose="02070309020205020404" pitchFamily="49" charset="0"/>
              </a:rPr>
              <a:t>    </a:t>
            </a:r>
            <a:r>
              <a:rPr lang="en-US" altLang="zh-CN" sz="1600" b="1" dirty="0">
                <a:latin typeface="Courier New" panose="02070309020205020404" pitchFamily="49" charset="0"/>
                <a:cs typeface="Courier New" panose="02070309020205020404" pitchFamily="49" charset="0"/>
              </a:rPr>
              <a:t>schedule(); //need </a:t>
            </a:r>
            <a:r>
              <a:rPr lang="en-US" altLang="zh-CN" sz="1600" b="1" dirty="0" err="1">
                <a:latin typeface="Courier New" panose="02070309020205020404" pitchFamily="49" charset="0"/>
                <a:cs typeface="Courier New" panose="02070309020205020404" pitchFamily="49" charset="0"/>
              </a:rPr>
              <a:t>mutex</a:t>
            </a: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4" name="Text Box 7"/>
          <p:cNvSpPr txBox="1">
            <a:spLocks noChangeArrowheads="1"/>
          </p:cNvSpPr>
          <p:nvPr/>
        </p:nvSpPr>
        <p:spPr bwMode="auto">
          <a:xfrm>
            <a:off x="5476163" y="3216151"/>
            <a:ext cx="4508271"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Condition::Signal(){</a:t>
            </a: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5" name="Text Box 8"/>
          <p:cNvSpPr txBox="1">
            <a:spLocks noChangeArrowheads="1"/>
          </p:cNvSpPr>
          <p:nvPr/>
        </p:nvSpPr>
        <p:spPr bwMode="auto">
          <a:xfrm>
            <a:off x="3965243" y="1793751"/>
            <a:ext cx="2994855" cy="1077218"/>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Class Condition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int</a:t>
            </a: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 0;</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WaitQueue</a:t>
            </a:r>
            <a:r>
              <a:rPr lang="en-US" altLang="zh-CN" sz="1600" b="1" dirty="0">
                <a:latin typeface="Courier New" panose="02070309020205020404" pitchFamily="49" charset="0"/>
                <a:ea typeface="+mn-ea"/>
                <a:cs typeface="Courier New" panose="02070309020205020404" pitchFamily="49" charset="0"/>
              </a:rPr>
              <a:t>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6" name="标题 1">
            <a:extLst>
              <a:ext uri="{FF2B5EF4-FFF2-40B4-BE49-F238E27FC236}">
                <a16:creationId xmlns:a16="http://schemas.microsoft.com/office/drawing/2014/main" id="{B51B8C42-1882-E8FF-8323-18BCF8679D5F}"/>
              </a:ext>
            </a:extLst>
          </p:cNvPr>
          <p:cNvSpPr>
            <a:spLocks noGrp="1"/>
          </p:cNvSpPr>
          <p:nvPr>
            <p:ph type="title"/>
          </p:nvPr>
        </p:nvSpPr>
        <p:spPr>
          <a:xfrm>
            <a:off x="695400" y="871855"/>
            <a:ext cx="10801200" cy="680403"/>
          </a:xfrm>
        </p:spPr>
        <p:txBody>
          <a:bodyPr>
            <a:normAutofit/>
          </a:bodyPr>
          <a:lstStyle/>
          <a:p>
            <a:r>
              <a:rPr lang="zh-CN" altLang="en-US" dirty="0"/>
              <a:t>条件变量实现</a:t>
            </a:r>
          </a:p>
        </p:txBody>
      </p:sp>
    </p:spTree>
    <p:extLst>
      <p:ext uri="{BB962C8B-B14F-4D97-AF65-F5344CB8AC3E}">
        <p14:creationId xmlns:p14="http://schemas.microsoft.com/office/powerpoint/2010/main" val="1332931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Box 6"/>
          <p:cNvSpPr txBox="1">
            <a:spLocks noChangeArrowheads="1"/>
          </p:cNvSpPr>
          <p:nvPr/>
        </p:nvSpPr>
        <p:spPr bwMode="auto">
          <a:xfrm>
            <a:off x="1703513" y="3216151"/>
            <a:ext cx="3672408"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Condition::Wait(lock){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Add this thread t  to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release(lock);</a:t>
            </a:r>
          </a:p>
          <a:p>
            <a:r>
              <a:rPr lang="en-US" altLang="zh-CN" sz="1600" b="1" dirty="0">
                <a:latin typeface="Courier New" panose="02070309020205020404" pitchFamily="49" charset="0"/>
                <a:ea typeface="+mn-ea"/>
                <a:cs typeface="Courier New" panose="02070309020205020404" pitchFamily="49" charset="0"/>
              </a:rPr>
              <a:t>    </a:t>
            </a:r>
            <a:r>
              <a:rPr lang="en-US" altLang="zh-CN" sz="1600" b="1" dirty="0">
                <a:latin typeface="Courier New" panose="02070309020205020404" pitchFamily="49" charset="0"/>
                <a:cs typeface="Courier New" panose="02070309020205020404" pitchFamily="49" charset="0"/>
              </a:rPr>
              <a:t>schedule(); //need </a:t>
            </a:r>
            <a:r>
              <a:rPr lang="en-US" altLang="zh-CN" sz="1600" b="1" dirty="0" err="1">
                <a:latin typeface="Courier New" panose="02070309020205020404" pitchFamily="49" charset="0"/>
                <a:cs typeface="Courier New" panose="02070309020205020404" pitchFamily="49" charset="0"/>
              </a:rPr>
              <a:t>mutex</a:t>
            </a: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require(lock);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4" name="Text Box 7"/>
          <p:cNvSpPr txBox="1">
            <a:spLocks noChangeArrowheads="1"/>
          </p:cNvSpPr>
          <p:nvPr/>
        </p:nvSpPr>
        <p:spPr bwMode="auto">
          <a:xfrm>
            <a:off x="5476163" y="3216151"/>
            <a:ext cx="4508271"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Condition::Signal(){</a:t>
            </a: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5" name="Text Box 8"/>
          <p:cNvSpPr txBox="1">
            <a:spLocks noChangeArrowheads="1"/>
          </p:cNvSpPr>
          <p:nvPr/>
        </p:nvSpPr>
        <p:spPr bwMode="auto">
          <a:xfrm>
            <a:off x="3965243" y="1793751"/>
            <a:ext cx="2994855" cy="1077218"/>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Class Condition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int</a:t>
            </a: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 0;</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WaitQueue</a:t>
            </a:r>
            <a:r>
              <a:rPr lang="en-US" altLang="zh-CN" sz="1600" b="1" dirty="0">
                <a:latin typeface="Courier New" panose="02070309020205020404" pitchFamily="49" charset="0"/>
                <a:ea typeface="+mn-ea"/>
                <a:cs typeface="Courier New" panose="02070309020205020404" pitchFamily="49" charset="0"/>
              </a:rPr>
              <a:t>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5" name="标题 1">
            <a:extLst>
              <a:ext uri="{FF2B5EF4-FFF2-40B4-BE49-F238E27FC236}">
                <a16:creationId xmlns:a16="http://schemas.microsoft.com/office/drawing/2014/main" id="{98F98752-5246-8149-B401-4AE4A6D36C4D}"/>
              </a:ext>
            </a:extLst>
          </p:cNvPr>
          <p:cNvSpPr>
            <a:spLocks noGrp="1"/>
          </p:cNvSpPr>
          <p:nvPr>
            <p:ph type="title"/>
          </p:nvPr>
        </p:nvSpPr>
        <p:spPr>
          <a:xfrm>
            <a:off x="695400" y="871855"/>
            <a:ext cx="10801200" cy="680403"/>
          </a:xfrm>
        </p:spPr>
        <p:txBody>
          <a:bodyPr>
            <a:normAutofit/>
          </a:bodyPr>
          <a:lstStyle/>
          <a:p>
            <a:r>
              <a:rPr lang="zh-CN" altLang="en-US" dirty="0"/>
              <a:t>条件变量实现</a:t>
            </a:r>
          </a:p>
        </p:txBody>
      </p:sp>
    </p:spTree>
    <p:extLst>
      <p:ext uri="{BB962C8B-B14F-4D97-AF65-F5344CB8AC3E}">
        <p14:creationId xmlns:p14="http://schemas.microsoft.com/office/powerpoint/2010/main" val="24126665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Box 6"/>
          <p:cNvSpPr txBox="1">
            <a:spLocks noChangeArrowheads="1"/>
          </p:cNvSpPr>
          <p:nvPr/>
        </p:nvSpPr>
        <p:spPr bwMode="auto">
          <a:xfrm>
            <a:off x="1703513" y="3216151"/>
            <a:ext cx="3672408"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Condition::Wait(lock){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Add this thread t  to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release(lock);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schedule(); //need </a:t>
            </a:r>
            <a:r>
              <a:rPr lang="en-US" altLang="zh-CN" sz="1600" b="1" dirty="0" err="1">
                <a:latin typeface="Courier New" panose="02070309020205020404" pitchFamily="49" charset="0"/>
                <a:ea typeface="+mn-ea"/>
                <a:cs typeface="Courier New" panose="02070309020205020404" pitchFamily="49" charset="0"/>
              </a:rPr>
              <a:t>mutex</a:t>
            </a: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require(lock);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4" name="Text Box 7"/>
          <p:cNvSpPr txBox="1">
            <a:spLocks noChangeArrowheads="1"/>
          </p:cNvSpPr>
          <p:nvPr/>
        </p:nvSpPr>
        <p:spPr bwMode="auto">
          <a:xfrm>
            <a:off x="5476163" y="3216151"/>
            <a:ext cx="4508271"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Condition::Signal(){</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if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&gt; 0) {</a:t>
            </a: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5" name="Text Box 8"/>
          <p:cNvSpPr txBox="1">
            <a:spLocks noChangeArrowheads="1"/>
          </p:cNvSpPr>
          <p:nvPr/>
        </p:nvSpPr>
        <p:spPr bwMode="auto">
          <a:xfrm>
            <a:off x="3965243" y="1793751"/>
            <a:ext cx="2994855" cy="1077218"/>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Class Condition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int</a:t>
            </a: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 0;</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WaitQueue</a:t>
            </a:r>
            <a:r>
              <a:rPr lang="en-US" altLang="zh-CN" sz="1600" b="1" dirty="0">
                <a:latin typeface="Courier New" panose="02070309020205020404" pitchFamily="49" charset="0"/>
                <a:ea typeface="+mn-ea"/>
                <a:cs typeface="Courier New" panose="02070309020205020404" pitchFamily="49" charset="0"/>
              </a:rPr>
              <a:t>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4" name="标题 1">
            <a:extLst>
              <a:ext uri="{FF2B5EF4-FFF2-40B4-BE49-F238E27FC236}">
                <a16:creationId xmlns:a16="http://schemas.microsoft.com/office/drawing/2014/main" id="{3CF0B04E-B00F-71AA-A237-D89B805D529F}"/>
              </a:ext>
            </a:extLst>
          </p:cNvPr>
          <p:cNvSpPr>
            <a:spLocks noGrp="1"/>
          </p:cNvSpPr>
          <p:nvPr>
            <p:ph type="title"/>
          </p:nvPr>
        </p:nvSpPr>
        <p:spPr>
          <a:xfrm>
            <a:off x="695400" y="871855"/>
            <a:ext cx="10801200" cy="680403"/>
          </a:xfrm>
        </p:spPr>
        <p:txBody>
          <a:bodyPr>
            <a:normAutofit/>
          </a:bodyPr>
          <a:lstStyle/>
          <a:p>
            <a:r>
              <a:rPr lang="zh-CN" altLang="en-US" dirty="0"/>
              <a:t>条件变量实现</a:t>
            </a:r>
          </a:p>
        </p:txBody>
      </p:sp>
    </p:spTree>
    <p:extLst>
      <p:ext uri="{BB962C8B-B14F-4D97-AF65-F5344CB8AC3E}">
        <p14:creationId xmlns:p14="http://schemas.microsoft.com/office/powerpoint/2010/main" val="18792201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Box 6"/>
          <p:cNvSpPr txBox="1">
            <a:spLocks noChangeArrowheads="1"/>
          </p:cNvSpPr>
          <p:nvPr/>
        </p:nvSpPr>
        <p:spPr bwMode="auto">
          <a:xfrm>
            <a:off x="1703513" y="3216151"/>
            <a:ext cx="3672408"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Condition::Wait(lock){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Add this thread t  to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release(lock);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schedule(); //need </a:t>
            </a:r>
            <a:r>
              <a:rPr lang="en-US" altLang="zh-CN" sz="1600" b="1" dirty="0" err="1">
                <a:latin typeface="Courier New" panose="02070309020205020404" pitchFamily="49" charset="0"/>
                <a:ea typeface="+mn-ea"/>
                <a:cs typeface="Courier New" panose="02070309020205020404" pitchFamily="49" charset="0"/>
              </a:rPr>
              <a:t>mutex</a:t>
            </a: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require(lock);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4" name="Text Box 7"/>
          <p:cNvSpPr txBox="1">
            <a:spLocks noChangeArrowheads="1"/>
          </p:cNvSpPr>
          <p:nvPr/>
        </p:nvSpPr>
        <p:spPr bwMode="auto">
          <a:xfrm>
            <a:off x="5476163" y="3216151"/>
            <a:ext cx="4508271"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Condition::Signal(){</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if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&gt; 0)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Remove a thread t from q;</a:t>
            </a: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5" name="Text Box 8"/>
          <p:cNvSpPr txBox="1">
            <a:spLocks noChangeArrowheads="1"/>
          </p:cNvSpPr>
          <p:nvPr/>
        </p:nvSpPr>
        <p:spPr bwMode="auto">
          <a:xfrm>
            <a:off x="3965243" y="1793751"/>
            <a:ext cx="2994855" cy="1077218"/>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Class Condition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int</a:t>
            </a: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 0;</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WaitQueue</a:t>
            </a:r>
            <a:r>
              <a:rPr lang="en-US" altLang="zh-CN" sz="1600" b="1" dirty="0">
                <a:latin typeface="Courier New" panose="02070309020205020404" pitchFamily="49" charset="0"/>
                <a:ea typeface="+mn-ea"/>
                <a:cs typeface="Courier New" panose="02070309020205020404" pitchFamily="49" charset="0"/>
              </a:rPr>
              <a:t>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4" name="标题 1">
            <a:extLst>
              <a:ext uri="{FF2B5EF4-FFF2-40B4-BE49-F238E27FC236}">
                <a16:creationId xmlns:a16="http://schemas.microsoft.com/office/drawing/2014/main" id="{8C769C62-14AD-1E46-C13F-A892F8E67E30}"/>
              </a:ext>
            </a:extLst>
          </p:cNvPr>
          <p:cNvSpPr>
            <a:spLocks noGrp="1"/>
          </p:cNvSpPr>
          <p:nvPr>
            <p:ph type="title"/>
          </p:nvPr>
        </p:nvSpPr>
        <p:spPr>
          <a:xfrm>
            <a:off x="695400" y="871855"/>
            <a:ext cx="10801200" cy="680403"/>
          </a:xfrm>
        </p:spPr>
        <p:txBody>
          <a:bodyPr>
            <a:normAutofit/>
          </a:bodyPr>
          <a:lstStyle/>
          <a:p>
            <a:r>
              <a:rPr lang="zh-CN" altLang="en-US" dirty="0"/>
              <a:t>条件变量实现</a:t>
            </a:r>
          </a:p>
        </p:txBody>
      </p:sp>
    </p:spTree>
    <p:extLst>
      <p:ext uri="{BB962C8B-B14F-4D97-AF65-F5344CB8AC3E}">
        <p14:creationId xmlns:p14="http://schemas.microsoft.com/office/powerpoint/2010/main" val="81978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Box 6"/>
          <p:cNvSpPr txBox="1">
            <a:spLocks noChangeArrowheads="1"/>
          </p:cNvSpPr>
          <p:nvPr/>
        </p:nvSpPr>
        <p:spPr bwMode="auto">
          <a:xfrm>
            <a:off x="1703513" y="3216151"/>
            <a:ext cx="3672408"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Condition::Wait(lock){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Add this thread t  to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release(lock);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schedule(); //need </a:t>
            </a:r>
            <a:r>
              <a:rPr lang="en-US" altLang="zh-CN" sz="1600" b="1" dirty="0" err="1">
                <a:latin typeface="Courier New" panose="02070309020205020404" pitchFamily="49" charset="0"/>
                <a:ea typeface="+mn-ea"/>
                <a:cs typeface="Courier New" panose="02070309020205020404" pitchFamily="49" charset="0"/>
              </a:rPr>
              <a:t>mutex</a:t>
            </a: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require(lock);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4" name="Text Box 7"/>
          <p:cNvSpPr txBox="1">
            <a:spLocks noChangeArrowheads="1"/>
          </p:cNvSpPr>
          <p:nvPr/>
        </p:nvSpPr>
        <p:spPr bwMode="auto">
          <a:xfrm>
            <a:off x="5476163" y="3216151"/>
            <a:ext cx="4508271"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Condition::Signal(){</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if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&gt; 0)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Remove a thread t from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wakeup(t); //need </a:t>
            </a:r>
            <a:r>
              <a:rPr lang="en-US" altLang="zh-CN" sz="1600" b="1" dirty="0" err="1">
                <a:latin typeface="Courier New" panose="02070309020205020404" pitchFamily="49" charset="0"/>
                <a:ea typeface="+mn-ea"/>
                <a:cs typeface="Courier New" panose="02070309020205020404" pitchFamily="49" charset="0"/>
              </a:rPr>
              <a:t>mutex</a:t>
            </a: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5" name="Text Box 8"/>
          <p:cNvSpPr txBox="1">
            <a:spLocks noChangeArrowheads="1"/>
          </p:cNvSpPr>
          <p:nvPr/>
        </p:nvSpPr>
        <p:spPr bwMode="auto">
          <a:xfrm>
            <a:off x="3965243" y="1793751"/>
            <a:ext cx="2994855" cy="1077218"/>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Class Condition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int</a:t>
            </a: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 0;</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WaitQueue</a:t>
            </a:r>
            <a:r>
              <a:rPr lang="en-US" altLang="zh-CN" sz="1600" b="1" dirty="0">
                <a:latin typeface="Courier New" panose="02070309020205020404" pitchFamily="49" charset="0"/>
                <a:ea typeface="+mn-ea"/>
                <a:cs typeface="Courier New" panose="02070309020205020404" pitchFamily="49" charset="0"/>
              </a:rPr>
              <a:t>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4" name="标题 1">
            <a:extLst>
              <a:ext uri="{FF2B5EF4-FFF2-40B4-BE49-F238E27FC236}">
                <a16:creationId xmlns:a16="http://schemas.microsoft.com/office/drawing/2014/main" id="{69079EE4-BB90-C03B-BB30-B0483D88B3E3}"/>
              </a:ext>
            </a:extLst>
          </p:cNvPr>
          <p:cNvSpPr>
            <a:spLocks noGrp="1"/>
          </p:cNvSpPr>
          <p:nvPr>
            <p:ph type="title"/>
          </p:nvPr>
        </p:nvSpPr>
        <p:spPr>
          <a:xfrm>
            <a:off x="695400" y="871855"/>
            <a:ext cx="10801200" cy="680403"/>
          </a:xfrm>
        </p:spPr>
        <p:txBody>
          <a:bodyPr>
            <a:normAutofit/>
          </a:bodyPr>
          <a:lstStyle/>
          <a:p>
            <a:r>
              <a:rPr lang="zh-CN" altLang="en-US" dirty="0"/>
              <a:t>条件变量实现</a:t>
            </a:r>
          </a:p>
        </p:txBody>
      </p:sp>
    </p:spTree>
    <p:extLst>
      <p:ext uri="{BB962C8B-B14F-4D97-AF65-F5344CB8AC3E}">
        <p14:creationId xmlns:p14="http://schemas.microsoft.com/office/powerpoint/2010/main" val="2415829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Box 6"/>
          <p:cNvSpPr txBox="1">
            <a:spLocks noChangeArrowheads="1"/>
          </p:cNvSpPr>
          <p:nvPr/>
        </p:nvSpPr>
        <p:spPr bwMode="auto">
          <a:xfrm>
            <a:off x="1703513" y="3216151"/>
            <a:ext cx="3672408"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Condition::Wait(lock){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Add this thread t  to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release(lock);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schedule(); //need </a:t>
            </a:r>
            <a:r>
              <a:rPr lang="en-US" altLang="zh-CN" sz="1600" b="1" dirty="0" err="1">
                <a:latin typeface="Courier New" panose="02070309020205020404" pitchFamily="49" charset="0"/>
                <a:ea typeface="+mn-ea"/>
                <a:cs typeface="Courier New" panose="02070309020205020404" pitchFamily="49" charset="0"/>
              </a:rPr>
              <a:t>mutex</a:t>
            </a: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require(lock);</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4" name="Text Box 7"/>
          <p:cNvSpPr txBox="1">
            <a:spLocks noChangeArrowheads="1"/>
          </p:cNvSpPr>
          <p:nvPr/>
        </p:nvSpPr>
        <p:spPr bwMode="auto">
          <a:xfrm>
            <a:off x="5476163" y="3216151"/>
            <a:ext cx="4508271" cy="181588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Condition::Signal(){</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if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&gt; 0)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Remove a thread t from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wakeup(t); //need </a:t>
            </a:r>
            <a:r>
              <a:rPr lang="en-US" altLang="zh-CN" sz="1600" b="1" dirty="0" err="1">
                <a:latin typeface="Courier New" panose="02070309020205020404" pitchFamily="49" charset="0"/>
                <a:ea typeface="+mn-ea"/>
                <a:cs typeface="Courier New" panose="02070309020205020404" pitchFamily="49" charset="0"/>
              </a:rPr>
              <a:t>mutex</a:t>
            </a:r>
            <a:endParaRPr lang="en-US" altLang="zh-CN" sz="1600" b="1" dirty="0">
              <a:latin typeface="Courier New" panose="02070309020205020404" pitchFamily="49" charset="0"/>
              <a:ea typeface="+mn-ea"/>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25" name="Text Box 8"/>
          <p:cNvSpPr txBox="1">
            <a:spLocks noChangeArrowheads="1"/>
          </p:cNvSpPr>
          <p:nvPr/>
        </p:nvSpPr>
        <p:spPr bwMode="auto">
          <a:xfrm>
            <a:off x="3965243" y="1793751"/>
            <a:ext cx="2994855" cy="1077218"/>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Class Condition {</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int</a:t>
            </a: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numWaiting</a:t>
            </a:r>
            <a:r>
              <a:rPr lang="en-US" altLang="zh-CN" sz="1600" b="1" dirty="0">
                <a:latin typeface="Courier New" panose="02070309020205020404" pitchFamily="49" charset="0"/>
                <a:ea typeface="+mn-ea"/>
                <a:cs typeface="Courier New" panose="02070309020205020404" pitchFamily="49" charset="0"/>
              </a:rPr>
              <a:t> = 0;</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    </a:t>
            </a:r>
            <a:r>
              <a:rPr lang="en-US" altLang="zh-CN" sz="1600" b="1" dirty="0" err="1">
                <a:latin typeface="Courier New" panose="02070309020205020404" pitchFamily="49" charset="0"/>
                <a:ea typeface="+mn-ea"/>
                <a:cs typeface="Courier New" panose="02070309020205020404" pitchFamily="49" charset="0"/>
              </a:rPr>
              <a:t>WaitQueue</a:t>
            </a:r>
            <a:r>
              <a:rPr lang="en-US" altLang="zh-CN" sz="1600" b="1" dirty="0">
                <a:latin typeface="Courier New" panose="02070309020205020404" pitchFamily="49" charset="0"/>
                <a:ea typeface="+mn-ea"/>
                <a:cs typeface="Courier New" panose="02070309020205020404" pitchFamily="49" charset="0"/>
              </a:rPr>
              <a:t> q;</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p:txBody>
      </p:sp>
      <p:sp>
        <p:nvSpPr>
          <p:cNvPr id="4" name="标题 1">
            <a:extLst>
              <a:ext uri="{FF2B5EF4-FFF2-40B4-BE49-F238E27FC236}">
                <a16:creationId xmlns:a16="http://schemas.microsoft.com/office/drawing/2014/main" id="{108EBDE2-7C53-6001-0732-17D2C8633498}"/>
              </a:ext>
            </a:extLst>
          </p:cNvPr>
          <p:cNvSpPr>
            <a:spLocks noGrp="1"/>
          </p:cNvSpPr>
          <p:nvPr>
            <p:ph type="title"/>
          </p:nvPr>
        </p:nvSpPr>
        <p:spPr>
          <a:xfrm>
            <a:off x="695400" y="871855"/>
            <a:ext cx="10801200" cy="680403"/>
          </a:xfrm>
        </p:spPr>
        <p:txBody>
          <a:bodyPr>
            <a:normAutofit/>
          </a:bodyPr>
          <a:lstStyle/>
          <a:p>
            <a:r>
              <a:rPr lang="zh-CN" altLang="en-US" dirty="0"/>
              <a:t>条件变量实现</a:t>
            </a:r>
          </a:p>
        </p:txBody>
      </p:sp>
    </p:spTree>
    <p:extLst>
      <p:ext uri="{BB962C8B-B14F-4D97-AF65-F5344CB8AC3E}">
        <p14:creationId xmlns:p14="http://schemas.microsoft.com/office/powerpoint/2010/main" val="24610571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p:cNvSpPr>
          <p:nvPr/>
        </p:nvSpPr>
        <p:spPr>
          <a:xfrm>
            <a:off x="1952596" y="1084930"/>
            <a:ext cx="8229600" cy="508383"/>
          </a:xfrm>
          <a:prstGeom prst="rect">
            <a:avLst/>
          </a:prstGeom>
        </p:spPr>
        <p:txBody>
          <a:bodyPr/>
          <a:lstStyle>
            <a:lvl1pPr>
              <a:defRPr sz="3000" b="1">
                <a:solidFill>
                  <a:srgbClr val="11576A"/>
                </a:solidFill>
                <a:latin typeface="微软雅黑" pitchFamily="34" charset="-122"/>
                <a:ea typeface="微软雅黑" pitchFamily="34" charset="-122"/>
              </a:defRPr>
            </a:lvl1pPr>
          </a:lstStyle>
          <a:p>
            <a:pPr lvl="0" algn="ctr">
              <a:spcBef>
                <a:spcPct val="0"/>
              </a:spcBef>
            </a:pPr>
            <a:r>
              <a:rPr lang="zh-CN" altLang="en-US" dirty="0"/>
              <a:t>用管程解决生产者</a:t>
            </a:r>
            <a:r>
              <a:rPr lang="en-US" altLang="zh-CN" dirty="0"/>
              <a:t>-</a:t>
            </a:r>
            <a:r>
              <a:rPr lang="zh-CN" altLang="en-US" dirty="0"/>
              <a:t>消费者问题</a:t>
            </a:r>
            <a:endParaRPr lang="zh-CN" altLang="en-US" dirty="0">
              <a:cs typeface="+mj-cs"/>
            </a:endParaRPr>
          </a:p>
        </p:txBody>
      </p:sp>
      <p:sp>
        <p:nvSpPr>
          <p:cNvPr id="14" name="Text Box 3"/>
          <p:cNvSpPr txBox="1">
            <a:spLocks noChangeArrowheads="1"/>
          </p:cNvSpPr>
          <p:nvPr/>
        </p:nvSpPr>
        <p:spPr bwMode="auto">
          <a:xfrm>
            <a:off x="1991544" y="3501008"/>
            <a:ext cx="3888432" cy="2308324"/>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r>
              <a:rPr lang="en-US" altLang="zh-CN" sz="1600" b="1" dirty="0" err="1">
                <a:latin typeface="Courier New" panose="02070309020205020404" pitchFamily="49" charset="0"/>
                <a:cs typeface="Courier New" panose="02070309020205020404" pitchFamily="49" charset="0"/>
              </a:rPr>
              <a:t>BoundedBuffer</a:t>
            </a:r>
            <a:r>
              <a:rPr lang="en-US" altLang="zh-CN" sz="1600" b="1" dirty="0">
                <a:latin typeface="Courier New" panose="02070309020205020404" pitchFamily="49" charset="0"/>
                <a:cs typeface="Courier New" panose="02070309020205020404" pitchFamily="49" charset="0"/>
              </a:rPr>
              <a:t>::Deposit(c) {</a:t>
            </a:r>
          </a:p>
          <a:p>
            <a:endParaRPr lang="en-US" altLang="zh-CN" sz="1600" b="1" dirty="0">
              <a:latin typeface="Courier New" panose="02070309020205020404" pitchFamily="49" charset="0"/>
              <a:cs typeface="Courier New" panose="02070309020205020404" pitchFamily="49" charset="0"/>
            </a:endParaRPr>
          </a:p>
          <a:p>
            <a:endParaRPr lang="en-US" altLang="zh-CN" sz="1600" b="1" dirty="0">
              <a:latin typeface="Courier New" panose="02070309020205020404" pitchFamily="49" charset="0"/>
              <a:cs typeface="Courier New" panose="02070309020205020404" pitchFamily="49" charset="0"/>
            </a:endParaRPr>
          </a:p>
          <a:p>
            <a:endParaRPr lang="en-US" altLang="zh-CN" sz="1600" b="1" dirty="0">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Add c to the buffer;</a:t>
            </a:r>
          </a:p>
          <a:p>
            <a:r>
              <a:rPr lang="en-US" altLang="zh-CN" sz="1600" b="1" dirty="0">
                <a:latin typeface="Courier New" panose="02070309020205020404" pitchFamily="49" charset="0"/>
                <a:cs typeface="Courier New" panose="02070309020205020404" pitchFamily="49" charset="0"/>
              </a:rPr>
              <a:t>    count++;</a:t>
            </a:r>
          </a:p>
          <a:p>
            <a:r>
              <a:rPr lang="en-US" altLang="zh-CN" sz="1600" b="1" dirty="0">
                <a:latin typeface="Courier New" panose="02070309020205020404" pitchFamily="49" charset="0"/>
                <a:cs typeface="Courier New" panose="02070309020205020404" pitchFamily="49" charset="0"/>
              </a:rPr>
              <a:t>    </a:t>
            </a:r>
            <a:endParaRPr lang="en-US" altLang="zh-CN" sz="1600" b="1" dirty="0">
              <a:solidFill>
                <a:srgbClr val="FF0000"/>
              </a:solidFill>
              <a:latin typeface="Courier New" panose="02070309020205020404" pitchFamily="49" charset="0"/>
              <a:cs typeface="Courier New" panose="02070309020205020404" pitchFamily="49" charset="0"/>
            </a:endParaRPr>
          </a:p>
          <a:p>
            <a:endParaRPr lang="en-US" altLang="zh-CN" sz="1600" b="1" dirty="0">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a:t>
            </a:r>
          </a:p>
        </p:txBody>
      </p:sp>
      <p:sp>
        <p:nvSpPr>
          <p:cNvPr id="15" name="Text Box 4"/>
          <p:cNvSpPr txBox="1">
            <a:spLocks noChangeArrowheads="1"/>
          </p:cNvSpPr>
          <p:nvPr/>
        </p:nvSpPr>
        <p:spPr bwMode="auto">
          <a:xfrm>
            <a:off x="6031260" y="3501008"/>
            <a:ext cx="3600400" cy="2308324"/>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r>
              <a:rPr lang="en-US" altLang="zh-CN" sz="1600" b="1" dirty="0" err="1">
                <a:latin typeface="Courier New" panose="02070309020205020404" pitchFamily="49" charset="0"/>
                <a:cs typeface="Courier New" panose="02070309020205020404" pitchFamily="49" charset="0"/>
              </a:rPr>
              <a:t>BoundedBuffer</a:t>
            </a:r>
            <a:r>
              <a:rPr lang="en-US" altLang="zh-CN" sz="1600" b="1" dirty="0">
                <a:latin typeface="Courier New" panose="02070309020205020404" pitchFamily="49" charset="0"/>
                <a:cs typeface="Courier New" panose="02070309020205020404" pitchFamily="49" charset="0"/>
              </a:rPr>
              <a:t>::Remove(c) {</a:t>
            </a:r>
          </a:p>
          <a:p>
            <a:endParaRPr lang="en-US" altLang="zh-CN" sz="1600" b="1" dirty="0">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endParaRPr lang="en-US" altLang="zh-CN" sz="1600" b="1" dirty="0">
              <a:solidFill>
                <a:srgbClr val="FF0000"/>
              </a:solidFill>
              <a:latin typeface="Courier New" panose="02070309020205020404" pitchFamily="49" charset="0"/>
              <a:cs typeface="Courier New" panose="02070309020205020404" pitchFamily="49" charset="0"/>
            </a:endParaRPr>
          </a:p>
          <a:p>
            <a:endParaRPr lang="en-US" altLang="zh-CN" sz="1600" b="1" dirty="0">
              <a:solidFill>
                <a:srgbClr val="FF0000"/>
              </a:solidFill>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Remove c from buffer;</a:t>
            </a:r>
          </a:p>
          <a:p>
            <a:r>
              <a:rPr lang="en-US" altLang="zh-CN" sz="1600" b="1" dirty="0">
                <a:latin typeface="Courier New" panose="02070309020205020404" pitchFamily="49" charset="0"/>
                <a:cs typeface="Courier New" panose="02070309020205020404" pitchFamily="49" charset="0"/>
              </a:rPr>
              <a:t>    count--;</a:t>
            </a:r>
          </a:p>
          <a:p>
            <a:endParaRPr lang="en-US" altLang="zh-CN" sz="1600" b="1" dirty="0">
              <a:latin typeface="Courier New" panose="02070309020205020404" pitchFamily="49" charset="0"/>
              <a:cs typeface="Courier New" panose="02070309020205020404" pitchFamily="49" charset="0"/>
            </a:endParaRPr>
          </a:p>
          <a:p>
            <a:endParaRPr lang="en-US" altLang="zh-CN" sz="1600" b="1" dirty="0">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a:t>
            </a:r>
          </a:p>
        </p:txBody>
      </p:sp>
      <p:sp>
        <p:nvSpPr>
          <p:cNvPr id="16" name="Text Box 5"/>
          <p:cNvSpPr txBox="1">
            <a:spLocks noChangeArrowheads="1"/>
          </p:cNvSpPr>
          <p:nvPr/>
        </p:nvSpPr>
        <p:spPr bwMode="auto">
          <a:xfrm>
            <a:off x="3640460" y="1844824"/>
            <a:ext cx="4191000" cy="1569660"/>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err="1">
                <a:latin typeface="Courier New" panose="02070309020205020404" pitchFamily="49" charset="0"/>
                <a:ea typeface="宋体" charset="0"/>
                <a:cs typeface="Courier New" panose="02070309020205020404" pitchFamily="49" charset="0"/>
              </a:rPr>
              <a:t>classBoundedBuffer</a:t>
            </a:r>
            <a:r>
              <a:rPr lang="en-US" altLang="zh-CN" sz="1600" b="1" dirty="0">
                <a:latin typeface="Courier New" panose="02070309020205020404" pitchFamily="49" charset="0"/>
                <a:ea typeface="宋体" charset="0"/>
                <a:cs typeface="Courier New" panose="02070309020205020404" pitchFamily="49" charset="0"/>
              </a:rPr>
              <a:t> {</a:t>
            </a:r>
          </a:p>
          <a:p>
            <a:pPr eaLnBrk="1" hangingPunct="1">
              <a:buFont typeface="Monotype Sorts" charset="0"/>
              <a:buNone/>
            </a:pPr>
            <a:r>
              <a:rPr lang="en-US" altLang="zh-CN" sz="1600" b="1" dirty="0">
                <a:latin typeface="Courier New" panose="02070309020205020404" pitchFamily="49" charset="0"/>
                <a:ea typeface="宋体" charset="0"/>
                <a:cs typeface="Courier New" panose="02070309020205020404" pitchFamily="49" charset="0"/>
              </a:rPr>
              <a:t>    …</a:t>
            </a:r>
          </a:p>
          <a:p>
            <a:pPr eaLnBrk="1" hangingPunct="1">
              <a:buFont typeface="Monotype Sorts" charset="0"/>
              <a:buNone/>
            </a:pPr>
            <a:r>
              <a:rPr lang="en-US" altLang="zh-CN" sz="1600" b="1" dirty="0">
                <a:solidFill>
                  <a:srgbClr val="FF00FF"/>
                </a:solidFill>
                <a:latin typeface="Courier New" panose="02070309020205020404" pitchFamily="49" charset="0"/>
                <a:ea typeface="宋体" charset="0"/>
                <a:cs typeface="Courier New" panose="02070309020205020404" pitchFamily="49" charset="0"/>
              </a:rPr>
              <a:t>    Lock </a:t>
            </a:r>
            <a:r>
              <a:rPr lang="en-US" altLang="zh-CN" sz="1600" b="1" dirty="0" err="1">
                <a:solidFill>
                  <a:srgbClr val="FF00FF"/>
                </a:solidFill>
                <a:latin typeface="Courier New" panose="02070309020205020404" pitchFamily="49" charset="0"/>
                <a:ea typeface="宋体" charset="0"/>
                <a:cs typeface="Courier New" panose="02070309020205020404" pitchFamily="49" charset="0"/>
              </a:rPr>
              <a:t>lock</a:t>
            </a:r>
            <a:r>
              <a:rPr lang="en-US" altLang="zh-CN" sz="1600" b="1" dirty="0">
                <a:solidFill>
                  <a:srgbClr val="FF00FF"/>
                </a:solidFill>
                <a:latin typeface="Courier New" panose="02070309020205020404" pitchFamily="49" charset="0"/>
                <a:ea typeface="宋体" charset="0"/>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宋体" charset="0"/>
                <a:cs typeface="Courier New" panose="02070309020205020404" pitchFamily="49" charset="0"/>
              </a:rPr>
              <a:t>    </a:t>
            </a:r>
            <a:r>
              <a:rPr lang="en-US" altLang="zh-CN" sz="1600" b="1" dirty="0" err="1">
                <a:latin typeface="Courier New" panose="02070309020205020404" pitchFamily="49" charset="0"/>
                <a:ea typeface="宋体" charset="0"/>
                <a:cs typeface="Courier New" panose="02070309020205020404" pitchFamily="49" charset="0"/>
              </a:rPr>
              <a:t>int</a:t>
            </a:r>
            <a:r>
              <a:rPr lang="en-US" altLang="zh-CN" sz="1600" b="1" dirty="0">
                <a:latin typeface="Courier New" panose="02070309020205020404" pitchFamily="49" charset="0"/>
                <a:ea typeface="宋体" charset="0"/>
                <a:cs typeface="Courier New" panose="02070309020205020404" pitchFamily="49" charset="0"/>
              </a:rPr>
              <a:t> count = 0;</a:t>
            </a:r>
          </a:p>
          <a:p>
            <a:pPr eaLnBrk="1" hangingPunct="1">
              <a:buFont typeface="Monotype Sorts" charset="0"/>
              <a:buNone/>
            </a:pPr>
            <a:r>
              <a:rPr lang="en-US" altLang="zh-CN" sz="1600" b="1" dirty="0">
                <a:solidFill>
                  <a:srgbClr val="FF0000"/>
                </a:solidFill>
                <a:latin typeface="Courier New" panose="02070309020205020404" pitchFamily="49" charset="0"/>
                <a:ea typeface="宋体" charset="0"/>
                <a:cs typeface="Courier New" panose="02070309020205020404" pitchFamily="49" charset="0"/>
              </a:rPr>
              <a:t>    Condition </a:t>
            </a:r>
            <a:r>
              <a:rPr lang="en-US" altLang="zh-CN" sz="1600" b="1" dirty="0" err="1">
                <a:solidFill>
                  <a:srgbClr val="FF0000"/>
                </a:solidFill>
                <a:latin typeface="Courier New" panose="02070309020205020404" pitchFamily="49" charset="0"/>
                <a:ea typeface="宋体" charset="0"/>
                <a:cs typeface="Courier New" panose="02070309020205020404" pitchFamily="49" charset="0"/>
              </a:rPr>
              <a:t>notFull</a:t>
            </a:r>
            <a:r>
              <a:rPr lang="en-US" altLang="zh-CN" sz="1600" b="1" dirty="0">
                <a:solidFill>
                  <a:srgbClr val="FF0000"/>
                </a:solidFill>
                <a:latin typeface="Courier New" panose="02070309020205020404" pitchFamily="49" charset="0"/>
                <a:ea typeface="宋体" charset="0"/>
                <a:cs typeface="Courier New" panose="02070309020205020404" pitchFamily="49" charset="0"/>
              </a:rPr>
              <a:t>, </a:t>
            </a:r>
            <a:r>
              <a:rPr lang="en-US" altLang="zh-CN" sz="1600" b="1" dirty="0" err="1">
                <a:solidFill>
                  <a:srgbClr val="FF0000"/>
                </a:solidFill>
                <a:latin typeface="Courier New" panose="02070309020205020404" pitchFamily="49" charset="0"/>
                <a:ea typeface="宋体" charset="0"/>
                <a:cs typeface="Courier New" panose="02070309020205020404" pitchFamily="49" charset="0"/>
              </a:rPr>
              <a:t>notEmpty</a:t>
            </a:r>
            <a:r>
              <a:rPr lang="en-US" altLang="zh-CN" sz="1600" b="1" dirty="0">
                <a:solidFill>
                  <a:srgbClr val="FF0000"/>
                </a:solidFill>
                <a:latin typeface="Courier New" panose="02070309020205020404" pitchFamily="49" charset="0"/>
                <a:ea typeface="宋体" charset="0"/>
                <a:cs typeface="Courier New" panose="02070309020205020404" pitchFamily="49" charset="0"/>
              </a:rPr>
              <a:t>;</a:t>
            </a:r>
            <a:endParaRPr lang="en-US" altLang="zh-CN" sz="1600" b="1" dirty="0">
              <a:latin typeface="Courier New" panose="02070309020205020404" pitchFamily="49" charset="0"/>
              <a:ea typeface="宋体" charset="0"/>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宋体" charset="0"/>
                <a:cs typeface="Courier New" panose="02070309020205020404" pitchFamily="49" charset="0"/>
              </a:rPr>
              <a:t>}</a:t>
            </a:r>
          </a:p>
        </p:txBody>
      </p:sp>
      <p:sp>
        <p:nvSpPr>
          <p:cNvPr id="2" name="标题 1">
            <a:extLst>
              <a:ext uri="{FF2B5EF4-FFF2-40B4-BE49-F238E27FC236}">
                <a16:creationId xmlns:a16="http://schemas.microsoft.com/office/drawing/2014/main" id="{570CCD94-2608-2CC3-3A3D-E84654739F4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B800B747-A19C-500A-EF0C-1ED5F143A8C8}"/>
              </a:ext>
            </a:extLst>
          </p:cNvPr>
          <p:cNvSpPr>
            <a:spLocks noGrp="1"/>
          </p:cNvSpPr>
          <p:nvPr>
            <p:ph idx="1"/>
          </p:nvPr>
        </p:nvSpPr>
        <p:spPr/>
        <p:txBody>
          <a:bodyPr/>
          <a:lstStyle/>
          <a:p>
            <a:endParaRPr lang="zh-CN" altLang="en-US" dirty="0"/>
          </a:p>
        </p:txBody>
      </p:sp>
    </p:spTree>
    <p:extLst>
      <p:ext uri="{BB962C8B-B14F-4D97-AF65-F5344CB8AC3E}">
        <p14:creationId xmlns:p14="http://schemas.microsoft.com/office/powerpoint/2010/main" val="3023492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3"/>
          <p:cNvSpPr txBox="1">
            <a:spLocks noChangeArrowheads="1"/>
          </p:cNvSpPr>
          <p:nvPr/>
        </p:nvSpPr>
        <p:spPr bwMode="auto">
          <a:xfrm>
            <a:off x="1991544" y="3501008"/>
            <a:ext cx="3888432" cy="2308324"/>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r>
              <a:rPr lang="en-US" altLang="zh-CN" sz="1600" b="1" dirty="0" err="1">
                <a:latin typeface="Courier New" panose="02070309020205020404" pitchFamily="49" charset="0"/>
                <a:cs typeface="Courier New" panose="02070309020205020404" pitchFamily="49" charset="0"/>
              </a:rPr>
              <a:t>BoundedBuffer</a:t>
            </a:r>
            <a:r>
              <a:rPr lang="en-US" altLang="zh-CN" sz="1600" b="1" dirty="0">
                <a:latin typeface="Courier New" panose="02070309020205020404" pitchFamily="49" charset="0"/>
                <a:cs typeface="Courier New" panose="02070309020205020404" pitchFamily="49" charset="0"/>
              </a:rPr>
              <a:t>::Deposit(c) {</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647C6"/>
                </a:solidFill>
                <a:latin typeface="Courier New" panose="02070309020205020404" pitchFamily="49" charset="0"/>
                <a:cs typeface="Courier New" panose="02070309020205020404" pitchFamily="49" charset="0"/>
              </a:rPr>
              <a:t>lock-&gt;Acquire();</a:t>
            </a:r>
          </a:p>
          <a:p>
            <a:endParaRPr lang="en-US" altLang="zh-CN" sz="1600" b="1" dirty="0">
              <a:latin typeface="Courier New" panose="02070309020205020404" pitchFamily="49" charset="0"/>
              <a:cs typeface="Courier New" panose="02070309020205020404" pitchFamily="49" charset="0"/>
            </a:endParaRPr>
          </a:p>
          <a:p>
            <a:endParaRPr lang="en-US" altLang="zh-CN" sz="1600" b="1" dirty="0">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Add c to the buffer;</a:t>
            </a:r>
          </a:p>
          <a:p>
            <a:r>
              <a:rPr lang="en-US" altLang="zh-CN" sz="1600" b="1" dirty="0">
                <a:latin typeface="Courier New" panose="02070309020205020404" pitchFamily="49" charset="0"/>
                <a:cs typeface="Courier New" panose="02070309020205020404" pitchFamily="49" charset="0"/>
              </a:rPr>
              <a:t>    count++;</a:t>
            </a:r>
          </a:p>
          <a:p>
            <a:r>
              <a:rPr lang="en-US" altLang="zh-CN" sz="1600" b="1" dirty="0">
                <a:latin typeface="Courier New" panose="02070309020205020404" pitchFamily="49" charset="0"/>
                <a:cs typeface="Courier New" panose="02070309020205020404" pitchFamily="49" charset="0"/>
              </a:rPr>
              <a:t>    </a:t>
            </a:r>
            <a:endParaRPr lang="en-US" altLang="zh-CN" sz="1600" b="1" dirty="0">
              <a:solidFill>
                <a:srgbClr val="FF0000"/>
              </a:solidFill>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647C6"/>
                </a:solidFill>
                <a:latin typeface="Courier New" panose="02070309020205020404" pitchFamily="49" charset="0"/>
                <a:cs typeface="Courier New" panose="02070309020205020404" pitchFamily="49" charset="0"/>
              </a:rPr>
              <a:t>lock-&gt;Release();</a:t>
            </a:r>
          </a:p>
          <a:p>
            <a:r>
              <a:rPr lang="en-US" altLang="zh-CN" sz="1600" b="1" dirty="0">
                <a:latin typeface="Courier New" panose="02070309020205020404" pitchFamily="49" charset="0"/>
                <a:cs typeface="Courier New" panose="02070309020205020404" pitchFamily="49" charset="0"/>
              </a:rPr>
              <a:t>}</a:t>
            </a:r>
          </a:p>
        </p:txBody>
      </p:sp>
      <p:sp>
        <p:nvSpPr>
          <p:cNvPr id="15" name="Text Box 4"/>
          <p:cNvSpPr txBox="1">
            <a:spLocks noChangeArrowheads="1"/>
          </p:cNvSpPr>
          <p:nvPr/>
        </p:nvSpPr>
        <p:spPr bwMode="auto">
          <a:xfrm>
            <a:off x="6031260" y="3501008"/>
            <a:ext cx="3600400" cy="2308324"/>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r>
              <a:rPr lang="en-US" altLang="zh-CN" sz="1600" b="1" dirty="0" err="1">
                <a:latin typeface="Courier New" panose="02070309020205020404" pitchFamily="49" charset="0"/>
                <a:cs typeface="Courier New" panose="02070309020205020404" pitchFamily="49" charset="0"/>
              </a:rPr>
              <a:t>BoundedBuffer</a:t>
            </a:r>
            <a:r>
              <a:rPr lang="en-US" altLang="zh-CN" sz="1600" b="1" dirty="0">
                <a:latin typeface="Courier New" panose="02070309020205020404" pitchFamily="49" charset="0"/>
                <a:cs typeface="Courier New" panose="02070309020205020404" pitchFamily="49" charset="0"/>
              </a:rPr>
              <a:t>::Remove(c) {</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647C6"/>
                </a:solidFill>
                <a:latin typeface="Courier New" panose="02070309020205020404" pitchFamily="49" charset="0"/>
                <a:cs typeface="Courier New" panose="02070309020205020404" pitchFamily="49" charset="0"/>
              </a:rPr>
              <a:t>lock-&gt;Acquire();</a:t>
            </a:r>
          </a:p>
          <a:p>
            <a:r>
              <a:rPr lang="en-US" altLang="zh-CN" sz="1600" b="1" dirty="0">
                <a:latin typeface="Courier New" panose="02070309020205020404" pitchFamily="49" charset="0"/>
                <a:cs typeface="Courier New" panose="02070309020205020404" pitchFamily="49" charset="0"/>
              </a:rPr>
              <a:t>    </a:t>
            </a:r>
            <a:endParaRPr lang="en-US" altLang="zh-CN" sz="1600" b="1" dirty="0">
              <a:solidFill>
                <a:srgbClr val="FF0000"/>
              </a:solidFill>
              <a:latin typeface="Courier New" panose="02070309020205020404" pitchFamily="49" charset="0"/>
              <a:cs typeface="Courier New" panose="02070309020205020404" pitchFamily="49" charset="0"/>
            </a:endParaRPr>
          </a:p>
          <a:p>
            <a:endParaRPr lang="en-US" altLang="zh-CN" sz="1600" b="1" dirty="0">
              <a:solidFill>
                <a:srgbClr val="FF0000"/>
              </a:solidFill>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Remove c from buffer;</a:t>
            </a:r>
          </a:p>
          <a:p>
            <a:r>
              <a:rPr lang="en-US" altLang="zh-CN" sz="1600" b="1" dirty="0">
                <a:latin typeface="Courier New" panose="02070309020205020404" pitchFamily="49" charset="0"/>
                <a:cs typeface="Courier New" panose="02070309020205020404" pitchFamily="49" charset="0"/>
              </a:rPr>
              <a:t>    count--;</a:t>
            </a:r>
          </a:p>
          <a:p>
            <a:endParaRPr lang="en-US" altLang="zh-CN" sz="1600" b="1" dirty="0">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647C6"/>
                </a:solidFill>
                <a:latin typeface="Courier New" panose="02070309020205020404" pitchFamily="49" charset="0"/>
                <a:cs typeface="Courier New" panose="02070309020205020404" pitchFamily="49" charset="0"/>
              </a:rPr>
              <a:t>lock-&gt;Release();</a:t>
            </a:r>
          </a:p>
          <a:p>
            <a:r>
              <a:rPr lang="en-US" altLang="zh-CN" sz="1600" b="1" dirty="0">
                <a:latin typeface="Courier New" panose="02070309020205020404" pitchFamily="49" charset="0"/>
                <a:cs typeface="Courier New" panose="02070309020205020404" pitchFamily="49" charset="0"/>
              </a:rPr>
              <a:t>}</a:t>
            </a:r>
          </a:p>
        </p:txBody>
      </p:sp>
      <p:sp>
        <p:nvSpPr>
          <p:cNvPr id="16" name="Text Box 5"/>
          <p:cNvSpPr txBox="1">
            <a:spLocks noChangeArrowheads="1"/>
          </p:cNvSpPr>
          <p:nvPr/>
        </p:nvSpPr>
        <p:spPr bwMode="auto">
          <a:xfrm>
            <a:off x="3640460" y="1844824"/>
            <a:ext cx="4191000" cy="1569660"/>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err="1">
                <a:latin typeface="Courier New" panose="02070309020205020404" pitchFamily="49" charset="0"/>
                <a:ea typeface="宋体" charset="0"/>
                <a:cs typeface="Courier New" panose="02070309020205020404" pitchFamily="49" charset="0"/>
              </a:rPr>
              <a:t>classBoundedBuffer</a:t>
            </a:r>
            <a:r>
              <a:rPr lang="en-US" altLang="zh-CN" sz="1600" b="1" dirty="0">
                <a:latin typeface="Courier New" panose="02070309020205020404" pitchFamily="49" charset="0"/>
                <a:ea typeface="宋体" charset="0"/>
                <a:cs typeface="Courier New" panose="02070309020205020404" pitchFamily="49" charset="0"/>
              </a:rPr>
              <a:t> {</a:t>
            </a:r>
          </a:p>
          <a:p>
            <a:pPr eaLnBrk="1" hangingPunct="1">
              <a:buFont typeface="Monotype Sorts" charset="0"/>
              <a:buNone/>
            </a:pPr>
            <a:r>
              <a:rPr lang="en-US" altLang="zh-CN" sz="1600" b="1" dirty="0">
                <a:latin typeface="Courier New" panose="02070309020205020404" pitchFamily="49" charset="0"/>
                <a:ea typeface="宋体" charset="0"/>
                <a:cs typeface="Courier New" panose="02070309020205020404" pitchFamily="49" charset="0"/>
              </a:rPr>
              <a:t>    …</a:t>
            </a:r>
          </a:p>
          <a:p>
            <a:pPr eaLnBrk="1" hangingPunct="1">
              <a:buFont typeface="Monotype Sorts" charset="0"/>
              <a:buNone/>
            </a:pPr>
            <a:r>
              <a:rPr lang="en-US" altLang="zh-CN" sz="1600" b="1" dirty="0">
                <a:solidFill>
                  <a:srgbClr val="FF00FF"/>
                </a:solidFill>
                <a:latin typeface="Courier New" panose="02070309020205020404" pitchFamily="49" charset="0"/>
                <a:ea typeface="宋体" charset="0"/>
                <a:cs typeface="Courier New" panose="02070309020205020404" pitchFamily="49" charset="0"/>
              </a:rPr>
              <a:t>    Lock </a:t>
            </a:r>
            <a:r>
              <a:rPr lang="en-US" altLang="zh-CN" sz="1600" b="1" dirty="0" err="1">
                <a:solidFill>
                  <a:srgbClr val="FF00FF"/>
                </a:solidFill>
                <a:latin typeface="Courier New" panose="02070309020205020404" pitchFamily="49" charset="0"/>
                <a:ea typeface="宋体" charset="0"/>
                <a:cs typeface="Courier New" panose="02070309020205020404" pitchFamily="49" charset="0"/>
              </a:rPr>
              <a:t>lock</a:t>
            </a:r>
            <a:r>
              <a:rPr lang="en-US" altLang="zh-CN" sz="1600" b="1" dirty="0">
                <a:solidFill>
                  <a:srgbClr val="FF00FF"/>
                </a:solidFill>
                <a:latin typeface="Courier New" panose="02070309020205020404" pitchFamily="49" charset="0"/>
                <a:ea typeface="宋体" charset="0"/>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宋体" charset="0"/>
                <a:cs typeface="Courier New" panose="02070309020205020404" pitchFamily="49" charset="0"/>
              </a:rPr>
              <a:t>    </a:t>
            </a:r>
            <a:r>
              <a:rPr lang="en-US" altLang="zh-CN" sz="1600" b="1" dirty="0" err="1">
                <a:latin typeface="Courier New" panose="02070309020205020404" pitchFamily="49" charset="0"/>
                <a:ea typeface="宋体" charset="0"/>
                <a:cs typeface="Courier New" panose="02070309020205020404" pitchFamily="49" charset="0"/>
              </a:rPr>
              <a:t>int</a:t>
            </a:r>
            <a:r>
              <a:rPr lang="en-US" altLang="zh-CN" sz="1600" b="1" dirty="0">
                <a:latin typeface="Courier New" panose="02070309020205020404" pitchFamily="49" charset="0"/>
                <a:ea typeface="宋体" charset="0"/>
                <a:cs typeface="Courier New" panose="02070309020205020404" pitchFamily="49" charset="0"/>
              </a:rPr>
              <a:t> count = 0;</a:t>
            </a:r>
          </a:p>
          <a:p>
            <a:pPr eaLnBrk="1" hangingPunct="1">
              <a:buFont typeface="Monotype Sorts" charset="0"/>
              <a:buNone/>
            </a:pPr>
            <a:r>
              <a:rPr lang="en-US" altLang="zh-CN" sz="1600" b="1" dirty="0">
                <a:solidFill>
                  <a:srgbClr val="FF0000"/>
                </a:solidFill>
                <a:latin typeface="Courier New" panose="02070309020205020404" pitchFamily="49" charset="0"/>
                <a:ea typeface="宋体" charset="0"/>
                <a:cs typeface="Courier New" panose="02070309020205020404" pitchFamily="49" charset="0"/>
              </a:rPr>
              <a:t>    Condition </a:t>
            </a:r>
            <a:r>
              <a:rPr lang="en-US" altLang="zh-CN" sz="1600" b="1" dirty="0" err="1">
                <a:solidFill>
                  <a:srgbClr val="FF0000"/>
                </a:solidFill>
                <a:latin typeface="Courier New" panose="02070309020205020404" pitchFamily="49" charset="0"/>
                <a:ea typeface="宋体" charset="0"/>
                <a:cs typeface="Courier New" panose="02070309020205020404" pitchFamily="49" charset="0"/>
              </a:rPr>
              <a:t>notFull</a:t>
            </a:r>
            <a:r>
              <a:rPr lang="en-US" altLang="zh-CN" sz="1600" b="1" dirty="0">
                <a:solidFill>
                  <a:srgbClr val="FF0000"/>
                </a:solidFill>
                <a:latin typeface="Courier New" panose="02070309020205020404" pitchFamily="49" charset="0"/>
                <a:ea typeface="宋体" charset="0"/>
                <a:cs typeface="Courier New" panose="02070309020205020404" pitchFamily="49" charset="0"/>
              </a:rPr>
              <a:t>, </a:t>
            </a:r>
            <a:r>
              <a:rPr lang="en-US" altLang="zh-CN" sz="1600" b="1" dirty="0" err="1">
                <a:solidFill>
                  <a:srgbClr val="FF0000"/>
                </a:solidFill>
                <a:latin typeface="Courier New" panose="02070309020205020404" pitchFamily="49" charset="0"/>
                <a:ea typeface="宋体" charset="0"/>
                <a:cs typeface="Courier New" panose="02070309020205020404" pitchFamily="49" charset="0"/>
              </a:rPr>
              <a:t>notEmpty</a:t>
            </a:r>
            <a:r>
              <a:rPr lang="en-US" altLang="zh-CN" sz="1600" b="1" dirty="0">
                <a:solidFill>
                  <a:srgbClr val="FF0000"/>
                </a:solidFill>
                <a:latin typeface="Courier New" panose="02070309020205020404" pitchFamily="49" charset="0"/>
                <a:ea typeface="宋体" charset="0"/>
                <a:cs typeface="Courier New" panose="02070309020205020404" pitchFamily="49" charset="0"/>
              </a:rPr>
              <a:t>;</a:t>
            </a:r>
            <a:endParaRPr lang="en-US" altLang="zh-CN" sz="1600" b="1" dirty="0">
              <a:latin typeface="Courier New" panose="02070309020205020404" pitchFamily="49" charset="0"/>
              <a:ea typeface="宋体" charset="0"/>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宋体" charset="0"/>
                <a:cs typeface="Courier New" panose="02070309020205020404" pitchFamily="49" charset="0"/>
              </a:rPr>
              <a:t>}</a:t>
            </a:r>
          </a:p>
        </p:txBody>
      </p:sp>
      <p:sp>
        <p:nvSpPr>
          <p:cNvPr id="2" name="标题 1">
            <a:extLst>
              <a:ext uri="{FF2B5EF4-FFF2-40B4-BE49-F238E27FC236}">
                <a16:creationId xmlns:a16="http://schemas.microsoft.com/office/drawing/2014/main" id="{41CBFD42-2DC4-7270-E2C3-91C419BAA6E5}"/>
              </a:ext>
            </a:extLst>
          </p:cNvPr>
          <p:cNvSpPr>
            <a:spLocks noGrp="1"/>
          </p:cNvSpPr>
          <p:nvPr>
            <p:ph type="title"/>
          </p:nvPr>
        </p:nvSpPr>
        <p:spPr/>
        <p:txBody>
          <a:bodyPr>
            <a:normAutofit/>
          </a:bodyPr>
          <a:lstStyle/>
          <a:p>
            <a:r>
              <a:rPr lang="zh-CN" altLang="en-US" dirty="0"/>
              <a:t>用管程解决生产者</a:t>
            </a:r>
            <a:r>
              <a:rPr lang="en-US" altLang="zh-CN" dirty="0"/>
              <a:t>-</a:t>
            </a:r>
            <a:r>
              <a:rPr lang="zh-CN" altLang="en-US" dirty="0"/>
              <a:t>消费者问题</a:t>
            </a:r>
          </a:p>
        </p:txBody>
      </p:sp>
    </p:spTree>
    <p:extLst>
      <p:ext uri="{BB962C8B-B14F-4D97-AF65-F5344CB8AC3E}">
        <p14:creationId xmlns:p14="http://schemas.microsoft.com/office/powerpoint/2010/main" val="29151561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3"/>
          <p:cNvSpPr txBox="1">
            <a:spLocks noChangeArrowheads="1"/>
          </p:cNvSpPr>
          <p:nvPr/>
        </p:nvSpPr>
        <p:spPr bwMode="auto">
          <a:xfrm>
            <a:off x="1991544" y="3501008"/>
            <a:ext cx="3888432" cy="2308324"/>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r>
              <a:rPr lang="en-US" altLang="zh-CN" sz="1600" b="1" dirty="0" err="1">
                <a:latin typeface="Courier New" panose="02070309020205020404" pitchFamily="49" charset="0"/>
                <a:cs typeface="Courier New" panose="02070309020205020404" pitchFamily="49" charset="0"/>
              </a:rPr>
              <a:t>BoundedBuffer</a:t>
            </a:r>
            <a:r>
              <a:rPr lang="en-US" altLang="zh-CN" sz="1600" b="1" dirty="0">
                <a:latin typeface="Courier New" panose="02070309020205020404" pitchFamily="49" charset="0"/>
                <a:cs typeface="Courier New" panose="02070309020205020404" pitchFamily="49" charset="0"/>
              </a:rPr>
              <a:t>::Deposit(c) {</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647C6"/>
                </a:solidFill>
                <a:latin typeface="Courier New" panose="02070309020205020404" pitchFamily="49" charset="0"/>
                <a:cs typeface="Courier New" panose="02070309020205020404" pitchFamily="49" charset="0"/>
              </a:rPr>
              <a:t>lock-&gt;Acquire();</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FF0000"/>
                </a:solidFill>
                <a:latin typeface="Courier New" panose="02070309020205020404" pitchFamily="49" charset="0"/>
                <a:cs typeface="Courier New" panose="02070309020205020404" pitchFamily="49" charset="0"/>
              </a:rPr>
              <a:t>while (count == n)</a:t>
            </a:r>
          </a:p>
          <a:p>
            <a:r>
              <a:rPr lang="en-US" altLang="zh-CN" sz="1600" b="1" dirty="0">
                <a:solidFill>
                  <a:srgbClr val="FF0000"/>
                </a:solidFill>
                <a:latin typeface="Courier New" panose="02070309020205020404" pitchFamily="49" charset="0"/>
                <a:cs typeface="Courier New" panose="02070309020205020404" pitchFamily="49" charset="0"/>
              </a:rPr>
              <a:t>        </a:t>
            </a:r>
            <a:r>
              <a:rPr lang="en-US" altLang="zh-CN" sz="1600" b="1" dirty="0" err="1">
                <a:solidFill>
                  <a:srgbClr val="FF0000"/>
                </a:solidFill>
                <a:latin typeface="Courier New" panose="02070309020205020404" pitchFamily="49" charset="0"/>
                <a:cs typeface="Courier New" panose="02070309020205020404" pitchFamily="49" charset="0"/>
              </a:rPr>
              <a:t>notFull.Wait</a:t>
            </a:r>
            <a:r>
              <a:rPr lang="en-US" altLang="zh-CN" sz="1600" b="1" dirty="0">
                <a:solidFill>
                  <a:srgbClr val="FF0000"/>
                </a:solidFill>
                <a:latin typeface="Courier New" panose="02070309020205020404" pitchFamily="49" charset="0"/>
                <a:cs typeface="Courier New" panose="02070309020205020404" pitchFamily="49" charset="0"/>
              </a:rPr>
              <a:t>(&amp;lock);</a:t>
            </a:r>
          </a:p>
          <a:p>
            <a:r>
              <a:rPr lang="en-US" altLang="zh-CN" sz="1600" b="1" dirty="0">
                <a:latin typeface="Courier New" panose="02070309020205020404" pitchFamily="49" charset="0"/>
                <a:cs typeface="Courier New" panose="02070309020205020404" pitchFamily="49" charset="0"/>
              </a:rPr>
              <a:t>    Add c to the buffer;</a:t>
            </a:r>
          </a:p>
          <a:p>
            <a:r>
              <a:rPr lang="en-US" altLang="zh-CN" sz="1600" b="1" dirty="0">
                <a:latin typeface="Courier New" panose="02070309020205020404" pitchFamily="49" charset="0"/>
                <a:cs typeface="Courier New" panose="02070309020205020404" pitchFamily="49" charset="0"/>
              </a:rPr>
              <a:t>    count++;</a:t>
            </a:r>
          </a:p>
          <a:p>
            <a:r>
              <a:rPr lang="en-US" altLang="zh-CN" sz="1600" b="1" dirty="0">
                <a:latin typeface="Courier New" panose="02070309020205020404" pitchFamily="49" charset="0"/>
                <a:cs typeface="Courier New" panose="02070309020205020404" pitchFamily="49" charset="0"/>
              </a:rPr>
              <a:t>    </a:t>
            </a:r>
            <a:endParaRPr lang="en-US" altLang="zh-CN" sz="1600" b="1" dirty="0">
              <a:solidFill>
                <a:srgbClr val="FF0000"/>
              </a:solidFill>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647C6"/>
                </a:solidFill>
                <a:latin typeface="Courier New" panose="02070309020205020404" pitchFamily="49" charset="0"/>
                <a:cs typeface="Courier New" panose="02070309020205020404" pitchFamily="49" charset="0"/>
              </a:rPr>
              <a:t>lock-&gt;Release();</a:t>
            </a:r>
          </a:p>
          <a:p>
            <a:r>
              <a:rPr lang="en-US" altLang="zh-CN" sz="1600" b="1" dirty="0">
                <a:latin typeface="Courier New" panose="02070309020205020404" pitchFamily="49" charset="0"/>
                <a:cs typeface="Courier New" panose="02070309020205020404" pitchFamily="49" charset="0"/>
              </a:rPr>
              <a:t>}</a:t>
            </a:r>
          </a:p>
        </p:txBody>
      </p:sp>
      <p:sp>
        <p:nvSpPr>
          <p:cNvPr id="15" name="Text Box 4"/>
          <p:cNvSpPr txBox="1">
            <a:spLocks noChangeArrowheads="1"/>
          </p:cNvSpPr>
          <p:nvPr/>
        </p:nvSpPr>
        <p:spPr bwMode="auto">
          <a:xfrm>
            <a:off x="6031260" y="3501008"/>
            <a:ext cx="3600400" cy="2308324"/>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r>
              <a:rPr lang="en-US" altLang="zh-CN" sz="1600" b="1" dirty="0" err="1">
                <a:latin typeface="Courier New" panose="02070309020205020404" pitchFamily="49" charset="0"/>
                <a:cs typeface="Courier New" panose="02070309020205020404" pitchFamily="49" charset="0"/>
              </a:rPr>
              <a:t>BoundedBuffer</a:t>
            </a:r>
            <a:r>
              <a:rPr lang="en-US" altLang="zh-CN" sz="1600" b="1" dirty="0">
                <a:latin typeface="Courier New" panose="02070309020205020404" pitchFamily="49" charset="0"/>
                <a:cs typeface="Courier New" panose="02070309020205020404" pitchFamily="49" charset="0"/>
              </a:rPr>
              <a:t>::Remove(c) {</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647C6"/>
                </a:solidFill>
                <a:latin typeface="Courier New" panose="02070309020205020404" pitchFamily="49" charset="0"/>
                <a:cs typeface="Courier New" panose="02070309020205020404" pitchFamily="49" charset="0"/>
              </a:rPr>
              <a:t>lock-&gt;Acquire();</a:t>
            </a:r>
          </a:p>
          <a:p>
            <a:r>
              <a:rPr lang="en-US" altLang="zh-CN" sz="1600" b="1" dirty="0">
                <a:latin typeface="Courier New" panose="02070309020205020404" pitchFamily="49" charset="0"/>
                <a:cs typeface="Courier New" panose="02070309020205020404" pitchFamily="49" charset="0"/>
              </a:rPr>
              <a:t>    </a:t>
            </a:r>
            <a:endParaRPr lang="en-US" altLang="zh-CN" sz="1600" b="1" dirty="0">
              <a:solidFill>
                <a:srgbClr val="FF0000"/>
              </a:solidFill>
              <a:latin typeface="Courier New" panose="02070309020205020404" pitchFamily="49" charset="0"/>
              <a:cs typeface="Courier New" panose="02070309020205020404" pitchFamily="49" charset="0"/>
            </a:endParaRPr>
          </a:p>
          <a:p>
            <a:endParaRPr lang="en-US" altLang="zh-CN" sz="1600" b="1" dirty="0">
              <a:solidFill>
                <a:srgbClr val="FF0000"/>
              </a:solidFill>
              <a:latin typeface="Courier New" panose="02070309020205020404" pitchFamily="49" charset="0"/>
              <a:cs typeface="Courier New" panose="02070309020205020404" pitchFamily="49" charset="0"/>
            </a:endParaRPr>
          </a:p>
          <a:p>
            <a:r>
              <a:rPr lang="en-US" altLang="zh-CN" sz="1600" b="1" dirty="0">
                <a:latin typeface="Courier New" panose="02070309020205020404" pitchFamily="49" charset="0"/>
                <a:cs typeface="Courier New" panose="02070309020205020404" pitchFamily="49" charset="0"/>
              </a:rPr>
              <a:t>    Remove c from buffer;</a:t>
            </a:r>
          </a:p>
          <a:p>
            <a:r>
              <a:rPr lang="en-US" altLang="zh-CN" sz="1600" b="1" dirty="0">
                <a:latin typeface="Courier New" panose="02070309020205020404" pitchFamily="49" charset="0"/>
                <a:cs typeface="Courier New" panose="02070309020205020404" pitchFamily="49" charset="0"/>
              </a:rPr>
              <a:t>    count--;</a:t>
            </a:r>
          </a:p>
          <a:p>
            <a:r>
              <a:rPr lang="en-US" altLang="zh-CN" sz="1600" b="1" dirty="0">
                <a:latin typeface="Courier New" panose="02070309020205020404" pitchFamily="49" charset="0"/>
                <a:cs typeface="Courier New" panose="02070309020205020404" pitchFamily="49" charset="0"/>
              </a:rPr>
              <a:t>    </a:t>
            </a:r>
            <a:r>
              <a:rPr lang="en-US" altLang="zh-CN" sz="1600" b="1" dirty="0" err="1">
                <a:solidFill>
                  <a:srgbClr val="FF0000"/>
                </a:solidFill>
                <a:latin typeface="Courier New" panose="02070309020205020404" pitchFamily="49" charset="0"/>
                <a:cs typeface="Courier New" panose="02070309020205020404" pitchFamily="49" charset="0"/>
              </a:rPr>
              <a:t>notFull.Signal</a:t>
            </a:r>
            <a:r>
              <a:rPr lang="en-US" altLang="zh-CN" sz="1600" b="1" dirty="0">
                <a:solidFill>
                  <a:srgbClr val="FF0000"/>
                </a:solidFill>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647C6"/>
                </a:solidFill>
                <a:latin typeface="Courier New" panose="02070309020205020404" pitchFamily="49" charset="0"/>
                <a:cs typeface="Courier New" panose="02070309020205020404" pitchFamily="49" charset="0"/>
              </a:rPr>
              <a:t>lock-&gt;Release();</a:t>
            </a:r>
          </a:p>
          <a:p>
            <a:r>
              <a:rPr lang="en-US" altLang="zh-CN" sz="1600" b="1" dirty="0">
                <a:latin typeface="Courier New" panose="02070309020205020404" pitchFamily="49" charset="0"/>
                <a:cs typeface="Courier New" panose="02070309020205020404" pitchFamily="49" charset="0"/>
              </a:rPr>
              <a:t>}</a:t>
            </a:r>
          </a:p>
        </p:txBody>
      </p:sp>
      <p:sp>
        <p:nvSpPr>
          <p:cNvPr id="16" name="Text Box 5"/>
          <p:cNvSpPr txBox="1">
            <a:spLocks noChangeArrowheads="1"/>
          </p:cNvSpPr>
          <p:nvPr/>
        </p:nvSpPr>
        <p:spPr bwMode="auto">
          <a:xfrm>
            <a:off x="3640460" y="1844824"/>
            <a:ext cx="4191000" cy="1569660"/>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err="1">
                <a:latin typeface="Courier New" panose="02070309020205020404" pitchFamily="49" charset="0"/>
                <a:ea typeface="宋体" charset="0"/>
                <a:cs typeface="Courier New" panose="02070309020205020404" pitchFamily="49" charset="0"/>
              </a:rPr>
              <a:t>classBoundedBuffer</a:t>
            </a:r>
            <a:r>
              <a:rPr lang="en-US" altLang="zh-CN" sz="1600" b="1" dirty="0">
                <a:latin typeface="Courier New" panose="02070309020205020404" pitchFamily="49" charset="0"/>
                <a:ea typeface="宋体" charset="0"/>
                <a:cs typeface="Courier New" panose="02070309020205020404" pitchFamily="49" charset="0"/>
              </a:rPr>
              <a:t> {</a:t>
            </a:r>
          </a:p>
          <a:p>
            <a:pPr eaLnBrk="1" hangingPunct="1">
              <a:buFont typeface="Monotype Sorts" charset="0"/>
              <a:buNone/>
            </a:pPr>
            <a:r>
              <a:rPr lang="en-US" altLang="zh-CN" sz="1600" b="1" dirty="0">
                <a:latin typeface="Courier New" panose="02070309020205020404" pitchFamily="49" charset="0"/>
                <a:ea typeface="宋体" charset="0"/>
                <a:cs typeface="Courier New" panose="02070309020205020404" pitchFamily="49" charset="0"/>
              </a:rPr>
              <a:t>    …</a:t>
            </a:r>
          </a:p>
          <a:p>
            <a:pPr eaLnBrk="1" hangingPunct="1">
              <a:buFont typeface="Monotype Sorts" charset="0"/>
              <a:buNone/>
            </a:pPr>
            <a:r>
              <a:rPr lang="en-US" altLang="zh-CN" sz="1600" b="1" dirty="0">
                <a:solidFill>
                  <a:srgbClr val="FF00FF"/>
                </a:solidFill>
                <a:latin typeface="Courier New" panose="02070309020205020404" pitchFamily="49" charset="0"/>
                <a:ea typeface="宋体" charset="0"/>
                <a:cs typeface="Courier New" panose="02070309020205020404" pitchFamily="49" charset="0"/>
              </a:rPr>
              <a:t>    Lock </a:t>
            </a:r>
            <a:r>
              <a:rPr lang="en-US" altLang="zh-CN" sz="1600" b="1" dirty="0" err="1">
                <a:solidFill>
                  <a:srgbClr val="FF00FF"/>
                </a:solidFill>
                <a:latin typeface="Courier New" panose="02070309020205020404" pitchFamily="49" charset="0"/>
                <a:ea typeface="宋体" charset="0"/>
                <a:cs typeface="Courier New" panose="02070309020205020404" pitchFamily="49" charset="0"/>
              </a:rPr>
              <a:t>lock</a:t>
            </a:r>
            <a:r>
              <a:rPr lang="en-US" altLang="zh-CN" sz="1600" b="1" dirty="0">
                <a:solidFill>
                  <a:srgbClr val="FF00FF"/>
                </a:solidFill>
                <a:latin typeface="Courier New" panose="02070309020205020404" pitchFamily="49" charset="0"/>
                <a:ea typeface="宋体" charset="0"/>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宋体" charset="0"/>
                <a:cs typeface="Courier New" panose="02070309020205020404" pitchFamily="49" charset="0"/>
              </a:rPr>
              <a:t>    </a:t>
            </a:r>
            <a:r>
              <a:rPr lang="en-US" altLang="zh-CN" sz="1600" b="1" dirty="0" err="1">
                <a:latin typeface="Courier New" panose="02070309020205020404" pitchFamily="49" charset="0"/>
                <a:ea typeface="宋体" charset="0"/>
                <a:cs typeface="Courier New" panose="02070309020205020404" pitchFamily="49" charset="0"/>
              </a:rPr>
              <a:t>int</a:t>
            </a:r>
            <a:r>
              <a:rPr lang="en-US" altLang="zh-CN" sz="1600" b="1" dirty="0">
                <a:latin typeface="Courier New" panose="02070309020205020404" pitchFamily="49" charset="0"/>
                <a:ea typeface="宋体" charset="0"/>
                <a:cs typeface="Courier New" panose="02070309020205020404" pitchFamily="49" charset="0"/>
              </a:rPr>
              <a:t> count = 0;</a:t>
            </a:r>
          </a:p>
          <a:p>
            <a:pPr eaLnBrk="1" hangingPunct="1">
              <a:buFont typeface="Monotype Sorts" charset="0"/>
              <a:buNone/>
            </a:pPr>
            <a:r>
              <a:rPr lang="en-US" altLang="zh-CN" sz="1600" b="1" dirty="0">
                <a:solidFill>
                  <a:srgbClr val="FF0000"/>
                </a:solidFill>
                <a:latin typeface="Courier New" panose="02070309020205020404" pitchFamily="49" charset="0"/>
                <a:ea typeface="宋体" charset="0"/>
                <a:cs typeface="Courier New" panose="02070309020205020404" pitchFamily="49" charset="0"/>
              </a:rPr>
              <a:t>    Condition </a:t>
            </a:r>
            <a:r>
              <a:rPr lang="en-US" altLang="zh-CN" sz="1600" b="1" dirty="0" err="1">
                <a:solidFill>
                  <a:srgbClr val="FF0000"/>
                </a:solidFill>
                <a:latin typeface="Courier New" panose="02070309020205020404" pitchFamily="49" charset="0"/>
                <a:ea typeface="宋体" charset="0"/>
                <a:cs typeface="Courier New" panose="02070309020205020404" pitchFamily="49" charset="0"/>
              </a:rPr>
              <a:t>notFull</a:t>
            </a:r>
            <a:r>
              <a:rPr lang="en-US" altLang="zh-CN" sz="1600" b="1" dirty="0">
                <a:solidFill>
                  <a:srgbClr val="FF0000"/>
                </a:solidFill>
                <a:latin typeface="Courier New" panose="02070309020205020404" pitchFamily="49" charset="0"/>
                <a:ea typeface="宋体" charset="0"/>
                <a:cs typeface="Courier New" panose="02070309020205020404" pitchFamily="49" charset="0"/>
              </a:rPr>
              <a:t>, </a:t>
            </a:r>
            <a:r>
              <a:rPr lang="en-US" altLang="zh-CN" sz="1600" b="1" dirty="0" err="1">
                <a:solidFill>
                  <a:srgbClr val="FF0000"/>
                </a:solidFill>
                <a:latin typeface="Courier New" panose="02070309020205020404" pitchFamily="49" charset="0"/>
                <a:ea typeface="宋体" charset="0"/>
                <a:cs typeface="Courier New" panose="02070309020205020404" pitchFamily="49" charset="0"/>
              </a:rPr>
              <a:t>notEmpty</a:t>
            </a:r>
            <a:r>
              <a:rPr lang="en-US" altLang="zh-CN" sz="1600" b="1" dirty="0">
                <a:solidFill>
                  <a:srgbClr val="FF0000"/>
                </a:solidFill>
                <a:latin typeface="Courier New" panose="02070309020205020404" pitchFamily="49" charset="0"/>
                <a:ea typeface="宋体" charset="0"/>
                <a:cs typeface="Courier New" panose="02070309020205020404" pitchFamily="49" charset="0"/>
              </a:rPr>
              <a:t>;</a:t>
            </a:r>
            <a:endParaRPr lang="en-US" altLang="zh-CN" sz="1600" b="1" dirty="0">
              <a:latin typeface="Courier New" panose="02070309020205020404" pitchFamily="49" charset="0"/>
              <a:ea typeface="宋体" charset="0"/>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宋体" charset="0"/>
                <a:cs typeface="Courier New" panose="02070309020205020404" pitchFamily="49" charset="0"/>
              </a:rPr>
              <a:t>}</a:t>
            </a:r>
          </a:p>
        </p:txBody>
      </p:sp>
      <p:cxnSp>
        <p:nvCxnSpPr>
          <p:cNvPr id="3" name="直接箭头连接符 2"/>
          <p:cNvCxnSpPr/>
          <p:nvPr/>
        </p:nvCxnSpPr>
        <p:spPr>
          <a:xfrm>
            <a:off x="5451562" y="4223122"/>
            <a:ext cx="1008112" cy="864096"/>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C6531412-238C-D76D-CA85-826BE8A19F61}"/>
              </a:ext>
            </a:extLst>
          </p:cNvPr>
          <p:cNvSpPr txBox="1"/>
          <p:nvPr/>
        </p:nvSpPr>
        <p:spPr>
          <a:xfrm>
            <a:off x="695400" y="5878111"/>
            <a:ext cx="10801200"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这里</a:t>
            </a:r>
            <a:r>
              <a:rPr lang="en-US" altLang="zh-CN" dirty="0">
                <a:latin typeface="微软雅黑" panose="020B0503020204020204" pitchFamily="34" charset="-122"/>
                <a:ea typeface="微软雅黑" panose="020B0503020204020204" pitchFamily="34" charset="-122"/>
              </a:rPr>
              <a:t>wait</a:t>
            </a:r>
            <a:r>
              <a:rPr lang="zh-CN" altLang="en-US" dirty="0">
                <a:latin typeface="微软雅黑" panose="020B0503020204020204" pitchFamily="34" charset="-122"/>
                <a:ea typeface="微软雅黑" panose="020B0503020204020204" pitchFamily="34" charset="-122"/>
              </a:rPr>
              <a:t>的作用：释放传入的</a:t>
            </a:r>
            <a:r>
              <a:rPr lang="en-US" altLang="zh-CN" dirty="0">
                <a:latin typeface="微软雅黑" panose="020B0503020204020204" pitchFamily="34" charset="-122"/>
                <a:ea typeface="微软雅黑" panose="020B0503020204020204" pitchFamily="34" charset="-122"/>
              </a:rPr>
              <a:t>lock</a:t>
            </a:r>
            <a:r>
              <a:rPr lang="zh-CN" altLang="en-US" dirty="0">
                <a:latin typeface="微软雅黑" panose="020B0503020204020204" pitchFamily="34" charset="-122"/>
                <a:ea typeface="微软雅黑" panose="020B0503020204020204" pitchFamily="34" charset="-122"/>
              </a:rPr>
              <a:t>锁，并释放</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（运行权），直到获得下一次调度机会后，并重新获取</a:t>
            </a:r>
            <a:r>
              <a:rPr lang="en-US" altLang="zh-CN" dirty="0">
                <a:latin typeface="微软雅黑" panose="020B0503020204020204" pitchFamily="34" charset="-122"/>
                <a:ea typeface="微软雅黑" panose="020B0503020204020204" pitchFamily="34" charset="-122"/>
              </a:rPr>
              <a:t>lock</a:t>
            </a:r>
            <a:r>
              <a:rPr lang="zh-CN" altLang="en-US" dirty="0">
                <a:latin typeface="微软雅黑" panose="020B0503020204020204" pitchFamily="34" charset="-122"/>
                <a:ea typeface="微软雅黑" panose="020B0503020204020204" pitchFamily="34" charset="-122"/>
              </a:rPr>
              <a:t>锁后才返回。在调用者看来，</a:t>
            </a:r>
            <a:r>
              <a:rPr lang="en-US" altLang="zh-CN" dirty="0">
                <a:latin typeface="微软雅黑" panose="020B0503020204020204" pitchFamily="34" charset="-122"/>
                <a:ea typeface="微软雅黑" panose="020B0503020204020204" pitchFamily="34" charset="-122"/>
              </a:rPr>
              <a:t>wait</a:t>
            </a:r>
            <a:r>
              <a:rPr lang="zh-CN" altLang="en-US" dirty="0">
                <a:latin typeface="微软雅黑" panose="020B0503020204020204" pitchFamily="34" charset="-122"/>
                <a:ea typeface="微软雅黑" panose="020B0503020204020204" pitchFamily="34" charset="-122"/>
              </a:rPr>
              <a:t>的执行期并不长（因为发生了调度），并且没有占据锁</a:t>
            </a:r>
          </a:p>
        </p:txBody>
      </p:sp>
      <p:sp>
        <p:nvSpPr>
          <p:cNvPr id="4" name="标题 3">
            <a:extLst>
              <a:ext uri="{FF2B5EF4-FFF2-40B4-BE49-F238E27FC236}">
                <a16:creationId xmlns:a16="http://schemas.microsoft.com/office/drawing/2014/main" id="{B7D04276-50BC-7519-B9E7-B4CFF0F4688F}"/>
              </a:ext>
            </a:extLst>
          </p:cNvPr>
          <p:cNvSpPr>
            <a:spLocks noGrp="1"/>
          </p:cNvSpPr>
          <p:nvPr>
            <p:ph type="title"/>
          </p:nvPr>
        </p:nvSpPr>
        <p:spPr/>
        <p:txBody>
          <a:bodyPr>
            <a:normAutofit/>
          </a:bodyPr>
          <a:lstStyle/>
          <a:p>
            <a:r>
              <a:rPr lang="zh-CN" altLang="en-US" dirty="0"/>
              <a:t>用管程解决生产者</a:t>
            </a:r>
            <a:r>
              <a:rPr lang="en-US" altLang="zh-CN" dirty="0"/>
              <a:t>-</a:t>
            </a:r>
            <a:r>
              <a:rPr lang="zh-CN" altLang="en-US" dirty="0"/>
              <a:t>消费者问题</a:t>
            </a:r>
          </a:p>
        </p:txBody>
      </p:sp>
    </p:spTree>
    <p:extLst>
      <p:ext uri="{BB962C8B-B14F-4D97-AF65-F5344CB8AC3E}">
        <p14:creationId xmlns:p14="http://schemas.microsoft.com/office/powerpoint/2010/main" val="1554168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3"/>
          <p:cNvSpPr txBox="1">
            <a:spLocks noChangeArrowheads="1"/>
          </p:cNvSpPr>
          <p:nvPr/>
        </p:nvSpPr>
        <p:spPr bwMode="auto">
          <a:xfrm>
            <a:off x="1991544" y="3501008"/>
            <a:ext cx="3888432" cy="2308324"/>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r>
              <a:rPr lang="en-US" altLang="zh-CN" sz="1600" b="1" dirty="0" err="1">
                <a:latin typeface="Courier New" panose="02070309020205020404" pitchFamily="49" charset="0"/>
                <a:cs typeface="Courier New" panose="02070309020205020404" pitchFamily="49" charset="0"/>
              </a:rPr>
              <a:t>BoundedBuffer</a:t>
            </a:r>
            <a:r>
              <a:rPr lang="en-US" altLang="zh-CN" sz="1600" b="1" dirty="0">
                <a:latin typeface="Courier New" panose="02070309020205020404" pitchFamily="49" charset="0"/>
                <a:cs typeface="Courier New" panose="02070309020205020404" pitchFamily="49" charset="0"/>
              </a:rPr>
              <a:t>::Deposit(c) {</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647C6"/>
                </a:solidFill>
                <a:latin typeface="Courier New" panose="02070309020205020404" pitchFamily="49" charset="0"/>
                <a:cs typeface="Courier New" panose="02070309020205020404" pitchFamily="49" charset="0"/>
              </a:rPr>
              <a:t>lock-&gt;Acquire();</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FF0000"/>
                </a:solidFill>
                <a:latin typeface="Courier New" panose="02070309020205020404" pitchFamily="49" charset="0"/>
                <a:cs typeface="Courier New" panose="02070309020205020404" pitchFamily="49" charset="0"/>
              </a:rPr>
              <a:t>while (count == n)</a:t>
            </a:r>
          </a:p>
          <a:p>
            <a:r>
              <a:rPr lang="en-US" altLang="zh-CN" sz="1600" b="1" dirty="0">
                <a:solidFill>
                  <a:srgbClr val="FF0000"/>
                </a:solidFill>
                <a:latin typeface="Courier New" panose="02070309020205020404" pitchFamily="49" charset="0"/>
                <a:cs typeface="Courier New" panose="02070309020205020404" pitchFamily="49" charset="0"/>
              </a:rPr>
              <a:t>        </a:t>
            </a:r>
            <a:r>
              <a:rPr lang="en-US" altLang="zh-CN" sz="1600" b="1" dirty="0" err="1">
                <a:solidFill>
                  <a:srgbClr val="FF0000"/>
                </a:solidFill>
                <a:latin typeface="Courier New" panose="02070309020205020404" pitchFamily="49" charset="0"/>
                <a:cs typeface="Courier New" panose="02070309020205020404" pitchFamily="49" charset="0"/>
              </a:rPr>
              <a:t>notFull.Wait</a:t>
            </a:r>
            <a:r>
              <a:rPr lang="en-US" altLang="zh-CN" sz="1600" b="1" dirty="0">
                <a:solidFill>
                  <a:srgbClr val="FF0000"/>
                </a:solidFill>
                <a:latin typeface="Courier New" panose="02070309020205020404" pitchFamily="49" charset="0"/>
                <a:cs typeface="Courier New" panose="02070309020205020404" pitchFamily="49" charset="0"/>
              </a:rPr>
              <a:t>(&amp;lock);</a:t>
            </a:r>
          </a:p>
          <a:p>
            <a:r>
              <a:rPr lang="en-US" altLang="zh-CN" sz="1600" b="1" dirty="0">
                <a:latin typeface="Courier New" panose="02070309020205020404" pitchFamily="49" charset="0"/>
                <a:cs typeface="Courier New" panose="02070309020205020404" pitchFamily="49" charset="0"/>
              </a:rPr>
              <a:t>    Add c to the buffer;</a:t>
            </a:r>
          </a:p>
          <a:p>
            <a:r>
              <a:rPr lang="en-US" altLang="zh-CN" sz="1600" b="1" dirty="0">
                <a:latin typeface="Courier New" panose="02070309020205020404" pitchFamily="49" charset="0"/>
                <a:cs typeface="Courier New" panose="02070309020205020404" pitchFamily="49" charset="0"/>
              </a:rPr>
              <a:t>    count++;</a:t>
            </a:r>
          </a:p>
          <a:p>
            <a:r>
              <a:rPr lang="en-US" altLang="zh-CN" sz="1600" b="1" dirty="0">
                <a:latin typeface="Courier New" panose="02070309020205020404" pitchFamily="49" charset="0"/>
                <a:cs typeface="Courier New" panose="02070309020205020404" pitchFamily="49" charset="0"/>
              </a:rPr>
              <a:t>    </a:t>
            </a:r>
            <a:r>
              <a:rPr lang="en-US" altLang="zh-CN" sz="1600" b="1" dirty="0" err="1">
                <a:solidFill>
                  <a:srgbClr val="FF0000"/>
                </a:solidFill>
                <a:latin typeface="Courier New" panose="02070309020205020404" pitchFamily="49" charset="0"/>
                <a:cs typeface="Courier New" panose="02070309020205020404" pitchFamily="49" charset="0"/>
              </a:rPr>
              <a:t>notEmpty.Signal</a:t>
            </a:r>
            <a:r>
              <a:rPr lang="en-US" altLang="zh-CN" sz="1600" b="1" dirty="0">
                <a:solidFill>
                  <a:srgbClr val="FF0000"/>
                </a:solidFill>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647C6"/>
                </a:solidFill>
                <a:latin typeface="Courier New" panose="02070309020205020404" pitchFamily="49" charset="0"/>
                <a:cs typeface="Courier New" panose="02070309020205020404" pitchFamily="49" charset="0"/>
              </a:rPr>
              <a:t>lock-&gt;Release();</a:t>
            </a:r>
          </a:p>
          <a:p>
            <a:r>
              <a:rPr lang="en-US" altLang="zh-CN" sz="1600" b="1" dirty="0">
                <a:latin typeface="Courier New" panose="02070309020205020404" pitchFamily="49" charset="0"/>
                <a:cs typeface="Courier New" panose="02070309020205020404" pitchFamily="49" charset="0"/>
              </a:rPr>
              <a:t>}</a:t>
            </a:r>
          </a:p>
        </p:txBody>
      </p:sp>
      <p:sp>
        <p:nvSpPr>
          <p:cNvPr id="15" name="Text Box 4"/>
          <p:cNvSpPr txBox="1">
            <a:spLocks noChangeArrowheads="1"/>
          </p:cNvSpPr>
          <p:nvPr/>
        </p:nvSpPr>
        <p:spPr bwMode="auto">
          <a:xfrm>
            <a:off x="6031260" y="3501008"/>
            <a:ext cx="3600400" cy="2308324"/>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r>
              <a:rPr lang="en-US" altLang="zh-CN" sz="1600" b="1" dirty="0" err="1">
                <a:latin typeface="Courier New" panose="02070309020205020404" pitchFamily="49" charset="0"/>
                <a:cs typeface="Courier New" panose="02070309020205020404" pitchFamily="49" charset="0"/>
              </a:rPr>
              <a:t>BoundedBuffer</a:t>
            </a:r>
            <a:r>
              <a:rPr lang="en-US" altLang="zh-CN" sz="1600" b="1" dirty="0">
                <a:latin typeface="Courier New" panose="02070309020205020404" pitchFamily="49" charset="0"/>
                <a:cs typeface="Courier New" panose="02070309020205020404" pitchFamily="49" charset="0"/>
              </a:rPr>
              <a:t>::Remove(c) {</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647C6"/>
                </a:solidFill>
                <a:latin typeface="Courier New" panose="02070309020205020404" pitchFamily="49" charset="0"/>
                <a:cs typeface="Courier New" panose="02070309020205020404" pitchFamily="49" charset="0"/>
              </a:rPr>
              <a:t>lock-&gt;Acquire();</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FF0000"/>
                </a:solidFill>
                <a:latin typeface="Courier New" panose="02070309020205020404" pitchFamily="49" charset="0"/>
                <a:cs typeface="Courier New" panose="02070309020205020404" pitchFamily="49" charset="0"/>
              </a:rPr>
              <a:t>while (count == 0)    </a:t>
            </a:r>
          </a:p>
          <a:p>
            <a:r>
              <a:rPr lang="en-US" altLang="zh-CN" sz="1600" b="1" dirty="0">
                <a:solidFill>
                  <a:srgbClr val="FF0000"/>
                </a:solidFill>
                <a:latin typeface="Courier New" panose="02070309020205020404" pitchFamily="49" charset="0"/>
                <a:cs typeface="Courier New" panose="02070309020205020404" pitchFamily="49" charset="0"/>
              </a:rPr>
              <a:t>      </a:t>
            </a:r>
            <a:r>
              <a:rPr lang="en-US" altLang="zh-CN" sz="1600" b="1" dirty="0" err="1">
                <a:solidFill>
                  <a:srgbClr val="FF0000"/>
                </a:solidFill>
                <a:latin typeface="Courier New" panose="02070309020205020404" pitchFamily="49" charset="0"/>
                <a:cs typeface="Courier New" panose="02070309020205020404" pitchFamily="49" charset="0"/>
              </a:rPr>
              <a:t>notEmpty.Wait</a:t>
            </a:r>
            <a:r>
              <a:rPr lang="en-US" altLang="zh-CN" sz="1600" b="1" dirty="0">
                <a:solidFill>
                  <a:srgbClr val="FF0000"/>
                </a:solidFill>
                <a:latin typeface="Courier New" panose="02070309020205020404" pitchFamily="49" charset="0"/>
                <a:cs typeface="Courier New" panose="02070309020205020404" pitchFamily="49" charset="0"/>
              </a:rPr>
              <a:t>(&amp;lock);</a:t>
            </a:r>
          </a:p>
          <a:p>
            <a:r>
              <a:rPr lang="en-US" altLang="zh-CN" sz="1600" b="1" dirty="0">
                <a:latin typeface="Courier New" panose="02070309020205020404" pitchFamily="49" charset="0"/>
                <a:cs typeface="Courier New" panose="02070309020205020404" pitchFamily="49" charset="0"/>
              </a:rPr>
              <a:t>    Remove c from buffer;</a:t>
            </a:r>
          </a:p>
          <a:p>
            <a:r>
              <a:rPr lang="en-US" altLang="zh-CN" sz="1600" b="1" dirty="0">
                <a:latin typeface="Courier New" panose="02070309020205020404" pitchFamily="49" charset="0"/>
                <a:cs typeface="Courier New" panose="02070309020205020404" pitchFamily="49" charset="0"/>
              </a:rPr>
              <a:t>    count--;</a:t>
            </a:r>
          </a:p>
          <a:p>
            <a:r>
              <a:rPr lang="en-US" altLang="zh-CN" sz="1600" b="1" dirty="0">
                <a:latin typeface="Courier New" panose="02070309020205020404" pitchFamily="49" charset="0"/>
                <a:cs typeface="Courier New" panose="02070309020205020404" pitchFamily="49" charset="0"/>
              </a:rPr>
              <a:t>    </a:t>
            </a:r>
            <a:r>
              <a:rPr lang="en-US" altLang="zh-CN" sz="1600" b="1" dirty="0" err="1">
                <a:solidFill>
                  <a:srgbClr val="FF0000"/>
                </a:solidFill>
                <a:latin typeface="Courier New" panose="02070309020205020404" pitchFamily="49" charset="0"/>
                <a:cs typeface="Courier New" panose="02070309020205020404" pitchFamily="49" charset="0"/>
              </a:rPr>
              <a:t>notFull.Signal</a:t>
            </a:r>
            <a:r>
              <a:rPr lang="en-US" altLang="zh-CN" sz="1600" b="1" dirty="0">
                <a:solidFill>
                  <a:srgbClr val="FF0000"/>
                </a:solidFill>
                <a:latin typeface="Courier New" panose="02070309020205020404" pitchFamily="49" charset="0"/>
                <a:cs typeface="Courier New" panose="02070309020205020404" pitchFamily="49" charset="0"/>
              </a:rPr>
              <a:t>();</a:t>
            </a:r>
          </a:p>
          <a:p>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647C6"/>
                </a:solidFill>
                <a:latin typeface="Courier New" panose="02070309020205020404" pitchFamily="49" charset="0"/>
                <a:cs typeface="Courier New" panose="02070309020205020404" pitchFamily="49" charset="0"/>
              </a:rPr>
              <a:t>lock-&gt;Release();</a:t>
            </a:r>
          </a:p>
          <a:p>
            <a:r>
              <a:rPr lang="en-US" altLang="zh-CN" sz="1600" b="1" dirty="0">
                <a:latin typeface="Courier New" panose="02070309020205020404" pitchFamily="49" charset="0"/>
                <a:cs typeface="Courier New" panose="02070309020205020404" pitchFamily="49" charset="0"/>
              </a:rPr>
              <a:t>}</a:t>
            </a:r>
          </a:p>
        </p:txBody>
      </p:sp>
      <p:sp>
        <p:nvSpPr>
          <p:cNvPr id="16" name="Text Box 5"/>
          <p:cNvSpPr txBox="1">
            <a:spLocks noChangeArrowheads="1"/>
          </p:cNvSpPr>
          <p:nvPr/>
        </p:nvSpPr>
        <p:spPr bwMode="auto">
          <a:xfrm>
            <a:off x="3640460" y="1844824"/>
            <a:ext cx="4191000" cy="1569660"/>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err="1">
                <a:latin typeface="Courier New" panose="02070309020205020404" pitchFamily="49" charset="0"/>
                <a:ea typeface="宋体" charset="0"/>
                <a:cs typeface="Courier New" panose="02070309020205020404" pitchFamily="49" charset="0"/>
              </a:rPr>
              <a:t>classBoundedBuffer</a:t>
            </a:r>
            <a:r>
              <a:rPr lang="en-US" altLang="zh-CN" sz="1600" b="1" dirty="0">
                <a:latin typeface="Courier New" panose="02070309020205020404" pitchFamily="49" charset="0"/>
                <a:ea typeface="宋体" charset="0"/>
                <a:cs typeface="Courier New" panose="02070309020205020404" pitchFamily="49" charset="0"/>
              </a:rPr>
              <a:t> {</a:t>
            </a:r>
          </a:p>
          <a:p>
            <a:pPr eaLnBrk="1" hangingPunct="1">
              <a:buFont typeface="Monotype Sorts" charset="0"/>
              <a:buNone/>
            </a:pPr>
            <a:r>
              <a:rPr lang="en-US" altLang="zh-CN" sz="1600" b="1" dirty="0">
                <a:latin typeface="Courier New" panose="02070309020205020404" pitchFamily="49" charset="0"/>
                <a:ea typeface="宋体" charset="0"/>
                <a:cs typeface="Courier New" panose="02070309020205020404" pitchFamily="49" charset="0"/>
              </a:rPr>
              <a:t>    …</a:t>
            </a:r>
          </a:p>
          <a:p>
            <a:pPr eaLnBrk="1" hangingPunct="1">
              <a:buFont typeface="Monotype Sorts" charset="0"/>
              <a:buNone/>
            </a:pPr>
            <a:r>
              <a:rPr lang="en-US" altLang="zh-CN" sz="1600" b="1" dirty="0">
                <a:solidFill>
                  <a:srgbClr val="FF00FF"/>
                </a:solidFill>
                <a:latin typeface="Courier New" panose="02070309020205020404" pitchFamily="49" charset="0"/>
                <a:ea typeface="宋体" charset="0"/>
                <a:cs typeface="Courier New" panose="02070309020205020404" pitchFamily="49" charset="0"/>
              </a:rPr>
              <a:t>    Lock </a:t>
            </a:r>
            <a:r>
              <a:rPr lang="en-US" altLang="zh-CN" sz="1600" b="1" dirty="0" err="1">
                <a:solidFill>
                  <a:srgbClr val="FF00FF"/>
                </a:solidFill>
                <a:latin typeface="Courier New" panose="02070309020205020404" pitchFamily="49" charset="0"/>
                <a:ea typeface="宋体" charset="0"/>
                <a:cs typeface="Courier New" panose="02070309020205020404" pitchFamily="49" charset="0"/>
              </a:rPr>
              <a:t>lock</a:t>
            </a:r>
            <a:r>
              <a:rPr lang="en-US" altLang="zh-CN" sz="1600" b="1" dirty="0">
                <a:solidFill>
                  <a:srgbClr val="FF00FF"/>
                </a:solidFill>
                <a:latin typeface="Courier New" panose="02070309020205020404" pitchFamily="49" charset="0"/>
                <a:ea typeface="宋体" charset="0"/>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宋体" charset="0"/>
                <a:cs typeface="Courier New" panose="02070309020205020404" pitchFamily="49" charset="0"/>
              </a:rPr>
              <a:t>    </a:t>
            </a:r>
            <a:r>
              <a:rPr lang="en-US" altLang="zh-CN" sz="1600" b="1" dirty="0" err="1">
                <a:latin typeface="Courier New" panose="02070309020205020404" pitchFamily="49" charset="0"/>
                <a:ea typeface="宋体" charset="0"/>
                <a:cs typeface="Courier New" panose="02070309020205020404" pitchFamily="49" charset="0"/>
              </a:rPr>
              <a:t>int</a:t>
            </a:r>
            <a:r>
              <a:rPr lang="en-US" altLang="zh-CN" sz="1600" b="1" dirty="0">
                <a:latin typeface="Courier New" panose="02070309020205020404" pitchFamily="49" charset="0"/>
                <a:ea typeface="宋体" charset="0"/>
                <a:cs typeface="Courier New" panose="02070309020205020404" pitchFamily="49" charset="0"/>
              </a:rPr>
              <a:t> count = 0;</a:t>
            </a:r>
          </a:p>
          <a:p>
            <a:pPr eaLnBrk="1" hangingPunct="1">
              <a:buFont typeface="Monotype Sorts" charset="0"/>
              <a:buNone/>
            </a:pPr>
            <a:r>
              <a:rPr lang="en-US" altLang="zh-CN" sz="1600" b="1" dirty="0">
                <a:solidFill>
                  <a:srgbClr val="FF0000"/>
                </a:solidFill>
                <a:latin typeface="Courier New" panose="02070309020205020404" pitchFamily="49" charset="0"/>
                <a:ea typeface="宋体" charset="0"/>
                <a:cs typeface="Courier New" panose="02070309020205020404" pitchFamily="49" charset="0"/>
              </a:rPr>
              <a:t>    Condition </a:t>
            </a:r>
            <a:r>
              <a:rPr lang="en-US" altLang="zh-CN" sz="1600" b="1" dirty="0" err="1">
                <a:solidFill>
                  <a:srgbClr val="FF0000"/>
                </a:solidFill>
                <a:latin typeface="Courier New" panose="02070309020205020404" pitchFamily="49" charset="0"/>
                <a:ea typeface="宋体" charset="0"/>
                <a:cs typeface="Courier New" panose="02070309020205020404" pitchFamily="49" charset="0"/>
              </a:rPr>
              <a:t>notFull</a:t>
            </a:r>
            <a:r>
              <a:rPr lang="en-US" altLang="zh-CN" sz="1600" b="1" dirty="0">
                <a:solidFill>
                  <a:srgbClr val="FF0000"/>
                </a:solidFill>
                <a:latin typeface="Courier New" panose="02070309020205020404" pitchFamily="49" charset="0"/>
                <a:ea typeface="宋体" charset="0"/>
                <a:cs typeface="Courier New" panose="02070309020205020404" pitchFamily="49" charset="0"/>
              </a:rPr>
              <a:t>, </a:t>
            </a:r>
            <a:r>
              <a:rPr lang="en-US" altLang="zh-CN" sz="1600" b="1" dirty="0" err="1">
                <a:solidFill>
                  <a:srgbClr val="FF0000"/>
                </a:solidFill>
                <a:latin typeface="Courier New" panose="02070309020205020404" pitchFamily="49" charset="0"/>
                <a:ea typeface="宋体" charset="0"/>
                <a:cs typeface="Courier New" panose="02070309020205020404" pitchFamily="49" charset="0"/>
              </a:rPr>
              <a:t>notEmpty</a:t>
            </a:r>
            <a:r>
              <a:rPr lang="en-US" altLang="zh-CN" sz="1600" b="1" dirty="0">
                <a:solidFill>
                  <a:srgbClr val="FF0000"/>
                </a:solidFill>
                <a:latin typeface="Courier New" panose="02070309020205020404" pitchFamily="49" charset="0"/>
                <a:ea typeface="宋体" charset="0"/>
                <a:cs typeface="Courier New" panose="02070309020205020404" pitchFamily="49" charset="0"/>
              </a:rPr>
              <a:t>;</a:t>
            </a:r>
            <a:endParaRPr lang="en-US" altLang="zh-CN" sz="1600" b="1" dirty="0">
              <a:latin typeface="Courier New" panose="02070309020205020404" pitchFamily="49" charset="0"/>
              <a:ea typeface="宋体" charset="0"/>
              <a:cs typeface="Courier New" panose="02070309020205020404" pitchFamily="49" charset="0"/>
            </a:endParaRPr>
          </a:p>
          <a:p>
            <a:pPr eaLnBrk="1" hangingPunct="1">
              <a:buFont typeface="Monotype Sorts" charset="0"/>
              <a:buNone/>
            </a:pPr>
            <a:r>
              <a:rPr lang="en-US" altLang="zh-CN" sz="1600" b="1" dirty="0">
                <a:latin typeface="Courier New" panose="02070309020205020404" pitchFamily="49" charset="0"/>
                <a:ea typeface="宋体" charset="0"/>
                <a:cs typeface="Courier New" panose="02070309020205020404" pitchFamily="49" charset="0"/>
              </a:rPr>
              <a:t>}</a:t>
            </a:r>
          </a:p>
        </p:txBody>
      </p:sp>
      <p:cxnSp>
        <p:nvCxnSpPr>
          <p:cNvPr id="6" name="直接箭头连接符 5"/>
          <p:cNvCxnSpPr/>
          <p:nvPr/>
        </p:nvCxnSpPr>
        <p:spPr>
          <a:xfrm flipH="1">
            <a:off x="4799856" y="4221088"/>
            <a:ext cx="1728192" cy="936104"/>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 name="标题 1">
            <a:extLst>
              <a:ext uri="{FF2B5EF4-FFF2-40B4-BE49-F238E27FC236}">
                <a16:creationId xmlns:a16="http://schemas.microsoft.com/office/drawing/2014/main" id="{94E4AD59-1D90-836C-64F2-6F0BD5FE9172}"/>
              </a:ext>
            </a:extLst>
          </p:cNvPr>
          <p:cNvSpPr>
            <a:spLocks noGrp="1"/>
          </p:cNvSpPr>
          <p:nvPr>
            <p:ph type="title"/>
          </p:nvPr>
        </p:nvSpPr>
        <p:spPr/>
        <p:txBody>
          <a:bodyPr>
            <a:normAutofit/>
          </a:bodyPr>
          <a:lstStyle/>
          <a:p>
            <a:r>
              <a:rPr lang="zh-CN" altLang="en-US" dirty="0"/>
              <a:t>用管程解决生产者</a:t>
            </a:r>
            <a:r>
              <a:rPr lang="en-US" altLang="zh-CN" dirty="0"/>
              <a:t>-</a:t>
            </a:r>
            <a:r>
              <a:rPr lang="zh-CN" altLang="en-US" dirty="0"/>
              <a:t>消费者问题</a:t>
            </a:r>
          </a:p>
        </p:txBody>
      </p:sp>
    </p:spTree>
    <p:extLst>
      <p:ext uri="{BB962C8B-B14F-4D97-AF65-F5344CB8AC3E}">
        <p14:creationId xmlns:p14="http://schemas.microsoft.com/office/powerpoint/2010/main" val="211615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27719" y="1857364"/>
            <a:ext cx="2084033" cy="428628"/>
            <a:chOff x="597243" y="1000114"/>
            <a:chExt cx="2084033" cy="428628"/>
          </a:xfrm>
        </p:grpSpPr>
        <p:sp>
          <p:nvSpPr>
            <p:cNvPr id="9" name="内容占位符 2"/>
            <p:cNvSpPr txBox="1">
              <a:spLocks/>
            </p:cNvSpPr>
            <p:nvPr/>
          </p:nvSpPr>
          <p:spPr>
            <a:xfrm>
              <a:off x="895326" y="1000114"/>
              <a:ext cx="1785950"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defRPr/>
              </a:pPr>
              <a:r>
                <a:rPr lang="en-US" altLang="zh-CN" dirty="0"/>
                <a:t>Hansen</a:t>
              </a:r>
              <a:r>
                <a:rPr lang="zh-CN" altLang="en-US" dirty="0"/>
                <a:t>管程</a:t>
              </a:r>
            </a:p>
          </p:txBody>
        </p:sp>
        <p:sp>
          <p:nvSpPr>
            <p:cNvPr id="12" name="TextBox 11"/>
            <p:cNvSpPr txBox="1"/>
            <p:nvPr/>
          </p:nvSpPr>
          <p:spPr>
            <a:xfrm>
              <a:off x="597243" y="100011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7" name="组合 6"/>
          <p:cNvGrpSpPr/>
          <p:nvPr/>
        </p:nvGrpSpPr>
        <p:grpSpPr>
          <a:xfrm>
            <a:off x="2950478" y="2200040"/>
            <a:ext cx="3426584" cy="428628"/>
            <a:chOff x="1020004" y="1342790"/>
            <a:chExt cx="3426584" cy="428628"/>
          </a:xfrm>
        </p:grpSpPr>
        <p:sp>
          <p:nvSpPr>
            <p:cNvPr id="15" name="内容占位符 2"/>
            <p:cNvSpPr txBox="1">
              <a:spLocks/>
            </p:cNvSpPr>
            <p:nvPr/>
          </p:nvSpPr>
          <p:spPr>
            <a:xfrm>
              <a:off x="1160440" y="1342790"/>
              <a:ext cx="3286148"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zh-CN" altLang="en-US" dirty="0"/>
                <a:t>主要用于真实</a:t>
              </a:r>
              <a:r>
                <a:rPr lang="en-US" altLang="zh-CN" dirty="0"/>
                <a:t>OS</a:t>
              </a:r>
              <a:r>
                <a:rPr lang="zh-CN" altLang="en-US" dirty="0"/>
                <a:t>和</a:t>
              </a:r>
              <a:r>
                <a:rPr lang="en-US" altLang="zh-CN" dirty="0"/>
                <a:t>Java</a:t>
              </a:r>
              <a:r>
                <a:rPr lang="zh-CN" altLang="en-US" dirty="0"/>
                <a:t>中</a:t>
              </a:r>
            </a:p>
          </p:txBody>
        </p:sp>
        <p:pic>
          <p:nvPicPr>
            <p:cNvPr id="11" name="图片 10" descr="小点1.png"/>
            <p:cNvPicPr>
              <a:picLocks noChangeAspect="1"/>
            </p:cNvPicPr>
            <p:nvPr/>
          </p:nvPicPr>
          <p:blipFill>
            <a:blip r:embed="rId2" cstate="print"/>
            <a:stretch>
              <a:fillRect/>
            </a:stretch>
          </p:blipFill>
          <p:spPr>
            <a:xfrm>
              <a:off x="1020004" y="1449380"/>
              <a:ext cx="151066" cy="148997"/>
            </a:xfrm>
            <a:prstGeom prst="rect">
              <a:avLst/>
            </a:prstGeom>
            <a:effectLst/>
          </p:spPr>
        </p:pic>
      </p:grpSp>
      <p:grpSp>
        <p:nvGrpSpPr>
          <p:cNvPr id="2" name="组合 1"/>
          <p:cNvGrpSpPr/>
          <p:nvPr/>
        </p:nvGrpSpPr>
        <p:grpSpPr>
          <a:xfrm>
            <a:off x="6329809" y="1857364"/>
            <a:ext cx="2084033" cy="428628"/>
            <a:chOff x="4399333" y="1000114"/>
            <a:chExt cx="2084033" cy="428628"/>
          </a:xfrm>
        </p:grpSpPr>
        <p:sp>
          <p:nvSpPr>
            <p:cNvPr id="13" name="内容占位符 2"/>
            <p:cNvSpPr txBox="1">
              <a:spLocks/>
            </p:cNvSpPr>
            <p:nvPr/>
          </p:nvSpPr>
          <p:spPr>
            <a:xfrm>
              <a:off x="4697416" y="1000114"/>
              <a:ext cx="1785950"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defRPr/>
              </a:pPr>
              <a:r>
                <a:rPr lang="en-US" altLang="zh-CN" dirty="0"/>
                <a:t>Hoare</a:t>
              </a:r>
              <a:r>
                <a:rPr lang="zh-CN" altLang="en-US" dirty="0"/>
                <a:t>管程</a:t>
              </a:r>
            </a:p>
          </p:txBody>
        </p:sp>
        <p:sp>
          <p:nvSpPr>
            <p:cNvPr id="14" name="TextBox 13"/>
            <p:cNvSpPr txBox="1"/>
            <p:nvPr/>
          </p:nvSpPr>
          <p:spPr>
            <a:xfrm>
              <a:off x="4399333" y="100011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10" name="组合 9"/>
          <p:cNvGrpSpPr/>
          <p:nvPr/>
        </p:nvGrpSpPr>
        <p:grpSpPr>
          <a:xfrm>
            <a:off x="6747336" y="2200040"/>
            <a:ext cx="2360246" cy="428628"/>
            <a:chOff x="4816862" y="1342790"/>
            <a:chExt cx="2360246" cy="428628"/>
          </a:xfrm>
        </p:grpSpPr>
        <p:sp>
          <p:nvSpPr>
            <p:cNvPr id="21" name="内容占位符 2"/>
            <p:cNvSpPr txBox="1">
              <a:spLocks/>
            </p:cNvSpPr>
            <p:nvPr/>
          </p:nvSpPr>
          <p:spPr>
            <a:xfrm>
              <a:off x="4962530" y="1342790"/>
              <a:ext cx="2214578"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zh-CN" altLang="en-US" dirty="0"/>
                <a:t>主要见于教材中</a:t>
              </a:r>
            </a:p>
          </p:txBody>
        </p:sp>
        <p:pic>
          <p:nvPicPr>
            <p:cNvPr id="22" name="图片 21" descr="小点1.png"/>
            <p:cNvPicPr>
              <a:picLocks noChangeAspect="1"/>
            </p:cNvPicPr>
            <p:nvPr/>
          </p:nvPicPr>
          <p:blipFill>
            <a:blip r:embed="rId2" cstate="print"/>
            <a:stretch>
              <a:fillRect/>
            </a:stretch>
          </p:blipFill>
          <p:spPr>
            <a:xfrm>
              <a:off x="4816862" y="1449380"/>
              <a:ext cx="151066" cy="148997"/>
            </a:xfrm>
            <a:prstGeom prst="rect">
              <a:avLst/>
            </a:prstGeom>
            <a:effectLst/>
          </p:spPr>
        </p:pic>
      </p:grpSp>
      <p:sp>
        <p:nvSpPr>
          <p:cNvPr id="23" name="Line 4"/>
          <p:cNvSpPr>
            <a:spLocks noChangeShapeType="1"/>
          </p:cNvSpPr>
          <p:nvPr/>
        </p:nvSpPr>
        <p:spPr bwMode="auto">
          <a:xfrm flipV="1">
            <a:off x="6254824" y="1761316"/>
            <a:ext cx="0" cy="4068000"/>
          </a:xfrm>
          <a:prstGeom prst="line">
            <a:avLst/>
          </a:prstGeom>
          <a:noFill/>
          <a:ln w="38100">
            <a:solidFill>
              <a:srgbClr val="11576A"/>
            </a:solidFill>
            <a:round/>
            <a:headEnd/>
            <a:tailEnd/>
          </a:ln>
          <a:extLst>
            <a:ext uri="{909E8E84-426E-40dd-AFC4-6F175D3DCCD1}">
              <a14:hiddenFill xmlns:a14="http://schemas.microsoft.com/office/drawing/2010/main" xmlns="">
                <a:noFill/>
              </a14:hiddenFill>
            </a:ext>
          </a:extLst>
        </p:spPr>
        <p:txBody>
          <a:bodyPr/>
          <a:lstStyle/>
          <a:p>
            <a:endParaRPr lang="zh-CN" altLang="en-US" sz="1600" b="1">
              <a:solidFill>
                <a:srgbClr val="11576A"/>
              </a:solidFill>
              <a:latin typeface="+mn-ea"/>
            </a:endParaRPr>
          </a:p>
        </p:txBody>
      </p:sp>
      <p:grpSp>
        <p:nvGrpSpPr>
          <p:cNvPr id="4" name="组合 3"/>
          <p:cNvGrpSpPr/>
          <p:nvPr/>
        </p:nvGrpSpPr>
        <p:grpSpPr>
          <a:xfrm>
            <a:off x="2673424" y="2636410"/>
            <a:ext cx="2773060" cy="864028"/>
            <a:chOff x="742950" y="1779160"/>
            <a:chExt cx="2773060" cy="864028"/>
          </a:xfrm>
        </p:grpSpPr>
        <p:sp>
          <p:nvSpPr>
            <p:cNvPr id="24" name="Text Box 5"/>
            <p:cNvSpPr txBox="1">
              <a:spLocks noChangeArrowheads="1"/>
            </p:cNvSpPr>
            <p:nvPr/>
          </p:nvSpPr>
          <p:spPr bwMode="auto">
            <a:xfrm>
              <a:off x="742950" y="1779160"/>
              <a:ext cx="1524000" cy="830997"/>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err="1">
                  <a:latin typeface="Courier New" panose="02070309020205020404" pitchFamily="49" charset="0"/>
                  <a:ea typeface="+mn-ea"/>
                  <a:cs typeface="Courier New" panose="02070309020205020404" pitchFamily="49" charset="0"/>
                </a:rPr>
                <a:t>l.acquire</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err="1">
                  <a:latin typeface="Courier New" panose="02070309020205020404" pitchFamily="49" charset="0"/>
                  <a:ea typeface="+mn-ea"/>
                  <a:cs typeface="Courier New" panose="02070309020205020404" pitchFamily="49" charset="0"/>
                </a:rPr>
                <a:t>x.wait</a:t>
              </a:r>
              <a:r>
                <a:rPr lang="en-US" altLang="zh-CN" sz="1600" b="1" dirty="0">
                  <a:latin typeface="Courier New" panose="02070309020205020404" pitchFamily="49" charset="0"/>
                  <a:ea typeface="+mn-ea"/>
                  <a:cs typeface="Courier New" panose="02070309020205020404" pitchFamily="49" charset="0"/>
                </a:rPr>
                <a:t>()</a:t>
              </a:r>
            </a:p>
          </p:txBody>
        </p:sp>
        <p:sp>
          <p:nvSpPr>
            <p:cNvPr id="27" name="Text Box 11"/>
            <p:cNvSpPr txBox="1">
              <a:spLocks noChangeArrowheads="1"/>
            </p:cNvSpPr>
            <p:nvPr/>
          </p:nvSpPr>
          <p:spPr bwMode="auto">
            <a:xfrm>
              <a:off x="2266950" y="2304634"/>
              <a:ext cx="1249060"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solidFill>
                    <a:srgbClr val="11576A"/>
                  </a:solidFill>
                  <a:latin typeface="+mn-ea"/>
                  <a:ea typeface="+mn-ea"/>
                  <a:cs typeface="宋体" charset="0"/>
                </a:rPr>
                <a:t>T1</a:t>
              </a:r>
              <a:r>
                <a:rPr lang="zh-CN" altLang="en-US" sz="1600" b="1" dirty="0">
                  <a:solidFill>
                    <a:srgbClr val="11576A"/>
                  </a:solidFill>
                  <a:latin typeface="+mn-ea"/>
                  <a:ea typeface="+mn-ea"/>
                  <a:cs typeface="宋体" charset="0"/>
                </a:rPr>
                <a:t>进入等待</a:t>
              </a:r>
              <a:endParaRPr lang="en-US" altLang="zh-CN" sz="1600" b="1" dirty="0">
                <a:solidFill>
                  <a:srgbClr val="11576A"/>
                </a:solidFill>
                <a:latin typeface="+mn-ea"/>
                <a:ea typeface="+mn-ea"/>
                <a:cs typeface="宋体" charset="0"/>
              </a:endParaRPr>
            </a:p>
          </p:txBody>
        </p:sp>
      </p:grpSp>
      <p:grpSp>
        <p:nvGrpSpPr>
          <p:cNvPr id="6" name="组合 5"/>
          <p:cNvGrpSpPr/>
          <p:nvPr/>
        </p:nvGrpSpPr>
        <p:grpSpPr>
          <a:xfrm>
            <a:off x="2673426" y="4929200"/>
            <a:ext cx="3196253" cy="584775"/>
            <a:chOff x="742950" y="4071948"/>
            <a:chExt cx="3196253" cy="584775"/>
          </a:xfrm>
        </p:grpSpPr>
        <p:sp>
          <p:nvSpPr>
            <p:cNvPr id="26" name="Text Box 8"/>
            <p:cNvSpPr txBox="1">
              <a:spLocks noChangeArrowheads="1"/>
            </p:cNvSpPr>
            <p:nvPr/>
          </p:nvSpPr>
          <p:spPr bwMode="auto">
            <a:xfrm>
              <a:off x="742950" y="4071948"/>
              <a:ext cx="1524000" cy="584775"/>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a:latin typeface="Courier New" panose="02070309020205020404" pitchFamily="49" charset="0"/>
                  <a:ea typeface="+mn-ea"/>
                  <a:cs typeface="Courier New" panose="02070309020205020404" pitchFamily="49" charset="0"/>
                </a:rPr>
                <a:t>l.release()</a:t>
              </a:r>
            </a:p>
          </p:txBody>
        </p:sp>
        <p:sp>
          <p:nvSpPr>
            <p:cNvPr id="29" name="Text Box 14"/>
            <p:cNvSpPr txBox="1">
              <a:spLocks noChangeArrowheads="1"/>
            </p:cNvSpPr>
            <p:nvPr/>
          </p:nvSpPr>
          <p:spPr bwMode="auto">
            <a:xfrm>
              <a:off x="2266950" y="4087823"/>
              <a:ext cx="1672253"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solidFill>
                    <a:srgbClr val="11576A"/>
                  </a:solidFill>
                  <a:latin typeface="+mn-ea"/>
                  <a:ea typeface="+mn-ea"/>
                  <a:cs typeface="宋体" charset="0"/>
                </a:rPr>
                <a:t>T1</a:t>
              </a:r>
              <a:r>
                <a:rPr lang="zh-CN" altLang="en-US" sz="1600" b="1" dirty="0">
                  <a:solidFill>
                    <a:srgbClr val="11576A"/>
                  </a:solidFill>
                  <a:latin typeface="+mn-ea"/>
                  <a:ea typeface="+mn-ea"/>
                  <a:cs typeface="宋体" charset="0"/>
                </a:rPr>
                <a:t>恢复管程执行</a:t>
              </a:r>
              <a:endParaRPr lang="en-US" altLang="zh-CN" sz="1600" b="1" dirty="0">
                <a:solidFill>
                  <a:srgbClr val="11576A"/>
                </a:solidFill>
                <a:latin typeface="+mn-ea"/>
                <a:ea typeface="+mn-ea"/>
                <a:cs typeface="宋体" charset="0"/>
              </a:endParaRPr>
            </a:p>
          </p:txBody>
        </p:sp>
      </p:grpSp>
      <p:grpSp>
        <p:nvGrpSpPr>
          <p:cNvPr id="5" name="组合 4"/>
          <p:cNvGrpSpPr/>
          <p:nvPr/>
        </p:nvGrpSpPr>
        <p:grpSpPr>
          <a:xfrm>
            <a:off x="3262114" y="3527012"/>
            <a:ext cx="2764110" cy="1352412"/>
            <a:chOff x="1331640" y="2669762"/>
            <a:chExt cx="2764110" cy="1352412"/>
          </a:xfrm>
        </p:grpSpPr>
        <p:sp>
          <p:nvSpPr>
            <p:cNvPr id="25" name="Text Box 7"/>
            <p:cNvSpPr txBox="1">
              <a:spLocks noChangeArrowheads="1"/>
            </p:cNvSpPr>
            <p:nvPr/>
          </p:nvSpPr>
          <p:spPr bwMode="auto">
            <a:xfrm>
              <a:off x="2571750" y="2698735"/>
              <a:ext cx="1524000" cy="1323439"/>
            </a:xfrm>
            <a:prstGeom prst="rect">
              <a:avLst/>
            </a:prstGeom>
            <a:gradFill>
              <a:gsLst>
                <a:gs pos="100000">
                  <a:srgbClr val="33FFFF"/>
                </a:gs>
                <a:gs pos="0">
                  <a:srgbClr val="CCFFFF"/>
                </a:gs>
                <a:gs pos="100000">
                  <a:schemeClr val="accent1">
                    <a:tint val="23500"/>
                    <a:satMod val="160000"/>
                  </a:schemeClr>
                </a:gs>
              </a:gsLst>
              <a:lin ang="5400000" scaled="0"/>
            </a:gradFill>
            <a:ln w="19050">
              <a:solidFill>
                <a:schemeClr val="tx1"/>
              </a:solidFill>
            </a:ln>
            <a:effectLst/>
          </p:spPr>
          <p:txBody>
            <a:bodyPr>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err="1">
                  <a:latin typeface="Courier New" panose="02070309020205020404" pitchFamily="49" charset="0"/>
                  <a:ea typeface="+mn-ea"/>
                  <a:cs typeface="Courier New" panose="02070309020205020404" pitchFamily="49" charset="0"/>
                </a:rPr>
                <a:t>l.acquire</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err="1">
                  <a:latin typeface="Courier New" panose="02070309020205020404" pitchFamily="49" charset="0"/>
                  <a:ea typeface="+mn-ea"/>
                  <a:cs typeface="Courier New" panose="02070309020205020404" pitchFamily="49" charset="0"/>
                </a:rPr>
                <a:t>x.signal</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err="1">
                  <a:latin typeface="Courier New" panose="02070309020205020404" pitchFamily="49" charset="0"/>
                  <a:ea typeface="+mn-ea"/>
                  <a:cs typeface="Courier New" panose="02070309020205020404" pitchFamily="49" charset="0"/>
                </a:rPr>
                <a:t>l.release</a:t>
              </a:r>
              <a:r>
                <a:rPr lang="en-US" altLang="zh-CN" sz="1600" b="1" dirty="0">
                  <a:latin typeface="Courier New" panose="02070309020205020404" pitchFamily="49" charset="0"/>
                  <a:ea typeface="+mn-ea"/>
                  <a:cs typeface="Courier New" panose="02070309020205020404" pitchFamily="49" charset="0"/>
                </a:rPr>
                <a:t>()</a:t>
              </a:r>
            </a:p>
          </p:txBody>
        </p:sp>
        <p:sp>
          <p:nvSpPr>
            <p:cNvPr id="28" name="Text Box 12"/>
            <p:cNvSpPr txBox="1">
              <a:spLocks noChangeArrowheads="1"/>
            </p:cNvSpPr>
            <p:nvPr/>
          </p:nvSpPr>
          <p:spPr bwMode="auto">
            <a:xfrm>
              <a:off x="1331640" y="2669762"/>
              <a:ext cx="1249060"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solidFill>
                    <a:srgbClr val="11576A"/>
                  </a:solidFill>
                  <a:latin typeface="+mn-ea"/>
                  <a:ea typeface="+mn-ea"/>
                  <a:cs typeface="宋体" charset="0"/>
                </a:rPr>
                <a:t>T2</a:t>
              </a:r>
              <a:r>
                <a:rPr lang="zh-CN" altLang="en-US" sz="1600" b="1" dirty="0">
                  <a:solidFill>
                    <a:srgbClr val="11576A"/>
                  </a:solidFill>
                  <a:latin typeface="+mn-ea"/>
                  <a:ea typeface="+mn-ea"/>
                  <a:cs typeface="宋体" charset="0"/>
                </a:rPr>
                <a:t>进入管程</a:t>
              </a:r>
              <a:endParaRPr lang="en-US" altLang="zh-CN" sz="1600" b="1" dirty="0">
                <a:solidFill>
                  <a:srgbClr val="11576A"/>
                </a:solidFill>
                <a:latin typeface="+mn-ea"/>
                <a:ea typeface="+mn-ea"/>
                <a:cs typeface="宋体" charset="0"/>
              </a:endParaRPr>
            </a:p>
          </p:txBody>
        </p:sp>
        <p:sp>
          <p:nvSpPr>
            <p:cNvPr id="30" name="Text Box 15"/>
            <p:cNvSpPr txBox="1">
              <a:spLocks noChangeArrowheads="1"/>
            </p:cNvSpPr>
            <p:nvPr/>
          </p:nvSpPr>
          <p:spPr bwMode="auto">
            <a:xfrm>
              <a:off x="1378724" y="3673356"/>
              <a:ext cx="1249060"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solidFill>
                    <a:srgbClr val="11576A"/>
                  </a:solidFill>
                  <a:latin typeface="+mn-ea"/>
                  <a:ea typeface="+mn-ea"/>
                  <a:cs typeface="宋体" charset="0"/>
                </a:rPr>
                <a:t>T2</a:t>
              </a:r>
              <a:r>
                <a:rPr lang="zh-CN" altLang="en-US" sz="1600" b="1" dirty="0">
                  <a:solidFill>
                    <a:srgbClr val="11576A"/>
                  </a:solidFill>
                  <a:latin typeface="+mn-ea"/>
                  <a:ea typeface="+mn-ea"/>
                  <a:cs typeface="宋体" charset="0"/>
                </a:rPr>
                <a:t>退出管程</a:t>
              </a:r>
              <a:endParaRPr lang="en-US" altLang="zh-CN" sz="1600" b="1" dirty="0">
                <a:solidFill>
                  <a:srgbClr val="11576A"/>
                </a:solidFill>
                <a:latin typeface="+mn-ea"/>
                <a:ea typeface="+mn-ea"/>
                <a:cs typeface="宋体" charset="0"/>
              </a:endParaRPr>
            </a:p>
          </p:txBody>
        </p:sp>
      </p:grpSp>
      <p:grpSp>
        <p:nvGrpSpPr>
          <p:cNvPr id="16" name="组合 15"/>
          <p:cNvGrpSpPr/>
          <p:nvPr/>
        </p:nvGrpSpPr>
        <p:grpSpPr>
          <a:xfrm>
            <a:off x="6559626" y="2636410"/>
            <a:ext cx="2784281" cy="838628"/>
            <a:chOff x="4629150" y="1779160"/>
            <a:chExt cx="2784281" cy="838628"/>
          </a:xfrm>
        </p:grpSpPr>
        <p:sp>
          <p:nvSpPr>
            <p:cNvPr id="31" name="Text Box 20"/>
            <p:cNvSpPr txBox="1">
              <a:spLocks noChangeArrowheads="1"/>
            </p:cNvSpPr>
            <p:nvPr/>
          </p:nvSpPr>
          <p:spPr bwMode="auto">
            <a:xfrm>
              <a:off x="4629150" y="1779160"/>
              <a:ext cx="1524000" cy="830997"/>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err="1">
                  <a:latin typeface="Courier New" panose="02070309020205020404" pitchFamily="49" charset="0"/>
                  <a:ea typeface="+mn-ea"/>
                  <a:cs typeface="Courier New" panose="02070309020205020404" pitchFamily="49" charset="0"/>
                </a:rPr>
                <a:t>l.acquire</a:t>
              </a: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err="1">
                  <a:latin typeface="Courier New" panose="02070309020205020404" pitchFamily="49" charset="0"/>
                  <a:ea typeface="+mn-ea"/>
                  <a:cs typeface="Courier New" panose="02070309020205020404" pitchFamily="49" charset="0"/>
                </a:rPr>
                <a:t>x.wait</a:t>
              </a:r>
              <a:r>
                <a:rPr lang="en-US" altLang="zh-CN" sz="1600" b="1" dirty="0">
                  <a:latin typeface="Courier New" panose="02070309020205020404" pitchFamily="49" charset="0"/>
                  <a:ea typeface="+mn-ea"/>
                  <a:cs typeface="Courier New" panose="02070309020205020404" pitchFamily="49" charset="0"/>
                </a:rPr>
                <a:t>()</a:t>
              </a:r>
            </a:p>
          </p:txBody>
        </p:sp>
        <p:sp>
          <p:nvSpPr>
            <p:cNvPr id="35" name="Text Box 24"/>
            <p:cNvSpPr txBox="1">
              <a:spLocks noChangeArrowheads="1"/>
            </p:cNvSpPr>
            <p:nvPr/>
          </p:nvSpPr>
          <p:spPr bwMode="auto">
            <a:xfrm>
              <a:off x="6153150" y="2279234"/>
              <a:ext cx="1260281"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r>
                <a:rPr lang="en-US" altLang="zh-CN" sz="1600" b="1" dirty="0">
                  <a:solidFill>
                    <a:srgbClr val="11576A"/>
                  </a:solidFill>
                  <a:latin typeface="+mn-ea"/>
                  <a:ea typeface="+mn-ea"/>
                  <a:cs typeface="宋体" charset="0"/>
                </a:rPr>
                <a:t>T1</a:t>
              </a:r>
              <a:r>
                <a:rPr lang="zh-CN" altLang="en-US" sz="1600" b="1" dirty="0">
                  <a:solidFill>
                    <a:srgbClr val="11576A"/>
                  </a:solidFill>
                  <a:latin typeface="+mn-ea"/>
                  <a:ea typeface="+mn-ea"/>
                  <a:cs typeface="宋体" charset="0"/>
                </a:rPr>
                <a:t>进入等待</a:t>
              </a:r>
            </a:p>
          </p:txBody>
        </p:sp>
      </p:grpSp>
      <p:grpSp>
        <p:nvGrpSpPr>
          <p:cNvPr id="18" name="组合 17"/>
          <p:cNvGrpSpPr/>
          <p:nvPr/>
        </p:nvGrpSpPr>
        <p:grpSpPr>
          <a:xfrm>
            <a:off x="6559624" y="4500570"/>
            <a:ext cx="3194650" cy="694154"/>
            <a:chOff x="4629150" y="3643320"/>
            <a:chExt cx="3194650" cy="694154"/>
          </a:xfrm>
        </p:grpSpPr>
        <p:sp>
          <p:nvSpPr>
            <p:cNvPr id="33" name="Text Box 22"/>
            <p:cNvSpPr txBox="1">
              <a:spLocks noChangeArrowheads="1"/>
            </p:cNvSpPr>
            <p:nvPr/>
          </p:nvSpPr>
          <p:spPr bwMode="auto">
            <a:xfrm>
              <a:off x="4629150" y="3690945"/>
              <a:ext cx="1524000" cy="584775"/>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txBody>
            <a:bodyPr>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dirty="0" err="1">
                  <a:latin typeface="Courier New" panose="02070309020205020404" pitchFamily="49" charset="0"/>
                  <a:ea typeface="+mn-ea"/>
                  <a:cs typeface="Courier New" panose="02070309020205020404" pitchFamily="49" charset="0"/>
                </a:rPr>
                <a:t>l.release</a:t>
              </a:r>
              <a:r>
                <a:rPr lang="en-US" altLang="zh-CN" sz="1600" b="1" dirty="0">
                  <a:latin typeface="Courier New" panose="02070309020205020404" pitchFamily="49" charset="0"/>
                  <a:ea typeface="+mn-ea"/>
                  <a:cs typeface="Courier New" panose="02070309020205020404" pitchFamily="49" charset="0"/>
                </a:rPr>
                <a:t>()</a:t>
              </a:r>
            </a:p>
          </p:txBody>
        </p:sp>
        <p:sp>
          <p:nvSpPr>
            <p:cNvPr id="37" name="Text Box 27"/>
            <p:cNvSpPr txBox="1">
              <a:spLocks noChangeArrowheads="1"/>
            </p:cNvSpPr>
            <p:nvPr/>
          </p:nvSpPr>
          <p:spPr bwMode="auto">
            <a:xfrm>
              <a:off x="6153150" y="3643320"/>
              <a:ext cx="1670650"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r>
                <a:rPr lang="en-US" altLang="zh-CN" sz="1600" b="1" dirty="0">
                  <a:solidFill>
                    <a:srgbClr val="11576A"/>
                  </a:solidFill>
                  <a:latin typeface="+mn-ea"/>
                  <a:ea typeface="+mn-ea"/>
                  <a:cs typeface="宋体" charset="0"/>
                </a:rPr>
                <a:t>T1</a:t>
              </a:r>
              <a:r>
                <a:rPr lang="zh-CN" altLang="en-US" sz="1600" b="1" dirty="0">
                  <a:solidFill>
                    <a:srgbClr val="11576A"/>
                  </a:solidFill>
                  <a:latin typeface="+mn-ea"/>
                  <a:ea typeface="+mn-ea"/>
                  <a:cs typeface="宋体" charset="0"/>
                </a:rPr>
                <a:t>恢复管程执行</a:t>
              </a:r>
            </a:p>
          </p:txBody>
        </p:sp>
        <p:sp>
          <p:nvSpPr>
            <p:cNvPr id="39" name="Text Box 30"/>
            <p:cNvSpPr txBox="1">
              <a:spLocks noChangeArrowheads="1"/>
            </p:cNvSpPr>
            <p:nvPr/>
          </p:nvSpPr>
          <p:spPr bwMode="auto">
            <a:xfrm>
              <a:off x="6153150" y="3998920"/>
              <a:ext cx="910827"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solidFill>
                    <a:srgbClr val="11576A"/>
                  </a:solidFill>
                  <a:latin typeface="+mn-ea"/>
                  <a:ea typeface="+mn-ea"/>
                  <a:cs typeface="宋体" charset="0"/>
                </a:rPr>
                <a:t>T1 </a:t>
              </a:r>
              <a:r>
                <a:rPr lang="zh-CN" altLang="en-US" sz="1600" b="1" dirty="0">
                  <a:solidFill>
                    <a:srgbClr val="11576A"/>
                  </a:solidFill>
                  <a:latin typeface="+mn-ea"/>
                  <a:ea typeface="+mn-ea"/>
                  <a:cs typeface="宋体" charset="0"/>
                </a:rPr>
                <a:t>结束</a:t>
              </a:r>
              <a:endParaRPr lang="en-US" altLang="zh-CN" sz="1600" b="1" dirty="0">
                <a:solidFill>
                  <a:srgbClr val="11576A"/>
                </a:solidFill>
                <a:latin typeface="+mn-ea"/>
                <a:ea typeface="+mn-ea"/>
                <a:cs typeface="宋体" charset="0"/>
              </a:endParaRPr>
            </a:p>
          </p:txBody>
        </p:sp>
      </p:grpSp>
      <p:grpSp>
        <p:nvGrpSpPr>
          <p:cNvPr id="19" name="组合 18"/>
          <p:cNvGrpSpPr/>
          <p:nvPr/>
        </p:nvGrpSpPr>
        <p:grpSpPr>
          <a:xfrm>
            <a:off x="6743190" y="5194724"/>
            <a:ext cx="3169234" cy="608174"/>
            <a:chOff x="4812716" y="4337474"/>
            <a:chExt cx="3169234" cy="608174"/>
          </a:xfrm>
        </p:grpSpPr>
        <p:sp>
          <p:nvSpPr>
            <p:cNvPr id="34" name="Text Box 23"/>
            <p:cNvSpPr txBox="1">
              <a:spLocks noChangeArrowheads="1"/>
            </p:cNvSpPr>
            <p:nvPr/>
          </p:nvSpPr>
          <p:spPr bwMode="auto">
            <a:xfrm>
              <a:off x="6457950" y="4360873"/>
              <a:ext cx="1524000" cy="584775"/>
            </a:xfrm>
            <a:prstGeom prst="rect">
              <a:avLst/>
            </a:prstGeom>
            <a:gradFill>
              <a:gsLst>
                <a:gs pos="100000">
                  <a:srgbClr val="33FFFF"/>
                </a:gs>
                <a:gs pos="0">
                  <a:srgbClr val="CCFFFF"/>
                </a:gs>
                <a:gs pos="100000">
                  <a:schemeClr val="accent1">
                    <a:tint val="23500"/>
                    <a:satMod val="160000"/>
                  </a:schemeClr>
                </a:gs>
              </a:gsLst>
              <a:lin ang="5400000" scaled="0"/>
            </a:gradFill>
            <a:ln w="19050">
              <a:solidFill>
                <a:schemeClr val="tx1"/>
              </a:solidFill>
            </a:ln>
            <a:effectLst/>
          </p:spPr>
          <p:txBody>
            <a:bodyPr>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a:latin typeface="Courier New" panose="02070309020205020404" pitchFamily="49" charset="0"/>
                  <a:ea typeface="+mn-ea"/>
                  <a:cs typeface="Courier New" panose="02070309020205020404" pitchFamily="49" charset="0"/>
                </a:rPr>
                <a:t>l.release()</a:t>
              </a:r>
            </a:p>
          </p:txBody>
        </p:sp>
        <p:sp>
          <p:nvSpPr>
            <p:cNvPr id="40" name="Text Box 31"/>
            <p:cNvSpPr txBox="1">
              <a:spLocks noChangeArrowheads="1"/>
            </p:cNvSpPr>
            <p:nvPr/>
          </p:nvSpPr>
          <p:spPr bwMode="auto">
            <a:xfrm>
              <a:off x="4812716" y="4337474"/>
              <a:ext cx="1670650"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r>
                <a:rPr lang="en-US" altLang="zh-CN" sz="1600" b="1" dirty="0">
                  <a:solidFill>
                    <a:srgbClr val="11576A"/>
                  </a:solidFill>
                  <a:latin typeface="+mn-ea"/>
                  <a:ea typeface="+mn-ea"/>
                  <a:cs typeface="宋体" charset="0"/>
                </a:rPr>
                <a:t>T2</a:t>
              </a:r>
              <a:r>
                <a:rPr lang="zh-CN" altLang="en-US" sz="1600" b="1" dirty="0">
                  <a:solidFill>
                    <a:srgbClr val="11576A"/>
                  </a:solidFill>
                  <a:latin typeface="+mn-ea"/>
                  <a:ea typeface="+mn-ea"/>
                  <a:cs typeface="宋体" charset="0"/>
                </a:rPr>
                <a:t>恢复管程执行</a:t>
              </a:r>
            </a:p>
          </p:txBody>
        </p:sp>
      </p:grpSp>
      <p:grpSp>
        <p:nvGrpSpPr>
          <p:cNvPr id="17" name="组合 16"/>
          <p:cNvGrpSpPr/>
          <p:nvPr/>
        </p:nvGrpSpPr>
        <p:grpSpPr>
          <a:xfrm>
            <a:off x="7125776" y="3541033"/>
            <a:ext cx="2786648" cy="885296"/>
            <a:chOff x="5195302" y="2683783"/>
            <a:chExt cx="2786648" cy="885296"/>
          </a:xfrm>
        </p:grpSpPr>
        <p:sp>
          <p:nvSpPr>
            <p:cNvPr id="32" name="Text Box 21"/>
            <p:cNvSpPr txBox="1">
              <a:spLocks noChangeArrowheads="1"/>
            </p:cNvSpPr>
            <p:nvPr/>
          </p:nvSpPr>
          <p:spPr bwMode="auto">
            <a:xfrm>
              <a:off x="6457950" y="2713023"/>
              <a:ext cx="1524000" cy="830997"/>
            </a:xfrm>
            <a:prstGeom prst="rect">
              <a:avLst/>
            </a:prstGeom>
            <a:gradFill>
              <a:gsLst>
                <a:gs pos="100000">
                  <a:srgbClr val="33FFFF"/>
                </a:gs>
                <a:gs pos="0">
                  <a:srgbClr val="CCFFFF"/>
                </a:gs>
                <a:gs pos="100000">
                  <a:schemeClr val="accent1">
                    <a:tint val="23500"/>
                    <a:satMod val="160000"/>
                  </a:schemeClr>
                </a:gs>
              </a:gsLst>
              <a:lin ang="5400000" scaled="0"/>
            </a:gradFill>
            <a:ln w="19050">
              <a:solidFill>
                <a:schemeClr val="tx1"/>
              </a:solidFill>
            </a:ln>
            <a:effectLst/>
          </p:spPr>
          <p:txBody>
            <a:bodyPr>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a:latin typeface="Courier New" panose="02070309020205020404" pitchFamily="49" charset="0"/>
                  <a:ea typeface="+mn-ea"/>
                  <a:cs typeface="Courier New" panose="02070309020205020404" pitchFamily="49" charset="0"/>
                </a:rPr>
                <a:t>l.acquire()</a:t>
              </a:r>
            </a:p>
            <a:p>
              <a:pPr eaLnBrk="1" hangingPunct="1">
                <a:buFont typeface="Monotype Sorts" charset="0"/>
                <a:buNone/>
              </a:pPr>
              <a:r>
                <a:rPr lang="en-US" altLang="zh-CN" sz="1600" b="1">
                  <a:latin typeface="Courier New" panose="02070309020205020404" pitchFamily="49" charset="0"/>
                  <a:ea typeface="+mn-ea"/>
                  <a:cs typeface="Courier New" panose="02070309020205020404" pitchFamily="49" charset="0"/>
                </a:rPr>
                <a:t>…</a:t>
              </a:r>
            </a:p>
            <a:p>
              <a:pPr eaLnBrk="1" hangingPunct="1">
                <a:buFont typeface="Monotype Sorts" charset="0"/>
                <a:buNone/>
              </a:pPr>
              <a:r>
                <a:rPr lang="en-US" altLang="zh-CN" sz="1600" b="1">
                  <a:latin typeface="Courier New" panose="02070309020205020404" pitchFamily="49" charset="0"/>
                  <a:ea typeface="+mn-ea"/>
                  <a:cs typeface="Courier New" panose="02070309020205020404" pitchFamily="49" charset="0"/>
                </a:rPr>
                <a:t>x.signal()</a:t>
              </a:r>
            </a:p>
          </p:txBody>
        </p:sp>
        <p:sp>
          <p:nvSpPr>
            <p:cNvPr id="38" name="Text Box 28"/>
            <p:cNvSpPr txBox="1">
              <a:spLocks noChangeArrowheads="1"/>
            </p:cNvSpPr>
            <p:nvPr/>
          </p:nvSpPr>
          <p:spPr bwMode="auto">
            <a:xfrm>
              <a:off x="5220856" y="3230525"/>
              <a:ext cx="1260281"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r>
                <a:rPr lang="en-US" altLang="zh-CN" sz="1600" b="1" dirty="0">
                  <a:solidFill>
                    <a:srgbClr val="11576A"/>
                  </a:solidFill>
                  <a:latin typeface="+mn-ea"/>
                  <a:ea typeface="+mn-ea"/>
                  <a:cs typeface="宋体" charset="0"/>
                </a:rPr>
                <a:t>T2</a:t>
              </a:r>
              <a:r>
                <a:rPr lang="zh-CN" altLang="en-US" sz="1600" b="1" dirty="0">
                  <a:solidFill>
                    <a:srgbClr val="11576A"/>
                  </a:solidFill>
                  <a:latin typeface="+mn-ea"/>
                  <a:ea typeface="+mn-ea"/>
                  <a:cs typeface="宋体" charset="0"/>
                </a:rPr>
                <a:t>进入等待</a:t>
              </a:r>
            </a:p>
          </p:txBody>
        </p:sp>
        <p:sp>
          <p:nvSpPr>
            <p:cNvPr id="41" name="Text Box 12"/>
            <p:cNvSpPr txBox="1">
              <a:spLocks noChangeArrowheads="1"/>
            </p:cNvSpPr>
            <p:nvPr/>
          </p:nvSpPr>
          <p:spPr bwMode="auto">
            <a:xfrm>
              <a:off x="5195302" y="2683783"/>
              <a:ext cx="1249060"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en-US" altLang="zh-CN" sz="1600" b="1" dirty="0">
                  <a:solidFill>
                    <a:srgbClr val="11576A"/>
                  </a:solidFill>
                  <a:latin typeface="+mn-ea"/>
                  <a:ea typeface="+mn-ea"/>
                  <a:cs typeface="宋体" charset="0"/>
                </a:rPr>
                <a:t>T2</a:t>
              </a:r>
              <a:r>
                <a:rPr lang="zh-CN" altLang="en-US" sz="1600" b="1" dirty="0">
                  <a:solidFill>
                    <a:srgbClr val="11576A"/>
                  </a:solidFill>
                  <a:latin typeface="+mn-ea"/>
                  <a:ea typeface="+mn-ea"/>
                  <a:cs typeface="宋体" charset="0"/>
                </a:rPr>
                <a:t>进入管程</a:t>
              </a:r>
              <a:endParaRPr lang="en-US" altLang="zh-CN" sz="1600" b="1" dirty="0">
                <a:solidFill>
                  <a:srgbClr val="11576A"/>
                </a:solidFill>
                <a:latin typeface="+mn-ea"/>
                <a:ea typeface="+mn-ea"/>
                <a:cs typeface="宋体" charset="0"/>
              </a:endParaRPr>
            </a:p>
          </p:txBody>
        </p:sp>
      </p:grpSp>
      <p:sp>
        <p:nvSpPr>
          <p:cNvPr id="20" name="文本框 19">
            <a:extLst>
              <a:ext uri="{FF2B5EF4-FFF2-40B4-BE49-F238E27FC236}">
                <a16:creationId xmlns:a16="http://schemas.microsoft.com/office/drawing/2014/main" id="{5373139A-34AA-9408-7B7D-6CA77F4ABF0A}"/>
              </a:ext>
            </a:extLst>
          </p:cNvPr>
          <p:cNvSpPr txBox="1"/>
          <p:nvPr/>
        </p:nvSpPr>
        <p:spPr>
          <a:xfrm>
            <a:off x="6623058" y="5949280"/>
            <a:ext cx="3505391" cy="369332"/>
          </a:xfrm>
          <a:prstGeom prst="rect">
            <a:avLst/>
          </a:prstGeom>
          <a:noFill/>
        </p:spPr>
        <p:txBody>
          <a:bodyPr wrap="square" rtlCol="0">
            <a:spAutoFit/>
          </a:bodyPr>
          <a:lstStyle/>
          <a:p>
            <a:r>
              <a:rPr lang="zh-CN" altLang="en-US" dirty="0"/>
              <a:t>这里锁的细节需要思考如何实现</a:t>
            </a:r>
          </a:p>
        </p:txBody>
      </p:sp>
      <p:cxnSp>
        <p:nvCxnSpPr>
          <p:cNvPr id="42" name="直接箭头连接符 41">
            <a:extLst>
              <a:ext uri="{FF2B5EF4-FFF2-40B4-BE49-F238E27FC236}">
                <a16:creationId xmlns:a16="http://schemas.microsoft.com/office/drawing/2014/main" id="{AB2B40A6-75A4-8408-C753-F28F99847637}"/>
              </a:ext>
            </a:extLst>
          </p:cNvPr>
          <p:cNvCxnSpPr/>
          <p:nvPr/>
        </p:nvCxnSpPr>
        <p:spPr bwMode="auto">
          <a:xfrm flipV="1">
            <a:off x="7824192" y="4463024"/>
            <a:ext cx="432048" cy="1456888"/>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sp>
        <p:nvSpPr>
          <p:cNvPr id="36" name="标题 35">
            <a:extLst>
              <a:ext uri="{FF2B5EF4-FFF2-40B4-BE49-F238E27FC236}">
                <a16:creationId xmlns:a16="http://schemas.microsoft.com/office/drawing/2014/main" id="{725C0DB8-BB72-8274-3286-2606B4EF31B3}"/>
              </a:ext>
            </a:extLst>
          </p:cNvPr>
          <p:cNvSpPr>
            <a:spLocks noGrp="1"/>
          </p:cNvSpPr>
          <p:nvPr>
            <p:ph type="title"/>
          </p:nvPr>
        </p:nvSpPr>
        <p:spPr/>
        <p:txBody>
          <a:bodyPr>
            <a:normAutofit/>
          </a:bodyPr>
          <a:lstStyle/>
          <a:p>
            <a:r>
              <a:rPr lang="zh-CN" altLang="en-US" dirty="0"/>
              <a:t>管程条件变量的释放处理方式</a:t>
            </a:r>
          </a:p>
        </p:txBody>
      </p:sp>
    </p:spTree>
    <p:extLst>
      <p:ext uri="{BB962C8B-B14F-4D97-AF65-F5344CB8AC3E}">
        <p14:creationId xmlns:p14="http://schemas.microsoft.com/office/powerpoint/2010/main" val="359141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wipe(up)">
                                      <p:cBhvr>
                                        <p:cTn id="13" dur="500"/>
                                        <p:tgtEl>
                                          <p:spTgt spid="2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left)">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left)">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left)">
                                      <p:cBhvr>
                                        <p:cTn id="33" dur="5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left)">
                                      <p:cBhvr>
                                        <p:cTn id="38" dur="500"/>
                                        <p:tgtEl>
                                          <p:spTgt spid="1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left)">
                                      <p:cBhvr>
                                        <p:cTn id="43" dur="500"/>
                                        <p:tgtEl>
                                          <p:spTgt spid="1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left)">
                                      <p:cBhvr>
                                        <p:cTn id="48" dur="500"/>
                                        <p:tgtEl>
                                          <p:spTgt spid="1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wipe(left)">
                                      <p:cBhvr>
                                        <p:cTn id="53" dur="500"/>
                                        <p:tgtEl>
                                          <p:spTgt spid="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wipe(left)">
                                      <p:cBhvr>
                                        <p:cTn id="58" dur="500"/>
                                        <p:tgtEl>
                                          <p:spTgt spid="10"/>
                                        </p:tgtEl>
                                      </p:cBhvr>
                                    </p:animEffect>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0"/>
                                        <p:tgtEl>
                                          <p:spTgt spid="20"/>
                                        </p:tgtEl>
                                      </p:cBhvr>
                                    </p:animEffect>
                                    <p:anim calcmode="lin" valueType="num">
                                      <p:cBhvr>
                                        <p:cTn id="64" dur="500" fill="hold"/>
                                        <p:tgtEl>
                                          <p:spTgt spid="20"/>
                                        </p:tgtEl>
                                        <p:attrNameLst>
                                          <p:attrName>ppt_x</p:attrName>
                                        </p:attrNameLst>
                                      </p:cBhvr>
                                      <p:tavLst>
                                        <p:tav tm="0">
                                          <p:val>
                                            <p:strVal val="#ppt_x"/>
                                          </p:val>
                                        </p:tav>
                                        <p:tav tm="100000">
                                          <p:val>
                                            <p:strVal val="#ppt_x"/>
                                          </p:val>
                                        </p:tav>
                                      </p:tavLst>
                                    </p:anim>
                                    <p:anim calcmode="lin" valueType="num">
                                      <p:cBhvr>
                                        <p:cTn id="65" dur="500" fill="hold"/>
                                        <p:tgtEl>
                                          <p:spTgt spid="20"/>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7" dur="1" fill="hold">
                                          <p:stCondLst>
                                            <p:cond delay="0"/>
                                          </p:stCondLst>
                                        </p:cTn>
                                        <p:tgtEl>
                                          <p:spTgt spid="42"/>
                                        </p:tgtEl>
                                        <p:attrNameLst>
                                          <p:attrName>style.visibility</p:attrName>
                                        </p:attrNameLst>
                                      </p:cBhvr>
                                      <p:to>
                                        <p:strVal val="visible"/>
                                      </p:to>
                                    </p:set>
                                    <p:animEffect transition="in" filter="fade">
                                      <p:cBhvr>
                                        <p:cTn id="68" dur="500"/>
                                        <p:tgtEl>
                                          <p:spTgt spid="42"/>
                                        </p:tgtEl>
                                      </p:cBhvr>
                                    </p:animEffect>
                                    <p:anim calcmode="lin" valueType="num">
                                      <p:cBhvr>
                                        <p:cTn id="69" dur="500" fill="hold"/>
                                        <p:tgtEl>
                                          <p:spTgt spid="42"/>
                                        </p:tgtEl>
                                        <p:attrNameLst>
                                          <p:attrName>ppt_x</p:attrName>
                                        </p:attrNameLst>
                                      </p:cBhvr>
                                      <p:tavLst>
                                        <p:tav tm="0">
                                          <p:val>
                                            <p:strVal val="#ppt_x"/>
                                          </p:val>
                                        </p:tav>
                                        <p:tav tm="100000">
                                          <p:val>
                                            <p:strVal val="#ppt_x"/>
                                          </p:val>
                                        </p:tav>
                                      </p:tavLst>
                                    </p:anim>
                                    <p:anim calcmode="lin" valueType="num">
                                      <p:cBhvr>
                                        <p:cTn id="70" dur="500" fill="hold"/>
                                        <p:tgtEl>
                                          <p:spTgt spid="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779734" y="3861048"/>
            <a:ext cx="1831617" cy="428628"/>
            <a:chOff x="597243" y="3003798"/>
            <a:chExt cx="1831617" cy="428628"/>
          </a:xfrm>
        </p:grpSpPr>
        <p:sp>
          <p:nvSpPr>
            <p:cNvPr id="9" name="内容占位符 2"/>
            <p:cNvSpPr txBox="1">
              <a:spLocks/>
            </p:cNvSpPr>
            <p:nvPr/>
          </p:nvSpPr>
          <p:spPr>
            <a:xfrm>
              <a:off x="895326" y="3003798"/>
              <a:ext cx="1533534"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defRPr/>
              </a:pPr>
              <a:r>
                <a:rPr lang="en-US" altLang="zh-CN" sz="1800" dirty="0"/>
                <a:t>Hansen</a:t>
              </a:r>
              <a:r>
                <a:rPr lang="zh-CN" altLang="en-US" sz="1800" dirty="0"/>
                <a:t>管程</a:t>
              </a:r>
            </a:p>
          </p:txBody>
        </p:sp>
        <p:sp>
          <p:nvSpPr>
            <p:cNvPr id="12" name="TextBox 11"/>
            <p:cNvSpPr txBox="1"/>
            <p:nvPr/>
          </p:nvSpPr>
          <p:spPr>
            <a:xfrm>
              <a:off x="597243" y="3003798"/>
              <a:ext cx="433390" cy="369332"/>
            </a:xfrm>
            <a:prstGeom prst="rect">
              <a:avLst/>
            </a:prstGeom>
            <a:noFill/>
            <a:effectLst/>
          </p:spPr>
          <p:txBody>
            <a:bodyPr wrap="square" rtlCol="0">
              <a:spAutoFit/>
            </a:bodyPr>
            <a:lstStyle/>
            <a:p>
              <a:pPr marL="342900" indent="-342900">
                <a:spcBef>
                  <a:spcPct val="20000"/>
                </a:spcBef>
              </a:pPr>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微软雅黑" pitchFamily="34" charset="-122"/>
                <a:ea typeface="微软雅黑" pitchFamily="34" charset="-122"/>
              </a:endParaRPr>
            </a:p>
          </p:txBody>
        </p:sp>
      </p:grpSp>
      <p:grpSp>
        <p:nvGrpSpPr>
          <p:cNvPr id="4" name="组合 3"/>
          <p:cNvGrpSpPr/>
          <p:nvPr/>
        </p:nvGrpSpPr>
        <p:grpSpPr>
          <a:xfrm>
            <a:off x="3197261" y="4160182"/>
            <a:ext cx="2271344" cy="1003528"/>
            <a:chOff x="1014772" y="3302932"/>
            <a:chExt cx="2271344" cy="1003528"/>
          </a:xfrm>
        </p:grpSpPr>
        <p:sp>
          <p:nvSpPr>
            <p:cNvPr id="15" name="内容占位符 2"/>
            <p:cNvSpPr txBox="1">
              <a:spLocks/>
            </p:cNvSpPr>
            <p:nvPr/>
          </p:nvSpPr>
          <p:spPr>
            <a:xfrm>
              <a:off x="1160440" y="3302932"/>
              <a:ext cx="2125676" cy="64633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a:spcBef>
                  <a:spcPct val="20000"/>
                </a:spcBef>
              </a:pPr>
              <a:r>
                <a:rPr lang="zh-CN" altLang="en-US" sz="1800" dirty="0"/>
                <a:t>条件变量释放仅是一个提示</a:t>
              </a:r>
            </a:p>
          </p:txBody>
        </p:sp>
        <p:pic>
          <p:nvPicPr>
            <p:cNvPr id="11" name="图片 10" descr="小点1.png"/>
            <p:cNvPicPr>
              <a:picLocks noChangeAspect="1"/>
            </p:cNvPicPr>
            <p:nvPr/>
          </p:nvPicPr>
          <p:blipFill>
            <a:blip r:embed="rId2" cstate="print"/>
            <a:stretch>
              <a:fillRect/>
            </a:stretch>
          </p:blipFill>
          <p:spPr>
            <a:xfrm>
              <a:off x="1014772" y="3409522"/>
              <a:ext cx="151066" cy="148997"/>
            </a:xfrm>
            <a:prstGeom prst="rect">
              <a:avLst/>
            </a:prstGeom>
            <a:effectLst/>
          </p:spPr>
        </p:pic>
        <p:sp>
          <p:nvSpPr>
            <p:cNvPr id="41" name="内容占位符 2"/>
            <p:cNvSpPr txBox="1">
              <a:spLocks/>
            </p:cNvSpPr>
            <p:nvPr/>
          </p:nvSpPr>
          <p:spPr>
            <a:xfrm>
              <a:off x="1160440" y="3877832"/>
              <a:ext cx="2054238"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zh-CN" altLang="en-US" sz="1800" dirty="0"/>
                <a:t>需要重新检查条件</a:t>
              </a:r>
            </a:p>
          </p:txBody>
        </p:sp>
        <p:pic>
          <p:nvPicPr>
            <p:cNvPr id="42" name="图片 41" descr="小点1.png"/>
            <p:cNvPicPr>
              <a:picLocks noChangeAspect="1"/>
            </p:cNvPicPr>
            <p:nvPr/>
          </p:nvPicPr>
          <p:blipFill>
            <a:blip r:embed="rId2" cstate="print"/>
            <a:stretch>
              <a:fillRect/>
            </a:stretch>
          </p:blipFill>
          <p:spPr>
            <a:xfrm>
              <a:off x="1014772" y="3984422"/>
              <a:ext cx="151066" cy="148997"/>
            </a:xfrm>
            <a:prstGeom prst="rect">
              <a:avLst/>
            </a:prstGeom>
            <a:effectLst/>
          </p:spPr>
        </p:pic>
      </p:grpSp>
      <p:grpSp>
        <p:nvGrpSpPr>
          <p:cNvPr id="6" name="组合 5"/>
          <p:cNvGrpSpPr/>
          <p:nvPr/>
        </p:nvGrpSpPr>
        <p:grpSpPr>
          <a:xfrm>
            <a:off x="2779734" y="5036935"/>
            <a:ext cx="1402989" cy="771304"/>
            <a:chOff x="597243" y="4179685"/>
            <a:chExt cx="1402989" cy="771304"/>
          </a:xfrm>
        </p:grpSpPr>
        <p:sp>
          <p:nvSpPr>
            <p:cNvPr id="43" name="内容占位符 2"/>
            <p:cNvSpPr txBox="1">
              <a:spLocks/>
            </p:cNvSpPr>
            <p:nvPr/>
          </p:nvSpPr>
          <p:spPr>
            <a:xfrm>
              <a:off x="895326" y="4179685"/>
              <a:ext cx="747716"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defRPr/>
              </a:pPr>
              <a:r>
                <a:rPr lang="zh-CN" altLang="en-US" sz="1800" dirty="0"/>
                <a:t>特点</a:t>
              </a:r>
            </a:p>
          </p:txBody>
        </p:sp>
        <p:sp>
          <p:nvSpPr>
            <p:cNvPr id="44" name="TextBox 43"/>
            <p:cNvSpPr txBox="1"/>
            <p:nvPr/>
          </p:nvSpPr>
          <p:spPr>
            <a:xfrm>
              <a:off x="597243" y="4179685"/>
              <a:ext cx="433390" cy="369332"/>
            </a:xfrm>
            <a:prstGeom prst="rect">
              <a:avLst/>
            </a:prstGeom>
            <a:noFill/>
            <a:effectLst/>
          </p:spPr>
          <p:txBody>
            <a:bodyPr wrap="square" rtlCol="0">
              <a:spAutoFit/>
            </a:bodyPr>
            <a:lstStyle/>
            <a:p>
              <a:pPr marL="342900" indent="-342900">
                <a:spcBef>
                  <a:spcPct val="20000"/>
                </a:spcBef>
              </a:pPr>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微软雅黑" pitchFamily="34" charset="-122"/>
                <a:ea typeface="微软雅黑" pitchFamily="34" charset="-122"/>
              </a:endParaRPr>
            </a:p>
          </p:txBody>
        </p:sp>
        <p:sp>
          <p:nvSpPr>
            <p:cNvPr id="45" name="内容占位符 2"/>
            <p:cNvSpPr txBox="1">
              <a:spLocks/>
            </p:cNvSpPr>
            <p:nvPr/>
          </p:nvSpPr>
          <p:spPr>
            <a:xfrm>
              <a:off x="1160440" y="4522361"/>
              <a:ext cx="839792"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zh-CN" altLang="en-US" sz="1800" dirty="0"/>
                <a:t>高效</a:t>
              </a:r>
            </a:p>
          </p:txBody>
        </p:sp>
        <p:pic>
          <p:nvPicPr>
            <p:cNvPr id="46" name="图片 45" descr="小点1.png"/>
            <p:cNvPicPr>
              <a:picLocks noChangeAspect="1"/>
            </p:cNvPicPr>
            <p:nvPr/>
          </p:nvPicPr>
          <p:blipFill>
            <a:blip r:embed="rId2" cstate="print"/>
            <a:stretch>
              <a:fillRect/>
            </a:stretch>
          </p:blipFill>
          <p:spPr>
            <a:xfrm>
              <a:off x="1014772" y="4628951"/>
              <a:ext cx="151066" cy="148997"/>
            </a:xfrm>
            <a:prstGeom prst="rect">
              <a:avLst/>
            </a:prstGeom>
            <a:effectLst/>
          </p:spPr>
        </p:pic>
      </p:grpSp>
      <p:grpSp>
        <p:nvGrpSpPr>
          <p:cNvPr id="3" name="组合 2"/>
          <p:cNvGrpSpPr/>
          <p:nvPr/>
        </p:nvGrpSpPr>
        <p:grpSpPr>
          <a:xfrm>
            <a:off x="6373491" y="3861048"/>
            <a:ext cx="1831617" cy="428628"/>
            <a:chOff x="4191000" y="3003798"/>
            <a:chExt cx="1831617" cy="428628"/>
          </a:xfrm>
        </p:grpSpPr>
        <p:sp>
          <p:nvSpPr>
            <p:cNvPr id="47" name="内容占位符 2"/>
            <p:cNvSpPr txBox="1">
              <a:spLocks/>
            </p:cNvSpPr>
            <p:nvPr/>
          </p:nvSpPr>
          <p:spPr>
            <a:xfrm>
              <a:off x="4489083" y="3003798"/>
              <a:ext cx="1533534"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defRPr/>
              </a:pPr>
              <a:r>
                <a:rPr lang="en-US" altLang="zh-CN" sz="1800" dirty="0"/>
                <a:t>Hoare</a:t>
              </a:r>
              <a:r>
                <a:rPr lang="zh-CN" altLang="en-US" sz="1800" dirty="0"/>
                <a:t>管程</a:t>
              </a:r>
            </a:p>
          </p:txBody>
        </p:sp>
        <p:sp>
          <p:nvSpPr>
            <p:cNvPr id="48" name="TextBox 47"/>
            <p:cNvSpPr txBox="1"/>
            <p:nvPr/>
          </p:nvSpPr>
          <p:spPr>
            <a:xfrm>
              <a:off x="4191000" y="3003798"/>
              <a:ext cx="433390" cy="369332"/>
            </a:xfrm>
            <a:prstGeom prst="rect">
              <a:avLst/>
            </a:prstGeom>
            <a:noFill/>
            <a:effectLst/>
          </p:spPr>
          <p:txBody>
            <a:bodyPr wrap="square" rtlCol="0">
              <a:spAutoFit/>
            </a:bodyPr>
            <a:lstStyle/>
            <a:p>
              <a:pPr marL="342900" indent="-342900">
                <a:spcBef>
                  <a:spcPct val="20000"/>
                </a:spcBef>
              </a:pPr>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微软雅黑" pitchFamily="34" charset="-122"/>
                <a:ea typeface="微软雅黑" pitchFamily="34" charset="-122"/>
              </a:endParaRPr>
            </a:p>
          </p:txBody>
        </p:sp>
      </p:grpSp>
      <p:grpSp>
        <p:nvGrpSpPr>
          <p:cNvPr id="5" name="组合 4"/>
          <p:cNvGrpSpPr/>
          <p:nvPr/>
        </p:nvGrpSpPr>
        <p:grpSpPr>
          <a:xfrm>
            <a:off x="6791018" y="4160184"/>
            <a:ext cx="3154370" cy="1014191"/>
            <a:chOff x="4608529" y="3302932"/>
            <a:chExt cx="3154370" cy="1014191"/>
          </a:xfrm>
        </p:grpSpPr>
        <p:sp>
          <p:nvSpPr>
            <p:cNvPr id="49" name="内容占位符 2"/>
            <p:cNvSpPr txBox="1">
              <a:spLocks/>
            </p:cNvSpPr>
            <p:nvPr/>
          </p:nvSpPr>
          <p:spPr>
            <a:xfrm>
              <a:off x="4754197" y="3302932"/>
              <a:ext cx="2982932" cy="629560"/>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marL="0" indent="0">
                <a:spcBef>
                  <a:spcPct val="20000"/>
                </a:spcBef>
              </a:pPr>
              <a:r>
                <a:rPr lang="zh-CN" altLang="en-US" sz="1800" dirty="0"/>
                <a:t>条件变量释放同时表示放弃管程访问</a:t>
              </a:r>
            </a:p>
          </p:txBody>
        </p:sp>
        <p:pic>
          <p:nvPicPr>
            <p:cNvPr id="50" name="图片 49" descr="小点1.png"/>
            <p:cNvPicPr>
              <a:picLocks noChangeAspect="1"/>
            </p:cNvPicPr>
            <p:nvPr/>
          </p:nvPicPr>
          <p:blipFill>
            <a:blip r:embed="rId2" cstate="print"/>
            <a:stretch>
              <a:fillRect/>
            </a:stretch>
          </p:blipFill>
          <p:spPr>
            <a:xfrm>
              <a:off x="4608529" y="3409522"/>
              <a:ext cx="151066" cy="148997"/>
            </a:xfrm>
            <a:prstGeom prst="rect">
              <a:avLst/>
            </a:prstGeom>
            <a:effectLst/>
          </p:spPr>
        </p:pic>
        <p:sp>
          <p:nvSpPr>
            <p:cNvPr id="51" name="内容占位符 2"/>
            <p:cNvSpPr txBox="1">
              <a:spLocks/>
            </p:cNvSpPr>
            <p:nvPr/>
          </p:nvSpPr>
          <p:spPr>
            <a:xfrm>
              <a:off x="4754196" y="3888495"/>
              <a:ext cx="3008703"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zh-CN" altLang="en-US" sz="1800" dirty="0"/>
                <a:t>释放后条件变量的状态可用</a:t>
              </a:r>
            </a:p>
          </p:txBody>
        </p:sp>
        <p:pic>
          <p:nvPicPr>
            <p:cNvPr id="52" name="图片 51" descr="小点1.png"/>
            <p:cNvPicPr>
              <a:picLocks noChangeAspect="1"/>
            </p:cNvPicPr>
            <p:nvPr/>
          </p:nvPicPr>
          <p:blipFill>
            <a:blip r:embed="rId2" cstate="print"/>
            <a:stretch>
              <a:fillRect/>
            </a:stretch>
          </p:blipFill>
          <p:spPr>
            <a:xfrm>
              <a:off x="4608529" y="3995085"/>
              <a:ext cx="151066" cy="148997"/>
            </a:xfrm>
            <a:prstGeom prst="rect">
              <a:avLst/>
            </a:prstGeom>
            <a:effectLst/>
          </p:spPr>
        </p:pic>
      </p:grpSp>
      <p:grpSp>
        <p:nvGrpSpPr>
          <p:cNvPr id="7" name="组合 6"/>
          <p:cNvGrpSpPr/>
          <p:nvPr/>
        </p:nvGrpSpPr>
        <p:grpSpPr>
          <a:xfrm>
            <a:off x="6373491" y="5047598"/>
            <a:ext cx="1402989" cy="771304"/>
            <a:chOff x="4191000" y="4190348"/>
            <a:chExt cx="1402989" cy="771304"/>
          </a:xfrm>
        </p:grpSpPr>
        <p:sp>
          <p:nvSpPr>
            <p:cNvPr id="53" name="内容占位符 2"/>
            <p:cNvSpPr txBox="1">
              <a:spLocks/>
            </p:cNvSpPr>
            <p:nvPr/>
          </p:nvSpPr>
          <p:spPr>
            <a:xfrm>
              <a:off x="4489083" y="4190348"/>
              <a:ext cx="747716"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defRPr/>
              </a:pPr>
              <a:r>
                <a:rPr lang="zh-CN" altLang="en-US" sz="1800" dirty="0"/>
                <a:t>特点</a:t>
              </a:r>
            </a:p>
          </p:txBody>
        </p:sp>
        <p:sp>
          <p:nvSpPr>
            <p:cNvPr id="54" name="TextBox 53"/>
            <p:cNvSpPr txBox="1"/>
            <p:nvPr/>
          </p:nvSpPr>
          <p:spPr>
            <a:xfrm>
              <a:off x="4191000" y="4190348"/>
              <a:ext cx="433390" cy="369332"/>
            </a:xfrm>
            <a:prstGeom prst="rect">
              <a:avLst/>
            </a:prstGeom>
            <a:noFill/>
            <a:effectLst/>
          </p:spPr>
          <p:txBody>
            <a:bodyPr wrap="square" rtlCol="0">
              <a:spAutoFit/>
            </a:bodyPr>
            <a:lstStyle/>
            <a:p>
              <a:pPr marL="342900" indent="-342900">
                <a:spcBef>
                  <a:spcPct val="20000"/>
                </a:spcBef>
              </a:pPr>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微软雅黑" pitchFamily="34" charset="-122"/>
                <a:ea typeface="微软雅黑" pitchFamily="34" charset="-122"/>
              </a:endParaRPr>
            </a:p>
          </p:txBody>
        </p:sp>
        <p:sp>
          <p:nvSpPr>
            <p:cNvPr id="55" name="内容占位符 2"/>
            <p:cNvSpPr txBox="1">
              <a:spLocks/>
            </p:cNvSpPr>
            <p:nvPr/>
          </p:nvSpPr>
          <p:spPr>
            <a:xfrm>
              <a:off x="4754197" y="4533024"/>
              <a:ext cx="839792"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zh-CN" altLang="en-US" sz="1800" dirty="0"/>
                <a:t>低效</a:t>
              </a:r>
            </a:p>
          </p:txBody>
        </p:sp>
        <p:pic>
          <p:nvPicPr>
            <p:cNvPr id="56" name="图片 55" descr="小点1.png"/>
            <p:cNvPicPr>
              <a:picLocks noChangeAspect="1"/>
            </p:cNvPicPr>
            <p:nvPr/>
          </p:nvPicPr>
          <p:blipFill>
            <a:blip r:embed="rId2" cstate="print"/>
            <a:stretch>
              <a:fillRect/>
            </a:stretch>
          </p:blipFill>
          <p:spPr>
            <a:xfrm>
              <a:off x="4608529" y="4639614"/>
              <a:ext cx="151066" cy="148997"/>
            </a:xfrm>
            <a:prstGeom prst="rect">
              <a:avLst/>
            </a:prstGeom>
            <a:effectLst/>
          </p:spPr>
        </p:pic>
      </p:grpSp>
      <p:sp>
        <p:nvSpPr>
          <p:cNvPr id="59" name="Line 9"/>
          <p:cNvSpPr>
            <a:spLocks noChangeShapeType="1"/>
          </p:cNvSpPr>
          <p:nvPr/>
        </p:nvSpPr>
        <p:spPr bwMode="auto">
          <a:xfrm>
            <a:off x="2178496" y="3845302"/>
            <a:ext cx="8382000" cy="0"/>
          </a:xfrm>
          <a:prstGeom prst="line">
            <a:avLst/>
          </a:prstGeom>
          <a:noFill/>
          <a:ln w="38100">
            <a:solidFill>
              <a:srgbClr val="11576A"/>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26" name="矩形 8"/>
          <p:cNvSpPr>
            <a:spLocks noChangeArrowheads="1"/>
          </p:cNvSpPr>
          <p:nvPr/>
        </p:nvSpPr>
        <p:spPr bwMode="auto">
          <a:xfrm>
            <a:off x="6373490" y="1756303"/>
            <a:ext cx="4190775" cy="21113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Hoare-style: Deposit(){</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lock-&gt;acquire();</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if (count == n) {</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notFull.wait(&amp;lock); </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Add thing;</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count++;</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a:t>
            </a:r>
            <a:r>
              <a:rPr lang="zh-CN" altLang="en-US" sz="1600" b="1" dirty="0">
                <a:solidFill>
                  <a:srgbClr val="FF0000"/>
                </a:solidFill>
                <a:latin typeface="Courier New" panose="02070309020205020404" pitchFamily="49" charset="0"/>
                <a:ea typeface="微软雅黑" pitchFamily="34" charset="-122"/>
                <a:cs typeface="Courier New" panose="02070309020205020404" pitchFamily="49" charset="0"/>
              </a:rPr>
              <a:t>notEmpty.signal();</a:t>
            </a:r>
          </a:p>
          <a:p>
            <a:pPr eaLnBrk="1" hangingPunct="1">
              <a:lnSpc>
                <a:spcPct val="80000"/>
              </a:lnSpc>
              <a:buFont typeface="Monotype Sorts" charset="0"/>
              <a:buNone/>
            </a:pPr>
            <a:r>
              <a:rPr lang="zh-CN" altLang="en-US" sz="1600" b="1" dirty="0">
                <a:solidFill>
                  <a:srgbClr val="FF0000"/>
                </a:solidFill>
                <a:latin typeface="Courier New" panose="02070309020205020404" pitchFamily="49" charset="0"/>
                <a:ea typeface="微软雅黑" pitchFamily="34" charset="-122"/>
                <a:cs typeface="Courier New" panose="02070309020205020404" pitchFamily="49" charset="0"/>
              </a:rPr>
              <a:t>  lock-&gt;release();</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a:t>
            </a:r>
          </a:p>
        </p:txBody>
      </p:sp>
      <p:sp>
        <p:nvSpPr>
          <p:cNvPr id="27" name="矩形 9"/>
          <p:cNvSpPr>
            <a:spLocks noChangeArrowheads="1"/>
          </p:cNvSpPr>
          <p:nvPr/>
        </p:nvSpPr>
        <p:spPr bwMode="auto">
          <a:xfrm>
            <a:off x="2780752" y="1742921"/>
            <a:ext cx="3890820" cy="21113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Hansen-style :Deposit(){</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lock-&gt;acquire();</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while (count == n) {</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notFull.wait(&amp;lock); </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Add  thing;</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count++;</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notEmpty.signal();</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  lock-&gt;release();</a:t>
            </a:r>
          </a:p>
          <a:p>
            <a:pPr eaLnBrk="1" hangingPunct="1">
              <a:lnSpc>
                <a:spcPct val="80000"/>
              </a:lnSpc>
              <a:buFont typeface="Monotype Sorts" charset="0"/>
              <a:buNone/>
            </a:pPr>
            <a:r>
              <a:rPr lang="zh-CN" altLang="en-US" sz="1600" b="1" dirty="0">
                <a:latin typeface="Courier New" panose="02070309020205020404" pitchFamily="49" charset="0"/>
                <a:ea typeface="微软雅黑" pitchFamily="34" charset="-122"/>
                <a:cs typeface="Courier New" panose="02070309020205020404" pitchFamily="49" charset="0"/>
              </a:rPr>
              <a:t>}</a:t>
            </a:r>
          </a:p>
        </p:txBody>
      </p:sp>
      <p:sp>
        <p:nvSpPr>
          <p:cNvPr id="28" name="矩形 9"/>
          <p:cNvSpPr>
            <a:spLocks noChangeArrowheads="1"/>
          </p:cNvSpPr>
          <p:nvPr/>
        </p:nvSpPr>
        <p:spPr bwMode="auto">
          <a:xfrm>
            <a:off x="3026978" y="2131522"/>
            <a:ext cx="877742" cy="3016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eaLnBrk="1" hangingPunct="1">
              <a:lnSpc>
                <a:spcPct val="80000"/>
              </a:lnSpc>
              <a:buFont typeface="Monotype Sorts" charset="0"/>
              <a:buNone/>
            </a:pP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while</a:t>
            </a:r>
            <a:endParaRPr lang="zh-CN" altLang="en-US" sz="1600" b="1" dirty="0">
              <a:solidFill>
                <a:srgbClr val="C00000"/>
              </a:solidFill>
              <a:latin typeface="Courier New" panose="02070309020205020404" pitchFamily="49" charset="0"/>
              <a:ea typeface="微软雅黑" pitchFamily="34" charset="-122"/>
              <a:cs typeface="Courier New" panose="02070309020205020404" pitchFamily="49" charset="0"/>
            </a:endParaRPr>
          </a:p>
        </p:txBody>
      </p:sp>
      <p:sp>
        <p:nvSpPr>
          <p:cNvPr id="35" name="矩形 9"/>
          <p:cNvSpPr>
            <a:spLocks noChangeArrowheads="1"/>
          </p:cNvSpPr>
          <p:nvPr/>
        </p:nvSpPr>
        <p:spPr bwMode="auto">
          <a:xfrm>
            <a:off x="6620735" y="2145756"/>
            <a:ext cx="877742" cy="3016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eaLnBrk="1" hangingPunct="1">
              <a:lnSpc>
                <a:spcPct val="80000"/>
              </a:lnSpc>
              <a:buFont typeface="Monotype Sorts" charset="0"/>
              <a:buNone/>
            </a:pP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if</a:t>
            </a:r>
            <a:endParaRPr lang="zh-CN" altLang="en-US" sz="1600" b="1" dirty="0">
              <a:solidFill>
                <a:srgbClr val="C00000"/>
              </a:solidFill>
              <a:latin typeface="Courier New" panose="02070309020205020404" pitchFamily="49" charset="0"/>
              <a:ea typeface="微软雅黑" pitchFamily="34" charset="-122"/>
              <a:cs typeface="Courier New" panose="02070309020205020404" pitchFamily="49" charset="0"/>
            </a:endParaRPr>
          </a:p>
        </p:txBody>
      </p:sp>
      <p:sp>
        <p:nvSpPr>
          <p:cNvPr id="10" name="标题 9">
            <a:extLst>
              <a:ext uri="{FF2B5EF4-FFF2-40B4-BE49-F238E27FC236}">
                <a16:creationId xmlns:a16="http://schemas.microsoft.com/office/drawing/2014/main" id="{A5EDA163-ABD9-78F4-49D1-53E7A4AC00CE}"/>
              </a:ext>
            </a:extLst>
          </p:cNvPr>
          <p:cNvSpPr>
            <a:spLocks noGrp="1"/>
          </p:cNvSpPr>
          <p:nvPr>
            <p:ph type="title"/>
          </p:nvPr>
        </p:nvSpPr>
        <p:spPr/>
        <p:txBody>
          <a:bodyPr>
            <a:normAutofit/>
          </a:bodyPr>
          <a:lstStyle/>
          <a:p>
            <a:r>
              <a:rPr lang="en-US" altLang="zh-CN" dirty="0"/>
              <a:t>Hansen </a:t>
            </a:r>
            <a:r>
              <a:rPr lang="zh-CN" altLang="en-US" dirty="0"/>
              <a:t>管程与 </a:t>
            </a:r>
            <a:r>
              <a:rPr lang="en-US" altLang="zh-CN" dirty="0"/>
              <a:t>Hoare </a:t>
            </a:r>
            <a:r>
              <a:rPr lang="zh-CN" altLang="en-US" dirty="0"/>
              <a:t>管程</a:t>
            </a:r>
          </a:p>
        </p:txBody>
      </p:sp>
    </p:spTree>
    <p:extLst>
      <p:ext uri="{BB962C8B-B14F-4D97-AF65-F5344CB8AC3E}">
        <p14:creationId xmlns:p14="http://schemas.microsoft.com/office/powerpoint/2010/main" val="2876212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wipe(left)">
                                      <p:cBhvr>
                                        <p:cTn id="13" dur="500"/>
                                        <p:tgtEl>
                                          <p:spTgt spid="59"/>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wipe(left)">
                                      <p:cBhvr>
                                        <p:cTn id="16" dur="500"/>
                                        <p:tgtEl>
                                          <p:spTgt spid="27"/>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left)">
                                      <p:cBhvr>
                                        <p:cTn id="19" dur="500"/>
                                        <p:tgtEl>
                                          <p:spTgt spid="26"/>
                                        </p:tgtEl>
                                      </p:cBhvr>
                                    </p:animEffec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par>
                          <p:cTn id="23" fill="hold">
                            <p:stCondLst>
                              <p:cond delay="500"/>
                            </p:stCondLst>
                            <p:childTnLst>
                              <p:par>
                                <p:cTn id="24" presetID="1" presetClass="entr" presetSubtype="0" fill="hold" grpId="0" nodeType="afterEffect">
                                  <p:stCondLst>
                                    <p:cond delay="0"/>
                                  </p:stCondLst>
                                  <p:childTnLst>
                                    <p:set>
                                      <p:cBhvr>
                                        <p:cTn id="25" dur="1" fill="hold">
                                          <p:stCondLst>
                                            <p:cond delay="0"/>
                                          </p:stCondLst>
                                        </p:cTn>
                                        <p:tgtEl>
                                          <p:spTgt spid="35"/>
                                        </p:tgtEl>
                                        <p:attrNameLst>
                                          <p:attrName>style.visibility</p:attrName>
                                        </p:attrNameLst>
                                      </p:cBhvr>
                                      <p:to>
                                        <p:strVal val="visible"/>
                                      </p:to>
                                    </p:set>
                                  </p:childTnLst>
                                </p:cTn>
                              </p:par>
                              <p:par>
                                <p:cTn id="26" presetID="35" presetClass="emph" presetSubtype="0" repeatCount="indefinite" fill="hold" grpId="1" nodeType="withEffect">
                                  <p:stCondLst>
                                    <p:cond delay="0"/>
                                  </p:stCondLst>
                                  <p:childTnLst>
                                    <p:anim calcmode="discrete" valueType="str">
                                      <p:cBhvr>
                                        <p:cTn id="27" dur="500" fill="hold"/>
                                        <p:tgtEl>
                                          <p:spTgt spid="28"/>
                                        </p:tgtEl>
                                        <p:attrNameLst>
                                          <p:attrName>style.visibility</p:attrName>
                                        </p:attrNameLst>
                                      </p:cBhvr>
                                      <p:tavLst>
                                        <p:tav tm="0">
                                          <p:val>
                                            <p:strVal val="hidden"/>
                                          </p:val>
                                        </p:tav>
                                        <p:tav tm="50000">
                                          <p:val>
                                            <p:strVal val="visible"/>
                                          </p:val>
                                        </p:tav>
                                      </p:tavLst>
                                    </p:anim>
                                  </p:childTnLst>
                                </p:cTn>
                              </p:par>
                              <p:par>
                                <p:cTn id="28" presetID="35" presetClass="emph" presetSubtype="0" repeatCount="indefinite" fill="hold" grpId="1" nodeType="withEffect">
                                  <p:stCondLst>
                                    <p:cond delay="0"/>
                                  </p:stCondLst>
                                  <p:childTnLst>
                                    <p:anim calcmode="discrete" valueType="str">
                                      <p:cBhvr>
                                        <p:cTn id="29" dur="500" fill="hold"/>
                                        <p:tgtEl>
                                          <p:spTgt spid="35"/>
                                        </p:tgtEl>
                                        <p:attrNameLst>
                                          <p:attrName>style.visibility</p:attrName>
                                        </p:attrNameLst>
                                      </p:cBhvr>
                                      <p:tavLst>
                                        <p:tav tm="0">
                                          <p:val>
                                            <p:strVal val="hidden"/>
                                          </p:val>
                                        </p:tav>
                                        <p:tav tm="50000">
                                          <p:val>
                                            <p:strVal val="visible"/>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wipe(left)">
                                      <p:cBhvr>
                                        <p:cTn id="34" dur="5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left)">
                                      <p:cBhvr>
                                        <p:cTn id="39" dur="500"/>
                                        <p:tgtEl>
                                          <p:spTgt spid="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wipe(left)">
                                      <p:cBhvr>
                                        <p:cTn id="44" dur="500"/>
                                        <p:tgtEl>
                                          <p:spTgt spid="6"/>
                                        </p:tgtEl>
                                      </p:cBhvr>
                                    </p:animEffect>
                                  </p:childTnLst>
                                </p:cTn>
                              </p:par>
                              <p:par>
                                <p:cTn id="45" presetID="22" presetClass="entr" presetSubtype="8" fill="hold" nodeType="with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left)">
                                      <p:cBhvr>
                                        <p:cTn id="4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26" grpId="0"/>
      <p:bldP spid="27" grpId="0"/>
      <p:bldP spid="28" grpId="0"/>
      <p:bldP spid="28" grpId="1"/>
      <p:bldP spid="35" grpId="0"/>
      <p:bldP spid="35"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81"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038310A5-4209-4BF1-B4B6-74B9991BC446}" type="slidenum">
              <a:rPr lang="en-US" altLang="ko-KR" sz="1200">
                <a:solidFill>
                  <a:schemeClr val="bg1"/>
                </a:solidFill>
              </a:rPr>
              <a:pPr>
                <a:spcBef>
                  <a:spcPct val="0"/>
                </a:spcBef>
                <a:buClrTx/>
                <a:buSzTx/>
                <a:buFontTx/>
                <a:buNone/>
              </a:pPr>
              <a:t>28</a:t>
            </a:fld>
            <a:endParaRPr lang="en-US" altLang="ko-KR" sz="1200">
              <a:solidFill>
                <a:schemeClr val="bg1"/>
              </a:solidFill>
            </a:endParaRPr>
          </a:p>
        </p:txBody>
      </p:sp>
      <p:sp>
        <p:nvSpPr>
          <p:cNvPr id="126978" name="标题 1"/>
          <p:cNvSpPr>
            <a:spLocks noGrp="1"/>
          </p:cNvSpPr>
          <p:nvPr>
            <p:ph type="title"/>
          </p:nvPr>
        </p:nvSpPr>
        <p:spPr>
          <a:prstGeom prst="rect">
            <a:avLst/>
          </a:prstGeom>
        </p:spPr>
        <p:txBody>
          <a:bodyPr/>
          <a:lstStyle/>
          <a:p>
            <a:r>
              <a:rPr lang="en-US" altLang="zh-CN">
                <a:ea typeface="宋体" panose="02010600030101010101" pitchFamily="2" charset="-122"/>
              </a:rPr>
              <a:t>IPC problem: dining philosophers</a:t>
            </a:r>
            <a:endParaRPr lang="zh-CN" altLang="en-US">
              <a:ea typeface="宋体" panose="02010600030101010101" pitchFamily="2" charset="-122"/>
            </a:endParaRPr>
          </a:p>
        </p:txBody>
      </p:sp>
      <p:sp>
        <p:nvSpPr>
          <p:cNvPr id="126982" name="内容占位符 2"/>
          <p:cNvSpPr>
            <a:spLocks noGrp="1"/>
          </p:cNvSpPr>
          <p:nvPr>
            <p:ph idx="1"/>
          </p:nvPr>
        </p:nvSpPr>
        <p:spPr>
          <a:prstGeom prst="rect">
            <a:avLst/>
          </a:prstGeom>
        </p:spPr>
        <p:txBody>
          <a:bodyPr/>
          <a:lstStyle/>
          <a:p>
            <a:pPr>
              <a:lnSpc>
                <a:spcPct val="110000"/>
              </a:lnSpc>
            </a:pPr>
            <a:r>
              <a:rPr lang="en-US" altLang="zh-CN">
                <a:ea typeface="宋体" panose="02010600030101010101" pitchFamily="2" charset="-122"/>
              </a:rPr>
              <a:t>Problem description</a:t>
            </a:r>
          </a:p>
          <a:p>
            <a:pPr lvl="1">
              <a:lnSpc>
                <a:spcPct val="110000"/>
              </a:lnSpc>
            </a:pPr>
            <a:r>
              <a:rPr lang="en-US" altLang="zh-CN">
                <a:ea typeface="宋体" panose="02010600030101010101" pitchFamily="2" charset="-122"/>
              </a:rPr>
              <a:t>Philosopher: eating and thinking, alternatively</a:t>
            </a:r>
          </a:p>
          <a:p>
            <a:pPr lvl="1">
              <a:lnSpc>
                <a:spcPct val="110000"/>
              </a:lnSpc>
            </a:pPr>
            <a:r>
              <a:rPr lang="en-US" altLang="zh-CN">
                <a:ea typeface="宋体" panose="02010600030101010101" pitchFamily="2" charset="-122"/>
              </a:rPr>
              <a:t>Eating: get left and right chopsticks and eat</a:t>
            </a:r>
          </a:p>
          <a:p>
            <a:pPr lvl="1">
              <a:lnSpc>
                <a:spcPct val="110000"/>
              </a:lnSpc>
            </a:pPr>
            <a:r>
              <a:rPr lang="en-US" altLang="zh-CN">
                <a:ea typeface="宋体" panose="02010600030101010101" pitchFamily="2" charset="-122"/>
              </a:rPr>
              <a:t>Thinking: put two chopsticks</a:t>
            </a:r>
          </a:p>
          <a:p>
            <a:pPr lvl="1">
              <a:lnSpc>
                <a:spcPct val="110000"/>
              </a:lnSpc>
            </a:pPr>
            <a:r>
              <a:rPr lang="en-US" altLang="zh-CN">
                <a:ea typeface="宋体" panose="02010600030101010101" pitchFamily="2" charset="-122"/>
              </a:rPr>
              <a:t>Starvation: all philosophers get one chopsticks</a:t>
            </a:r>
          </a:p>
        </p:txBody>
      </p:sp>
      <p:sp>
        <p:nvSpPr>
          <p:cNvPr id="5" name="页脚占位符 4"/>
          <p:cNvSpPr>
            <a:spLocks noGrp="1"/>
          </p:cNvSpPr>
          <p:nvPr>
            <p:ph type="ftr" sz="quarter" idx="4294967295"/>
          </p:nvPr>
        </p:nvSpPr>
        <p:spPr>
          <a:xfrm>
            <a:off x="8331200" y="6508750"/>
            <a:ext cx="3860800" cy="304800"/>
          </a:xfrm>
          <a:prstGeom prst="rect">
            <a:avLst/>
          </a:prstGeom>
        </p:spPr>
        <p:txBody>
          <a:bodyPr/>
          <a:lstStyle/>
          <a:p>
            <a:pPr>
              <a:defRPr/>
            </a:pPr>
            <a:r>
              <a:rPr lang="en-US" altLang="zh-CN"/>
              <a:t>CITS, NanKai University</a:t>
            </a:r>
            <a:endParaRPr lang="en-US" altLang="ko-KR"/>
          </a:p>
        </p:txBody>
      </p:sp>
      <p:pic>
        <p:nvPicPr>
          <p:cNvPr id="8" name="Picture 6" descr="哲学家就餐问题"/>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3113" y="1844675"/>
            <a:ext cx="3473450" cy="326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665011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5"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F98BAD95-96F6-4F45-85AF-47F731AEE5E5}" type="slidenum">
              <a:rPr lang="en-US" altLang="ko-KR" sz="1200">
                <a:solidFill>
                  <a:schemeClr val="bg1"/>
                </a:solidFill>
              </a:rPr>
              <a:pPr>
                <a:spcBef>
                  <a:spcPct val="0"/>
                </a:spcBef>
                <a:buClrTx/>
                <a:buSzTx/>
                <a:buFontTx/>
                <a:buNone/>
              </a:pPr>
              <a:t>29</a:t>
            </a:fld>
            <a:endParaRPr lang="en-US" altLang="ko-KR" sz="1200">
              <a:solidFill>
                <a:schemeClr val="bg1"/>
              </a:solidFill>
            </a:endParaRPr>
          </a:p>
        </p:txBody>
      </p:sp>
      <p:sp>
        <p:nvSpPr>
          <p:cNvPr id="189442" name="标题 1"/>
          <p:cNvSpPr>
            <a:spLocks noGrp="1"/>
          </p:cNvSpPr>
          <p:nvPr>
            <p:ph type="title"/>
          </p:nvPr>
        </p:nvSpPr>
        <p:spPr>
          <a:prstGeom prst="rect">
            <a:avLst/>
          </a:prstGeom>
        </p:spPr>
        <p:txBody>
          <a:bodyPr/>
          <a:lstStyle/>
          <a:p>
            <a:r>
              <a:rPr lang="en-US" altLang="zh-CN" dirty="0">
                <a:ea typeface="宋体" panose="02010600030101010101" pitchFamily="2" charset="-122"/>
              </a:rPr>
              <a:t>Analysis of “dining philosophers”</a:t>
            </a:r>
            <a:endParaRPr lang="zh-CN" altLang="en-US" dirty="0">
              <a:ea typeface="宋体" panose="02010600030101010101" pitchFamily="2" charset="-122"/>
            </a:endParaRPr>
          </a:p>
        </p:txBody>
      </p:sp>
      <p:sp>
        <p:nvSpPr>
          <p:cNvPr id="189446" name="内容占位符 2"/>
          <p:cNvSpPr>
            <a:spLocks noGrp="1"/>
          </p:cNvSpPr>
          <p:nvPr>
            <p:ph idx="1"/>
          </p:nvPr>
        </p:nvSpPr>
        <p:spPr>
          <a:prstGeom prst="rect">
            <a:avLst/>
          </a:prstGeom>
        </p:spPr>
        <p:txBody>
          <a:bodyPr/>
          <a:lstStyle/>
          <a:p>
            <a:pPr>
              <a:lnSpc>
                <a:spcPct val="110000"/>
              </a:lnSpc>
            </a:pPr>
            <a:r>
              <a:rPr lang="en-US" altLang="zh-CN">
                <a:ea typeface="宋体" panose="02010600030101010101" pitchFamily="2" charset="-122"/>
              </a:rPr>
              <a:t>Mutual exclusion</a:t>
            </a:r>
          </a:p>
          <a:p>
            <a:pPr lvl="1">
              <a:lnSpc>
                <a:spcPct val="110000"/>
              </a:lnSpc>
            </a:pPr>
            <a:r>
              <a:rPr lang="en-US" altLang="zh-CN">
                <a:ea typeface="宋体" panose="02010600030101010101" pitchFamily="2" charset="-122"/>
              </a:rPr>
              <a:t>Chopstick: only one philosopher can use it</a:t>
            </a:r>
          </a:p>
          <a:p>
            <a:pPr>
              <a:lnSpc>
                <a:spcPct val="110000"/>
              </a:lnSpc>
            </a:pPr>
            <a:r>
              <a:rPr lang="en-US" altLang="zh-CN">
                <a:ea typeface="宋体" panose="02010600030101010101" pitchFamily="2" charset="-122"/>
              </a:rPr>
              <a:t>Synchronism</a:t>
            </a:r>
          </a:p>
          <a:p>
            <a:pPr lvl="1">
              <a:lnSpc>
                <a:spcPct val="110000"/>
              </a:lnSpc>
            </a:pPr>
            <a:r>
              <a:rPr lang="en-US" altLang="zh-CN">
                <a:ea typeface="宋体" panose="02010600030101010101" pitchFamily="2" charset="-122"/>
              </a:rPr>
              <a:t>Any philosopher must get two chopsticks before dining</a:t>
            </a:r>
          </a:p>
          <a:p>
            <a:pPr lvl="1">
              <a:lnSpc>
                <a:spcPct val="110000"/>
              </a:lnSpc>
            </a:pPr>
            <a:r>
              <a:rPr lang="en-US" altLang="zh-CN">
                <a:ea typeface="宋体" panose="02010600030101010101" pitchFamily="2" charset="-122"/>
              </a:rPr>
              <a:t>The solution should assure that at most two philosophers can eat at same instant</a:t>
            </a:r>
          </a:p>
          <a:p>
            <a:pPr lvl="1">
              <a:lnSpc>
                <a:spcPct val="110000"/>
              </a:lnSpc>
            </a:pPr>
            <a:r>
              <a:rPr lang="en-US" altLang="zh-CN">
                <a:ea typeface="宋体" panose="02010600030101010101" pitchFamily="2" charset="-122"/>
              </a:rPr>
              <a:t>Deadlock and starvation: the risk should be avoided</a:t>
            </a:r>
          </a:p>
          <a:p>
            <a:pPr lvl="1">
              <a:lnSpc>
                <a:spcPct val="110000"/>
              </a:lnSpc>
              <a:buFont typeface="Wingdings" panose="05000000000000000000" pitchFamily="2" charset="2"/>
              <a:buNone/>
            </a:pPr>
            <a:endParaRPr lang="en-US" altLang="zh-CN">
              <a:ea typeface="宋体" panose="02010600030101010101" pitchFamily="2" charset="-122"/>
            </a:endParaRPr>
          </a:p>
          <a:p>
            <a:pPr lvl="1">
              <a:lnSpc>
                <a:spcPct val="110000"/>
              </a:lnSpc>
            </a:pPr>
            <a:endParaRPr lang="en-US" altLang="zh-CN">
              <a:ea typeface="宋体" panose="02010600030101010101" pitchFamily="2" charset="-122"/>
            </a:endParaRPr>
          </a:p>
        </p:txBody>
      </p:sp>
      <p:sp>
        <p:nvSpPr>
          <p:cNvPr id="5" name="页脚占位符 4"/>
          <p:cNvSpPr>
            <a:spLocks noGrp="1"/>
          </p:cNvSpPr>
          <p:nvPr>
            <p:ph type="ftr" sz="quarter" idx="4294967295"/>
          </p:nvPr>
        </p:nvSpPr>
        <p:spPr>
          <a:xfrm>
            <a:off x="8331200" y="6508750"/>
            <a:ext cx="3860800" cy="304800"/>
          </a:xfrm>
          <a:prstGeom prst="rect">
            <a:avLst/>
          </a:prstGeom>
        </p:spPr>
        <p:txBody>
          <a:bodyPr/>
          <a:lstStyle/>
          <a:p>
            <a:pPr>
              <a:defRPr/>
            </a:pPr>
            <a:r>
              <a:rPr lang="en-US" altLang="zh-CN"/>
              <a:t>CITS, NanKai University</a:t>
            </a:r>
            <a:endParaRPr lang="en-US" altLang="ko-K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4"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C2175EFC-BBC4-4BAD-A661-3632F3AEFCBB}" type="slidenum">
              <a:rPr lang="en-US" altLang="ko-KR" sz="1200">
                <a:solidFill>
                  <a:schemeClr val="bg1"/>
                </a:solidFill>
              </a:rPr>
              <a:pPr>
                <a:spcBef>
                  <a:spcPct val="0"/>
                </a:spcBef>
                <a:buClrTx/>
                <a:buSzTx/>
                <a:buFontTx/>
                <a:buNone/>
              </a:pPr>
              <a:t>30</a:t>
            </a:fld>
            <a:endParaRPr lang="en-US" altLang="ko-KR" sz="1200">
              <a:solidFill>
                <a:schemeClr val="bg1"/>
              </a:solidFill>
            </a:endParaRPr>
          </a:p>
        </p:txBody>
      </p:sp>
      <p:sp>
        <p:nvSpPr>
          <p:cNvPr id="191490" name="标题 1"/>
          <p:cNvSpPr>
            <a:spLocks noGrp="1"/>
          </p:cNvSpPr>
          <p:nvPr>
            <p:ph type="title"/>
          </p:nvPr>
        </p:nvSpPr>
        <p:spPr>
          <a:prstGeom prst="rect">
            <a:avLst/>
          </a:prstGeom>
        </p:spPr>
        <p:txBody>
          <a:bodyPr/>
          <a:lstStyle/>
          <a:p>
            <a:r>
              <a:rPr lang="zh-CN" altLang="en-US" dirty="0">
                <a:latin typeface="微软雅黑" panose="020B0503020204020204" pitchFamily="34" charset="-122"/>
                <a:ea typeface="微软雅黑" panose="020B0503020204020204" pitchFamily="34" charset="-122"/>
              </a:rPr>
              <a:t>常见错误解法</a:t>
            </a:r>
          </a:p>
        </p:txBody>
      </p:sp>
      <p:sp>
        <p:nvSpPr>
          <p:cNvPr id="3" name="文本框 2">
            <a:extLst>
              <a:ext uri="{FF2B5EF4-FFF2-40B4-BE49-F238E27FC236}">
                <a16:creationId xmlns:a16="http://schemas.microsoft.com/office/drawing/2014/main" id="{A905F483-CD21-F3EE-DAC2-61E598640B35}"/>
              </a:ext>
            </a:extLst>
          </p:cNvPr>
          <p:cNvSpPr txBox="1"/>
          <p:nvPr/>
        </p:nvSpPr>
        <p:spPr>
          <a:xfrm>
            <a:off x="2063552" y="1916832"/>
            <a:ext cx="8064896" cy="3693319"/>
          </a:xfrm>
          <a:prstGeom prst="rect">
            <a:avLst/>
          </a:prstGeom>
          <a:noFill/>
        </p:spPr>
        <p:txBody>
          <a:bodyPr wrap="square">
            <a:spAutoFit/>
          </a:bodyPr>
          <a:lstStyle/>
          <a:p>
            <a:r>
              <a:rPr lang="zh-CN" altLang="en-US" dirty="0"/>
              <a:t>#define N 5                    </a:t>
            </a:r>
            <a:r>
              <a:rPr lang="en-US" altLang="zh-CN" dirty="0"/>
              <a:t>	</a:t>
            </a:r>
            <a:r>
              <a:rPr lang="zh-CN" altLang="en-US" dirty="0"/>
              <a:t>/* 哲学家的数目 */</a:t>
            </a:r>
          </a:p>
          <a:p>
            <a:endParaRPr lang="zh-CN" altLang="en-US" dirty="0"/>
          </a:p>
          <a:p>
            <a:r>
              <a:rPr lang="zh-CN" altLang="en-US" dirty="0"/>
              <a:t>void philosopher(int i)     </a:t>
            </a:r>
            <a:r>
              <a:rPr lang="en-US" altLang="zh-CN" dirty="0"/>
              <a:t>	</a:t>
            </a:r>
            <a:r>
              <a:rPr lang="zh-CN" altLang="en-US" dirty="0"/>
              <a:t>/* i:哲学家编号,从0到4*/</a:t>
            </a:r>
          </a:p>
          <a:p>
            <a:r>
              <a:rPr lang="zh-CN" altLang="en-US" dirty="0"/>
              <a:t>{</a:t>
            </a:r>
          </a:p>
          <a:p>
            <a:r>
              <a:rPr lang="zh-CN" altLang="en-US" dirty="0"/>
              <a:t>    while (TRUE) {                    </a:t>
            </a:r>
          </a:p>
          <a:p>
            <a:r>
              <a:rPr lang="zh-CN" altLang="en-US" dirty="0"/>
              <a:t>        think();                      </a:t>
            </a:r>
            <a:r>
              <a:rPr lang="en-US" altLang="zh-CN" dirty="0"/>
              <a:t>	</a:t>
            </a:r>
            <a:r>
              <a:rPr lang="zh-CN" altLang="en-US" dirty="0"/>
              <a:t>/* 哲学家在思考 */</a:t>
            </a:r>
          </a:p>
          <a:p>
            <a:r>
              <a:rPr lang="zh-CN" altLang="en-US" dirty="0"/>
              <a:t>        take_</a:t>
            </a:r>
            <a:r>
              <a:rPr lang="en-US" altLang="zh-CN" dirty="0"/>
              <a:t>chopstick </a:t>
            </a:r>
            <a:r>
              <a:rPr lang="zh-CN" altLang="en-US" dirty="0"/>
              <a:t>(i);                 </a:t>
            </a:r>
            <a:r>
              <a:rPr lang="en-US" altLang="zh-CN" dirty="0"/>
              <a:t>	</a:t>
            </a:r>
            <a:r>
              <a:rPr lang="zh-CN" altLang="en-US" dirty="0"/>
              <a:t>/* 拿起左边的叉子 */</a:t>
            </a:r>
          </a:p>
          <a:p>
            <a:r>
              <a:rPr lang="zh-CN" altLang="en-US" dirty="0"/>
              <a:t>        take_</a:t>
            </a:r>
            <a:r>
              <a:rPr lang="en-US" altLang="zh-CN" kern="1200" dirty="0">
                <a:solidFill>
                  <a:srgbClr val="000000"/>
                </a:solidFill>
                <a:effectLst/>
                <a:latin typeface="Verdana" panose="020B0604030504040204" pitchFamily="34" charset="0"/>
                <a:ea typeface="宋体" panose="02010600030101010101" pitchFamily="2" charset="-122"/>
                <a:cs typeface="+mn-cs"/>
              </a:rPr>
              <a:t>chopstick</a:t>
            </a:r>
            <a:r>
              <a:rPr lang="zh-CN" altLang="en-US" dirty="0"/>
              <a:t>((i+1) % N);     /* 拿起边上的叉子</a:t>
            </a:r>
            <a:r>
              <a:rPr lang="en-US" altLang="zh-CN" dirty="0"/>
              <a:t>, %</a:t>
            </a:r>
            <a:r>
              <a:rPr lang="zh-CN" altLang="en-US" dirty="0"/>
              <a:t>是模运算 */</a:t>
            </a:r>
          </a:p>
          <a:p>
            <a:r>
              <a:rPr lang="zh-CN" altLang="en-US" dirty="0"/>
              <a:t>        eat();                        </a:t>
            </a:r>
            <a:r>
              <a:rPr lang="en-US" altLang="zh-CN" dirty="0"/>
              <a:t>	</a:t>
            </a:r>
            <a:r>
              <a:rPr lang="zh-CN" altLang="en-US" dirty="0"/>
              <a:t>/* 进餐 */</a:t>
            </a:r>
          </a:p>
          <a:p>
            <a:r>
              <a:rPr lang="zh-CN" altLang="en-US" dirty="0"/>
              <a:t>        put_</a:t>
            </a:r>
            <a:r>
              <a:rPr lang="en-US" altLang="zh-CN" kern="1200" dirty="0">
                <a:solidFill>
                  <a:srgbClr val="000000"/>
                </a:solidFill>
                <a:effectLst/>
                <a:latin typeface="Verdana" panose="020B0604030504040204" pitchFamily="34" charset="0"/>
                <a:ea typeface="宋体" panose="02010600030101010101" pitchFamily="2" charset="-122"/>
                <a:cs typeface="+mn-cs"/>
              </a:rPr>
              <a:t>chopstick</a:t>
            </a:r>
            <a:r>
              <a:rPr lang="zh-CN" altLang="en-US" dirty="0"/>
              <a:t>(i);                  </a:t>
            </a:r>
            <a:r>
              <a:rPr lang="en-US" altLang="zh-CN" dirty="0"/>
              <a:t>	</a:t>
            </a:r>
            <a:r>
              <a:rPr lang="zh-CN" altLang="en-US" dirty="0"/>
              <a:t>/* 放下左边的</a:t>
            </a:r>
            <a:r>
              <a:rPr lang="zh-CN" altLang="zh-CN" kern="1200" dirty="0">
                <a:solidFill>
                  <a:srgbClr val="000000"/>
                </a:solidFill>
                <a:effectLst/>
                <a:latin typeface="Verdana" panose="020B0604030504040204" pitchFamily="34" charset="0"/>
                <a:ea typeface="宋体" panose="02010600030101010101" pitchFamily="2" charset="-122"/>
                <a:cs typeface="+mn-cs"/>
              </a:rPr>
              <a:t>叉子</a:t>
            </a:r>
            <a:r>
              <a:rPr lang="zh-CN" altLang="en-US" dirty="0"/>
              <a:t>*/</a:t>
            </a:r>
          </a:p>
          <a:p>
            <a:r>
              <a:rPr lang="zh-CN" altLang="en-US" dirty="0"/>
              <a:t>        put_</a:t>
            </a:r>
            <a:r>
              <a:rPr lang="en-US" altLang="zh-CN" kern="1200" dirty="0">
                <a:solidFill>
                  <a:srgbClr val="000000"/>
                </a:solidFill>
                <a:effectLst/>
                <a:latin typeface="Verdana" panose="020B0604030504040204" pitchFamily="34" charset="0"/>
                <a:ea typeface="宋体" panose="02010600030101010101" pitchFamily="2" charset="-122"/>
                <a:cs typeface="+mn-cs"/>
              </a:rPr>
              <a:t>chopstick</a:t>
            </a:r>
            <a:r>
              <a:rPr lang="zh-CN" altLang="en-US" dirty="0"/>
              <a:t>((i+1) % N);       /* 放下右边的</a:t>
            </a:r>
            <a:r>
              <a:rPr lang="zh-CN" altLang="zh-CN" kern="1200" dirty="0">
                <a:solidFill>
                  <a:srgbClr val="000000"/>
                </a:solidFill>
                <a:effectLst/>
                <a:latin typeface="Verdana" panose="020B0604030504040204" pitchFamily="34" charset="0"/>
                <a:ea typeface="宋体" panose="02010600030101010101" pitchFamily="2" charset="-122"/>
                <a:cs typeface="+mn-cs"/>
              </a:rPr>
              <a:t>叉子</a:t>
            </a:r>
            <a:r>
              <a:rPr lang="zh-CN" altLang="en-US" dirty="0"/>
              <a:t>*/</a:t>
            </a:r>
          </a:p>
          <a:p>
            <a:r>
              <a:rPr lang="zh-CN" altLang="en-US" dirty="0"/>
              <a:t>    }</a:t>
            </a:r>
          </a:p>
          <a:p>
            <a:r>
              <a:rPr lang="zh-CN" altLang="en-US" dirty="0"/>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855640" y="1635113"/>
            <a:ext cx="6482357" cy="3826689"/>
            <a:chOff x="539552" y="777861"/>
            <a:chExt cx="6482357" cy="3826689"/>
          </a:xfrm>
        </p:grpSpPr>
        <p:sp>
          <p:nvSpPr>
            <p:cNvPr id="5" name="Text Box 3"/>
            <p:cNvSpPr txBox="1">
              <a:spLocks noChangeArrowheads="1"/>
            </p:cNvSpPr>
            <p:nvPr/>
          </p:nvSpPr>
          <p:spPr bwMode="auto">
            <a:xfrm>
              <a:off x="539552" y="777861"/>
              <a:ext cx="6408712" cy="3826689"/>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p:txBody>
        </p:sp>
        <p:sp>
          <p:nvSpPr>
            <p:cNvPr id="22" name="Text Box 3"/>
            <p:cNvSpPr txBox="1">
              <a:spLocks noChangeArrowheads="1"/>
            </p:cNvSpPr>
            <p:nvPr/>
          </p:nvSpPr>
          <p:spPr bwMode="auto">
            <a:xfrm>
              <a:off x="567713" y="850608"/>
              <a:ext cx="6454196" cy="467820"/>
            </a:xfrm>
            <a:prstGeom prst="rect">
              <a:avLst/>
            </a:prstGeom>
            <a:noFill/>
            <a:ln w="19050">
              <a:no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#define   N   5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哲学家个数</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semaphore fork[5];                  </a:t>
              </a:r>
              <a:r>
                <a:rPr lang="en-US" altLang="zh-TW" sz="1400" b="1" dirty="0">
                  <a:solidFill>
                    <a:srgbClr val="11576A"/>
                  </a:solidFill>
                  <a:latin typeface="+mn-ea"/>
                  <a:ea typeface="+mn-ea"/>
                  <a:cs typeface="Courier New" panose="02070309020205020404" pitchFamily="49" charset="0"/>
                </a:rPr>
                <a:t>// </a:t>
              </a:r>
              <a:r>
                <a:rPr lang="zh-TW" altLang="en-US" sz="1400" b="1" dirty="0">
                  <a:solidFill>
                    <a:srgbClr val="11576A"/>
                  </a:solidFill>
                  <a:latin typeface="+mn-ea"/>
                  <a:ea typeface="+mn-ea"/>
                  <a:cs typeface="Courier New" panose="02070309020205020404" pitchFamily="49" charset="0"/>
                </a:rPr>
                <a:t>信号量初值为</a:t>
              </a:r>
              <a:r>
                <a:rPr lang="en-US" altLang="zh-TW" sz="1400" b="1" dirty="0">
                  <a:solidFill>
                    <a:srgbClr val="11576A"/>
                  </a:solidFill>
                  <a:latin typeface="+mn-ea"/>
                  <a:ea typeface="+mn-ea"/>
                  <a:cs typeface="Courier New" panose="02070309020205020404" pitchFamily="49" charset="0"/>
                </a:rPr>
                <a:t>1</a:t>
              </a:r>
            </a:p>
          </p:txBody>
        </p:sp>
      </p:grpSp>
      <p:sp>
        <p:nvSpPr>
          <p:cNvPr id="3" name="标题 2">
            <a:extLst>
              <a:ext uri="{FF2B5EF4-FFF2-40B4-BE49-F238E27FC236}">
                <a16:creationId xmlns:a16="http://schemas.microsoft.com/office/drawing/2014/main" id="{6E30B349-DA50-C720-DF5B-A18747A73E4D}"/>
              </a:ext>
            </a:extLst>
          </p:cNvPr>
          <p:cNvSpPr>
            <a:spLocks noGrp="1"/>
          </p:cNvSpPr>
          <p:nvPr>
            <p:ph type="title"/>
          </p:nvPr>
        </p:nvSpPr>
        <p:spPr/>
        <p:txBody>
          <a:bodyPr>
            <a:normAutofit/>
          </a:bodyPr>
          <a:lstStyle/>
          <a:p>
            <a:r>
              <a:rPr lang="zh-CN" altLang="en-US" dirty="0"/>
              <a:t>聪明一些的解决方案</a:t>
            </a:r>
          </a:p>
        </p:txBody>
      </p:sp>
    </p:spTree>
    <p:extLst>
      <p:ext uri="{BB962C8B-B14F-4D97-AF65-F5344CB8AC3E}">
        <p14:creationId xmlns:p14="http://schemas.microsoft.com/office/powerpoint/2010/main" val="3565926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2855640" y="1635113"/>
            <a:ext cx="6408712" cy="3826689"/>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p:txBody>
      </p:sp>
      <p:sp>
        <p:nvSpPr>
          <p:cNvPr id="22" name="Text Box 3"/>
          <p:cNvSpPr txBox="1">
            <a:spLocks noChangeArrowheads="1"/>
          </p:cNvSpPr>
          <p:nvPr/>
        </p:nvSpPr>
        <p:spPr bwMode="auto">
          <a:xfrm>
            <a:off x="2883801" y="1707858"/>
            <a:ext cx="6454196" cy="3761030"/>
          </a:xfrm>
          <a:prstGeom prst="rect">
            <a:avLst/>
          </a:prstGeom>
          <a:noFill/>
          <a:ln w="19050">
            <a:no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#define   N   5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哲学家个数</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semaphore fork[5];                  </a:t>
            </a:r>
            <a:r>
              <a:rPr lang="en-US" altLang="zh-TW" sz="1400" b="1" dirty="0">
                <a:solidFill>
                  <a:srgbClr val="11576A"/>
                </a:solidFill>
                <a:latin typeface="+mn-ea"/>
                <a:ea typeface="+mn-ea"/>
                <a:cs typeface="Courier New" panose="02070309020205020404" pitchFamily="49" charset="0"/>
              </a:rPr>
              <a:t>// </a:t>
            </a:r>
            <a:r>
              <a:rPr lang="zh-TW" altLang="en-US" sz="1400" b="1" dirty="0">
                <a:solidFill>
                  <a:srgbClr val="11576A"/>
                </a:solidFill>
                <a:latin typeface="+mn-ea"/>
                <a:ea typeface="+mn-ea"/>
                <a:cs typeface="Courier New" panose="02070309020205020404" pitchFamily="49" charset="0"/>
              </a:rPr>
              <a:t>信号量初值为</a:t>
            </a:r>
            <a:r>
              <a:rPr lang="en-US" altLang="zh-TW" sz="1400" b="1" dirty="0">
                <a:solidFill>
                  <a:srgbClr val="11576A"/>
                </a:solidFill>
                <a:latin typeface="+mn-ea"/>
                <a:ea typeface="+mn-ea"/>
                <a:cs typeface="Courier New" panose="02070309020205020404" pitchFamily="49" charset="0"/>
              </a:rPr>
              <a:t>1</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void   philosopher(</a:t>
            </a:r>
            <a:r>
              <a:rPr lang="en-US" altLang="zh-CN" sz="1600" b="1" dirty="0" err="1">
                <a:latin typeface="Courier New" panose="02070309020205020404" pitchFamily="49" charset="0"/>
                <a:ea typeface="微软雅黑" pitchFamily="34" charset="-122"/>
                <a:cs typeface="Courier New" panose="02070309020205020404" pitchFamily="49" charset="0"/>
              </a:rPr>
              <a:t>int</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哲学家编号：</a:t>
            </a:r>
            <a:r>
              <a:rPr lang="en-US" altLang="zh-CN" sz="1400" b="1" dirty="0">
                <a:solidFill>
                  <a:srgbClr val="11576A"/>
                </a:solidFill>
                <a:latin typeface="+mn-ea"/>
                <a:ea typeface="+mn-ea"/>
                <a:cs typeface="Courier New" panose="02070309020205020404" pitchFamily="49" charset="0"/>
              </a:rPr>
              <a:t>0 </a:t>
            </a:r>
            <a:r>
              <a:rPr lang="zh-CN" altLang="en-US" sz="1400" b="1" dirty="0">
                <a:solidFill>
                  <a:srgbClr val="11576A"/>
                </a:solidFill>
                <a:latin typeface="+mn-ea"/>
                <a:ea typeface="+mn-ea"/>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4</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while(TRUE)</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think( );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哲学家在思考</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endParaRPr lang="en-US" altLang="zh-CN"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eat( );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吃面条中</a:t>
            </a:r>
            <a:r>
              <a:rPr lang="en-US" altLang="zh-CN" sz="1400" b="1" dirty="0">
                <a:solidFill>
                  <a:srgbClr val="11576A"/>
                </a:solidFill>
                <a:latin typeface="+mn-ea"/>
                <a:ea typeface="+mn-ea"/>
                <a:cs typeface="Courier New" panose="02070309020205020404" pitchFamily="49" charset="0"/>
              </a:rPr>
              <a:t>….</a:t>
            </a:r>
          </a:p>
          <a:p>
            <a:pPr>
              <a:lnSpc>
                <a:spcPct val="50000"/>
              </a:lnSpc>
              <a:spcAft>
                <a:spcPct val="40000"/>
              </a:spcAft>
              <a:buFont typeface="Arial" charset="0"/>
              <a:buNone/>
            </a:pPr>
            <a:endParaRPr lang="en-US" altLang="zh-TW"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p>
        </p:txBody>
      </p:sp>
      <p:sp>
        <p:nvSpPr>
          <p:cNvPr id="6" name="标题 2">
            <a:extLst>
              <a:ext uri="{FF2B5EF4-FFF2-40B4-BE49-F238E27FC236}">
                <a16:creationId xmlns:a16="http://schemas.microsoft.com/office/drawing/2014/main" id="{91010447-EFB4-3217-D443-D02F7F69CC80}"/>
              </a:ext>
            </a:extLst>
          </p:cNvPr>
          <p:cNvSpPr>
            <a:spLocks noGrp="1"/>
          </p:cNvSpPr>
          <p:nvPr>
            <p:ph type="title"/>
          </p:nvPr>
        </p:nvSpPr>
        <p:spPr>
          <a:xfrm>
            <a:off x="695400" y="871855"/>
            <a:ext cx="10801200" cy="680403"/>
          </a:xfrm>
        </p:spPr>
        <p:txBody>
          <a:bodyPr>
            <a:normAutofit/>
          </a:bodyPr>
          <a:lstStyle/>
          <a:p>
            <a:r>
              <a:rPr lang="zh-CN" altLang="en-US" dirty="0"/>
              <a:t>聪明一些的解决方案</a:t>
            </a:r>
          </a:p>
        </p:txBody>
      </p:sp>
    </p:spTree>
    <p:extLst>
      <p:ext uri="{BB962C8B-B14F-4D97-AF65-F5344CB8AC3E}">
        <p14:creationId xmlns:p14="http://schemas.microsoft.com/office/powerpoint/2010/main" val="19171951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2855640" y="1635113"/>
            <a:ext cx="6408712" cy="3826689"/>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p:txBody>
      </p:sp>
      <p:sp>
        <p:nvSpPr>
          <p:cNvPr id="22" name="Text Box 3"/>
          <p:cNvSpPr txBox="1">
            <a:spLocks noChangeArrowheads="1"/>
          </p:cNvSpPr>
          <p:nvPr/>
        </p:nvSpPr>
        <p:spPr bwMode="auto">
          <a:xfrm>
            <a:off x="2883801" y="1707858"/>
            <a:ext cx="6454196" cy="3761030"/>
          </a:xfrm>
          <a:prstGeom prst="rect">
            <a:avLst/>
          </a:prstGeom>
          <a:noFill/>
          <a:ln w="19050">
            <a:no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#define   N   5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哲学家个数</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semaphore fork[5];                  </a:t>
            </a:r>
            <a:r>
              <a:rPr lang="en-US" altLang="zh-TW" sz="1400" b="1" dirty="0">
                <a:solidFill>
                  <a:srgbClr val="11576A"/>
                </a:solidFill>
                <a:latin typeface="+mn-ea"/>
                <a:ea typeface="+mn-ea"/>
                <a:cs typeface="Courier New" panose="02070309020205020404" pitchFamily="49" charset="0"/>
              </a:rPr>
              <a:t>// </a:t>
            </a:r>
            <a:r>
              <a:rPr lang="zh-TW" altLang="en-US" sz="1400" b="1" dirty="0">
                <a:solidFill>
                  <a:srgbClr val="11576A"/>
                </a:solidFill>
                <a:latin typeface="+mn-ea"/>
                <a:ea typeface="+mn-ea"/>
                <a:cs typeface="Courier New" panose="02070309020205020404" pitchFamily="49" charset="0"/>
              </a:rPr>
              <a:t>信号量初值为</a:t>
            </a:r>
            <a:r>
              <a:rPr lang="en-US" altLang="zh-TW" sz="1400" b="1" dirty="0">
                <a:solidFill>
                  <a:srgbClr val="11576A"/>
                </a:solidFill>
                <a:latin typeface="+mn-ea"/>
                <a:ea typeface="+mn-ea"/>
                <a:cs typeface="Courier New" panose="02070309020205020404" pitchFamily="49" charset="0"/>
              </a:rPr>
              <a:t>1</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void   philosopher(</a:t>
            </a:r>
            <a:r>
              <a:rPr lang="en-US" altLang="zh-CN" sz="1600" b="1" dirty="0" err="1">
                <a:latin typeface="Courier New" panose="02070309020205020404" pitchFamily="49" charset="0"/>
                <a:ea typeface="微软雅黑" pitchFamily="34" charset="-122"/>
                <a:cs typeface="Courier New" panose="02070309020205020404" pitchFamily="49" charset="0"/>
              </a:rPr>
              <a:t>int</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哲学家编号：</a:t>
            </a:r>
            <a:r>
              <a:rPr lang="en-US" altLang="zh-CN" sz="1400" b="1" dirty="0">
                <a:solidFill>
                  <a:srgbClr val="11576A"/>
                </a:solidFill>
                <a:latin typeface="+mn-ea"/>
                <a:ea typeface="+mn-ea"/>
                <a:cs typeface="Courier New" panose="02070309020205020404" pitchFamily="49" charset="0"/>
              </a:rPr>
              <a:t>0 </a:t>
            </a:r>
            <a:r>
              <a:rPr lang="zh-CN" altLang="en-US" sz="1400" b="1" dirty="0">
                <a:solidFill>
                  <a:srgbClr val="11576A"/>
                </a:solidFill>
                <a:latin typeface="+mn-ea"/>
                <a:ea typeface="+mn-ea"/>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4</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while(TRUE)</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think( );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哲学家在思考</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if (i%2 == 0)</a:t>
            </a:r>
            <a:r>
              <a:rPr lang="zh-CN" altLang="en-US" sz="1600" b="1" dirty="0">
                <a:solidFill>
                  <a:srgbClr val="C00000"/>
                </a:solidFill>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a:t>
            </a:r>
          </a:p>
          <a:p>
            <a:pPr>
              <a:lnSpc>
                <a:spcPct val="50000"/>
              </a:lnSpc>
              <a:spcAft>
                <a:spcPct val="40000"/>
              </a:spcAft>
              <a:buFont typeface="Arial" charset="0"/>
              <a:buNone/>
            </a:pPr>
            <a:endParaRPr lang="en-US" altLang="zh-TW" sz="1600" b="1" dirty="0">
              <a:solidFill>
                <a:srgbClr val="C00000"/>
              </a:solidFill>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        } else {</a:t>
            </a:r>
          </a:p>
          <a:p>
            <a:pPr>
              <a:lnSpc>
                <a:spcPct val="50000"/>
              </a:lnSpc>
              <a:spcAft>
                <a:spcPct val="40000"/>
              </a:spcAft>
              <a:buFont typeface="Arial" charset="0"/>
              <a:buNone/>
            </a:pPr>
            <a:endParaRPr lang="en-US" altLang="zh-TW" sz="1600" b="1" dirty="0">
              <a:solidFill>
                <a:srgbClr val="C00000"/>
              </a:solidFill>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        }      </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eat( );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吃面条中</a:t>
            </a:r>
            <a:r>
              <a:rPr lang="en-US" altLang="zh-CN" sz="1400" b="1" dirty="0">
                <a:solidFill>
                  <a:srgbClr val="11576A"/>
                </a:solidFill>
                <a:latin typeface="+mn-ea"/>
                <a:ea typeface="+mn-ea"/>
                <a:cs typeface="Courier New" panose="02070309020205020404" pitchFamily="49" charset="0"/>
              </a:rPr>
              <a:t>….</a:t>
            </a:r>
          </a:p>
          <a:p>
            <a:pPr>
              <a:lnSpc>
                <a:spcPct val="50000"/>
              </a:lnSpc>
              <a:spcAft>
                <a:spcPct val="40000"/>
              </a:spcAft>
              <a:buFont typeface="Arial" charset="0"/>
              <a:buNone/>
            </a:pPr>
            <a:endParaRPr lang="en-US" altLang="zh-TW"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p>
        </p:txBody>
      </p:sp>
      <p:sp>
        <p:nvSpPr>
          <p:cNvPr id="7" name="标题 2">
            <a:extLst>
              <a:ext uri="{FF2B5EF4-FFF2-40B4-BE49-F238E27FC236}">
                <a16:creationId xmlns:a16="http://schemas.microsoft.com/office/drawing/2014/main" id="{D1FA0787-02B8-20E6-C16F-5E00E700E3EC}"/>
              </a:ext>
            </a:extLst>
          </p:cNvPr>
          <p:cNvSpPr>
            <a:spLocks noGrp="1"/>
          </p:cNvSpPr>
          <p:nvPr>
            <p:ph type="title"/>
          </p:nvPr>
        </p:nvSpPr>
        <p:spPr>
          <a:xfrm>
            <a:off x="695400" y="871855"/>
            <a:ext cx="10801200" cy="680403"/>
          </a:xfrm>
        </p:spPr>
        <p:txBody>
          <a:bodyPr>
            <a:normAutofit/>
          </a:bodyPr>
          <a:lstStyle/>
          <a:p>
            <a:r>
              <a:rPr lang="zh-CN" altLang="en-US" dirty="0"/>
              <a:t>聪明一些的解决方案</a:t>
            </a:r>
          </a:p>
        </p:txBody>
      </p:sp>
    </p:spTree>
    <p:extLst>
      <p:ext uri="{BB962C8B-B14F-4D97-AF65-F5344CB8AC3E}">
        <p14:creationId xmlns:p14="http://schemas.microsoft.com/office/powerpoint/2010/main" val="24403671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2854003" y="1635113"/>
            <a:ext cx="6408712" cy="3826689"/>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p:txBody>
      </p:sp>
      <p:sp>
        <p:nvSpPr>
          <p:cNvPr id="22" name="Text Box 3"/>
          <p:cNvSpPr txBox="1">
            <a:spLocks noChangeArrowheads="1"/>
          </p:cNvSpPr>
          <p:nvPr/>
        </p:nvSpPr>
        <p:spPr bwMode="auto">
          <a:xfrm>
            <a:off x="2882164" y="1707858"/>
            <a:ext cx="6454196" cy="3761030"/>
          </a:xfrm>
          <a:prstGeom prst="rect">
            <a:avLst/>
          </a:prstGeom>
          <a:noFill/>
          <a:ln w="19050">
            <a:no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#define   N   5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哲学家个数</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semaphore fork[5];                  </a:t>
            </a:r>
            <a:r>
              <a:rPr lang="en-US" altLang="zh-TW" sz="1400" b="1" dirty="0">
                <a:solidFill>
                  <a:srgbClr val="11576A"/>
                </a:solidFill>
                <a:latin typeface="+mn-ea"/>
                <a:ea typeface="+mn-ea"/>
                <a:cs typeface="Courier New" panose="02070309020205020404" pitchFamily="49" charset="0"/>
              </a:rPr>
              <a:t>// </a:t>
            </a:r>
            <a:r>
              <a:rPr lang="zh-TW" altLang="en-US" sz="1400" b="1" dirty="0">
                <a:solidFill>
                  <a:srgbClr val="11576A"/>
                </a:solidFill>
                <a:latin typeface="+mn-ea"/>
                <a:ea typeface="+mn-ea"/>
                <a:cs typeface="Courier New" panose="02070309020205020404" pitchFamily="49" charset="0"/>
              </a:rPr>
              <a:t>信号量初值为</a:t>
            </a:r>
            <a:r>
              <a:rPr lang="en-US" altLang="zh-TW" sz="1400" b="1" dirty="0">
                <a:solidFill>
                  <a:srgbClr val="11576A"/>
                </a:solidFill>
                <a:latin typeface="+mn-ea"/>
                <a:ea typeface="+mn-ea"/>
                <a:cs typeface="Courier New" panose="02070309020205020404" pitchFamily="49" charset="0"/>
              </a:rPr>
              <a:t>1</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void   philosopher(</a:t>
            </a:r>
            <a:r>
              <a:rPr lang="en-US" altLang="zh-CN" sz="1600" b="1" dirty="0" err="1">
                <a:latin typeface="Courier New" panose="02070309020205020404" pitchFamily="49" charset="0"/>
                <a:ea typeface="微软雅黑" pitchFamily="34" charset="-122"/>
                <a:cs typeface="Courier New" panose="02070309020205020404" pitchFamily="49" charset="0"/>
              </a:rPr>
              <a:t>int</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哲学家编号：</a:t>
            </a:r>
            <a:r>
              <a:rPr lang="en-US" altLang="zh-CN" sz="1400" b="1" dirty="0">
                <a:solidFill>
                  <a:srgbClr val="11576A"/>
                </a:solidFill>
                <a:latin typeface="+mn-ea"/>
                <a:ea typeface="+mn-ea"/>
                <a:cs typeface="Courier New" panose="02070309020205020404" pitchFamily="49" charset="0"/>
              </a:rPr>
              <a:t>0 </a:t>
            </a:r>
            <a:r>
              <a:rPr lang="zh-CN" altLang="en-US" sz="1400" b="1" dirty="0">
                <a:solidFill>
                  <a:srgbClr val="11576A"/>
                </a:solidFill>
                <a:latin typeface="+mn-ea"/>
                <a:ea typeface="+mn-ea"/>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4</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while(TRUE)</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think( );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哲学家在思考</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if (i%2 == 0)</a:t>
            </a:r>
            <a:r>
              <a:rPr lang="zh-CN" altLang="en-US" sz="1600" b="1" dirty="0">
                <a:solidFill>
                  <a:srgbClr val="C00000"/>
                </a:solidFill>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a:t>
            </a: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            P(fork[</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去拿左边的叉子</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            P(fork[</a:t>
            </a:r>
            <a:r>
              <a:rPr lang="en-US" altLang="zh-CN" sz="1600" b="1" dirty="0">
                <a:latin typeface="Courier New" panose="02070309020205020404" pitchFamily="49" charset="0"/>
                <a:ea typeface="微软雅黑" pitchFamily="34" charset="-122"/>
                <a:cs typeface="Courier New" panose="02070309020205020404" pitchFamily="49" charset="0"/>
              </a:rPr>
              <a:t>(</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+ 1) % N]);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去拿右边的叉子</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 else {</a:t>
            </a:r>
          </a:p>
          <a:p>
            <a:pPr>
              <a:lnSpc>
                <a:spcPct val="50000"/>
              </a:lnSpc>
              <a:spcAft>
                <a:spcPct val="40000"/>
              </a:spcAft>
              <a:buFont typeface="Arial" charset="0"/>
              <a:buNone/>
            </a:pPr>
            <a:endParaRPr lang="en-US" altLang="zh-TW" sz="1600" b="1" dirty="0">
              <a:solidFill>
                <a:srgbClr val="C00000"/>
              </a:solidFill>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        }      </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eat( );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吃面条中</a:t>
            </a:r>
            <a:r>
              <a:rPr lang="en-US" altLang="zh-CN" sz="1400" b="1" dirty="0">
                <a:solidFill>
                  <a:srgbClr val="11576A"/>
                </a:solidFill>
                <a:latin typeface="+mn-ea"/>
                <a:ea typeface="+mn-ea"/>
                <a:cs typeface="Courier New" panose="02070309020205020404" pitchFamily="49" charset="0"/>
              </a:rPr>
              <a:t>….</a:t>
            </a:r>
          </a:p>
          <a:p>
            <a:pPr>
              <a:lnSpc>
                <a:spcPct val="50000"/>
              </a:lnSpc>
              <a:spcAft>
                <a:spcPct val="40000"/>
              </a:spcAft>
              <a:buFont typeface="Arial" charset="0"/>
              <a:buNone/>
            </a:pPr>
            <a:endParaRPr lang="en-US" altLang="zh-TW"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p>
        </p:txBody>
      </p:sp>
      <p:sp>
        <p:nvSpPr>
          <p:cNvPr id="6" name="标题 2">
            <a:extLst>
              <a:ext uri="{FF2B5EF4-FFF2-40B4-BE49-F238E27FC236}">
                <a16:creationId xmlns:a16="http://schemas.microsoft.com/office/drawing/2014/main" id="{8938538B-9D49-CC7F-2A6A-6FECF03E9D07}"/>
              </a:ext>
            </a:extLst>
          </p:cNvPr>
          <p:cNvSpPr>
            <a:spLocks noGrp="1"/>
          </p:cNvSpPr>
          <p:nvPr>
            <p:ph type="title"/>
          </p:nvPr>
        </p:nvSpPr>
        <p:spPr>
          <a:xfrm>
            <a:off x="695400" y="871855"/>
            <a:ext cx="10801200" cy="680403"/>
          </a:xfrm>
        </p:spPr>
        <p:txBody>
          <a:bodyPr>
            <a:normAutofit/>
          </a:bodyPr>
          <a:lstStyle/>
          <a:p>
            <a:r>
              <a:rPr lang="zh-CN" altLang="en-US" dirty="0"/>
              <a:t>聪明一些的解决方案</a:t>
            </a:r>
          </a:p>
        </p:txBody>
      </p:sp>
    </p:spTree>
    <p:extLst>
      <p:ext uri="{BB962C8B-B14F-4D97-AF65-F5344CB8AC3E}">
        <p14:creationId xmlns:p14="http://schemas.microsoft.com/office/powerpoint/2010/main" val="19445687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2854003" y="1635113"/>
            <a:ext cx="6408712" cy="3826689"/>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p:txBody>
      </p:sp>
      <p:sp>
        <p:nvSpPr>
          <p:cNvPr id="22" name="Text Box 3"/>
          <p:cNvSpPr txBox="1">
            <a:spLocks noChangeArrowheads="1"/>
          </p:cNvSpPr>
          <p:nvPr/>
        </p:nvSpPr>
        <p:spPr bwMode="auto">
          <a:xfrm>
            <a:off x="2882164" y="1707858"/>
            <a:ext cx="6454196" cy="3761030"/>
          </a:xfrm>
          <a:prstGeom prst="rect">
            <a:avLst/>
          </a:prstGeom>
          <a:noFill/>
          <a:ln w="19050">
            <a:no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#define   N   5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哲学家个数</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semaphore fork[5];                  </a:t>
            </a:r>
            <a:r>
              <a:rPr lang="en-US" altLang="zh-TW" sz="1400" b="1" dirty="0">
                <a:solidFill>
                  <a:srgbClr val="11576A"/>
                </a:solidFill>
                <a:latin typeface="+mn-ea"/>
                <a:ea typeface="+mn-ea"/>
                <a:cs typeface="Courier New" panose="02070309020205020404" pitchFamily="49" charset="0"/>
              </a:rPr>
              <a:t>// </a:t>
            </a:r>
            <a:r>
              <a:rPr lang="zh-TW" altLang="en-US" sz="1400" b="1" dirty="0">
                <a:solidFill>
                  <a:srgbClr val="11576A"/>
                </a:solidFill>
                <a:latin typeface="+mn-ea"/>
                <a:ea typeface="+mn-ea"/>
                <a:cs typeface="Courier New" panose="02070309020205020404" pitchFamily="49" charset="0"/>
              </a:rPr>
              <a:t>信号量初值为</a:t>
            </a:r>
            <a:r>
              <a:rPr lang="en-US" altLang="zh-TW" sz="1400" b="1" dirty="0">
                <a:solidFill>
                  <a:srgbClr val="11576A"/>
                </a:solidFill>
                <a:latin typeface="+mn-ea"/>
                <a:ea typeface="+mn-ea"/>
                <a:cs typeface="Courier New" panose="02070309020205020404" pitchFamily="49" charset="0"/>
              </a:rPr>
              <a:t>1</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void   philosopher(</a:t>
            </a:r>
            <a:r>
              <a:rPr lang="en-US" altLang="zh-CN" sz="1600" b="1" dirty="0" err="1">
                <a:latin typeface="Courier New" panose="02070309020205020404" pitchFamily="49" charset="0"/>
                <a:ea typeface="微软雅黑" pitchFamily="34" charset="-122"/>
                <a:cs typeface="Courier New" panose="02070309020205020404" pitchFamily="49" charset="0"/>
              </a:rPr>
              <a:t>int</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哲学家编号：</a:t>
            </a:r>
            <a:r>
              <a:rPr lang="en-US" altLang="zh-CN" sz="1400" b="1" dirty="0">
                <a:solidFill>
                  <a:srgbClr val="11576A"/>
                </a:solidFill>
                <a:latin typeface="+mn-ea"/>
                <a:ea typeface="+mn-ea"/>
                <a:cs typeface="Courier New" panose="02070309020205020404" pitchFamily="49" charset="0"/>
              </a:rPr>
              <a:t>0 </a:t>
            </a:r>
            <a:r>
              <a:rPr lang="zh-CN" altLang="en-US" sz="1400" b="1" dirty="0">
                <a:solidFill>
                  <a:srgbClr val="11576A"/>
                </a:solidFill>
                <a:latin typeface="+mn-ea"/>
                <a:ea typeface="+mn-ea"/>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4</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while(TRUE)</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think( );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哲学家在思考</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if (i%2 == 0)</a:t>
            </a:r>
            <a:r>
              <a:rPr lang="zh-CN" altLang="en-US" sz="1600" b="1" dirty="0">
                <a:solidFill>
                  <a:srgbClr val="C00000"/>
                </a:solidFill>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a:t>
            </a: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            P(fork[</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去拿左边的叉子</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            P(fork[</a:t>
            </a:r>
            <a:r>
              <a:rPr lang="en-US" altLang="zh-CN" sz="1600" b="1" dirty="0">
                <a:latin typeface="Courier New" panose="02070309020205020404" pitchFamily="49" charset="0"/>
                <a:ea typeface="微软雅黑" pitchFamily="34" charset="-122"/>
                <a:cs typeface="Courier New" panose="02070309020205020404" pitchFamily="49" charset="0"/>
              </a:rPr>
              <a:t>(</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+ 1) % N]);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去拿右边的叉子</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 else {</a:t>
            </a: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            P(fork[</a:t>
            </a:r>
            <a:r>
              <a:rPr lang="en-US" altLang="zh-CN" sz="1600" b="1" dirty="0">
                <a:latin typeface="Courier New" panose="02070309020205020404" pitchFamily="49" charset="0"/>
                <a:ea typeface="微软雅黑" pitchFamily="34" charset="-122"/>
                <a:cs typeface="Courier New" panose="02070309020205020404" pitchFamily="49" charset="0"/>
              </a:rPr>
              <a:t>(</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+ 1) % N]);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去拿右边的叉子</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            P(fork[</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去拿左边的叉子</a:t>
            </a:r>
            <a:r>
              <a:rPr lang="en-US" altLang="zh-CN" sz="1600" b="1" dirty="0">
                <a:latin typeface="Courier New" panose="02070309020205020404" pitchFamily="49" charset="0"/>
                <a:ea typeface="微软雅黑" pitchFamily="34" charset="-122"/>
                <a:cs typeface="Courier New" panose="02070309020205020404" pitchFamily="49" charset="0"/>
              </a:rPr>
              <a:t> </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    </a:t>
            </a:r>
            <a:r>
              <a:rPr lang="en-US" altLang="zh-CN" sz="1600" b="1" dirty="0">
                <a:latin typeface="Courier New" panose="02070309020205020404" pitchFamily="49" charset="0"/>
                <a:ea typeface="微软雅黑" pitchFamily="34" charset="-122"/>
                <a:cs typeface="Courier New" panose="02070309020205020404" pitchFamily="49" charset="0"/>
              </a:rPr>
              <a:t>  </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eat( );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吃面条中</a:t>
            </a:r>
            <a:r>
              <a:rPr lang="en-US" altLang="zh-CN" sz="1400" b="1" dirty="0">
                <a:solidFill>
                  <a:srgbClr val="11576A"/>
                </a:solidFill>
                <a:latin typeface="+mn-ea"/>
                <a:ea typeface="+mn-ea"/>
                <a:cs typeface="Courier New" panose="02070309020205020404" pitchFamily="49" charset="0"/>
              </a:rPr>
              <a:t>….</a:t>
            </a:r>
          </a:p>
          <a:p>
            <a:pPr>
              <a:lnSpc>
                <a:spcPct val="50000"/>
              </a:lnSpc>
              <a:spcAft>
                <a:spcPct val="40000"/>
              </a:spcAft>
              <a:buFont typeface="Arial" charset="0"/>
              <a:buNone/>
            </a:pPr>
            <a:endParaRPr lang="en-US" altLang="zh-TW"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endParaRPr lang="en-US" altLang="zh-CN" sz="1600" b="1" dirty="0">
              <a:latin typeface="Courier New" panose="02070309020205020404" pitchFamily="49" charset="0"/>
              <a:ea typeface="微软雅黑" pitchFamily="34" charset="-122"/>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p>
        </p:txBody>
      </p:sp>
      <p:sp>
        <p:nvSpPr>
          <p:cNvPr id="6" name="标题 2">
            <a:extLst>
              <a:ext uri="{FF2B5EF4-FFF2-40B4-BE49-F238E27FC236}">
                <a16:creationId xmlns:a16="http://schemas.microsoft.com/office/drawing/2014/main" id="{B1A2B6CF-8044-8D19-1E2C-99B621401BD0}"/>
              </a:ext>
            </a:extLst>
          </p:cNvPr>
          <p:cNvSpPr>
            <a:spLocks noGrp="1"/>
          </p:cNvSpPr>
          <p:nvPr>
            <p:ph type="title"/>
          </p:nvPr>
        </p:nvSpPr>
        <p:spPr>
          <a:xfrm>
            <a:off x="695400" y="871855"/>
            <a:ext cx="10801200" cy="680403"/>
          </a:xfrm>
        </p:spPr>
        <p:txBody>
          <a:bodyPr>
            <a:normAutofit/>
          </a:bodyPr>
          <a:lstStyle/>
          <a:p>
            <a:r>
              <a:rPr lang="zh-CN" altLang="en-US" dirty="0"/>
              <a:t>聪明一些的解决方案</a:t>
            </a:r>
          </a:p>
        </p:txBody>
      </p:sp>
    </p:spTree>
    <p:extLst>
      <p:ext uri="{BB962C8B-B14F-4D97-AF65-F5344CB8AC3E}">
        <p14:creationId xmlns:p14="http://schemas.microsoft.com/office/powerpoint/2010/main" val="7657800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2854003" y="1635113"/>
            <a:ext cx="6408712" cy="3826689"/>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a:p>
            <a:pPr>
              <a:lnSpc>
                <a:spcPts val="1100"/>
              </a:lnSpc>
              <a:spcAft>
                <a:spcPct val="40000"/>
              </a:spcAft>
            </a:pPr>
            <a:endParaRPr lang="en-US" altLang="zh-CN" sz="1600" b="1" dirty="0">
              <a:solidFill>
                <a:schemeClr val="tx1">
                  <a:lumMod val="95000"/>
                  <a:lumOff val="5000"/>
                </a:schemeClr>
              </a:solidFill>
              <a:latin typeface="Courier New" panose="02070309020205020404" pitchFamily="49" charset="0"/>
              <a:ea typeface="微软雅黑" pitchFamily="34" charset="-122"/>
              <a:cs typeface="Courier New" panose="02070309020205020404" pitchFamily="49" charset="0"/>
            </a:endParaRPr>
          </a:p>
        </p:txBody>
      </p:sp>
      <p:sp>
        <p:nvSpPr>
          <p:cNvPr id="22" name="Text Box 3"/>
          <p:cNvSpPr txBox="1">
            <a:spLocks noChangeArrowheads="1"/>
          </p:cNvSpPr>
          <p:nvPr/>
        </p:nvSpPr>
        <p:spPr bwMode="auto">
          <a:xfrm>
            <a:off x="2882164" y="1707858"/>
            <a:ext cx="6454196" cy="3761030"/>
          </a:xfrm>
          <a:prstGeom prst="rect">
            <a:avLst/>
          </a:prstGeom>
          <a:noFill/>
          <a:ln w="19050">
            <a:no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#define   N   5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哲学家个数</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semaphore fork[5];                  </a:t>
            </a:r>
            <a:r>
              <a:rPr lang="en-US" altLang="zh-TW" sz="1400" b="1" dirty="0">
                <a:solidFill>
                  <a:srgbClr val="11576A"/>
                </a:solidFill>
                <a:latin typeface="+mn-ea"/>
                <a:ea typeface="+mn-ea"/>
                <a:cs typeface="Courier New" panose="02070309020205020404" pitchFamily="49" charset="0"/>
              </a:rPr>
              <a:t>// </a:t>
            </a:r>
            <a:r>
              <a:rPr lang="zh-TW" altLang="en-US" sz="1400" b="1" dirty="0">
                <a:solidFill>
                  <a:srgbClr val="11576A"/>
                </a:solidFill>
                <a:latin typeface="+mn-ea"/>
                <a:ea typeface="+mn-ea"/>
                <a:cs typeface="Courier New" panose="02070309020205020404" pitchFamily="49" charset="0"/>
              </a:rPr>
              <a:t>信号量初值为</a:t>
            </a:r>
            <a:r>
              <a:rPr lang="en-US" altLang="zh-TW" sz="1400" b="1" dirty="0">
                <a:solidFill>
                  <a:srgbClr val="11576A"/>
                </a:solidFill>
                <a:latin typeface="+mn-ea"/>
                <a:ea typeface="+mn-ea"/>
                <a:cs typeface="Courier New" panose="02070309020205020404" pitchFamily="49" charset="0"/>
              </a:rPr>
              <a:t>1</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void   philosopher(</a:t>
            </a:r>
            <a:r>
              <a:rPr lang="en-US" altLang="zh-CN" sz="1600" b="1" dirty="0" err="1">
                <a:latin typeface="Courier New" panose="02070309020205020404" pitchFamily="49" charset="0"/>
                <a:ea typeface="微软雅黑" pitchFamily="34" charset="-122"/>
                <a:cs typeface="Courier New" panose="02070309020205020404" pitchFamily="49" charset="0"/>
              </a:rPr>
              <a:t>int</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哲学家编号：</a:t>
            </a:r>
            <a:r>
              <a:rPr lang="en-US" altLang="zh-CN" sz="1400" b="1" dirty="0">
                <a:solidFill>
                  <a:srgbClr val="11576A"/>
                </a:solidFill>
                <a:latin typeface="+mn-ea"/>
                <a:ea typeface="+mn-ea"/>
                <a:cs typeface="Courier New" panose="02070309020205020404" pitchFamily="49" charset="0"/>
              </a:rPr>
              <a:t>0 </a:t>
            </a:r>
            <a:r>
              <a:rPr lang="zh-CN" altLang="en-US" sz="1400" b="1" dirty="0">
                <a:solidFill>
                  <a:srgbClr val="11576A"/>
                </a:solidFill>
                <a:latin typeface="+mn-ea"/>
                <a:ea typeface="+mn-ea"/>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4</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while(TRUE)</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think( );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哲学家在思考</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if (i%2 == 0)</a:t>
            </a:r>
            <a:r>
              <a:rPr lang="zh-CN" altLang="en-US" sz="1600" b="1" dirty="0">
                <a:solidFill>
                  <a:srgbClr val="C00000"/>
                </a:solidFill>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a:t>
            </a: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            P(fork[</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去拿左边的叉子</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            P(fork[</a:t>
            </a:r>
            <a:r>
              <a:rPr lang="en-US" altLang="zh-CN" sz="1600" b="1" dirty="0">
                <a:latin typeface="Courier New" panose="02070309020205020404" pitchFamily="49" charset="0"/>
                <a:ea typeface="微软雅黑" pitchFamily="34" charset="-122"/>
                <a:cs typeface="Courier New" panose="02070309020205020404" pitchFamily="49" charset="0"/>
              </a:rPr>
              <a:t>(</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+ 1) % N]);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去拿右边的叉子</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 else {</a:t>
            </a: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            P(fork[</a:t>
            </a:r>
            <a:r>
              <a:rPr lang="en-US" altLang="zh-CN" sz="1600" b="1" dirty="0">
                <a:latin typeface="Courier New" panose="02070309020205020404" pitchFamily="49" charset="0"/>
                <a:ea typeface="微软雅黑" pitchFamily="34" charset="-122"/>
                <a:cs typeface="Courier New" panose="02070309020205020404" pitchFamily="49" charset="0"/>
              </a:rPr>
              <a:t>(</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+ 1) % N]);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去拿右边的叉子</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            P(fork[</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去拿左边的叉子</a:t>
            </a:r>
            <a:r>
              <a:rPr lang="en-US" altLang="zh-CN" sz="1600" b="1" dirty="0">
                <a:latin typeface="Courier New" panose="02070309020205020404" pitchFamily="49" charset="0"/>
                <a:ea typeface="微软雅黑" pitchFamily="34" charset="-122"/>
                <a:cs typeface="Courier New" panose="02070309020205020404" pitchFamily="49" charset="0"/>
              </a:rPr>
              <a:t> </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600" b="1" dirty="0">
                <a:solidFill>
                  <a:srgbClr val="C00000"/>
                </a:solidFill>
                <a:latin typeface="Courier New" panose="02070309020205020404" pitchFamily="49" charset="0"/>
                <a:ea typeface="微软雅黑" pitchFamily="34" charset="-122"/>
                <a:cs typeface="Courier New" panose="02070309020205020404" pitchFamily="49" charset="0"/>
              </a:rPr>
              <a:t>}   </a:t>
            </a:r>
            <a:r>
              <a:rPr lang="en-US" altLang="zh-CN" sz="1600" b="1" dirty="0">
                <a:latin typeface="Courier New" panose="02070309020205020404" pitchFamily="49" charset="0"/>
                <a:ea typeface="微软雅黑" pitchFamily="34" charset="-122"/>
                <a:cs typeface="Courier New" panose="02070309020205020404" pitchFamily="49" charset="0"/>
              </a:rPr>
              <a:t>   </a:t>
            </a: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eat( );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吃面条中</a:t>
            </a:r>
            <a:r>
              <a:rPr lang="en-US" altLang="zh-CN" sz="1400" b="1" dirty="0">
                <a:solidFill>
                  <a:srgbClr val="11576A"/>
                </a:solidFill>
                <a:latin typeface="+mn-ea"/>
                <a:ea typeface="+mn-ea"/>
                <a:cs typeface="Courier New" panose="02070309020205020404" pitchFamily="49" charset="0"/>
              </a:rPr>
              <a:t>….</a:t>
            </a: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        V(fork[</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放下左边的叉子</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TW" sz="1600" b="1" dirty="0">
                <a:latin typeface="Courier New" panose="02070309020205020404" pitchFamily="49" charset="0"/>
                <a:ea typeface="微软雅黑" pitchFamily="34" charset="-122"/>
                <a:cs typeface="Courier New" panose="02070309020205020404" pitchFamily="49" charset="0"/>
              </a:rPr>
              <a:t>        V(fork[</a:t>
            </a:r>
            <a:r>
              <a:rPr lang="en-US" altLang="zh-CN" sz="1600" b="1" dirty="0">
                <a:latin typeface="Courier New" panose="02070309020205020404" pitchFamily="49" charset="0"/>
                <a:ea typeface="微软雅黑" pitchFamily="34" charset="-122"/>
                <a:cs typeface="Courier New" panose="02070309020205020404" pitchFamily="49" charset="0"/>
              </a:rPr>
              <a:t>(</a:t>
            </a:r>
            <a:r>
              <a:rPr lang="en-US" altLang="zh-CN" sz="1600" b="1" dirty="0" err="1">
                <a:latin typeface="Courier New" panose="02070309020205020404" pitchFamily="49" charset="0"/>
                <a:ea typeface="微软雅黑" pitchFamily="34" charset="-122"/>
                <a:cs typeface="Courier New" panose="02070309020205020404" pitchFamily="49" charset="0"/>
              </a:rPr>
              <a:t>i</a:t>
            </a:r>
            <a:r>
              <a:rPr lang="en-US" altLang="zh-CN" sz="1600" b="1" dirty="0">
                <a:latin typeface="Courier New" panose="02070309020205020404" pitchFamily="49" charset="0"/>
                <a:ea typeface="微软雅黑" pitchFamily="34" charset="-122"/>
                <a:cs typeface="Courier New" panose="02070309020205020404" pitchFamily="49" charset="0"/>
              </a:rPr>
              <a:t> + 1) % N]);	      </a:t>
            </a:r>
            <a:r>
              <a:rPr lang="en-US" altLang="zh-CN" sz="1400" b="1" dirty="0">
                <a:solidFill>
                  <a:srgbClr val="11576A"/>
                </a:solidFill>
                <a:latin typeface="+mn-ea"/>
                <a:ea typeface="+mn-ea"/>
                <a:cs typeface="Courier New" panose="02070309020205020404" pitchFamily="49" charset="0"/>
              </a:rPr>
              <a:t>// </a:t>
            </a:r>
            <a:r>
              <a:rPr lang="zh-CN" altLang="en-US" sz="1400" b="1" dirty="0">
                <a:solidFill>
                  <a:srgbClr val="11576A"/>
                </a:solidFill>
                <a:latin typeface="+mn-ea"/>
                <a:ea typeface="+mn-ea"/>
                <a:cs typeface="Courier New" panose="02070309020205020404" pitchFamily="49" charset="0"/>
              </a:rPr>
              <a:t>放下右边的叉子</a:t>
            </a:r>
            <a:endParaRPr lang="en-US" altLang="zh-CN" sz="1400" b="1" dirty="0">
              <a:solidFill>
                <a:srgbClr val="11576A"/>
              </a:solidFill>
              <a:latin typeface="+mn-ea"/>
              <a:ea typeface="+mn-ea"/>
              <a:cs typeface="Courier New" panose="02070309020205020404" pitchFamily="49" charset="0"/>
            </a:endParaRPr>
          </a:p>
          <a:p>
            <a:pPr>
              <a:lnSpc>
                <a:spcPct val="50000"/>
              </a:lnSpc>
              <a:spcAft>
                <a:spcPct val="40000"/>
              </a:spcAft>
              <a:buFont typeface="Arial" charset="0"/>
              <a:buNone/>
            </a:pPr>
            <a:r>
              <a:rPr lang="en-US" altLang="zh-CN" sz="1600" b="1" dirty="0">
                <a:latin typeface="Courier New" panose="02070309020205020404" pitchFamily="49" charset="0"/>
                <a:ea typeface="微软雅黑" pitchFamily="34" charset="-122"/>
                <a:cs typeface="Courier New" panose="02070309020205020404" pitchFamily="49" charset="0"/>
              </a:rPr>
              <a:t>    }</a:t>
            </a:r>
          </a:p>
        </p:txBody>
      </p:sp>
      <p:sp>
        <p:nvSpPr>
          <p:cNvPr id="4" name="标题 2">
            <a:extLst>
              <a:ext uri="{FF2B5EF4-FFF2-40B4-BE49-F238E27FC236}">
                <a16:creationId xmlns:a16="http://schemas.microsoft.com/office/drawing/2014/main" id="{71EF87D2-2B83-FA1B-C043-2322B6644B86}"/>
              </a:ext>
            </a:extLst>
          </p:cNvPr>
          <p:cNvSpPr>
            <a:spLocks noGrp="1"/>
          </p:cNvSpPr>
          <p:nvPr>
            <p:ph type="title"/>
          </p:nvPr>
        </p:nvSpPr>
        <p:spPr>
          <a:xfrm>
            <a:off x="695400" y="871855"/>
            <a:ext cx="10801200" cy="680403"/>
          </a:xfrm>
        </p:spPr>
        <p:txBody>
          <a:bodyPr>
            <a:normAutofit/>
          </a:bodyPr>
          <a:lstStyle/>
          <a:p>
            <a:r>
              <a:rPr lang="zh-CN" altLang="en-US" dirty="0"/>
              <a:t>聪明一些的解决方案</a:t>
            </a:r>
          </a:p>
        </p:txBody>
      </p:sp>
    </p:spTree>
    <p:extLst>
      <p:ext uri="{BB962C8B-B14F-4D97-AF65-F5344CB8AC3E}">
        <p14:creationId xmlns:p14="http://schemas.microsoft.com/office/powerpoint/2010/main" val="4638960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7"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48BD3ED3-5C75-4C35-9A13-3834AF9D43A7}" type="slidenum">
              <a:rPr lang="en-US" altLang="ko-KR" sz="1200">
                <a:solidFill>
                  <a:schemeClr val="bg1"/>
                </a:solidFill>
              </a:rPr>
              <a:pPr>
                <a:spcBef>
                  <a:spcPct val="0"/>
                </a:spcBef>
                <a:buClrTx/>
                <a:buSzTx/>
                <a:buFontTx/>
                <a:buNone/>
              </a:pPr>
              <a:t>37</a:t>
            </a:fld>
            <a:endParaRPr lang="en-US" altLang="ko-KR" sz="1200">
              <a:solidFill>
                <a:schemeClr val="bg1"/>
              </a:solidFill>
            </a:endParaRPr>
          </a:p>
        </p:txBody>
      </p:sp>
      <p:sp>
        <p:nvSpPr>
          <p:cNvPr id="192514" name="标题 1"/>
          <p:cNvSpPr>
            <a:spLocks noGrp="1"/>
          </p:cNvSpPr>
          <p:nvPr>
            <p:ph type="title"/>
          </p:nvPr>
        </p:nvSpPr>
        <p:spPr>
          <a:prstGeom prst="rect">
            <a:avLst/>
          </a:prstGeom>
        </p:spPr>
        <p:txBody>
          <a:bodyPr/>
          <a:lstStyle/>
          <a:p>
            <a:r>
              <a:rPr lang="en-US" altLang="zh-CN">
                <a:ea typeface="宋体" panose="02010600030101010101" pitchFamily="2" charset="-122"/>
              </a:rPr>
              <a:t>Solution of “dining philosophers”</a:t>
            </a:r>
            <a:endParaRPr lang="zh-CN" altLang="en-US">
              <a:ea typeface="宋体" panose="02010600030101010101" pitchFamily="2" charset="-122"/>
            </a:endParaRPr>
          </a:p>
        </p:txBody>
      </p:sp>
      <p:sp>
        <p:nvSpPr>
          <p:cNvPr id="9" name="Text Box 4"/>
          <p:cNvSpPr txBox="1">
            <a:spLocks noChangeArrowheads="1"/>
          </p:cNvSpPr>
          <p:nvPr/>
        </p:nvSpPr>
        <p:spPr bwMode="auto">
          <a:xfrm>
            <a:off x="2063552" y="1798414"/>
            <a:ext cx="2520950" cy="4006850"/>
          </a:xfrm>
          <a:prstGeom prst="rect">
            <a:avLst/>
          </a:prstGeom>
          <a:noFill/>
          <a:ln w="9525">
            <a:solidFill>
              <a:srgbClr val="000000"/>
            </a:solidFill>
            <a:miter lim="800000"/>
            <a:headEnd/>
            <a:tailEnd/>
          </a:ln>
          <a:effectLst/>
        </p:spPr>
        <p:txBody>
          <a:bodyPr>
            <a:spAutoFit/>
          </a:bodyPr>
          <a:lstStyle/>
          <a:p>
            <a:pPr>
              <a:lnSpc>
                <a:spcPct val="80000"/>
              </a:lnSpc>
              <a:spcBef>
                <a:spcPct val="50000"/>
              </a:spcBef>
              <a:buSzPct val="80000"/>
              <a:buFont typeface="Wingdings" panose="05000000000000000000" pitchFamily="2" charset="2"/>
              <a:buNone/>
              <a:defRPr/>
            </a:pPr>
            <a:r>
              <a:rPr lang="en-US" altLang="zh-CN" sz="1600" b="1" dirty="0" err="1">
                <a:solidFill>
                  <a:schemeClr val="accent5">
                    <a:lumMod val="50000"/>
                  </a:schemeClr>
                </a:solidFill>
                <a:effectLst>
                  <a:outerShdw blurRad="38100" dist="38100" dir="2700000" algn="tl">
                    <a:srgbClr val="C0C0C0"/>
                  </a:outerShdw>
                </a:effectLst>
              </a:rPr>
              <a:t>typedef</a:t>
            </a:r>
            <a:r>
              <a:rPr lang="en-US" altLang="zh-CN" sz="1600" b="1" dirty="0">
                <a:solidFill>
                  <a:schemeClr val="accent5">
                    <a:lumMod val="50000"/>
                  </a:schemeClr>
                </a:solidFill>
                <a:effectLst>
                  <a:outerShdw blurRad="38100" dist="38100" dir="2700000" algn="tl">
                    <a:srgbClr val="C0C0C0"/>
                  </a:outerShdw>
                </a:effectLst>
              </a:rPr>
              <a:t> </a:t>
            </a:r>
            <a:r>
              <a:rPr lang="en-US" altLang="zh-CN" sz="1600" b="1" dirty="0" err="1">
                <a:solidFill>
                  <a:schemeClr val="accent5">
                    <a:lumMod val="50000"/>
                  </a:schemeClr>
                </a:solidFill>
                <a:effectLst>
                  <a:outerShdw blurRad="38100" dist="38100" dir="2700000" algn="tl">
                    <a:srgbClr val="C0C0C0"/>
                  </a:outerShdw>
                </a:effectLst>
              </a:rPr>
              <a:t>int</a:t>
            </a:r>
            <a:r>
              <a:rPr lang="en-US" altLang="zh-CN" sz="1600" b="1" dirty="0">
                <a:solidFill>
                  <a:schemeClr val="accent5">
                    <a:lumMod val="50000"/>
                  </a:schemeClr>
                </a:solidFill>
                <a:effectLst>
                  <a:outerShdw blurRad="38100" dist="38100" dir="2700000" algn="tl">
                    <a:srgbClr val="C0C0C0"/>
                  </a:outerShdw>
                </a:effectLst>
              </a:rPr>
              <a:t> </a:t>
            </a:r>
            <a:r>
              <a:rPr lang="en-US" altLang="zh-CN" sz="1600" b="1" dirty="0" err="1">
                <a:solidFill>
                  <a:schemeClr val="accent5">
                    <a:lumMod val="50000"/>
                  </a:schemeClr>
                </a:solidFill>
                <a:effectLst>
                  <a:outerShdw blurRad="38100" dist="38100" dir="2700000" algn="tl">
                    <a:srgbClr val="C0C0C0"/>
                  </a:outerShdw>
                </a:effectLst>
              </a:rPr>
              <a:t>semph</a:t>
            </a:r>
            <a:endParaRPr lang="en-US" altLang="zh-CN" sz="1600" b="1" dirty="0">
              <a:solidFill>
                <a:schemeClr val="accent5">
                  <a:lumMod val="50000"/>
                </a:schemeClr>
              </a:solidFill>
              <a:effectLst>
                <a:outerShdw blurRad="38100" dist="38100" dir="2700000" algn="tl">
                  <a:srgbClr val="C0C0C0"/>
                </a:outerShdw>
              </a:effectLst>
            </a:endParaRPr>
          </a:p>
          <a:p>
            <a:pPr>
              <a:lnSpc>
                <a:spcPct val="80000"/>
              </a:lnSpc>
              <a:spcBef>
                <a:spcPct val="50000"/>
              </a:spcBef>
              <a:buSzPct val="80000"/>
              <a:buFont typeface="Wingdings" panose="05000000000000000000" pitchFamily="2" charset="2"/>
              <a:buNone/>
              <a:defRPr/>
            </a:pPr>
            <a:r>
              <a:rPr lang="en-US" altLang="zh-CN" sz="1600" b="1" dirty="0">
                <a:solidFill>
                  <a:schemeClr val="accent5">
                    <a:lumMod val="50000"/>
                  </a:schemeClr>
                </a:solidFill>
                <a:effectLst>
                  <a:outerShdw blurRad="38100" dist="38100" dir="2700000" algn="tl">
                    <a:srgbClr val="C0C0C0"/>
                  </a:outerShdw>
                </a:effectLst>
              </a:rPr>
              <a:t>#define N         5</a:t>
            </a:r>
          </a:p>
          <a:p>
            <a:pPr>
              <a:lnSpc>
                <a:spcPct val="80000"/>
              </a:lnSpc>
              <a:spcBef>
                <a:spcPct val="50000"/>
              </a:spcBef>
              <a:buSzPct val="80000"/>
              <a:buFont typeface="Wingdings" panose="05000000000000000000" pitchFamily="2" charset="2"/>
              <a:buNone/>
              <a:defRPr/>
            </a:pPr>
            <a:r>
              <a:rPr lang="en-US" altLang="zh-CN" sz="1600" b="1" dirty="0">
                <a:solidFill>
                  <a:schemeClr val="accent5">
                    <a:lumMod val="50000"/>
                  </a:schemeClr>
                </a:solidFill>
                <a:effectLst>
                  <a:outerShdw blurRad="38100" dist="38100" dir="2700000" algn="tl">
                    <a:srgbClr val="C0C0C0"/>
                  </a:outerShdw>
                </a:effectLst>
              </a:rPr>
              <a:t>#define LEFT(</a:t>
            </a:r>
            <a:r>
              <a:rPr lang="en-US" altLang="zh-CN" sz="1600" b="1" dirty="0" err="1">
                <a:solidFill>
                  <a:schemeClr val="accent5">
                    <a:lumMod val="50000"/>
                  </a:schemeClr>
                </a:solidFill>
                <a:effectLst>
                  <a:outerShdw blurRad="38100" dist="38100" dir="2700000" algn="tl">
                    <a:srgbClr val="C0C0C0"/>
                  </a:outerShdw>
                </a:effectLst>
              </a:rPr>
              <a:t>i</a:t>
            </a:r>
            <a:r>
              <a:rPr lang="en-US" altLang="zh-CN" sz="1600" b="1" dirty="0">
                <a:solidFill>
                  <a:schemeClr val="accent5">
                    <a:lumMod val="50000"/>
                  </a:schemeClr>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chemeClr val="accent5">
                    <a:lumMod val="50000"/>
                  </a:schemeClr>
                </a:solidFill>
                <a:effectLst>
                  <a:outerShdw blurRad="38100" dist="38100" dir="2700000" algn="tl">
                    <a:srgbClr val="C0C0C0"/>
                  </a:outerShdw>
                </a:effectLst>
              </a:rPr>
              <a:t>   (</a:t>
            </a:r>
            <a:r>
              <a:rPr lang="en-US" altLang="zh-CN" sz="1600" b="1" dirty="0" err="1">
                <a:solidFill>
                  <a:schemeClr val="accent5">
                    <a:lumMod val="50000"/>
                  </a:schemeClr>
                </a:solidFill>
                <a:effectLst>
                  <a:outerShdw blurRad="38100" dist="38100" dir="2700000" algn="tl">
                    <a:srgbClr val="C0C0C0"/>
                  </a:outerShdw>
                </a:effectLst>
              </a:rPr>
              <a:t>i</a:t>
            </a:r>
            <a:r>
              <a:rPr lang="en-US" altLang="zh-CN" sz="1600" b="1" dirty="0">
                <a:solidFill>
                  <a:schemeClr val="accent5">
                    <a:lumMod val="50000"/>
                  </a:schemeClr>
                </a:solidFill>
                <a:effectLst>
                  <a:outerShdw blurRad="38100" dist="38100" dir="2700000" algn="tl">
                    <a:srgbClr val="C0C0C0"/>
                  </a:outerShdw>
                </a:effectLst>
              </a:rPr>
              <a:t> + N </a:t>
            </a:r>
            <a:r>
              <a:rPr lang="en-US" altLang="zh-CN" sz="1600" b="1" dirty="0">
                <a:solidFill>
                  <a:schemeClr val="accent5">
                    <a:lumMod val="50000"/>
                  </a:schemeClr>
                </a:solidFill>
                <a:effectLst>
                  <a:outerShdw blurRad="38100" dist="38100" dir="2700000" algn="tl">
                    <a:srgbClr val="C0C0C0"/>
                  </a:outerShdw>
                </a:effectLst>
                <a:latin typeface="Arial"/>
              </a:rPr>
              <a:t>–</a:t>
            </a:r>
            <a:r>
              <a:rPr lang="en-US" altLang="zh-CN" sz="1600" b="1" dirty="0">
                <a:solidFill>
                  <a:schemeClr val="accent5">
                    <a:lumMod val="50000"/>
                  </a:schemeClr>
                </a:solidFill>
                <a:effectLst>
                  <a:outerShdw blurRad="38100" dist="38100" dir="2700000" algn="tl">
                    <a:srgbClr val="C0C0C0"/>
                  </a:outerShdw>
                </a:effectLst>
              </a:rPr>
              <a:t> 1) % N</a:t>
            </a:r>
          </a:p>
          <a:p>
            <a:pPr>
              <a:lnSpc>
                <a:spcPct val="80000"/>
              </a:lnSpc>
              <a:spcBef>
                <a:spcPct val="50000"/>
              </a:spcBef>
              <a:buSzPct val="80000"/>
              <a:buFont typeface="Wingdings" panose="05000000000000000000" pitchFamily="2" charset="2"/>
              <a:buNone/>
              <a:defRPr/>
            </a:pPr>
            <a:r>
              <a:rPr lang="en-US" altLang="zh-CN" sz="1600" b="1" dirty="0">
                <a:solidFill>
                  <a:schemeClr val="accent5">
                    <a:lumMod val="50000"/>
                  </a:schemeClr>
                </a:solidFill>
                <a:effectLst>
                  <a:outerShdw blurRad="38100" dist="38100" dir="2700000" algn="tl">
                    <a:srgbClr val="C0C0C0"/>
                  </a:outerShdw>
                </a:effectLst>
              </a:rPr>
              <a:t>#define RIGHT(</a:t>
            </a:r>
            <a:r>
              <a:rPr lang="en-US" altLang="zh-CN" sz="1600" b="1" dirty="0" err="1">
                <a:solidFill>
                  <a:schemeClr val="accent5">
                    <a:lumMod val="50000"/>
                  </a:schemeClr>
                </a:solidFill>
                <a:effectLst>
                  <a:outerShdw blurRad="38100" dist="38100" dir="2700000" algn="tl">
                    <a:srgbClr val="C0C0C0"/>
                  </a:outerShdw>
                </a:effectLst>
              </a:rPr>
              <a:t>i</a:t>
            </a:r>
            <a:r>
              <a:rPr lang="en-US" altLang="zh-CN" sz="1600" b="1" dirty="0">
                <a:solidFill>
                  <a:schemeClr val="accent5">
                    <a:lumMod val="50000"/>
                  </a:schemeClr>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chemeClr val="accent5">
                    <a:lumMod val="50000"/>
                  </a:schemeClr>
                </a:solidFill>
                <a:effectLst>
                  <a:outerShdw blurRad="38100" dist="38100" dir="2700000" algn="tl">
                    <a:srgbClr val="C0C0C0"/>
                  </a:outerShdw>
                </a:effectLst>
              </a:rPr>
              <a:t>   (</a:t>
            </a:r>
            <a:r>
              <a:rPr lang="en-US" altLang="zh-CN" sz="1600" b="1" dirty="0" err="1">
                <a:solidFill>
                  <a:schemeClr val="accent5">
                    <a:lumMod val="50000"/>
                  </a:schemeClr>
                </a:solidFill>
                <a:effectLst>
                  <a:outerShdw blurRad="38100" dist="38100" dir="2700000" algn="tl">
                    <a:srgbClr val="C0C0C0"/>
                  </a:outerShdw>
                </a:effectLst>
              </a:rPr>
              <a:t>i</a:t>
            </a:r>
            <a:r>
              <a:rPr lang="en-US" altLang="zh-CN" sz="1600" b="1" dirty="0">
                <a:solidFill>
                  <a:schemeClr val="accent5">
                    <a:lumMod val="50000"/>
                  </a:schemeClr>
                </a:solidFill>
                <a:effectLst>
                  <a:outerShdw blurRad="38100" dist="38100" dir="2700000" algn="tl">
                    <a:srgbClr val="C0C0C0"/>
                  </a:outerShdw>
                </a:effectLst>
              </a:rPr>
              <a:t> + 1) % N          </a:t>
            </a:r>
          </a:p>
          <a:p>
            <a:pPr>
              <a:lnSpc>
                <a:spcPct val="80000"/>
              </a:lnSpc>
              <a:spcBef>
                <a:spcPct val="50000"/>
              </a:spcBef>
              <a:buSzPct val="80000"/>
              <a:buFont typeface="Wingdings" panose="05000000000000000000" pitchFamily="2" charset="2"/>
              <a:buNone/>
              <a:defRPr/>
            </a:pPr>
            <a:r>
              <a:rPr lang="en-US" altLang="zh-CN" sz="1600" b="1" dirty="0">
                <a:solidFill>
                  <a:schemeClr val="accent5">
                    <a:lumMod val="50000"/>
                  </a:schemeClr>
                </a:solidFill>
                <a:effectLst>
                  <a:outerShdw blurRad="38100" dist="38100" dir="2700000" algn="tl">
                    <a:srgbClr val="C0C0C0"/>
                  </a:outerShdw>
                </a:effectLst>
              </a:rPr>
              <a:t>#define THINKING 0</a:t>
            </a:r>
          </a:p>
          <a:p>
            <a:pPr>
              <a:lnSpc>
                <a:spcPct val="80000"/>
              </a:lnSpc>
              <a:spcBef>
                <a:spcPct val="50000"/>
              </a:spcBef>
              <a:buSzPct val="80000"/>
              <a:buFont typeface="Wingdings" panose="05000000000000000000" pitchFamily="2" charset="2"/>
              <a:buNone/>
              <a:defRPr/>
            </a:pPr>
            <a:r>
              <a:rPr lang="en-US" altLang="zh-CN" sz="1600" b="1" dirty="0">
                <a:solidFill>
                  <a:schemeClr val="accent5">
                    <a:lumMod val="50000"/>
                  </a:schemeClr>
                </a:solidFill>
                <a:effectLst>
                  <a:outerShdw blurRad="38100" dist="38100" dir="2700000" algn="tl">
                    <a:srgbClr val="C0C0C0"/>
                  </a:outerShdw>
                </a:effectLst>
              </a:rPr>
              <a:t>#define HUNGRY   1</a:t>
            </a:r>
          </a:p>
          <a:p>
            <a:pPr>
              <a:lnSpc>
                <a:spcPct val="80000"/>
              </a:lnSpc>
              <a:spcBef>
                <a:spcPct val="50000"/>
              </a:spcBef>
              <a:buSzPct val="80000"/>
              <a:buFont typeface="Wingdings" panose="05000000000000000000" pitchFamily="2" charset="2"/>
              <a:buNone/>
              <a:defRPr/>
            </a:pPr>
            <a:r>
              <a:rPr lang="en-US" altLang="zh-CN" sz="1600" b="1" dirty="0">
                <a:solidFill>
                  <a:schemeClr val="accent5">
                    <a:lumMod val="50000"/>
                  </a:schemeClr>
                </a:solidFill>
                <a:effectLst>
                  <a:outerShdw blurRad="38100" dist="38100" dir="2700000" algn="tl">
                    <a:srgbClr val="C0C0C0"/>
                  </a:outerShdw>
                </a:effectLst>
              </a:rPr>
              <a:t>#define EATING     2</a:t>
            </a:r>
          </a:p>
          <a:p>
            <a:pPr>
              <a:lnSpc>
                <a:spcPct val="80000"/>
              </a:lnSpc>
              <a:spcBef>
                <a:spcPct val="50000"/>
              </a:spcBef>
              <a:buSzPct val="80000"/>
              <a:buFont typeface="Wingdings" panose="05000000000000000000" pitchFamily="2" charset="2"/>
              <a:buNone/>
              <a:defRPr/>
            </a:pPr>
            <a:r>
              <a:rPr lang="en-US" altLang="zh-CN" sz="1600" b="1" dirty="0" err="1">
                <a:solidFill>
                  <a:schemeClr val="accent5">
                    <a:lumMod val="50000"/>
                  </a:schemeClr>
                </a:solidFill>
                <a:effectLst>
                  <a:outerShdw blurRad="38100" dist="38100" dir="2700000" algn="tl">
                    <a:srgbClr val="C0C0C0"/>
                  </a:outerShdw>
                </a:effectLst>
              </a:rPr>
              <a:t>int</a:t>
            </a:r>
            <a:r>
              <a:rPr lang="en-US" altLang="zh-CN" sz="1600" b="1" dirty="0">
                <a:solidFill>
                  <a:schemeClr val="accent5">
                    <a:lumMod val="50000"/>
                  </a:schemeClr>
                </a:solidFill>
                <a:effectLst>
                  <a:outerShdw blurRad="38100" dist="38100" dir="2700000" algn="tl">
                    <a:srgbClr val="C0C0C0"/>
                  </a:outerShdw>
                </a:effectLst>
              </a:rPr>
              <a:t> state[N];</a:t>
            </a:r>
          </a:p>
          <a:p>
            <a:pPr>
              <a:lnSpc>
                <a:spcPct val="80000"/>
              </a:lnSpc>
              <a:spcBef>
                <a:spcPct val="50000"/>
              </a:spcBef>
              <a:buSzPct val="80000"/>
              <a:buFont typeface="Wingdings" panose="05000000000000000000" pitchFamily="2" charset="2"/>
              <a:buNone/>
              <a:defRPr/>
            </a:pPr>
            <a:r>
              <a:rPr lang="en-US" altLang="zh-CN" sz="1600" b="1" dirty="0" err="1">
                <a:solidFill>
                  <a:schemeClr val="accent5">
                    <a:lumMod val="50000"/>
                  </a:schemeClr>
                </a:solidFill>
                <a:effectLst>
                  <a:outerShdw blurRad="38100" dist="38100" dir="2700000" algn="tl">
                    <a:srgbClr val="C0C0C0"/>
                  </a:outerShdw>
                </a:effectLst>
              </a:rPr>
              <a:t>semph</a:t>
            </a:r>
            <a:r>
              <a:rPr lang="en-US" altLang="zh-CN" sz="1600" b="1" dirty="0">
                <a:solidFill>
                  <a:schemeClr val="accent5">
                    <a:lumMod val="50000"/>
                  </a:schemeClr>
                </a:solidFill>
                <a:effectLst>
                  <a:outerShdw blurRad="38100" dist="38100" dir="2700000" algn="tl">
                    <a:srgbClr val="C0C0C0"/>
                  </a:outerShdw>
                </a:effectLst>
              </a:rPr>
              <a:t> </a:t>
            </a:r>
            <a:r>
              <a:rPr lang="en-US" altLang="zh-CN" sz="1600" b="1" dirty="0" err="1">
                <a:solidFill>
                  <a:schemeClr val="accent5">
                    <a:lumMod val="50000"/>
                  </a:schemeClr>
                </a:solidFill>
                <a:effectLst>
                  <a:outerShdw blurRad="38100" dist="38100" dir="2700000" algn="tl">
                    <a:srgbClr val="C0C0C0"/>
                  </a:outerShdw>
                </a:effectLst>
              </a:rPr>
              <a:t>mutex</a:t>
            </a:r>
            <a:r>
              <a:rPr lang="en-US" altLang="zh-CN" sz="1600" b="1" dirty="0">
                <a:solidFill>
                  <a:schemeClr val="accent5">
                    <a:lumMod val="50000"/>
                  </a:schemeClr>
                </a:solidFill>
                <a:effectLst>
                  <a:outerShdw blurRad="38100" dist="38100" dir="2700000" algn="tl">
                    <a:srgbClr val="C0C0C0"/>
                  </a:outerShdw>
                </a:effectLst>
              </a:rPr>
              <a:t> = 1;</a:t>
            </a:r>
          </a:p>
          <a:p>
            <a:pPr>
              <a:lnSpc>
                <a:spcPct val="80000"/>
              </a:lnSpc>
              <a:spcBef>
                <a:spcPct val="50000"/>
              </a:spcBef>
              <a:buSzPct val="80000"/>
              <a:buFont typeface="Wingdings" panose="05000000000000000000" pitchFamily="2" charset="2"/>
              <a:buNone/>
              <a:defRPr/>
            </a:pPr>
            <a:r>
              <a:rPr lang="en-US" altLang="zh-CN" sz="1600" b="1" dirty="0" err="1">
                <a:solidFill>
                  <a:schemeClr val="accent5">
                    <a:lumMod val="50000"/>
                  </a:schemeClr>
                </a:solidFill>
                <a:effectLst>
                  <a:outerShdw blurRad="38100" dist="38100" dir="2700000" algn="tl">
                    <a:srgbClr val="C0C0C0"/>
                  </a:outerShdw>
                </a:effectLst>
              </a:rPr>
              <a:t>semph</a:t>
            </a:r>
            <a:r>
              <a:rPr lang="en-US" altLang="zh-CN" sz="1600" b="1" dirty="0">
                <a:solidFill>
                  <a:schemeClr val="accent5">
                    <a:lumMod val="50000"/>
                  </a:schemeClr>
                </a:solidFill>
                <a:effectLst>
                  <a:outerShdw blurRad="38100" dist="38100" dir="2700000" algn="tl">
                    <a:srgbClr val="C0C0C0"/>
                  </a:outerShdw>
                </a:effectLst>
              </a:rPr>
              <a:t> s[N];</a:t>
            </a:r>
          </a:p>
        </p:txBody>
      </p:sp>
      <p:sp>
        <p:nvSpPr>
          <p:cNvPr id="10" name="Text Box 6"/>
          <p:cNvSpPr txBox="1">
            <a:spLocks noChangeArrowheads="1"/>
          </p:cNvSpPr>
          <p:nvPr/>
        </p:nvSpPr>
        <p:spPr bwMode="auto">
          <a:xfrm>
            <a:off x="4700390" y="1871439"/>
            <a:ext cx="2786062" cy="2849562"/>
          </a:xfrm>
          <a:prstGeom prst="rect">
            <a:avLst/>
          </a:prstGeom>
          <a:noFill/>
          <a:ln w="9525">
            <a:solidFill>
              <a:srgbClr val="9C4E00"/>
            </a:solidFill>
            <a:miter lim="800000"/>
            <a:headEnd/>
            <a:tailEnd/>
          </a:ln>
          <a:effectLst/>
        </p:spPr>
        <p:txBody>
          <a:bodyPr>
            <a:spAutoFit/>
          </a:bodyPr>
          <a:lstStyle/>
          <a:p>
            <a:pPr algn="ct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Philosopher</a:t>
            </a:r>
            <a:endParaRPr lang="zh-CN" altLang="en-US" sz="1600" b="1" dirty="0">
              <a:solidFill>
                <a:srgbClr val="9C4E00"/>
              </a:solidFill>
              <a:effectLst>
                <a:outerShdw blurRad="38100" dist="38100" dir="2700000" algn="tl">
                  <a:srgbClr val="C0C0C0"/>
                </a:outerShdw>
              </a:effectLst>
            </a:endParaRP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void philosopher(</a:t>
            </a:r>
            <a:r>
              <a:rPr lang="en-US" altLang="zh-CN" sz="1600" b="1" dirty="0" err="1">
                <a:solidFill>
                  <a:srgbClr val="9C4E00"/>
                </a:solidFill>
                <a:effectLst>
                  <a:outerShdw blurRad="38100" dist="38100" dir="2700000" algn="tl">
                    <a:srgbClr val="C0C0C0"/>
                  </a:outerShdw>
                </a:effectLst>
              </a:rPr>
              <a:t>int</a:t>
            </a:r>
            <a:r>
              <a:rPr lang="en-US" altLang="zh-CN" sz="1600" b="1" dirty="0">
                <a:solidFill>
                  <a:srgbClr val="9C4E00"/>
                </a:solidFill>
                <a:effectLst>
                  <a:outerShdw blurRad="38100" dist="38100" dir="2700000" algn="tl">
                    <a:srgbClr val="C0C0C0"/>
                  </a:outerShdw>
                </a:effectLst>
              </a:rPr>
              <a:t> </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While(TRUE){</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think</a:t>
            </a:r>
            <a:r>
              <a:rPr lang="zh-CN" altLang="en-US"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zh-CN" altLang="en-US" sz="1600" b="1" dirty="0">
                <a:solidFill>
                  <a:srgbClr val="9C4E00"/>
                </a:solidFill>
                <a:effectLst>
                  <a:outerShdw blurRad="38100" dist="38100" dir="2700000" algn="tl">
                    <a:srgbClr val="C0C0C0"/>
                  </a:outerShdw>
                </a:effectLst>
              </a:rPr>
              <a:t>       </a:t>
            </a:r>
            <a:r>
              <a:rPr lang="en-US" altLang="zh-CN" sz="1600" b="1" dirty="0" err="1">
                <a:solidFill>
                  <a:srgbClr val="9C4E00"/>
                </a:solidFill>
                <a:effectLst>
                  <a:outerShdw blurRad="38100" dist="38100" dir="2700000" algn="tl">
                    <a:srgbClr val="C0C0C0"/>
                  </a:outerShdw>
                </a:effectLst>
              </a:rPr>
              <a:t>take_Chs</a:t>
            </a:r>
            <a:r>
              <a:rPr lang="en-US" altLang="zh-CN" sz="1600" b="1" dirty="0">
                <a:solidFill>
                  <a:srgbClr val="9C4E00"/>
                </a:solidFill>
                <a:effectLst>
                  <a:outerShdw blurRad="38100" dist="38100" dir="2700000" algn="tl">
                    <a:srgbClr val="C0C0C0"/>
                  </a:outerShdw>
                </a:effectLst>
              </a:rPr>
              <a:t>(</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eat(); </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a:t>
            </a:r>
            <a:r>
              <a:rPr lang="en-US" altLang="zh-CN" sz="1600" b="1" dirty="0" err="1">
                <a:solidFill>
                  <a:srgbClr val="9C4E00"/>
                </a:solidFill>
                <a:effectLst>
                  <a:outerShdw blurRad="38100" dist="38100" dir="2700000" algn="tl">
                    <a:srgbClr val="C0C0C0"/>
                  </a:outerShdw>
                </a:effectLst>
              </a:rPr>
              <a:t>put_Chs</a:t>
            </a:r>
            <a:r>
              <a:rPr lang="en-US" altLang="zh-CN" sz="1600" b="1" dirty="0">
                <a:solidFill>
                  <a:srgbClr val="9C4E00"/>
                </a:solidFill>
                <a:effectLst>
                  <a:outerShdw blurRad="38100" dist="38100" dir="2700000" algn="tl">
                    <a:srgbClr val="C0C0C0"/>
                  </a:outerShdw>
                </a:effectLst>
              </a:rPr>
              <a:t>(</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a:t>
            </a:r>
          </a:p>
        </p:txBody>
      </p:sp>
      <p:sp>
        <p:nvSpPr>
          <p:cNvPr id="11" name="Text Box 7"/>
          <p:cNvSpPr txBox="1">
            <a:spLocks noChangeArrowheads="1"/>
          </p:cNvSpPr>
          <p:nvPr/>
        </p:nvSpPr>
        <p:spPr bwMode="auto">
          <a:xfrm>
            <a:off x="7557890" y="1893664"/>
            <a:ext cx="2735262" cy="3046412"/>
          </a:xfrm>
          <a:prstGeom prst="rect">
            <a:avLst/>
          </a:prstGeom>
          <a:noFill/>
          <a:ln w="9525">
            <a:solidFill>
              <a:srgbClr val="9C4E00"/>
            </a:solidFill>
            <a:miter lim="800000"/>
            <a:headEnd/>
            <a:tailEnd/>
          </a:ln>
          <a:effectLst/>
        </p:spPr>
        <p:txBody>
          <a:bodyPr>
            <a:spAutoFit/>
          </a:bodyPr>
          <a:lstStyle/>
          <a:p>
            <a:pPr algn="ctr">
              <a:lnSpc>
                <a:spcPct val="80000"/>
              </a:lnSpc>
              <a:spcBef>
                <a:spcPct val="50000"/>
              </a:spcBef>
              <a:buSzPct val="80000"/>
              <a:buFont typeface="Wingdings" panose="05000000000000000000" pitchFamily="2" charset="2"/>
              <a:buNone/>
              <a:defRPr/>
            </a:pPr>
            <a:r>
              <a:rPr lang="en-US" altLang="zh-CN" sz="1600" b="1" dirty="0" err="1">
                <a:solidFill>
                  <a:srgbClr val="9C4E00"/>
                </a:solidFill>
                <a:effectLst>
                  <a:outerShdw blurRad="38100" dist="38100" dir="2700000" algn="tl">
                    <a:srgbClr val="C0C0C0"/>
                  </a:outerShdw>
                </a:effectLst>
              </a:rPr>
              <a:t>take_chs</a:t>
            </a:r>
            <a:endParaRPr lang="zh-CN" altLang="en-US" sz="1600" b="1" dirty="0">
              <a:solidFill>
                <a:srgbClr val="9C4E00"/>
              </a:solidFill>
              <a:effectLst>
                <a:outerShdw blurRad="38100" dist="38100" dir="2700000" algn="tl">
                  <a:srgbClr val="C0C0C0"/>
                </a:outerShdw>
              </a:effectLst>
            </a:endParaRP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void </a:t>
            </a:r>
            <a:r>
              <a:rPr lang="en-US" altLang="zh-CN" sz="1600" b="1" dirty="0" err="1">
                <a:solidFill>
                  <a:srgbClr val="9C4E00"/>
                </a:solidFill>
                <a:effectLst>
                  <a:outerShdw blurRad="38100" dist="38100" dir="2700000" algn="tl">
                    <a:srgbClr val="C0C0C0"/>
                  </a:outerShdw>
                </a:effectLst>
              </a:rPr>
              <a:t>take_chs</a:t>
            </a:r>
            <a:r>
              <a:rPr lang="en-US" altLang="zh-CN" sz="1600" b="1" dirty="0">
                <a:solidFill>
                  <a:srgbClr val="9C4E00"/>
                </a:solidFill>
                <a:effectLst>
                  <a:outerShdw blurRad="38100" dist="38100" dir="2700000" algn="tl">
                    <a:srgbClr val="C0C0C0"/>
                  </a:outerShdw>
                </a:effectLst>
              </a:rPr>
              <a:t> (</a:t>
            </a:r>
            <a:r>
              <a:rPr lang="en-US" altLang="zh-CN" sz="1600" b="1" dirty="0" err="1">
                <a:solidFill>
                  <a:srgbClr val="9C4E00"/>
                </a:solidFill>
                <a:effectLst>
                  <a:outerShdw blurRad="38100" dist="38100" dir="2700000" algn="tl">
                    <a:srgbClr val="C0C0C0"/>
                  </a:outerShdw>
                </a:effectLst>
              </a:rPr>
              <a:t>int</a:t>
            </a:r>
            <a:r>
              <a:rPr lang="en-US" altLang="zh-CN" sz="1600" b="1" dirty="0">
                <a:solidFill>
                  <a:srgbClr val="9C4E00"/>
                </a:solidFill>
                <a:effectLst>
                  <a:outerShdw blurRad="38100" dist="38100" dir="2700000" algn="tl">
                    <a:srgbClr val="C0C0C0"/>
                  </a:outerShdw>
                </a:effectLst>
              </a:rPr>
              <a:t> </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a:t>
            </a:r>
            <a:r>
              <a:rPr lang="en-US" altLang="zh-CN" sz="1600" b="1" dirty="0">
                <a:solidFill>
                  <a:srgbClr val="FF0000"/>
                </a:solidFill>
                <a:effectLst>
                  <a:outerShdw blurRad="38100" dist="38100" dir="2700000" algn="tl">
                    <a:srgbClr val="C0C0C0"/>
                  </a:outerShdw>
                </a:effectLst>
              </a:rPr>
              <a:t>P(</a:t>
            </a:r>
            <a:r>
              <a:rPr lang="en-US" altLang="zh-CN" sz="1600" b="1" dirty="0" err="1">
                <a:solidFill>
                  <a:srgbClr val="FF0000"/>
                </a:solidFill>
                <a:effectLst>
                  <a:outerShdw blurRad="38100" dist="38100" dir="2700000" algn="tl">
                    <a:srgbClr val="C0C0C0"/>
                  </a:outerShdw>
                </a:effectLst>
              </a:rPr>
              <a:t>mutex</a:t>
            </a:r>
            <a:r>
              <a:rPr lang="en-US" altLang="zh-CN" sz="1600" b="1" dirty="0">
                <a:solidFill>
                  <a:srgbClr val="FF00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state[</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 = HUNGRY;</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test(</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a:t>
            </a:r>
            <a:r>
              <a:rPr lang="en-US" altLang="zh-CN" sz="1600" b="1" dirty="0">
                <a:solidFill>
                  <a:srgbClr val="FF0000"/>
                </a:solidFill>
                <a:effectLst>
                  <a:outerShdw blurRad="38100" dist="38100" dir="2700000" algn="tl">
                    <a:srgbClr val="C0C0C0"/>
                  </a:outerShdw>
                </a:effectLst>
              </a:rPr>
              <a:t>V(</a:t>
            </a:r>
            <a:r>
              <a:rPr lang="en-US" altLang="zh-CN" sz="1600" b="1" dirty="0" err="1">
                <a:solidFill>
                  <a:srgbClr val="FF0000"/>
                </a:solidFill>
                <a:effectLst>
                  <a:outerShdw blurRad="38100" dist="38100" dir="2700000" algn="tl">
                    <a:srgbClr val="C0C0C0"/>
                  </a:outerShdw>
                </a:effectLst>
              </a:rPr>
              <a:t>mutex</a:t>
            </a:r>
            <a:r>
              <a:rPr lang="en-US" altLang="zh-CN" sz="1600" b="1" dirty="0">
                <a:solidFill>
                  <a:srgbClr val="FF00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FF0000"/>
                </a:solidFill>
                <a:effectLst>
                  <a:outerShdw blurRad="38100" dist="38100" dir="2700000" algn="tl">
                    <a:srgbClr val="C0C0C0"/>
                  </a:outerShdw>
                </a:effectLst>
              </a:rPr>
              <a:t>   P(s[</a:t>
            </a:r>
            <a:r>
              <a:rPr lang="en-US" altLang="zh-CN" sz="1600" b="1" dirty="0" err="1">
                <a:solidFill>
                  <a:srgbClr val="FF0000"/>
                </a:solidFill>
                <a:effectLst>
                  <a:outerShdw blurRad="38100" dist="38100" dir="2700000" algn="tl">
                    <a:srgbClr val="C0C0C0"/>
                  </a:outerShdw>
                </a:effectLst>
              </a:rPr>
              <a:t>i</a:t>
            </a:r>
            <a:r>
              <a:rPr lang="en-US" altLang="zh-CN" sz="1600" b="1" dirty="0">
                <a:solidFill>
                  <a:srgbClr val="FF0000"/>
                </a:solidFill>
                <a:effectLst>
                  <a:outerShdw blurRad="38100" dist="38100" dir="2700000" algn="tl">
                    <a:srgbClr val="C0C0C0"/>
                  </a:outerShdw>
                </a:effectLst>
              </a:rPr>
              <a:t>]);//</a:t>
            </a:r>
            <a:r>
              <a:rPr lang="zh-CN" altLang="en-US" sz="1600" b="1" dirty="0">
                <a:solidFill>
                  <a:srgbClr val="FF0000"/>
                </a:solidFill>
                <a:effectLst>
                  <a:outerShdw blurRad="38100" dist="38100" dir="2700000" algn="tl">
                    <a:srgbClr val="C0C0C0"/>
                  </a:outerShdw>
                </a:effectLst>
              </a:rPr>
              <a:t>得不到叉子阻塞，否则继续执行</a:t>
            </a:r>
            <a:endParaRPr lang="en-US" altLang="zh-CN" sz="1600" b="1" dirty="0">
              <a:solidFill>
                <a:srgbClr val="FF0000"/>
              </a:solidFill>
              <a:effectLst>
                <a:outerShdw blurRad="38100" dist="38100" dir="2700000" algn="tl">
                  <a:srgbClr val="C0C0C0"/>
                </a:outerShdw>
              </a:effectLst>
            </a:endParaRP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5"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0EEC756A-BFDA-4DC4-8B37-5B355213785B}" type="slidenum">
              <a:rPr lang="en-US" altLang="ko-KR" sz="1200">
                <a:solidFill>
                  <a:schemeClr val="bg1"/>
                </a:solidFill>
              </a:rPr>
              <a:pPr>
                <a:spcBef>
                  <a:spcPct val="0"/>
                </a:spcBef>
                <a:buClrTx/>
                <a:buSzTx/>
                <a:buFontTx/>
                <a:buNone/>
              </a:pPr>
              <a:t>38</a:t>
            </a:fld>
            <a:endParaRPr lang="en-US" altLang="ko-KR" sz="1200">
              <a:solidFill>
                <a:schemeClr val="bg1"/>
              </a:solidFill>
            </a:endParaRPr>
          </a:p>
        </p:txBody>
      </p:sp>
      <p:sp>
        <p:nvSpPr>
          <p:cNvPr id="194562" name="标题 1"/>
          <p:cNvSpPr>
            <a:spLocks noGrp="1"/>
          </p:cNvSpPr>
          <p:nvPr>
            <p:ph type="title"/>
          </p:nvPr>
        </p:nvSpPr>
        <p:spPr>
          <a:prstGeom prst="rect">
            <a:avLst/>
          </a:prstGeom>
        </p:spPr>
        <p:txBody>
          <a:bodyPr/>
          <a:lstStyle/>
          <a:p>
            <a:r>
              <a:rPr lang="en-US" altLang="zh-CN">
                <a:ea typeface="宋体" panose="02010600030101010101" pitchFamily="2" charset="-122"/>
              </a:rPr>
              <a:t>Solution of “dining philosophers”</a:t>
            </a:r>
            <a:endParaRPr lang="zh-CN" altLang="en-US">
              <a:ea typeface="宋体" panose="02010600030101010101" pitchFamily="2" charset="-122"/>
            </a:endParaRPr>
          </a:p>
        </p:txBody>
      </p:sp>
      <p:sp>
        <p:nvSpPr>
          <p:cNvPr id="12" name="Text Box 5"/>
          <p:cNvSpPr txBox="1">
            <a:spLocks noChangeArrowheads="1"/>
          </p:cNvSpPr>
          <p:nvPr/>
        </p:nvSpPr>
        <p:spPr bwMode="auto">
          <a:xfrm>
            <a:off x="2524125" y="1868015"/>
            <a:ext cx="2820988" cy="3046412"/>
          </a:xfrm>
          <a:prstGeom prst="rect">
            <a:avLst/>
          </a:prstGeom>
          <a:noFill/>
          <a:ln w="9525">
            <a:solidFill>
              <a:srgbClr val="9C4E00"/>
            </a:solidFill>
            <a:miter lim="800000"/>
            <a:headEnd/>
            <a:tailEnd/>
          </a:ln>
          <a:effectLst/>
        </p:spPr>
        <p:txBody>
          <a:bodyPr>
            <a:spAutoFit/>
          </a:bodyPr>
          <a:lstStyle/>
          <a:p>
            <a:pPr algn="ctr">
              <a:lnSpc>
                <a:spcPct val="80000"/>
              </a:lnSpc>
              <a:spcBef>
                <a:spcPct val="50000"/>
              </a:spcBef>
              <a:buSzPct val="80000"/>
              <a:buFont typeface="Wingdings" panose="05000000000000000000" pitchFamily="2" charset="2"/>
              <a:buNone/>
              <a:defRPr/>
            </a:pPr>
            <a:r>
              <a:rPr lang="en-US" altLang="zh-CN" sz="1600" b="1" dirty="0" err="1">
                <a:solidFill>
                  <a:srgbClr val="9C4E00"/>
                </a:solidFill>
                <a:effectLst>
                  <a:outerShdw blurRad="38100" dist="38100" dir="2700000" algn="tl">
                    <a:srgbClr val="C0C0C0"/>
                  </a:outerShdw>
                </a:effectLst>
              </a:rPr>
              <a:t>Put_chs</a:t>
            </a:r>
            <a:endParaRPr lang="zh-CN" altLang="en-US" sz="1600" b="1" dirty="0">
              <a:solidFill>
                <a:srgbClr val="9C4E00"/>
              </a:solidFill>
              <a:effectLst>
                <a:outerShdw blurRad="38100" dist="38100" dir="2700000" algn="tl">
                  <a:srgbClr val="C0C0C0"/>
                </a:outerShdw>
              </a:effectLst>
            </a:endParaRP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void </a:t>
            </a:r>
            <a:r>
              <a:rPr lang="en-US" altLang="zh-CN" sz="1600" b="1" dirty="0" err="1">
                <a:solidFill>
                  <a:srgbClr val="9C4E00"/>
                </a:solidFill>
                <a:effectLst>
                  <a:outerShdw blurRad="38100" dist="38100" dir="2700000" algn="tl">
                    <a:srgbClr val="C0C0C0"/>
                  </a:outerShdw>
                </a:effectLst>
              </a:rPr>
              <a:t>put_forks</a:t>
            </a:r>
            <a:r>
              <a:rPr lang="en-US" altLang="zh-CN" sz="1600" b="1" dirty="0">
                <a:solidFill>
                  <a:srgbClr val="9C4E00"/>
                </a:solidFill>
                <a:effectLst>
                  <a:outerShdw blurRad="38100" dist="38100" dir="2700000" algn="tl">
                    <a:srgbClr val="C0C0C0"/>
                  </a:outerShdw>
                </a:effectLst>
              </a:rPr>
              <a:t> (</a:t>
            </a:r>
            <a:r>
              <a:rPr lang="en-US" altLang="zh-CN" sz="1600" b="1" dirty="0" err="1">
                <a:solidFill>
                  <a:srgbClr val="9C4E00"/>
                </a:solidFill>
                <a:effectLst>
                  <a:outerShdw blurRad="38100" dist="38100" dir="2700000" algn="tl">
                    <a:srgbClr val="C0C0C0"/>
                  </a:outerShdw>
                </a:effectLst>
              </a:rPr>
              <a:t>int</a:t>
            </a:r>
            <a:r>
              <a:rPr lang="en-US" altLang="zh-CN" sz="1600" b="1" dirty="0">
                <a:solidFill>
                  <a:srgbClr val="9C4E00"/>
                </a:solidFill>
                <a:effectLst>
                  <a:outerShdw blurRad="38100" dist="38100" dir="2700000" algn="tl">
                    <a:srgbClr val="C0C0C0"/>
                  </a:outerShdw>
                </a:effectLst>
              </a:rPr>
              <a:t> </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a:t>
            </a:r>
            <a:r>
              <a:rPr lang="en-US" altLang="zh-CN" sz="1600" b="1" dirty="0">
                <a:solidFill>
                  <a:srgbClr val="FF0000"/>
                </a:solidFill>
                <a:effectLst>
                  <a:outerShdw blurRad="38100" dist="38100" dir="2700000" algn="tl">
                    <a:srgbClr val="C0C0C0"/>
                  </a:outerShdw>
                </a:effectLst>
              </a:rPr>
              <a:t>P(</a:t>
            </a:r>
            <a:r>
              <a:rPr lang="en-US" altLang="zh-CN" sz="1600" b="1" dirty="0" err="1">
                <a:solidFill>
                  <a:srgbClr val="FF0000"/>
                </a:solidFill>
                <a:effectLst>
                  <a:outerShdw blurRad="38100" dist="38100" dir="2700000" algn="tl">
                    <a:srgbClr val="C0C0C0"/>
                  </a:outerShdw>
                </a:effectLst>
              </a:rPr>
              <a:t>mutex</a:t>
            </a:r>
            <a:r>
              <a:rPr lang="en-US" altLang="zh-CN" sz="1600" b="1" dirty="0">
                <a:solidFill>
                  <a:srgbClr val="FF00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state[</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 = THINKING;</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test(LEFT(</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a:t>
            </a:r>
            <a:r>
              <a:rPr lang="zh-CN" altLang="en-US" sz="1600" b="1" dirty="0">
                <a:solidFill>
                  <a:srgbClr val="9C4E00"/>
                </a:solidFill>
                <a:effectLst>
                  <a:outerShdw blurRad="38100" dist="38100" dir="2700000" algn="tl">
                    <a:srgbClr val="C0C0C0"/>
                  </a:outerShdw>
                </a:effectLst>
              </a:rPr>
              <a:t>唤醒旁边等叉子的人</a:t>
            </a:r>
            <a:endParaRPr lang="en-US" altLang="zh-CN" sz="1600" b="1" dirty="0">
              <a:solidFill>
                <a:srgbClr val="9C4E00"/>
              </a:solidFill>
              <a:effectLst>
                <a:outerShdw blurRad="38100" dist="38100" dir="2700000" algn="tl">
                  <a:srgbClr val="C0C0C0"/>
                </a:outerShdw>
              </a:effectLst>
            </a:endParaRP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test(RIGHT(</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FF0000"/>
                </a:solidFill>
                <a:effectLst>
                  <a:outerShdw blurRad="38100" dist="38100" dir="2700000" algn="tl">
                    <a:srgbClr val="C0C0C0"/>
                  </a:outerShdw>
                </a:effectLst>
              </a:rPr>
              <a:t>  V(</a:t>
            </a:r>
            <a:r>
              <a:rPr lang="en-US" altLang="zh-CN" sz="1600" b="1" dirty="0" err="1">
                <a:solidFill>
                  <a:srgbClr val="FF0000"/>
                </a:solidFill>
                <a:effectLst>
                  <a:outerShdw blurRad="38100" dist="38100" dir="2700000" algn="tl">
                    <a:srgbClr val="C0C0C0"/>
                  </a:outerShdw>
                </a:effectLst>
              </a:rPr>
              <a:t>mutex</a:t>
            </a:r>
            <a:r>
              <a:rPr lang="en-US" altLang="zh-CN" sz="1600" b="1" dirty="0">
                <a:solidFill>
                  <a:srgbClr val="FF00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a:t>
            </a:r>
          </a:p>
        </p:txBody>
      </p:sp>
      <p:sp>
        <p:nvSpPr>
          <p:cNvPr id="13" name="Text Box 6"/>
          <p:cNvSpPr txBox="1">
            <a:spLocks noChangeArrowheads="1"/>
          </p:cNvSpPr>
          <p:nvPr/>
        </p:nvSpPr>
        <p:spPr bwMode="auto">
          <a:xfrm>
            <a:off x="5595939" y="1882303"/>
            <a:ext cx="4675187" cy="3490913"/>
          </a:xfrm>
          <a:prstGeom prst="rect">
            <a:avLst/>
          </a:prstGeom>
          <a:noFill/>
          <a:ln w="9525">
            <a:solidFill>
              <a:srgbClr val="9C4E00"/>
            </a:solidFill>
            <a:miter lim="800000"/>
            <a:headEnd/>
            <a:tailEnd/>
          </a:ln>
          <a:effectLst/>
        </p:spPr>
        <p:txBody>
          <a:bodyPr>
            <a:spAutoFit/>
          </a:bodyPr>
          <a:lstStyle/>
          <a:p>
            <a:pPr algn="ct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Test</a:t>
            </a:r>
            <a:endParaRPr lang="zh-CN" altLang="en-US" sz="1600" b="1" dirty="0">
              <a:solidFill>
                <a:srgbClr val="9C4E00"/>
              </a:solidFill>
              <a:effectLst>
                <a:outerShdw blurRad="38100" dist="38100" dir="2700000" algn="tl">
                  <a:srgbClr val="C0C0C0"/>
                </a:outerShdw>
              </a:effectLst>
            </a:endParaRP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void test (</a:t>
            </a:r>
            <a:r>
              <a:rPr lang="en-US" altLang="zh-CN" sz="1600" b="1" dirty="0" err="1">
                <a:solidFill>
                  <a:srgbClr val="9C4E00"/>
                </a:solidFill>
                <a:effectLst>
                  <a:outerShdw blurRad="38100" dist="38100" dir="2700000" algn="tl">
                    <a:srgbClr val="C0C0C0"/>
                  </a:outerShdw>
                </a:effectLst>
              </a:rPr>
              <a:t>int</a:t>
            </a:r>
            <a:r>
              <a:rPr lang="en-US" altLang="zh-CN" sz="1600" b="1" dirty="0">
                <a:solidFill>
                  <a:srgbClr val="9C4E00"/>
                </a:solidFill>
                <a:effectLst>
                  <a:outerShdw blurRad="38100" dist="38100" dir="2700000" algn="tl">
                    <a:srgbClr val="C0C0C0"/>
                  </a:outerShdw>
                </a:effectLst>
              </a:rPr>
              <a:t> </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if((state[</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 == HUNGRY)</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&amp;&amp; (state[LEFT(</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 </a:t>
            </a:r>
            <a:r>
              <a:rPr lang="zh-CN" altLang="en-US" sz="1600" b="1" dirty="0">
                <a:solidFill>
                  <a:srgbClr val="9C4E00"/>
                </a:solidFill>
                <a:effectLst>
                  <a:outerShdw blurRad="38100" dist="38100" dir="2700000" algn="tl">
                    <a:srgbClr val="C0C0C0"/>
                  </a:outerShdw>
                </a:effectLst>
              </a:rPr>
              <a:t>！</a:t>
            </a:r>
            <a:r>
              <a:rPr lang="en-US" altLang="zh-CN" sz="1600" b="1" dirty="0">
                <a:solidFill>
                  <a:srgbClr val="9C4E00"/>
                </a:solidFill>
                <a:effectLst>
                  <a:outerShdw blurRad="38100" dist="38100" dir="2700000" algn="tl">
                    <a:srgbClr val="C0C0C0"/>
                  </a:outerShdw>
                </a:effectLst>
              </a:rPr>
              <a:t>= EATING)</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&amp;&amp; (state[RIGHT(</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 != EATING))</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state[</a:t>
            </a:r>
            <a:r>
              <a:rPr lang="en-US" altLang="zh-CN" sz="1600" b="1" dirty="0" err="1">
                <a:solidFill>
                  <a:srgbClr val="9C4E00"/>
                </a:solidFill>
                <a:effectLst>
                  <a:outerShdw blurRad="38100" dist="38100" dir="2700000" algn="tl">
                    <a:srgbClr val="C0C0C0"/>
                  </a:outerShdw>
                </a:effectLst>
              </a:rPr>
              <a:t>i</a:t>
            </a:r>
            <a:r>
              <a:rPr lang="en-US" altLang="zh-CN" sz="1600" b="1" dirty="0">
                <a:solidFill>
                  <a:srgbClr val="9C4E00"/>
                </a:solidFill>
                <a:effectLst>
                  <a:outerShdw blurRad="38100" dist="38100" dir="2700000" algn="tl">
                    <a:srgbClr val="C0C0C0"/>
                  </a:outerShdw>
                </a:effectLst>
              </a:rPr>
              <a:t>] = EATING;</a:t>
            </a:r>
          </a:p>
          <a:p>
            <a:pPr>
              <a:lnSpc>
                <a:spcPct val="80000"/>
              </a:lnSpc>
              <a:spcBef>
                <a:spcPct val="50000"/>
              </a:spcBef>
              <a:buSzPct val="80000"/>
              <a:buFont typeface="Wingdings" panose="05000000000000000000" pitchFamily="2" charset="2"/>
              <a:buNone/>
              <a:defRPr/>
            </a:pPr>
            <a:r>
              <a:rPr lang="en-US" altLang="zh-CN" sz="1600" b="1" dirty="0">
                <a:solidFill>
                  <a:srgbClr val="FF0000"/>
                </a:solidFill>
                <a:effectLst>
                  <a:outerShdw blurRad="38100" dist="38100" dir="2700000" algn="tl">
                    <a:srgbClr val="C0C0C0"/>
                  </a:outerShdw>
                </a:effectLst>
              </a:rPr>
              <a:t>           V(s[</a:t>
            </a:r>
            <a:r>
              <a:rPr lang="en-US" altLang="zh-CN" sz="1600" b="1" dirty="0" err="1">
                <a:solidFill>
                  <a:srgbClr val="FF0000"/>
                </a:solidFill>
                <a:effectLst>
                  <a:outerShdw blurRad="38100" dist="38100" dir="2700000" algn="tl">
                    <a:srgbClr val="C0C0C0"/>
                  </a:outerShdw>
                </a:effectLst>
              </a:rPr>
              <a:t>i</a:t>
            </a:r>
            <a:r>
              <a:rPr lang="en-US" altLang="zh-CN" sz="1600" b="1" dirty="0">
                <a:solidFill>
                  <a:srgbClr val="FF00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    }</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9"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C7D1D076-1317-431D-9D9B-C40AAC3CC182}" type="slidenum">
              <a:rPr lang="en-US" altLang="ko-KR" sz="1200">
                <a:solidFill>
                  <a:schemeClr val="bg1"/>
                </a:solidFill>
              </a:rPr>
              <a:pPr>
                <a:spcBef>
                  <a:spcPct val="0"/>
                </a:spcBef>
                <a:buClrTx/>
                <a:buSzTx/>
                <a:buFontTx/>
                <a:buNone/>
              </a:pPr>
              <a:t>39</a:t>
            </a:fld>
            <a:endParaRPr lang="en-US" altLang="ko-KR" sz="1200">
              <a:solidFill>
                <a:schemeClr val="bg1"/>
              </a:solidFill>
            </a:endParaRPr>
          </a:p>
        </p:txBody>
      </p:sp>
      <p:sp>
        <p:nvSpPr>
          <p:cNvPr id="129026" name="标题 1"/>
          <p:cNvSpPr>
            <a:spLocks noGrp="1"/>
          </p:cNvSpPr>
          <p:nvPr>
            <p:ph type="title"/>
          </p:nvPr>
        </p:nvSpPr>
        <p:spPr>
          <a:prstGeom prst="rect">
            <a:avLst/>
          </a:prstGeom>
        </p:spPr>
        <p:txBody>
          <a:bodyPr/>
          <a:lstStyle/>
          <a:p>
            <a:r>
              <a:rPr lang="en-US" altLang="zh-CN">
                <a:ea typeface="宋体" panose="02010600030101010101" pitchFamily="2" charset="-122"/>
              </a:rPr>
              <a:t>IPC problem: Reader-Writer</a:t>
            </a:r>
            <a:endParaRPr lang="zh-CN" altLang="en-US">
              <a:ea typeface="宋体" panose="02010600030101010101" pitchFamily="2" charset="-122"/>
            </a:endParaRPr>
          </a:p>
        </p:txBody>
      </p:sp>
      <p:sp>
        <p:nvSpPr>
          <p:cNvPr id="24" name="内容占位符 2"/>
          <p:cNvSpPr>
            <a:spLocks noGrp="1"/>
          </p:cNvSpPr>
          <p:nvPr>
            <p:ph idx="1"/>
          </p:nvPr>
        </p:nvSpPr>
        <p:spPr>
          <a:prstGeom prst="rect">
            <a:avLst/>
          </a:prstGeom>
        </p:spPr>
        <p:txBody>
          <a:bodyPr>
            <a:normAutofit/>
          </a:bodyPr>
          <a:lstStyle/>
          <a:p>
            <a:pPr>
              <a:lnSpc>
                <a:spcPct val="110000"/>
              </a:lnSpc>
              <a:defRPr/>
            </a:pPr>
            <a:r>
              <a:rPr lang="en-US" altLang="zh-CN" dirty="0">
                <a:ea typeface="宋体" pitchFamily="2" charset="-122"/>
              </a:rPr>
              <a:t>Problem description</a:t>
            </a:r>
          </a:p>
          <a:p>
            <a:pPr lvl="1">
              <a:lnSpc>
                <a:spcPct val="110000"/>
              </a:lnSpc>
              <a:defRPr/>
            </a:pPr>
            <a:r>
              <a:rPr lang="en-US" altLang="zh-CN" dirty="0">
                <a:ea typeface="宋体" pitchFamily="2" charset="-122"/>
              </a:rPr>
              <a:t>Writer: put information into shared buffer</a:t>
            </a:r>
          </a:p>
          <a:p>
            <a:pPr lvl="1">
              <a:lnSpc>
                <a:spcPct val="110000"/>
              </a:lnSpc>
              <a:defRPr/>
            </a:pPr>
            <a:r>
              <a:rPr lang="en-US" altLang="zh-CN" dirty="0">
                <a:ea typeface="宋体" pitchFamily="2" charset="-122"/>
              </a:rPr>
              <a:t>Reader: get information from shared buffer</a:t>
            </a:r>
          </a:p>
          <a:p>
            <a:pPr lvl="1">
              <a:lnSpc>
                <a:spcPct val="110000"/>
              </a:lnSpc>
              <a:defRPr/>
            </a:pPr>
            <a:r>
              <a:rPr lang="en-US" altLang="zh-CN" dirty="0">
                <a:ea typeface="宋体" pitchFamily="2" charset="-122"/>
              </a:rPr>
              <a:t>Exclusion: reader/writer can’t access the buffer when any writer is putting item, but multiple reader can get item at same time</a:t>
            </a:r>
          </a:p>
          <a:p>
            <a:pPr lvl="1">
              <a:lnSpc>
                <a:spcPct val="110000"/>
              </a:lnSpc>
              <a:defRPr/>
            </a:pPr>
            <a:r>
              <a:rPr lang="en-US" altLang="zh-CN" dirty="0">
                <a:ea typeface="宋体" pitchFamily="2" charset="-122"/>
              </a:rPr>
              <a:t>Synchronism:  Writer sleep when FULL, while Reader sleep when EMPTY</a:t>
            </a:r>
          </a:p>
        </p:txBody>
      </p:sp>
      <p:pic>
        <p:nvPicPr>
          <p:cNvPr id="9" name="Picture 6" descr="读者—写者问题"/>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3712" y="2060848"/>
            <a:ext cx="5048250" cy="296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41914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301"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9B5DF411-69BD-424D-A4B9-7EAF655B6915}" type="slidenum">
              <a:rPr lang="en-US" altLang="ko-KR" sz="1200">
                <a:solidFill>
                  <a:schemeClr val="bg1"/>
                </a:solidFill>
              </a:rPr>
              <a:pPr>
                <a:spcBef>
                  <a:spcPct val="0"/>
                </a:spcBef>
                <a:buClrTx/>
                <a:buSzTx/>
                <a:buFontTx/>
                <a:buNone/>
              </a:pPr>
              <a:t>40</a:t>
            </a:fld>
            <a:endParaRPr lang="en-US" altLang="ko-KR" sz="1200">
              <a:solidFill>
                <a:schemeClr val="bg1"/>
              </a:solidFill>
            </a:endParaRPr>
          </a:p>
        </p:txBody>
      </p:sp>
      <p:sp>
        <p:nvSpPr>
          <p:cNvPr id="183298" name="标题 1"/>
          <p:cNvSpPr>
            <a:spLocks noGrp="1"/>
          </p:cNvSpPr>
          <p:nvPr>
            <p:ph type="title"/>
          </p:nvPr>
        </p:nvSpPr>
        <p:spPr>
          <a:prstGeom prst="rect">
            <a:avLst/>
          </a:prstGeom>
        </p:spPr>
        <p:txBody>
          <a:bodyPr/>
          <a:lstStyle/>
          <a:p>
            <a:r>
              <a:rPr lang="en-US" altLang="zh-CN">
                <a:ea typeface="宋体" panose="02010600030101010101" pitchFamily="2" charset="-122"/>
              </a:rPr>
              <a:t>Analysis of “Reader-Writer”</a:t>
            </a:r>
            <a:endParaRPr lang="zh-CN" altLang="en-US">
              <a:ea typeface="宋体" panose="02010600030101010101" pitchFamily="2" charset="-122"/>
            </a:endParaRPr>
          </a:p>
        </p:txBody>
      </p:sp>
      <p:sp>
        <p:nvSpPr>
          <p:cNvPr id="8" name="内容占位符 2"/>
          <p:cNvSpPr>
            <a:spLocks noGrp="1"/>
          </p:cNvSpPr>
          <p:nvPr>
            <p:ph idx="1"/>
          </p:nvPr>
        </p:nvSpPr>
        <p:spPr>
          <a:prstGeom prst="rect">
            <a:avLst/>
          </a:prstGeom>
        </p:spPr>
        <p:txBody>
          <a:bodyPr>
            <a:normAutofit fontScale="92500" lnSpcReduction="10000"/>
          </a:bodyPr>
          <a:lstStyle/>
          <a:p>
            <a:pPr>
              <a:lnSpc>
                <a:spcPct val="110000"/>
              </a:lnSpc>
              <a:defRPr/>
            </a:pPr>
            <a:r>
              <a:rPr lang="en-US" altLang="zh-CN" dirty="0">
                <a:ea typeface="宋体" pitchFamily="2" charset="-122"/>
              </a:rPr>
              <a:t>Mutual exclusion</a:t>
            </a:r>
          </a:p>
          <a:p>
            <a:pPr lvl="1">
              <a:lnSpc>
                <a:spcPct val="110000"/>
              </a:lnSpc>
              <a:defRPr/>
            </a:pPr>
            <a:r>
              <a:rPr lang="en-US" altLang="zh-CN" dirty="0">
                <a:ea typeface="宋体" pitchFamily="2" charset="-122"/>
              </a:rPr>
              <a:t>Only one writer can access the buffer at any instant</a:t>
            </a:r>
          </a:p>
          <a:p>
            <a:pPr lvl="1">
              <a:lnSpc>
                <a:spcPct val="110000"/>
              </a:lnSpc>
              <a:defRPr/>
            </a:pPr>
            <a:r>
              <a:rPr lang="en-US" altLang="zh-CN" dirty="0">
                <a:ea typeface="宋体" pitchFamily="2" charset="-122"/>
              </a:rPr>
              <a:t>If there is writer in the buffer, then all other readers and writers will be blocked</a:t>
            </a:r>
          </a:p>
          <a:p>
            <a:pPr lvl="1">
              <a:lnSpc>
                <a:spcPct val="110000"/>
              </a:lnSpc>
              <a:defRPr/>
            </a:pPr>
            <a:r>
              <a:rPr lang="en-US" altLang="zh-CN" dirty="0">
                <a:ea typeface="宋体" pitchFamily="2" charset="-122"/>
              </a:rPr>
              <a:t>Multiple readers can access the buffer at the same time</a:t>
            </a:r>
          </a:p>
          <a:p>
            <a:pPr>
              <a:lnSpc>
                <a:spcPct val="110000"/>
              </a:lnSpc>
              <a:defRPr/>
            </a:pPr>
            <a:r>
              <a:rPr lang="en-US" altLang="zh-CN" dirty="0">
                <a:ea typeface="宋体" pitchFamily="2" charset="-122"/>
              </a:rPr>
              <a:t>Synchronism</a:t>
            </a:r>
          </a:p>
          <a:p>
            <a:pPr lvl="1">
              <a:lnSpc>
                <a:spcPct val="110000"/>
              </a:lnSpc>
              <a:defRPr/>
            </a:pPr>
            <a:r>
              <a:rPr lang="en-US" altLang="zh-CN" dirty="0">
                <a:ea typeface="宋体" pitchFamily="2" charset="-122"/>
              </a:rPr>
              <a:t>Writer will sleep until all readers exit the buffer</a:t>
            </a:r>
          </a:p>
          <a:p>
            <a:pPr lvl="1">
              <a:lnSpc>
                <a:spcPct val="110000"/>
              </a:lnSpc>
              <a:defRPr/>
            </a:pPr>
            <a:r>
              <a:rPr lang="en-US" altLang="zh-CN" dirty="0">
                <a:ea typeface="宋体" pitchFamily="2" charset="-122"/>
              </a:rPr>
              <a:t>Reader will sleep until all writers exit the buffer</a:t>
            </a:r>
          </a:p>
          <a:p>
            <a:pPr lvl="1">
              <a:lnSpc>
                <a:spcPct val="110000"/>
              </a:lnSpc>
              <a:defRPr/>
            </a:pPr>
            <a:r>
              <a:rPr lang="en-US" altLang="zh-CN" dirty="0">
                <a:ea typeface="宋体" pitchFamily="2" charset="-122"/>
              </a:rPr>
              <a:t>Give priority to reader</a:t>
            </a:r>
          </a:p>
          <a:p>
            <a:pPr lvl="1">
              <a:lnSpc>
                <a:spcPct val="110000"/>
              </a:lnSpc>
              <a:defRPr/>
            </a:pPr>
            <a:r>
              <a:rPr lang="en-US" altLang="zh-CN" dirty="0">
                <a:ea typeface="宋体" pitchFamily="2" charset="-122"/>
              </a:rPr>
              <a:t>Give priority to writer</a:t>
            </a:r>
          </a:p>
          <a:p>
            <a:pPr lvl="1">
              <a:lnSpc>
                <a:spcPct val="110000"/>
              </a:lnSpc>
              <a:defRPr/>
            </a:pPr>
            <a:endParaRPr lang="en-US" altLang="zh-CN" dirty="0">
              <a:ea typeface="宋体" pitchFamily="2" charset="-122"/>
            </a:endParaRPr>
          </a:p>
          <a:p>
            <a:pPr lvl="1">
              <a:lnSpc>
                <a:spcPct val="110000"/>
              </a:lnSpc>
              <a:defRPr/>
            </a:pPr>
            <a:endParaRPr lang="en-US" altLang="zh-CN" dirty="0">
              <a:ea typeface="宋体" pitchFamily="2" charset="-122"/>
            </a:endParaRPr>
          </a:p>
        </p:txBody>
      </p:sp>
    </p:spTree>
    <p:extLst>
      <p:ext uri="{BB962C8B-B14F-4D97-AF65-F5344CB8AC3E}">
        <p14:creationId xmlns:p14="http://schemas.microsoft.com/office/powerpoint/2010/main" val="35140836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a:off x="288129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矩形 44"/>
          <p:cNvSpPr/>
          <p:nvPr/>
        </p:nvSpPr>
        <p:spPr>
          <a:xfrm>
            <a:off x="609600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3" name="矩形 42"/>
          <p:cNvSpPr/>
          <p:nvPr/>
        </p:nvSpPr>
        <p:spPr>
          <a:xfrm>
            <a:off x="2420940" y="3429000"/>
            <a:ext cx="2389176" cy="135732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urier New" panose="02070309020205020404" pitchFamily="49" charset="0"/>
              <a:cs typeface="Courier New" panose="02070309020205020404" pitchFamily="49" charset="0"/>
            </a:endParaRPr>
          </a:p>
        </p:txBody>
      </p:sp>
      <p:sp>
        <p:nvSpPr>
          <p:cNvPr id="42" name="矩形 41"/>
          <p:cNvSpPr/>
          <p:nvPr/>
        </p:nvSpPr>
        <p:spPr>
          <a:xfrm>
            <a:off x="5595934" y="2500306"/>
            <a:ext cx="2643206" cy="3357586"/>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urier New" panose="02070309020205020404" pitchFamily="49" charset="0"/>
              <a:cs typeface="Courier New" panose="02070309020205020404" pitchFamily="49" charset="0"/>
            </a:endParaRPr>
          </a:p>
        </p:txBody>
      </p:sp>
      <p:sp>
        <p:nvSpPr>
          <p:cNvPr id="40" name="Rectangle 15"/>
          <p:cNvSpPr>
            <a:spLocks noChangeArrowheads="1"/>
          </p:cNvSpPr>
          <p:nvPr/>
        </p:nvSpPr>
        <p:spPr bwMode="auto">
          <a:xfrm>
            <a:off x="2905112"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Writer</a:t>
            </a:r>
          </a:p>
        </p:txBody>
      </p:sp>
      <p:sp>
        <p:nvSpPr>
          <p:cNvPr id="41" name="Rectangle 15"/>
          <p:cNvSpPr>
            <a:spLocks noChangeArrowheads="1"/>
          </p:cNvSpPr>
          <p:nvPr/>
        </p:nvSpPr>
        <p:spPr bwMode="auto">
          <a:xfrm>
            <a:off x="6127760"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Reader</a:t>
            </a:r>
          </a:p>
        </p:txBody>
      </p:sp>
      <p:cxnSp>
        <p:nvCxnSpPr>
          <p:cNvPr id="56" name="直接连接符 55"/>
          <p:cNvCxnSpPr/>
          <p:nvPr/>
        </p:nvCxnSpPr>
        <p:spPr>
          <a:xfrm rot="5400000">
            <a:off x="9798859" y="3607595"/>
            <a:ext cx="8929750" cy="285752"/>
          </a:xfrm>
          <a:prstGeom prst="line">
            <a:avLst/>
          </a:prstGeom>
        </p:spPr>
        <p:style>
          <a:lnRef idx="1">
            <a:schemeClr val="accent1"/>
          </a:lnRef>
          <a:fillRef idx="0">
            <a:schemeClr val="accent1"/>
          </a:fillRef>
          <a:effectRef idx="0">
            <a:schemeClr val="accent1"/>
          </a:effectRef>
          <a:fontRef idx="minor">
            <a:schemeClr val="tx1"/>
          </a:fontRef>
        </p:style>
      </p:cxnSp>
      <p:sp>
        <p:nvSpPr>
          <p:cNvPr id="53" name="Text Box 4"/>
          <p:cNvSpPr txBox="1">
            <a:spLocks noChangeArrowheads="1"/>
          </p:cNvSpPr>
          <p:nvPr/>
        </p:nvSpPr>
        <p:spPr bwMode="auto">
          <a:xfrm>
            <a:off x="5667372" y="4000506"/>
            <a:ext cx="100013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read</a:t>
            </a:r>
            <a:r>
              <a:rPr lang="zh-CN" altLang="en-US" sz="1800" b="1" dirty="0">
                <a:latin typeface="Courier New" panose="02070309020205020404" pitchFamily="49" charset="0"/>
                <a:ea typeface="+mn-ea"/>
                <a:cs typeface="Courier New" panose="02070309020205020404" pitchFamily="49" charset="0"/>
              </a:rPr>
              <a:t>;</a:t>
            </a:r>
          </a:p>
        </p:txBody>
      </p:sp>
      <p:sp>
        <p:nvSpPr>
          <p:cNvPr id="63" name="Text Box 4"/>
          <p:cNvSpPr txBox="1">
            <a:spLocks noChangeArrowheads="1"/>
          </p:cNvSpPr>
          <p:nvPr/>
        </p:nvSpPr>
        <p:spPr bwMode="auto">
          <a:xfrm>
            <a:off x="2638428" y="3944626"/>
            <a:ext cx="92869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write</a:t>
            </a:r>
            <a:r>
              <a:rPr lang="zh-CN" altLang="en-US" sz="1800" b="1" dirty="0">
                <a:latin typeface="Courier New" panose="02070309020205020404" pitchFamily="49" charset="0"/>
                <a:ea typeface="+mn-ea"/>
                <a:cs typeface="Courier New" panose="02070309020205020404" pitchFamily="49" charset="0"/>
              </a:rPr>
              <a:t>;</a:t>
            </a:r>
          </a:p>
        </p:txBody>
      </p:sp>
      <p:sp>
        <p:nvSpPr>
          <p:cNvPr id="2" name="标题 1">
            <a:extLst>
              <a:ext uri="{FF2B5EF4-FFF2-40B4-BE49-F238E27FC236}">
                <a16:creationId xmlns:a16="http://schemas.microsoft.com/office/drawing/2014/main" id="{E6C16691-3E53-4D7A-EA67-87B7F7593954}"/>
              </a:ext>
            </a:extLst>
          </p:cNvPr>
          <p:cNvSpPr>
            <a:spLocks noGrp="1"/>
          </p:cNvSpPr>
          <p:nvPr>
            <p:ph type="title"/>
          </p:nvPr>
        </p:nvSpPr>
        <p:spPr/>
        <p:txBody>
          <a:bodyPr>
            <a:normAutofit/>
          </a:bodyPr>
          <a:lstStyle/>
          <a:p>
            <a:r>
              <a:rPr lang="zh-CN" altLang="en-US" dirty="0"/>
              <a:t>用信号量解决读者</a:t>
            </a:r>
            <a:r>
              <a:rPr lang="en-US" altLang="zh-CN" dirty="0"/>
              <a:t>-</a:t>
            </a:r>
            <a:r>
              <a:rPr lang="zh-CN" altLang="en-US" dirty="0"/>
              <a:t>写者问题</a:t>
            </a:r>
          </a:p>
        </p:txBody>
      </p:sp>
    </p:spTree>
    <p:extLst>
      <p:ext uri="{BB962C8B-B14F-4D97-AF65-F5344CB8AC3E}">
        <p14:creationId xmlns:p14="http://schemas.microsoft.com/office/powerpoint/2010/main" val="30777908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a:off x="288129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矩形 44"/>
          <p:cNvSpPr/>
          <p:nvPr/>
        </p:nvSpPr>
        <p:spPr>
          <a:xfrm>
            <a:off x="609600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3" name="矩形 42"/>
          <p:cNvSpPr/>
          <p:nvPr/>
        </p:nvSpPr>
        <p:spPr>
          <a:xfrm>
            <a:off x="2420940" y="3429000"/>
            <a:ext cx="2389176" cy="135732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矩形 41"/>
          <p:cNvSpPr/>
          <p:nvPr/>
        </p:nvSpPr>
        <p:spPr>
          <a:xfrm>
            <a:off x="5595934" y="2500306"/>
            <a:ext cx="2643206" cy="3357586"/>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0" name="Rectangle 15"/>
          <p:cNvSpPr>
            <a:spLocks noChangeArrowheads="1"/>
          </p:cNvSpPr>
          <p:nvPr/>
        </p:nvSpPr>
        <p:spPr bwMode="auto">
          <a:xfrm>
            <a:off x="2905112"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Writer</a:t>
            </a:r>
          </a:p>
        </p:txBody>
      </p:sp>
      <p:sp>
        <p:nvSpPr>
          <p:cNvPr id="41" name="Rectangle 15"/>
          <p:cNvSpPr>
            <a:spLocks noChangeArrowheads="1"/>
          </p:cNvSpPr>
          <p:nvPr/>
        </p:nvSpPr>
        <p:spPr bwMode="auto">
          <a:xfrm>
            <a:off x="6127760"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Reader</a:t>
            </a:r>
          </a:p>
        </p:txBody>
      </p:sp>
      <p:cxnSp>
        <p:nvCxnSpPr>
          <p:cNvPr id="56" name="直接连接符 55"/>
          <p:cNvCxnSpPr/>
          <p:nvPr/>
        </p:nvCxnSpPr>
        <p:spPr>
          <a:xfrm rot="5400000">
            <a:off x="9798859" y="3607595"/>
            <a:ext cx="8929750" cy="285752"/>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组合 60"/>
          <p:cNvGrpSpPr/>
          <p:nvPr/>
        </p:nvGrpSpPr>
        <p:grpSpPr>
          <a:xfrm>
            <a:off x="5667372" y="3033712"/>
            <a:ext cx="2428892" cy="2552375"/>
            <a:chOff x="6715140" y="2176460"/>
            <a:chExt cx="2428892" cy="2552375"/>
          </a:xfrm>
        </p:grpSpPr>
        <p:sp>
          <p:nvSpPr>
            <p:cNvPr id="50" name="Text Box 4"/>
            <p:cNvSpPr txBox="1">
              <a:spLocks noChangeArrowheads="1"/>
            </p:cNvSpPr>
            <p:nvPr/>
          </p:nvSpPr>
          <p:spPr bwMode="auto">
            <a:xfrm>
              <a:off x="7072330" y="2176460"/>
              <a:ext cx="207170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fr-FR"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53" name="Text Box 4"/>
            <p:cNvSpPr txBox="1">
              <a:spLocks noChangeArrowheads="1"/>
            </p:cNvSpPr>
            <p:nvPr/>
          </p:nvSpPr>
          <p:spPr bwMode="auto">
            <a:xfrm>
              <a:off x="6715140" y="3143254"/>
              <a:ext cx="100013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read</a:t>
              </a:r>
              <a:r>
                <a:rPr lang="zh-CN" altLang="en-US" sz="1800" b="1" dirty="0">
                  <a:latin typeface="Courier New" panose="02070309020205020404" pitchFamily="49" charset="0"/>
                  <a:ea typeface="+mn-ea"/>
                  <a:cs typeface="Courier New" panose="02070309020205020404" pitchFamily="49" charset="0"/>
                </a:rPr>
                <a:t>;</a:t>
              </a:r>
            </a:p>
          </p:txBody>
        </p:sp>
        <p:sp>
          <p:nvSpPr>
            <p:cNvPr id="59" name="Text Box 4"/>
            <p:cNvSpPr txBox="1">
              <a:spLocks noChangeArrowheads="1"/>
            </p:cNvSpPr>
            <p:nvPr/>
          </p:nvSpPr>
          <p:spPr bwMode="auto">
            <a:xfrm>
              <a:off x="7000892" y="4380278"/>
              <a:ext cx="207170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cs-CZ"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(WriteMutex);</a:t>
              </a:r>
            </a:p>
          </p:txBody>
        </p:sp>
      </p:grpSp>
      <p:grpSp>
        <p:nvGrpSpPr>
          <p:cNvPr id="3" name="组合 64"/>
          <p:cNvGrpSpPr/>
          <p:nvPr/>
        </p:nvGrpSpPr>
        <p:grpSpPr>
          <a:xfrm>
            <a:off x="2424114" y="3474158"/>
            <a:ext cx="2314564" cy="1277251"/>
            <a:chOff x="-1357354" y="2571750"/>
            <a:chExt cx="2314564" cy="1277251"/>
          </a:xfrm>
        </p:grpSpPr>
        <p:sp>
          <p:nvSpPr>
            <p:cNvPr id="62" name="Text Box 4"/>
            <p:cNvSpPr txBox="1">
              <a:spLocks noChangeArrowheads="1"/>
            </p:cNvSpPr>
            <p:nvPr/>
          </p:nvSpPr>
          <p:spPr bwMode="auto">
            <a:xfrm>
              <a:off x="-1357354" y="2571750"/>
              <a:ext cx="231456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63" name="Text Box 4"/>
            <p:cNvSpPr txBox="1">
              <a:spLocks noChangeArrowheads="1"/>
            </p:cNvSpPr>
            <p:nvPr/>
          </p:nvSpPr>
          <p:spPr bwMode="auto">
            <a:xfrm>
              <a:off x="-1143040" y="3042218"/>
              <a:ext cx="92869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write</a:t>
              </a:r>
              <a:r>
                <a:rPr lang="zh-CN" altLang="en-US" sz="1800" b="1" dirty="0">
                  <a:latin typeface="Courier New" panose="02070309020205020404" pitchFamily="49" charset="0"/>
                  <a:ea typeface="+mn-ea"/>
                  <a:cs typeface="Courier New" panose="02070309020205020404" pitchFamily="49" charset="0"/>
                </a:rPr>
                <a:t>;</a:t>
              </a:r>
            </a:p>
          </p:txBody>
        </p:sp>
        <p:sp>
          <p:nvSpPr>
            <p:cNvPr id="64" name="Text Box 4"/>
            <p:cNvSpPr txBox="1">
              <a:spLocks noChangeArrowheads="1"/>
            </p:cNvSpPr>
            <p:nvPr/>
          </p:nvSpPr>
          <p:spPr bwMode="auto">
            <a:xfrm>
              <a:off x="-1357354" y="3500444"/>
              <a:ext cx="2159718"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90000"/>
                </a:lnSpc>
              </a:pPr>
              <a:r>
                <a:rPr lang="is-IS" sz="1800" b="1" dirty="0">
                  <a:latin typeface="Courier New" panose="02070309020205020404" pitchFamily="49" charset="0"/>
                  <a:cs typeface="Courier New" panose="02070309020205020404" pitchFamily="49" charset="0"/>
                </a:rPr>
                <a:t>V</a:t>
              </a:r>
              <a:r>
                <a:rPr lang="zh-CN" altLang="en-US" sz="1800" b="1" dirty="0">
                  <a:latin typeface="Courier New" panose="02070309020205020404" pitchFamily="49" charset="0"/>
                  <a:cs typeface="Courier New" panose="02070309020205020404" pitchFamily="49" charset="0"/>
                </a:rPr>
                <a:t>(WriteMutex);</a:t>
              </a:r>
            </a:p>
          </p:txBody>
        </p:sp>
      </p:grpSp>
      <p:sp>
        <p:nvSpPr>
          <p:cNvPr id="5" name="内容占位符 4">
            <a:extLst>
              <a:ext uri="{FF2B5EF4-FFF2-40B4-BE49-F238E27FC236}">
                <a16:creationId xmlns:a16="http://schemas.microsoft.com/office/drawing/2014/main" id="{A7F7C84A-5915-901A-274F-7C519A697DFD}"/>
              </a:ext>
            </a:extLst>
          </p:cNvPr>
          <p:cNvSpPr>
            <a:spLocks noGrp="1"/>
          </p:cNvSpPr>
          <p:nvPr>
            <p:ph idx="1"/>
          </p:nvPr>
        </p:nvSpPr>
        <p:spPr/>
        <p:txBody>
          <a:bodyPr/>
          <a:lstStyle/>
          <a:p>
            <a:endParaRPr lang="zh-CN" altLang="en-US"/>
          </a:p>
        </p:txBody>
      </p:sp>
      <p:sp>
        <p:nvSpPr>
          <p:cNvPr id="6" name="标题 1">
            <a:extLst>
              <a:ext uri="{FF2B5EF4-FFF2-40B4-BE49-F238E27FC236}">
                <a16:creationId xmlns:a16="http://schemas.microsoft.com/office/drawing/2014/main" id="{8EF7BF95-87F2-08E1-49C3-2C1A280E0335}"/>
              </a:ext>
            </a:extLst>
          </p:cNvPr>
          <p:cNvSpPr>
            <a:spLocks noGrp="1"/>
          </p:cNvSpPr>
          <p:nvPr>
            <p:ph type="title"/>
          </p:nvPr>
        </p:nvSpPr>
        <p:spPr>
          <a:xfrm>
            <a:off x="695400" y="871855"/>
            <a:ext cx="10801200" cy="680403"/>
          </a:xfrm>
        </p:spPr>
        <p:txBody>
          <a:bodyPr>
            <a:normAutofit/>
          </a:bodyPr>
          <a:lstStyle/>
          <a:p>
            <a:r>
              <a:rPr lang="zh-CN" altLang="en-US" dirty="0"/>
              <a:t>用信号量解决读者</a:t>
            </a:r>
            <a:r>
              <a:rPr lang="en-US" altLang="zh-CN" dirty="0"/>
              <a:t>-</a:t>
            </a:r>
            <a:r>
              <a:rPr lang="zh-CN" altLang="en-US" dirty="0"/>
              <a:t>写者问题</a:t>
            </a:r>
          </a:p>
        </p:txBody>
      </p:sp>
    </p:spTree>
    <p:extLst>
      <p:ext uri="{BB962C8B-B14F-4D97-AF65-F5344CB8AC3E}">
        <p14:creationId xmlns:p14="http://schemas.microsoft.com/office/powerpoint/2010/main" val="16922343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a:off x="288129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矩形 44"/>
          <p:cNvSpPr/>
          <p:nvPr/>
        </p:nvSpPr>
        <p:spPr>
          <a:xfrm>
            <a:off x="609600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3" name="矩形 42"/>
          <p:cNvSpPr/>
          <p:nvPr/>
        </p:nvSpPr>
        <p:spPr>
          <a:xfrm>
            <a:off x="2420940" y="3429000"/>
            <a:ext cx="2389176" cy="135732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矩形 41"/>
          <p:cNvSpPr/>
          <p:nvPr/>
        </p:nvSpPr>
        <p:spPr>
          <a:xfrm>
            <a:off x="5595934" y="2500306"/>
            <a:ext cx="2643206" cy="3357586"/>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0" name="Rectangle 15"/>
          <p:cNvSpPr>
            <a:spLocks noChangeArrowheads="1"/>
          </p:cNvSpPr>
          <p:nvPr/>
        </p:nvSpPr>
        <p:spPr bwMode="auto">
          <a:xfrm>
            <a:off x="2905112"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Writer</a:t>
            </a:r>
          </a:p>
        </p:txBody>
      </p:sp>
      <p:sp>
        <p:nvSpPr>
          <p:cNvPr id="41" name="Rectangle 15"/>
          <p:cNvSpPr>
            <a:spLocks noChangeArrowheads="1"/>
          </p:cNvSpPr>
          <p:nvPr/>
        </p:nvSpPr>
        <p:spPr bwMode="auto">
          <a:xfrm>
            <a:off x="6127760"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Reader</a:t>
            </a:r>
          </a:p>
        </p:txBody>
      </p:sp>
      <p:cxnSp>
        <p:nvCxnSpPr>
          <p:cNvPr id="56" name="直接连接符 55"/>
          <p:cNvCxnSpPr/>
          <p:nvPr/>
        </p:nvCxnSpPr>
        <p:spPr>
          <a:xfrm rot="5400000">
            <a:off x="9798859" y="3607595"/>
            <a:ext cx="8929750" cy="285752"/>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组合 60"/>
          <p:cNvGrpSpPr/>
          <p:nvPr/>
        </p:nvGrpSpPr>
        <p:grpSpPr>
          <a:xfrm>
            <a:off x="5667372" y="2747959"/>
            <a:ext cx="2516860" cy="2838127"/>
            <a:chOff x="6715140" y="1890708"/>
            <a:chExt cx="2516860" cy="2838127"/>
          </a:xfrm>
        </p:grpSpPr>
        <p:sp>
          <p:nvSpPr>
            <p:cNvPr id="49" name="Text Box 4"/>
            <p:cNvSpPr txBox="1">
              <a:spLocks noChangeArrowheads="1"/>
            </p:cNvSpPr>
            <p:nvPr/>
          </p:nvSpPr>
          <p:spPr bwMode="auto">
            <a:xfrm>
              <a:off x="6850608" y="1890708"/>
              <a:ext cx="238139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(Rcount == 0)</a:t>
              </a:r>
            </a:p>
          </p:txBody>
        </p:sp>
        <p:sp>
          <p:nvSpPr>
            <p:cNvPr id="50" name="Text Box 4"/>
            <p:cNvSpPr txBox="1">
              <a:spLocks noChangeArrowheads="1"/>
            </p:cNvSpPr>
            <p:nvPr/>
          </p:nvSpPr>
          <p:spPr bwMode="auto">
            <a:xfrm>
              <a:off x="7072330" y="2176460"/>
              <a:ext cx="207170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fr-FR"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51" name="Text Box 4"/>
            <p:cNvSpPr txBox="1">
              <a:spLocks noChangeArrowheads="1"/>
            </p:cNvSpPr>
            <p:nvPr/>
          </p:nvSpPr>
          <p:spPr bwMode="auto">
            <a:xfrm>
              <a:off x="6858016" y="2411412"/>
              <a:ext cx="164307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++Rcount;</a:t>
              </a:r>
            </a:p>
          </p:txBody>
        </p:sp>
        <p:sp>
          <p:nvSpPr>
            <p:cNvPr id="53" name="Text Box 4"/>
            <p:cNvSpPr txBox="1">
              <a:spLocks noChangeArrowheads="1"/>
            </p:cNvSpPr>
            <p:nvPr/>
          </p:nvSpPr>
          <p:spPr bwMode="auto">
            <a:xfrm>
              <a:off x="6715140" y="3143254"/>
              <a:ext cx="100013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read</a:t>
              </a:r>
              <a:r>
                <a:rPr lang="zh-CN" altLang="en-US" sz="1800" b="1" dirty="0">
                  <a:latin typeface="Courier New" panose="02070309020205020404" pitchFamily="49" charset="0"/>
                  <a:ea typeface="+mn-ea"/>
                  <a:cs typeface="Courier New" panose="02070309020205020404" pitchFamily="49" charset="0"/>
                </a:rPr>
                <a:t>;</a:t>
              </a:r>
            </a:p>
          </p:txBody>
        </p:sp>
        <p:sp>
          <p:nvSpPr>
            <p:cNvPr id="59" name="Text Box 4"/>
            <p:cNvSpPr txBox="1">
              <a:spLocks noChangeArrowheads="1"/>
            </p:cNvSpPr>
            <p:nvPr/>
          </p:nvSpPr>
          <p:spPr bwMode="auto">
            <a:xfrm>
              <a:off x="7000892" y="4380278"/>
              <a:ext cx="207170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cs-CZ"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(WriteMutex);</a:t>
              </a:r>
            </a:p>
          </p:txBody>
        </p:sp>
      </p:grpSp>
      <p:grpSp>
        <p:nvGrpSpPr>
          <p:cNvPr id="3" name="组合 64"/>
          <p:cNvGrpSpPr/>
          <p:nvPr/>
        </p:nvGrpSpPr>
        <p:grpSpPr>
          <a:xfrm>
            <a:off x="2424114" y="3474158"/>
            <a:ext cx="2314564" cy="1277251"/>
            <a:chOff x="-1357354" y="2571750"/>
            <a:chExt cx="2314564" cy="1277251"/>
          </a:xfrm>
        </p:grpSpPr>
        <p:sp>
          <p:nvSpPr>
            <p:cNvPr id="62" name="Text Box 4"/>
            <p:cNvSpPr txBox="1">
              <a:spLocks noChangeArrowheads="1"/>
            </p:cNvSpPr>
            <p:nvPr/>
          </p:nvSpPr>
          <p:spPr bwMode="auto">
            <a:xfrm>
              <a:off x="-1357354" y="2571750"/>
              <a:ext cx="231456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63" name="Text Box 4"/>
            <p:cNvSpPr txBox="1">
              <a:spLocks noChangeArrowheads="1"/>
            </p:cNvSpPr>
            <p:nvPr/>
          </p:nvSpPr>
          <p:spPr bwMode="auto">
            <a:xfrm>
              <a:off x="-1143040" y="3042218"/>
              <a:ext cx="92869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write</a:t>
              </a:r>
              <a:r>
                <a:rPr lang="zh-CN" altLang="en-US" sz="1800" b="1" dirty="0">
                  <a:latin typeface="Courier New" panose="02070309020205020404" pitchFamily="49" charset="0"/>
                  <a:ea typeface="+mn-ea"/>
                  <a:cs typeface="Courier New" panose="02070309020205020404" pitchFamily="49" charset="0"/>
                </a:rPr>
                <a:t>;</a:t>
              </a:r>
            </a:p>
          </p:txBody>
        </p:sp>
        <p:sp>
          <p:nvSpPr>
            <p:cNvPr id="64" name="Text Box 4"/>
            <p:cNvSpPr txBox="1">
              <a:spLocks noChangeArrowheads="1"/>
            </p:cNvSpPr>
            <p:nvPr/>
          </p:nvSpPr>
          <p:spPr bwMode="auto">
            <a:xfrm>
              <a:off x="-1357354" y="3500444"/>
              <a:ext cx="2159718"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90000"/>
                </a:lnSpc>
              </a:pPr>
              <a:r>
                <a:rPr lang="is-IS" sz="1800" b="1" dirty="0">
                  <a:latin typeface="Courier New" panose="02070309020205020404" pitchFamily="49" charset="0"/>
                  <a:cs typeface="Courier New" panose="02070309020205020404" pitchFamily="49" charset="0"/>
                </a:rPr>
                <a:t>V</a:t>
              </a:r>
              <a:r>
                <a:rPr lang="zh-CN" altLang="en-US" sz="1800" b="1" dirty="0">
                  <a:latin typeface="Courier New" panose="02070309020205020404" pitchFamily="49" charset="0"/>
                  <a:cs typeface="Courier New" panose="02070309020205020404" pitchFamily="49" charset="0"/>
                </a:rPr>
                <a:t>(WriteMutex);</a:t>
              </a:r>
            </a:p>
          </p:txBody>
        </p:sp>
      </p:grpSp>
      <p:sp>
        <p:nvSpPr>
          <p:cNvPr id="5" name="内容占位符 4">
            <a:extLst>
              <a:ext uri="{FF2B5EF4-FFF2-40B4-BE49-F238E27FC236}">
                <a16:creationId xmlns:a16="http://schemas.microsoft.com/office/drawing/2014/main" id="{5B7F8594-4C58-01EE-7214-2A5F9FF3680E}"/>
              </a:ext>
            </a:extLst>
          </p:cNvPr>
          <p:cNvSpPr>
            <a:spLocks noGrp="1"/>
          </p:cNvSpPr>
          <p:nvPr>
            <p:ph idx="1"/>
          </p:nvPr>
        </p:nvSpPr>
        <p:spPr/>
        <p:txBody>
          <a:bodyPr/>
          <a:lstStyle/>
          <a:p>
            <a:endParaRPr lang="zh-CN" altLang="en-US"/>
          </a:p>
        </p:txBody>
      </p:sp>
      <p:sp>
        <p:nvSpPr>
          <p:cNvPr id="7" name="标题 1">
            <a:extLst>
              <a:ext uri="{FF2B5EF4-FFF2-40B4-BE49-F238E27FC236}">
                <a16:creationId xmlns:a16="http://schemas.microsoft.com/office/drawing/2014/main" id="{E9672835-AE47-9FAC-40C4-6285BDC294AA}"/>
              </a:ext>
            </a:extLst>
          </p:cNvPr>
          <p:cNvSpPr>
            <a:spLocks noGrp="1"/>
          </p:cNvSpPr>
          <p:nvPr>
            <p:ph type="title"/>
          </p:nvPr>
        </p:nvSpPr>
        <p:spPr>
          <a:xfrm>
            <a:off x="695400" y="871855"/>
            <a:ext cx="10801200" cy="680403"/>
          </a:xfrm>
        </p:spPr>
        <p:txBody>
          <a:bodyPr>
            <a:normAutofit/>
          </a:bodyPr>
          <a:lstStyle/>
          <a:p>
            <a:r>
              <a:rPr lang="zh-CN" altLang="en-US" dirty="0"/>
              <a:t>用信号量解决读者</a:t>
            </a:r>
            <a:r>
              <a:rPr lang="en-US" altLang="zh-CN" dirty="0"/>
              <a:t>-</a:t>
            </a:r>
            <a:r>
              <a:rPr lang="zh-CN" altLang="en-US" dirty="0"/>
              <a:t>写者问题</a:t>
            </a:r>
          </a:p>
        </p:txBody>
      </p:sp>
    </p:spTree>
    <p:extLst>
      <p:ext uri="{BB962C8B-B14F-4D97-AF65-F5344CB8AC3E}">
        <p14:creationId xmlns:p14="http://schemas.microsoft.com/office/powerpoint/2010/main" val="33850792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a:off x="288129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矩形 44"/>
          <p:cNvSpPr/>
          <p:nvPr/>
        </p:nvSpPr>
        <p:spPr>
          <a:xfrm>
            <a:off x="609600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3" name="矩形 42"/>
          <p:cNvSpPr/>
          <p:nvPr/>
        </p:nvSpPr>
        <p:spPr>
          <a:xfrm>
            <a:off x="2420940" y="3429000"/>
            <a:ext cx="2389176" cy="135732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矩形 41"/>
          <p:cNvSpPr/>
          <p:nvPr/>
        </p:nvSpPr>
        <p:spPr>
          <a:xfrm>
            <a:off x="5595934" y="2500306"/>
            <a:ext cx="2643206" cy="3357586"/>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0" name="Rectangle 15"/>
          <p:cNvSpPr>
            <a:spLocks noChangeArrowheads="1"/>
          </p:cNvSpPr>
          <p:nvPr/>
        </p:nvSpPr>
        <p:spPr bwMode="auto">
          <a:xfrm>
            <a:off x="2905112"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Writer</a:t>
            </a:r>
          </a:p>
        </p:txBody>
      </p:sp>
      <p:sp>
        <p:nvSpPr>
          <p:cNvPr id="41" name="Rectangle 15"/>
          <p:cNvSpPr>
            <a:spLocks noChangeArrowheads="1"/>
          </p:cNvSpPr>
          <p:nvPr/>
        </p:nvSpPr>
        <p:spPr bwMode="auto">
          <a:xfrm>
            <a:off x="6127760"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Reader</a:t>
            </a:r>
          </a:p>
        </p:txBody>
      </p:sp>
      <p:cxnSp>
        <p:nvCxnSpPr>
          <p:cNvPr id="56" name="直接连接符 55"/>
          <p:cNvCxnSpPr/>
          <p:nvPr/>
        </p:nvCxnSpPr>
        <p:spPr>
          <a:xfrm rot="5400000">
            <a:off x="9798859" y="3607595"/>
            <a:ext cx="8929750" cy="285752"/>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组合 60"/>
          <p:cNvGrpSpPr/>
          <p:nvPr/>
        </p:nvGrpSpPr>
        <p:grpSpPr>
          <a:xfrm>
            <a:off x="5667372" y="2747960"/>
            <a:ext cx="2428892" cy="2838127"/>
            <a:chOff x="6715140" y="1890708"/>
            <a:chExt cx="2428892" cy="2838127"/>
          </a:xfrm>
        </p:grpSpPr>
        <p:sp>
          <p:nvSpPr>
            <p:cNvPr id="49" name="Text Box 4"/>
            <p:cNvSpPr txBox="1">
              <a:spLocks noChangeArrowheads="1"/>
            </p:cNvSpPr>
            <p:nvPr/>
          </p:nvSpPr>
          <p:spPr bwMode="auto">
            <a:xfrm>
              <a:off x="6850608" y="1890708"/>
              <a:ext cx="229342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(Rcount == 0)</a:t>
              </a:r>
            </a:p>
          </p:txBody>
        </p:sp>
        <p:sp>
          <p:nvSpPr>
            <p:cNvPr id="50" name="Text Box 4"/>
            <p:cNvSpPr txBox="1">
              <a:spLocks noChangeArrowheads="1"/>
            </p:cNvSpPr>
            <p:nvPr/>
          </p:nvSpPr>
          <p:spPr bwMode="auto">
            <a:xfrm>
              <a:off x="7072330" y="2176460"/>
              <a:ext cx="207170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fr-FR"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51" name="Text Box 4"/>
            <p:cNvSpPr txBox="1">
              <a:spLocks noChangeArrowheads="1"/>
            </p:cNvSpPr>
            <p:nvPr/>
          </p:nvSpPr>
          <p:spPr bwMode="auto">
            <a:xfrm>
              <a:off x="6858016" y="2411412"/>
              <a:ext cx="164307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++Rcount;</a:t>
              </a:r>
            </a:p>
          </p:txBody>
        </p:sp>
        <p:sp>
          <p:nvSpPr>
            <p:cNvPr id="53" name="Text Box 4"/>
            <p:cNvSpPr txBox="1">
              <a:spLocks noChangeArrowheads="1"/>
            </p:cNvSpPr>
            <p:nvPr/>
          </p:nvSpPr>
          <p:spPr bwMode="auto">
            <a:xfrm>
              <a:off x="6715140" y="3143254"/>
              <a:ext cx="100013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read</a:t>
              </a:r>
              <a:r>
                <a:rPr lang="zh-CN" altLang="en-US" sz="1800" b="1" dirty="0">
                  <a:latin typeface="Courier New" panose="02070309020205020404" pitchFamily="49" charset="0"/>
                  <a:ea typeface="+mn-ea"/>
                  <a:cs typeface="Courier New" panose="02070309020205020404" pitchFamily="49" charset="0"/>
                </a:rPr>
                <a:t>;</a:t>
              </a:r>
            </a:p>
          </p:txBody>
        </p:sp>
        <p:sp>
          <p:nvSpPr>
            <p:cNvPr id="57" name="Text Box 4"/>
            <p:cNvSpPr txBox="1">
              <a:spLocks noChangeArrowheads="1"/>
            </p:cNvSpPr>
            <p:nvPr/>
          </p:nvSpPr>
          <p:spPr bwMode="auto">
            <a:xfrm>
              <a:off x="6858016" y="3882000"/>
              <a:ext cx="135732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--Rcount;</a:t>
              </a:r>
            </a:p>
          </p:txBody>
        </p:sp>
        <p:sp>
          <p:nvSpPr>
            <p:cNvPr id="58" name="Text Box 4"/>
            <p:cNvSpPr txBox="1">
              <a:spLocks noChangeArrowheads="1"/>
            </p:cNvSpPr>
            <p:nvPr/>
          </p:nvSpPr>
          <p:spPr bwMode="auto">
            <a:xfrm>
              <a:off x="6858016" y="4143386"/>
              <a:ext cx="2286016"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(Rcount == 0)</a:t>
              </a:r>
            </a:p>
          </p:txBody>
        </p:sp>
        <p:sp>
          <p:nvSpPr>
            <p:cNvPr id="59" name="Text Box 4"/>
            <p:cNvSpPr txBox="1">
              <a:spLocks noChangeArrowheads="1"/>
            </p:cNvSpPr>
            <p:nvPr/>
          </p:nvSpPr>
          <p:spPr bwMode="auto">
            <a:xfrm>
              <a:off x="7000892" y="4380278"/>
              <a:ext cx="207170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cs-CZ"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(WriteMutex);</a:t>
              </a:r>
            </a:p>
          </p:txBody>
        </p:sp>
      </p:grpSp>
      <p:grpSp>
        <p:nvGrpSpPr>
          <p:cNvPr id="3" name="组合 64"/>
          <p:cNvGrpSpPr/>
          <p:nvPr/>
        </p:nvGrpSpPr>
        <p:grpSpPr>
          <a:xfrm>
            <a:off x="2424114" y="3474158"/>
            <a:ext cx="2314564" cy="1277251"/>
            <a:chOff x="-1357354" y="2571750"/>
            <a:chExt cx="2314564" cy="1277251"/>
          </a:xfrm>
        </p:grpSpPr>
        <p:sp>
          <p:nvSpPr>
            <p:cNvPr id="62" name="Text Box 4"/>
            <p:cNvSpPr txBox="1">
              <a:spLocks noChangeArrowheads="1"/>
            </p:cNvSpPr>
            <p:nvPr/>
          </p:nvSpPr>
          <p:spPr bwMode="auto">
            <a:xfrm>
              <a:off x="-1357354" y="2571750"/>
              <a:ext cx="231456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63" name="Text Box 4"/>
            <p:cNvSpPr txBox="1">
              <a:spLocks noChangeArrowheads="1"/>
            </p:cNvSpPr>
            <p:nvPr/>
          </p:nvSpPr>
          <p:spPr bwMode="auto">
            <a:xfrm>
              <a:off x="-1143040" y="3042218"/>
              <a:ext cx="92869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write</a:t>
              </a:r>
              <a:r>
                <a:rPr lang="zh-CN" altLang="en-US" sz="1800" b="1" dirty="0">
                  <a:latin typeface="Courier New" panose="02070309020205020404" pitchFamily="49" charset="0"/>
                  <a:ea typeface="+mn-ea"/>
                  <a:cs typeface="Courier New" panose="02070309020205020404" pitchFamily="49" charset="0"/>
                </a:rPr>
                <a:t>;</a:t>
              </a:r>
            </a:p>
          </p:txBody>
        </p:sp>
        <p:sp>
          <p:nvSpPr>
            <p:cNvPr id="64" name="Text Box 4"/>
            <p:cNvSpPr txBox="1">
              <a:spLocks noChangeArrowheads="1"/>
            </p:cNvSpPr>
            <p:nvPr/>
          </p:nvSpPr>
          <p:spPr bwMode="auto">
            <a:xfrm>
              <a:off x="-1357354" y="3500444"/>
              <a:ext cx="2100250"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90000"/>
                </a:lnSpc>
              </a:pPr>
              <a:r>
                <a:rPr lang="is-IS" sz="1800" b="1" dirty="0">
                  <a:latin typeface="Courier New" panose="02070309020205020404" pitchFamily="49" charset="0"/>
                  <a:cs typeface="Courier New" panose="02070309020205020404" pitchFamily="49" charset="0"/>
                </a:rPr>
                <a:t>V</a:t>
              </a:r>
              <a:r>
                <a:rPr lang="zh-CN" altLang="en-US" sz="1800" b="1" dirty="0">
                  <a:latin typeface="Courier New" panose="02070309020205020404" pitchFamily="49" charset="0"/>
                  <a:cs typeface="Courier New" panose="02070309020205020404" pitchFamily="49" charset="0"/>
                </a:rPr>
                <a:t>(WriteMutex);</a:t>
              </a:r>
            </a:p>
          </p:txBody>
        </p:sp>
      </p:grpSp>
      <p:sp>
        <p:nvSpPr>
          <p:cNvPr id="5" name="内容占位符 4">
            <a:extLst>
              <a:ext uri="{FF2B5EF4-FFF2-40B4-BE49-F238E27FC236}">
                <a16:creationId xmlns:a16="http://schemas.microsoft.com/office/drawing/2014/main" id="{E4B5A9AB-6B3E-256D-E957-41822B94D081}"/>
              </a:ext>
            </a:extLst>
          </p:cNvPr>
          <p:cNvSpPr>
            <a:spLocks noGrp="1"/>
          </p:cNvSpPr>
          <p:nvPr>
            <p:ph idx="1"/>
          </p:nvPr>
        </p:nvSpPr>
        <p:spPr/>
        <p:txBody>
          <a:bodyPr/>
          <a:lstStyle/>
          <a:p>
            <a:endParaRPr lang="zh-CN" altLang="en-US"/>
          </a:p>
        </p:txBody>
      </p:sp>
      <p:sp>
        <p:nvSpPr>
          <p:cNvPr id="6" name="标题 1">
            <a:extLst>
              <a:ext uri="{FF2B5EF4-FFF2-40B4-BE49-F238E27FC236}">
                <a16:creationId xmlns:a16="http://schemas.microsoft.com/office/drawing/2014/main" id="{64B168FB-D5A6-E17D-B14E-1CCF15D09430}"/>
              </a:ext>
            </a:extLst>
          </p:cNvPr>
          <p:cNvSpPr>
            <a:spLocks noGrp="1"/>
          </p:cNvSpPr>
          <p:nvPr>
            <p:ph type="title"/>
          </p:nvPr>
        </p:nvSpPr>
        <p:spPr>
          <a:xfrm>
            <a:off x="695400" y="871855"/>
            <a:ext cx="10801200" cy="680403"/>
          </a:xfrm>
        </p:spPr>
        <p:txBody>
          <a:bodyPr>
            <a:normAutofit/>
          </a:bodyPr>
          <a:lstStyle/>
          <a:p>
            <a:r>
              <a:rPr lang="zh-CN" altLang="en-US" dirty="0"/>
              <a:t>用信号量解决读者</a:t>
            </a:r>
            <a:r>
              <a:rPr lang="en-US" altLang="zh-CN" dirty="0"/>
              <a:t>-</a:t>
            </a:r>
            <a:r>
              <a:rPr lang="zh-CN" altLang="en-US" dirty="0"/>
              <a:t>写者问题</a:t>
            </a:r>
          </a:p>
        </p:txBody>
      </p:sp>
    </p:spTree>
    <p:extLst>
      <p:ext uri="{BB962C8B-B14F-4D97-AF65-F5344CB8AC3E}">
        <p14:creationId xmlns:p14="http://schemas.microsoft.com/office/powerpoint/2010/main" val="38416178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a:off x="288129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矩形 44"/>
          <p:cNvSpPr/>
          <p:nvPr/>
        </p:nvSpPr>
        <p:spPr>
          <a:xfrm>
            <a:off x="609600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3" name="矩形 42"/>
          <p:cNvSpPr/>
          <p:nvPr/>
        </p:nvSpPr>
        <p:spPr>
          <a:xfrm>
            <a:off x="2420940" y="3429000"/>
            <a:ext cx="2389176" cy="135732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矩形 41"/>
          <p:cNvSpPr/>
          <p:nvPr/>
        </p:nvSpPr>
        <p:spPr>
          <a:xfrm>
            <a:off x="5595934" y="2500306"/>
            <a:ext cx="2643206" cy="3357586"/>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0" name="Rectangle 15"/>
          <p:cNvSpPr>
            <a:spLocks noChangeArrowheads="1"/>
          </p:cNvSpPr>
          <p:nvPr/>
        </p:nvSpPr>
        <p:spPr bwMode="auto">
          <a:xfrm>
            <a:off x="2905112"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Writer</a:t>
            </a:r>
          </a:p>
        </p:txBody>
      </p:sp>
      <p:sp>
        <p:nvSpPr>
          <p:cNvPr id="41" name="Rectangle 15"/>
          <p:cNvSpPr>
            <a:spLocks noChangeArrowheads="1"/>
          </p:cNvSpPr>
          <p:nvPr/>
        </p:nvSpPr>
        <p:spPr bwMode="auto">
          <a:xfrm>
            <a:off x="6127760"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Reader</a:t>
            </a:r>
          </a:p>
        </p:txBody>
      </p:sp>
      <p:cxnSp>
        <p:nvCxnSpPr>
          <p:cNvPr id="56" name="直接连接符 55"/>
          <p:cNvCxnSpPr/>
          <p:nvPr/>
        </p:nvCxnSpPr>
        <p:spPr>
          <a:xfrm rot="5400000">
            <a:off x="9798859" y="3607595"/>
            <a:ext cx="8929750" cy="285752"/>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组合 60"/>
          <p:cNvGrpSpPr/>
          <p:nvPr/>
        </p:nvGrpSpPr>
        <p:grpSpPr>
          <a:xfrm>
            <a:off x="5667372" y="2500308"/>
            <a:ext cx="2428892" cy="3085779"/>
            <a:chOff x="6715140" y="1643056"/>
            <a:chExt cx="2428892" cy="3085779"/>
          </a:xfrm>
        </p:grpSpPr>
        <p:sp>
          <p:nvSpPr>
            <p:cNvPr id="47" name="Text Box 4"/>
            <p:cNvSpPr txBox="1">
              <a:spLocks noChangeArrowheads="1"/>
            </p:cNvSpPr>
            <p:nvPr/>
          </p:nvSpPr>
          <p:spPr bwMode="auto">
            <a:xfrm>
              <a:off x="6715140" y="1643056"/>
              <a:ext cx="2143140"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pl-PL"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(CountMutex);</a:t>
              </a:r>
            </a:p>
          </p:txBody>
        </p:sp>
        <p:sp>
          <p:nvSpPr>
            <p:cNvPr id="49" name="Text Box 4"/>
            <p:cNvSpPr txBox="1">
              <a:spLocks noChangeArrowheads="1"/>
            </p:cNvSpPr>
            <p:nvPr/>
          </p:nvSpPr>
          <p:spPr bwMode="auto">
            <a:xfrm>
              <a:off x="6850608" y="1890708"/>
              <a:ext cx="229342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(Rcount == 0)</a:t>
              </a:r>
            </a:p>
          </p:txBody>
        </p:sp>
        <p:sp>
          <p:nvSpPr>
            <p:cNvPr id="50" name="Text Box 4"/>
            <p:cNvSpPr txBox="1">
              <a:spLocks noChangeArrowheads="1"/>
            </p:cNvSpPr>
            <p:nvPr/>
          </p:nvSpPr>
          <p:spPr bwMode="auto">
            <a:xfrm>
              <a:off x="7072330" y="2176460"/>
              <a:ext cx="207170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fr-FR"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51" name="Text Box 4"/>
            <p:cNvSpPr txBox="1">
              <a:spLocks noChangeArrowheads="1"/>
            </p:cNvSpPr>
            <p:nvPr/>
          </p:nvSpPr>
          <p:spPr bwMode="auto">
            <a:xfrm>
              <a:off x="6858016" y="2411412"/>
              <a:ext cx="164307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++Rcount;</a:t>
              </a:r>
            </a:p>
          </p:txBody>
        </p:sp>
        <p:sp>
          <p:nvSpPr>
            <p:cNvPr id="52" name="Text Box 4"/>
            <p:cNvSpPr txBox="1">
              <a:spLocks noChangeArrowheads="1"/>
            </p:cNvSpPr>
            <p:nvPr/>
          </p:nvSpPr>
          <p:spPr bwMode="auto">
            <a:xfrm>
              <a:off x="6715140" y="2640013"/>
              <a:ext cx="2286016"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is-IS"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(CountMutex);</a:t>
              </a:r>
            </a:p>
          </p:txBody>
        </p:sp>
        <p:sp>
          <p:nvSpPr>
            <p:cNvPr id="53" name="Text Box 4"/>
            <p:cNvSpPr txBox="1">
              <a:spLocks noChangeArrowheads="1"/>
            </p:cNvSpPr>
            <p:nvPr/>
          </p:nvSpPr>
          <p:spPr bwMode="auto">
            <a:xfrm>
              <a:off x="6715140" y="3143254"/>
              <a:ext cx="100013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read</a:t>
              </a:r>
              <a:r>
                <a:rPr lang="zh-CN" altLang="en-US" sz="1800" b="1" dirty="0">
                  <a:latin typeface="Courier New" panose="02070309020205020404" pitchFamily="49" charset="0"/>
                  <a:ea typeface="+mn-ea"/>
                  <a:cs typeface="Courier New" panose="02070309020205020404" pitchFamily="49" charset="0"/>
                </a:rPr>
                <a:t>;</a:t>
              </a:r>
            </a:p>
          </p:txBody>
        </p:sp>
        <p:sp>
          <p:nvSpPr>
            <p:cNvPr id="57" name="Text Box 4"/>
            <p:cNvSpPr txBox="1">
              <a:spLocks noChangeArrowheads="1"/>
            </p:cNvSpPr>
            <p:nvPr/>
          </p:nvSpPr>
          <p:spPr bwMode="auto">
            <a:xfrm>
              <a:off x="6858016" y="3882000"/>
              <a:ext cx="135732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--Rcount;</a:t>
              </a:r>
            </a:p>
          </p:txBody>
        </p:sp>
        <p:sp>
          <p:nvSpPr>
            <p:cNvPr id="58" name="Text Box 4"/>
            <p:cNvSpPr txBox="1">
              <a:spLocks noChangeArrowheads="1"/>
            </p:cNvSpPr>
            <p:nvPr/>
          </p:nvSpPr>
          <p:spPr bwMode="auto">
            <a:xfrm>
              <a:off x="6858016" y="4143386"/>
              <a:ext cx="2286016"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(Rcount == 0)</a:t>
              </a:r>
            </a:p>
          </p:txBody>
        </p:sp>
        <p:sp>
          <p:nvSpPr>
            <p:cNvPr id="59" name="Text Box 4"/>
            <p:cNvSpPr txBox="1">
              <a:spLocks noChangeArrowheads="1"/>
            </p:cNvSpPr>
            <p:nvPr/>
          </p:nvSpPr>
          <p:spPr bwMode="auto">
            <a:xfrm>
              <a:off x="7000892" y="4380278"/>
              <a:ext cx="207170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cs-CZ"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(WriteMutex);</a:t>
              </a:r>
            </a:p>
          </p:txBody>
        </p:sp>
      </p:grpSp>
      <p:grpSp>
        <p:nvGrpSpPr>
          <p:cNvPr id="3" name="组合 64"/>
          <p:cNvGrpSpPr/>
          <p:nvPr/>
        </p:nvGrpSpPr>
        <p:grpSpPr>
          <a:xfrm>
            <a:off x="2424114" y="3474158"/>
            <a:ext cx="2314564" cy="1277251"/>
            <a:chOff x="-1357354" y="2571750"/>
            <a:chExt cx="2314564" cy="1277251"/>
          </a:xfrm>
        </p:grpSpPr>
        <p:sp>
          <p:nvSpPr>
            <p:cNvPr id="62" name="Text Box 4"/>
            <p:cNvSpPr txBox="1">
              <a:spLocks noChangeArrowheads="1"/>
            </p:cNvSpPr>
            <p:nvPr/>
          </p:nvSpPr>
          <p:spPr bwMode="auto">
            <a:xfrm>
              <a:off x="-1357354" y="2571750"/>
              <a:ext cx="231456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63" name="Text Box 4"/>
            <p:cNvSpPr txBox="1">
              <a:spLocks noChangeArrowheads="1"/>
            </p:cNvSpPr>
            <p:nvPr/>
          </p:nvSpPr>
          <p:spPr bwMode="auto">
            <a:xfrm>
              <a:off x="-1143040" y="3042218"/>
              <a:ext cx="92869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write</a:t>
              </a:r>
              <a:r>
                <a:rPr lang="zh-CN" altLang="en-US" sz="1800" b="1" dirty="0">
                  <a:latin typeface="Courier New" panose="02070309020205020404" pitchFamily="49" charset="0"/>
                  <a:ea typeface="+mn-ea"/>
                  <a:cs typeface="Courier New" panose="02070309020205020404" pitchFamily="49" charset="0"/>
                </a:rPr>
                <a:t>;</a:t>
              </a:r>
            </a:p>
          </p:txBody>
        </p:sp>
        <p:sp>
          <p:nvSpPr>
            <p:cNvPr id="64" name="Text Box 4"/>
            <p:cNvSpPr txBox="1">
              <a:spLocks noChangeArrowheads="1"/>
            </p:cNvSpPr>
            <p:nvPr/>
          </p:nvSpPr>
          <p:spPr bwMode="auto">
            <a:xfrm>
              <a:off x="-1357354" y="3500444"/>
              <a:ext cx="2100250"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90000"/>
                </a:lnSpc>
              </a:pPr>
              <a:r>
                <a:rPr lang="is-IS" sz="1800" b="1" dirty="0">
                  <a:latin typeface="Courier New" panose="02070309020205020404" pitchFamily="49" charset="0"/>
                  <a:cs typeface="Courier New" panose="02070309020205020404" pitchFamily="49" charset="0"/>
                </a:rPr>
                <a:t>V</a:t>
              </a:r>
              <a:r>
                <a:rPr lang="zh-CN" altLang="en-US" sz="1800" b="1" dirty="0">
                  <a:latin typeface="Courier New" panose="02070309020205020404" pitchFamily="49" charset="0"/>
                  <a:cs typeface="Courier New" panose="02070309020205020404" pitchFamily="49" charset="0"/>
                </a:rPr>
                <a:t>(WriteMutex);</a:t>
              </a:r>
            </a:p>
          </p:txBody>
        </p:sp>
      </p:grpSp>
      <p:sp>
        <p:nvSpPr>
          <p:cNvPr id="5" name="内容占位符 4">
            <a:extLst>
              <a:ext uri="{FF2B5EF4-FFF2-40B4-BE49-F238E27FC236}">
                <a16:creationId xmlns:a16="http://schemas.microsoft.com/office/drawing/2014/main" id="{A8508DD4-B2D5-2701-24BE-B681DAE0581D}"/>
              </a:ext>
            </a:extLst>
          </p:cNvPr>
          <p:cNvSpPr>
            <a:spLocks noGrp="1"/>
          </p:cNvSpPr>
          <p:nvPr>
            <p:ph idx="1"/>
          </p:nvPr>
        </p:nvSpPr>
        <p:spPr/>
        <p:txBody>
          <a:bodyPr/>
          <a:lstStyle/>
          <a:p>
            <a:endParaRPr lang="zh-CN" altLang="en-US"/>
          </a:p>
        </p:txBody>
      </p:sp>
      <p:sp>
        <p:nvSpPr>
          <p:cNvPr id="6" name="标题 1">
            <a:extLst>
              <a:ext uri="{FF2B5EF4-FFF2-40B4-BE49-F238E27FC236}">
                <a16:creationId xmlns:a16="http://schemas.microsoft.com/office/drawing/2014/main" id="{87366CFC-F8A9-10B4-C5DE-47B6CB22B8C0}"/>
              </a:ext>
            </a:extLst>
          </p:cNvPr>
          <p:cNvSpPr>
            <a:spLocks noGrp="1"/>
          </p:cNvSpPr>
          <p:nvPr>
            <p:ph type="title"/>
          </p:nvPr>
        </p:nvSpPr>
        <p:spPr>
          <a:xfrm>
            <a:off x="695400" y="871855"/>
            <a:ext cx="10801200" cy="680403"/>
          </a:xfrm>
        </p:spPr>
        <p:txBody>
          <a:bodyPr>
            <a:normAutofit/>
          </a:bodyPr>
          <a:lstStyle/>
          <a:p>
            <a:r>
              <a:rPr lang="zh-CN" altLang="en-US" dirty="0"/>
              <a:t>用信号量解决读者</a:t>
            </a:r>
            <a:r>
              <a:rPr lang="en-US" altLang="zh-CN" dirty="0"/>
              <a:t>-</a:t>
            </a:r>
            <a:r>
              <a:rPr lang="zh-CN" altLang="en-US" dirty="0"/>
              <a:t>写者问题</a:t>
            </a:r>
          </a:p>
        </p:txBody>
      </p:sp>
    </p:spTree>
    <p:extLst>
      <p:ext uri="{BB962C8B-B14F-4D97-AF65-F5344CB8AC3E}">
        <p14:creationId xmlns:p14="http://schemas.microsoft.com/office/powerpoint/2010/main" val="16200296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a:off x="288129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矩形 44"/>
          <p:cNvSpPr/>
          <p:nvPr/>
        </p:nvSpPr>
        <p:spPr>
          <a:xfrm>
            <a:off x="609600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3" name="矩形 42"/>
          <p:cNvSpPr/>
          <p:nvPr/>
        </p:nvSpPr>
        <p:spPr>
          <a:xfrm>
            <a:off x="2420940" y="3429000"/>
            <a:ext cx="2389176" cy="135732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矩形 41"/>
          <p:cNvSpPr/>
          <p:nvPr/>
        </p:nvSpPr>
        <p:spPr>
          <a:xfrm>
            <a:off x="5595934" y="2500306"/>
            <a:ext cx="2643206" cy="3357586"/>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0" name="Rectangle 15"/>
          <p:cNvSpPr>
            <a:spLocks noChangeArrowheads="1"/>
          </p:cNvSpPr>
          <p:nvPr/>
        </p:nvSpPr>
        <p:spPr bwMode="auto">
          <a:xfrm>
            <a:off x="2905112"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Writer</a:t>
            </a:r>
          </a:p>
        </p:txBody>
      </p:sp>
      <p:sp>
        <p:nvSpPr>
          <p:cNvPr id="41" name="Rectangle 15"/>
          <p:cNvSpPr>
            <a:spLocks noChangeArrowheads="1"/>
          </p:cNvSpPr>
          <p:nvPr/>
        </p:nvSpPr>
        <p:spPr bwMode="auto">
          <a:xfrm>
            <a:off x="6127760"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Reader</a:t>
            </a:r>
          </a:p>
        </p:txBody>
      </p:sp>
      <p:cxnSp>
        <p:nvCxnSpPr>
          <p:cNvPr id="56" name="直接连接符 55"/>
          <p:cNvCxnSpPr/>
          <p:nvPr/>
        </p:nvCxnSpPr>
        <p:spPr>
          <a:xfrm rot="5400000">
            <a:off x="9798859" y="3607595"/>
            <a:ext cx="8929750" cy="285752"/>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组合 60"/>
          <p:cNvGrpSpPr/>
          <p:nvPr/>
        </p:nvGrpSpPr>
        <p:grpSpPr>
          <a:xfrm>
            <a:off x="5667372" y="2500307"/>
            <a:ext cx="2428892" cy="3348953"/>
            <a:chOff x="6715140" y="1643056"/>
            <a:chExt cx="2428892" cy="3348953"/>
          </a:xfrm>
        </p:grpSpPr>
        <p:sp>
          <p:nvSpPr>
            <p:cNvPr id="47" name="Text Box 4"/>
            <p:cNvSpPr txBox="1">
              <a:spLocks noChangeArrowheads="1"/>
            </p:cNvSpPr>
            <p:nvPr/>
          </p:nvSpPr>
          <p:spPr bwMode="auto">
            <a:xfrm>
              <a:off x="6715140" y="1643056"/>
              <a:ext cx="2143140"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pl-PL"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(CountMutex);</a:t>
              </a:r>
            </a:p>
          </p:txBody>
        </p:sp>
        <p:sp>
          <p:nvSpPr>
            <p:cNvPr id="49" name="Text Box 4"/>
            <p:cNvSpPr txBox="1">
              <a:spLocks noChangeArrowheads="1"/>
            </p:cNvSpPr>
            <p:nvPr/>
          </p:nvSpPr>
          <p:spPr bwMode="auto">
            <a:xfrm>
              <a:off x="6850608" y="1890708"/>
              <a:ext cx="229342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(Rcount == 0)</a:t>
              </a:r>
            </a:p>
          </p:txBody>
        </p:sp>
        <p:sp>
          <p:nvSpPr>
            <p:cNvPr id="50" name="Text Box 4"/>
            <p:cNvSpPr txBox="1">
              <a:spLocks noChangeArrowheads="1"/>
            </p:cNvSpPr>
            <p:nvPr/>
          </p:nvSpPr>
          <p:spPr bwMode="auto">
            <a:xfrm>
              <a:off x="7072330" y="2176460"/>
              <a:ext cx="207170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fr-FR"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51" name="Text Box 4"/>
            <p:cNvSpPr txBox="1">
              <a:spLocks noChangeArrowheads="1"/>
            </p:cNvSpPr>
            <p:nvPr/>
          </p:nvSpPr>
          <p:spPr bwMode="auto">
            <a:xfrm>
              <a:off x="6858016" y="2411412"/>
              <a:ext cx="164307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++Rcount;</a:t>
              </a:r>
            </a:p>
          </p:txBody>
        </p:sp>
        <p:sp>
          <p:nvSpPr>
            <p:cNvPr id="52" name="Text Box 4"/>
            <p:cNvSpPr txBox="1">
              <a:spLocks noChangeArrowheads="1"/>
            </p:cNvSpPr>
            <p:nvPr/>
          </p:nvSpPr>
          <p:spPr bwMode="auto">
            <a:xfrm>
              <a:off x="6715140" y="2640013"/>
              <a:ext cx="2286016"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is-IS"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(CountMutex);</a:t>
              </a:r>
            </a:p>
          </p:txBody>
        </p:sp>
        <p:sp>
          <p:nvSpPr>
            <p:cNvPr id="53" name="Text Box 4"/>
            <p:cNvSpPr txBox="1">
              <a:spLocks noChangeArrowheads="1"/>
            </p:cNvSpPr>
            <p:nvPr/>
          </p:nvSpPr>
          <p:spPr bwMode="auto">
            <a:xfrm>
              <a:off x="6715140" y="3143254"/>
              <a:ext cx="100013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read</a:t>
              </a:r>
              <a:r>
                <a:rPr lang="zh-CN" altLang="en-US" sz="1800" b="1" dirty="0">
                  <a:latin typeface="Courier New" panose="02070309020205020404" pitchFamily="49" charset="0"/>
                  <a:ea typeface="+mn-ea"/>
                  <a:cs typeface="Courier New" panose="02070309020205020404" pitchFamily="49" charset="0"/>
                </a:rPr>
                <a:t>;</a:t>
              </a:r>
            </a:p>
          </p:txBody>
        </p:sp>
        <p:sp>
          <p:nvSpPr>
            <p:cNvPr id="54" name="Text Box 4"/>
            <p:cNvSpPr txBox="1">
              <a:spLocks noChangeArrowheads="1"/>
            </p:cNvSpPr>
            <p:nvPr/>
          </p:nvSpPr>
          <p:spPr bwMode="auto">
            <a:xfrm>
              <a:off x="6715140" y="3636300"/>
              <a:ext cx="2143140"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pl-PL"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(CountMutex);</a:t>
              </a:r>
            </a:p>
          </p:txBody>
        </p:sp>
        <p:sp>
          <p:nvSpPr>
            <p:cNvPr id="57" name="Text Box 4"/>
            <p:cNvSpPr txBox="1">
              <a:spLocks noChangeArrowheads="1"/>
            </p:cNvSpPr>
            <p:nvPr/>
          </p:nvSpPr>
          <p:spPr bwMode="auto">
            <a:xfrm>
              <a:off x="6858016" y="3882000"/>
              <a:ext cx="135732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--Rcount;</a:t>
              </a:r>
            </a:p>
          </p:txBody>
        </p:sp>
        <p:sp>
          <p:nvSpPr>
            <p:cNvPr id="58" name="Text Box 4"/>
            <p:cNvSpPr txBox="1">
              <a:spLocks noChangeArrowheads="1"/>
            </p:cNvSpPr>
            <p:nvPr/>
          </p:nvSpPr>
          <p:spPr bwMode="auto">
            <a:xfrm>
              <a:off x="6858016" y="4143386"/>
              <a:ext cx="2286016"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(Rcount == 0)</a:t>
              </a:r>
            </a:p>
          </p:txBody>
        </p:sp>
        <p:sp>
          <p:nvSpPr>
            <p:cNvPr id="59" name="Text Box 4"/>
            <p:cNvSpPr txBox="1">
              <a:spLocks noChangeArrowheads="1"/>
            </p:cNvSpPr>
            <p:nvPr/>
          </p:nvSpPr>
          <p:spPr bwMode="auto">
            <a:xfrm>
              <a:off x="7000892" y="4380278"/>
              <a:ext cx="207170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cs-CZ"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(WriteMutex);</a:t>
              </a:r>
            </a:p>
          </p:txBody>
        </p:sp>
        <p:sp>
          <p:nvSpPr>
            <p:cNvPr id="60" name="Text Box 4"/>
            <p:cNvSpPr txBox="1">
              <a:spLocks noChangeArrowheads="1"/>
            </p:cNvSpPr>
            <p:nvPr/>
          </p:nvSpPr>
          <p:spPr bwMode="auto">
            <a:xfrm>
              <a:off x="6715140" y="4643452"/>
              <a:ext cx="2143140"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90000"/>
                </a:lnSpc>
              </a:pPr>
              <a:r>
                <a:rPr lang="is-IS" sz="1800" b="1" dirty="0">
                  <a:latin typeface="Courier New" panose="02070309020205020404" pitchFamily="49" charset="0"/>
                  <a:cs typeface="Courier New" panose="02070309020205020404" pitchFamily="49" charset="0"/>
                </a:rPr>
                <a:t>V</a:t>
              </a:r>
              <a:r>
                <a:rPr lang="zh-CN" altLang="en-US" sz="1800" b="1" dirty="0">
                  <a:latin typeface="Courier New" panose="02070309020205020404" pitchFamily="49" charset="0"/>
                  <a:cs typeface="Courier New" panose="02070309020205020404" pitchFamily="49" charset="0"/>
                </a:rPr>
                <a:t>(CountMutex)</a:t>
              </a:r>
              <a:r>
                <a:rPr lang="en-US" altLang="zh-CN" sz="1800" b="1" dirty="0">
                  <a:latin typeface="Courier New" panose="02070309020205020404" pitchFamily="49" charset="0"/>
                  <a:cs typeface="Courier New" panose="02070309020205020404" pitchFamily="49" charset="0"/>
                </a:rPr>
                <a:t>;</a:t>
              </a:r>
              <a:endParaRPr lang="zh-CN" altLang="en-US" sz="1800" b="1" dirty="0">
                <a:latin typeface="Courier New" panose="02070309020205020404" pitchFamily="49" charset="0"/>
                <a:cs typeface="Courier New" panose="02070309020205020404" pitchFamily="49" charset="0"/>
              </a:endParaRPr>
            </a:p>
          </p:txBody>
        </p:sp>
      </p:grpSp>
      <p:grpSp>
        <p:nvGrpSpPr>
          <p:cNvPr id="3" name="组合 64"/>
          <p:cNvGrpSpPr/>
          <p:nvPr/>
        </p:nvGrpSpPr>
        <p:grpSpPr>
          <a:xfrm>
            <a:off x="2424114" y="3474158"/>
            <a:ext cx="2314564" cy="1277251"/>
            <a:chOff x="-1357354" y="2571750"/>
            <a:chExt cx="2314564" cy="1277251"/>
          </a:xfrm>
        </p:grpSpPr>
        <p:sp>
          <p:nvSpPr>
            <p:cNvPr id="62" name="Text Box 4"/>
            <p:cNvSpPr txBox="1">
              <a:spLocks noChangeArrowheads="1"/>
            </p:cNvSpPr>
            <p:nvPr/>
          </p:nvSpPr>
          <p:spPr bwMode="auto">
            <a:xfrm>
              <a:off x="-1357354" y="2571750"/>
              <a:ext cx="231456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63" name="Text Box 4"/>
            <p:cNvSpPr txBox="1">
              <a:spLocks noChangeArrowheads="1"/>
            </p:cNvSpPr>
            <p:nvPr/>
          </p:nvSpPr>
          <p:spPr bwMode="auto">
            <a:xfrm>
              <a:off x="-1143040" y="3042218"/>
              <a:ext cx="92869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write</a:t>
              </a:r>
              <a:r>
                <a:rPr lang="zh-CN" altLang="en-US" sz="1800" b="1" dirty="0">
                  <a:latin typeface="Courier New" panose="02070309020205020404" pitchFamily="49" charset="0"/>
                  <a:ea typeface="+mn-ea"/>
                  <a:cs typeface="Courier New" panose="02070309020205020404" pitchFamily="49" charset="0"/>
                </a:rPr>
                <a:t>;</a:t>
              </a:r>
            </a:p>
          </p:txBody>
        </p:sp>
        <p:sp>
          <p:nvSpPr>
            <p:cNvPr id="64" name="Text Box 4"/>
            <p:cNvSpPr txBox="1">
              <a:spLocks noChangeArrowheads="1"/>
            </p:cNvSpPr>
            <p:nvPr/>
          </p:nvSpPr>
          <p:spPr bwMode="auto">
            <a:xfrm>
              <a:off x="-1357354" y="3500444"/>
              <a:ext cx="2100250"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90000"/>
                </a:lnSpc>
              </a:pPr>
              <a:r>
                <a:rPr lang="is-IS" sz="1800" b="1" dirty="0">
                  <a:latin typeface="Courier New" panose="02070309020205020404" pitchFamily="49" charset="0"/>
                  <a:cs typeface="Courier New" panose="02070309020205020404" pitchFamily="49" charset="0"/>
                </a:rPr>
                <a:t>V</a:t>
              </a:r>
              <a:r>
                <a:rPr lang="zh-CN" altLang="en-US" sz="1800" b="1" dirty="0">
                  <a:latin typeface="Courier New" panose="02070309020205020404" pitchFamily="49" charset="0"/>
                  <a:cs typeface="Courier New" panose="02070309020205020404" pitchFamily="49" charset="0"/>
                </a:rPr>
                <a:t>(WriteMutex);</a:t>
              </a:r>
            </a:p>
          </p:txBody>
        </p:sp>
      </p:grpSp>
      <p:sp>
        <p:nvSpPr>
          <p:cNvPr id="4" name="文本框 3"/>
          <p:cNvSpPr txBox="1"/>
          <p:nvPr/>
        </p:nvSpPr>
        <p:spPr>
          <a:xfrm>
            <a:off x="2201287" y="5021770"/>
            <a:ext cx="3063451" cy="1200329"/>
          </a:xfrm>
          <a:prstGeom prst="rect">
            <a:avLst/>
          </a:prstGeom>
          <a:noFill/>
        </p:spPr>
        <p:txBody>
          <a:bodyPr wrap="square" rtlCol="0">
            <a:spAutoFit/>
          </a:bodyPr>
          <a:lstStyle/>
          <a:p>
            <a:r>
              <a:rPr kumimoji="1" lang="zh-CN" altLang="en-US" b="1" dirty="0">
                <a:solidFill>
                  <a:srgbClr val="11576A"/>
                </a:solidFill>
              </a:rPr>
              <a:t>如果读者持续到达，后续到来的读者不必再争抢，可以持续占据这个锁，称为</a:t>
            </a:r>
            <a:r>
              <a:rPr kumimoji="1" lang="zh-CN" altLang="en-US" b="1" dirty="0">
                <a:solidFill>
                  <a:srgbClr val="FF0000"/>
                </a:solidFill>
              </a:rPr>
              <a:t>读者优先</a:t>
            </a:r>
          </a:p>
        </p:txBody>
      </p:sp>
      <p:sp>
        <p:nvSpPr>
          <p:cNvPr id="6" name="内容占位符 5">
            <a:extLst>
              <a:ext uri="{FF2B5EF4-FFF2-40B4-BE49-F238E27FC236}">
                <a16:creationId xmlns:a16="http://schemas.microsoft.com/office/drawing/2014/main" id="{FC1FCD3D-1485-65C3-AC97-0CDC1061085C}"/>
              </a:ext>
            </a:extLst>
          </p:cNvPr>
          <p:cNvSpPr>
            <a:spLocks noGrp="1"/>
          </p:cNvSpPr>
          <p:nvPr>
            <p:ph idx="1"/>
          </p:nvPr>
        </p:nvSpPr>
        <p:spPr/>
        <p:txBody>
          <a:bodyPr/>
          <a:lstStyle/>
          <a:p>
            <a:endParaRPr lang="zh-CN" altLang="en-US" dirty="0"/>
          </a:p>
        </p:txBody>
      </p:sp>
      <p:sp>
        <p:nvSpPr>
          <p:cNvPr id="7" name="标题 1">
            <a:extLst>
              <a:ext uri="{FF2B5EF4-FFF2-40B4-BE49-F238E27FC236}">
                <a16:creationId xmlns:a16="http://schemas.microsoft.com/office/drawing/2014/main" id="{9F83E775-77B8-B52F-6F82-65D41B8B383D}"/>
              </a:ext>
            </a:extLst>
          </p:cNvPr>
          <p:cNvSpPr>
            <a:spLocks noGrp="1"/>
          </p:cNvSpPr>
          <p:nvPr>
            <p:ph type="title"/>
          </p:nvPr>
        </p:nvSpPr>
        <p:spPr>
          <a:xfrm>
            <a:off x="695400" y="871855"/>
            <a:ext cx="10801200" cy="680403"/>
          </a:xfrm>
        </p:spPr>
        <p:txBody>
          <a:bodyPr>
            <a:normAutofit/>
          </a:bodyPr>
          <a:lstStyle/>
          <a:p>
            <a:r>
              <a:rPr lang="zh-CN" altLang="en-US" dirty="0"/>
              <a:t>用信号量解决读者</a:t>
            </a:r>
            <a:r>
              <a:rPr lang="en-US" altLang="zh-CN" dirty="0"/>
              <a:t>-</a:t>
            </a:r>
            <a:r>
              <a:rPr lang="zh-CN" altLang="en-US" dirty="0"/>
              <a:t>写者问题</a:t>
            </a:r>
          </a:p>
        </p:txBody>
      </p:sp>
    </p:spTree>
    <p:extLst>
      <p:ext uri="{BB962C8B-B14F-4D97-AF65-F5344CB8AC3E}">
        <p14:creationId xmlns:p14="http://schemas.microsoft.com/office/powerpoint/2010/main" val="1251038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a:off x="288129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矩形 44"/>
          <p:cNvSpPr/>
          <p:nvPr/>
        </p:nvSpPr>
        <p:spPr>
          <a:xfrm>
            <a:off x="609600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矩形 41"/>
          <p:cNvSpPr/>
          <p:nvPr/>
        </p:nvSpPr>
        <p:spPr>
          <a:xfrm>
            <a:off x="5595934" y="2500306"/>
            <a:ext cx="2643206" cy="3357586"/>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0" name="Rectangle 15"/>
          <p:cNvSpPr>
            <a:spLocks noChangeArrowheads="1"/>
          </p:cNvSpPr>
          <p:nvPr/>
        </p:nvSpPr>
        <p:spPr bwMode="auto">
          <a:xfrm>
            <a:off x="2905112"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Writer</a:t>
            </a:r>
          </a:p>
        </p:txBody>
      </p:sp>
      <p:sp>
        <p:nvSpPr>
          <p:cNvPr id="41" name="Rectangle 15"/>
          <p:cNvSpPr>
            <a:spLocks noChangeArrowheads="1"/>
          </p:cNvSpPr>
          <p:nvPr/>
        </p:nvSpPr>
        <p:spPr bwMode="auto">
          <a:xfrm>
            <a:off x="6127760"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Reader</a:t>
            </a:r>
          </a:p>
        </p:txBody>
      </p:sp>
      <p:cxnSp>
        <p:nvCxnSpPr>
          <p:cNvPr id="56" name="直接连接符 55"/>
          <p:cNvCxnSpPr/>
          <p:nvPr/>
        </p:nvCxnSpPr>
        <p:spPr>
          <a:xfrm rot="5400000">
            <a:off x="9798859" y="3607595"/>
            <a:ext cx="8929750" cy="285752"/>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组合 60"/>
          <p:cNvGrpSpPr/>
          <p:nvPr/>
        </p:nvGrpSpPr>
        <p:grpSpPr>
          <a:xfrm>
            <a:off x="5667372" y="2500307"/>
            <a:ext cx="2428892" cy="3348953"/>
            <a:chOff x="6715140" y="1643056"/>
            <a:chExt cx="2428892" cy="3348953"/>
          </a:xfrm>
        </p:grpSpPr>
        <p:sp>
          <p:nvSpPr>
            <p:cNvPr id="47" name="Text Box 4"/>
            <p:cNvSpPr txBox="1">
              <a:spLocks noChangeArrowheads="1"/>
            </p:cNvSpPr>
            <p:nvPr/>
          </p:nvSpPr>
          <p:spPr bwMode="auto">
            <a:xfrm>
              <a:off x="6715140" y="1643056"/>
              <a:ext cx="2143140"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pl-PL"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R</a:t>
              </a:r>
              <a:r>
                <a:rPr lang="zh-CN" altLang="en-US" sz="1800" b="1" dirty="0">
                  <a:latin typeface="Courier New" panose="02070309020205020404" pitchFamily="49" charset="0"/>
                  <a:ea typeface="+mn-ea"/>
                  <a:cs typeface="Courier New" panose="02070309020205020404" pitchFamily="49" charset="0"/>
                </a:rPr>
                <a:t>CountMutex);</a:t>
              </a:r>
            </a:p>
          </p:txBody>
        </p:sp>
        <p:sp>
          <p:nvSpPr>
            <p:cNvPr id="49" name="Text Box 4"/>
            <p:cNvSpPr txBox="1">
              <a:spLocks noChangeArrowheads="1"/>
            </p:cNvSpPr>
            <p:nvPr/>
          </p:nvSpPr>
          <p:spPr bwMode="auto">
            <a:xfrm>
              <a:off x="6850608" y="1890708"/>
              <a:ext cx="229342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(Rcount == 0)</a:t>
              </a:r>
            </a:p>
          </p:txBody>
        </p:sp>
        <p:sp>
          <p:nvSpPr>
            <p:cNvPr id="50" name="Text Box 4"/>
            <p:cNvSpPr txBox="1">
              <a:spLocks noChangeArrowheads="1"/>
            </p:cNvSpPr>
            <p:nvPr/>
          </p:nvSpPr>
          <p:spPr bwMode="auto">
            <a:xfrm>
              <a:off x="7072330" y="2176460"/>
              <a:ext cx="207170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fr-FR"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51" name="Text Box 4"/>
            <p:cNvSpPr txBox="1">
              <a:spLocks noChangeArrowheads="1"/>
            </p:cNvSpPr>
            <p:nvPr/>
          </p:nvSpPr>
          <p:spPr bwMode="auto">
            <a:xfrm>
              <a:off x="6858016" y="2411412"/>
              <a:ext cx="164307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++Rcount;</a:t>
              </a:r>
            </a:p>
          </p:txBody>
        </p:sp>
        <p:sp>
          <p:nvSpPr>
            <p:cNvPr id="52" name="Text Box 4"/>
            <p:cNvSpPr txBox="1">
              <a:spLocks noChangeArrowheads="1"/>
            </p:cNvSpPr>
            <p:nvPr/>
          </p:nvSpPr>
          <p:spPr bwMode="auto">
            <a:xfrm>
              <a:off x="6715140" y="2640013"/>
              <a:ext cx="2286016"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is-IS"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R</a:t>
              </a:r>
              <a:r>
                <a:rPr lang="zh-CN" altLang="en-US" sz="1800" b="1" dirty="0">
                  <a:latin typeface="Courier New" panose="02070309020205020404" pitchFamily="49" charset="0"/>
                  <a:ea typeface="+mn-ea"/>
                  <a:cs typeface="Courier New" panose="02070309020205020404" pitchFamily="49" charset="0"/>
                </a:rPr>
                <a:t>CountMutex);</a:t>
              </a:r>
            </a:p>
          </p:txBody>
        </p:sp>
        <p:sp>
          <p:nvSpPr>
            <p:cNvPr id="53" name="Text Box 4"/>
            <p:cNvSpPr txBox="1">
              <a:spLocks noChangeArrowheads="1"/>
            </p:cNvSpPr>
            <p:nvPr/>
          </p:nvSpPr>
          <p:spPr bwMode="auto">
            <a:xfrm>
              <a:off x="6715140" y="3143254"/>
              <a:ext cx="100013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read</a:t>
              </a:r>
              <a:r>
                <a:rPr lang="zh-CN" altLang="en-US" sz="1800" b="1" dirty="0">
                  <a:latin typeface="Courier New" panose="02070309020205020404" pitchFamily="49" charset="0"/>
                  <a:ea typeface="+mn-ea"/>
                  <a:cs typeface="Courier New" panose="02070309020205020404" pitchFamily="49" charset="0"/>
                </a:rPr>
                <a:t>;</a:t>
              </a:r>
            </a:p>
          </p:txBody>
        </p:sp>
        <p:sp>
          <p:nvSpPr>
            <p:cNvPr id="54" name="Text Box 4"/>
            <p:cNvSpPr txBox="1">
              <a:spLocks noChangeArrowheads="1"/>
            </p:cNvSpPr>
            <p:nvPr/>
          </p:nvSpPr>
          <p:spPr bwMode="auto">
            <a:xfrm>
              <a:off x="6715140" y="3636300"/>
              <a:ext cx="2143140"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pl-PL"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R</a:t>
              </a:r>
              <a:r>
                <a:rPr lang="zh-CN" altLang="en-US" sz="1800" b="1" dirty="0">
                  <a:latin typeface="Courier New" panose="02070309020205020404" pitchFamily="49" charset="0"/>
                  <a:ea typeface="+mn-ea"/>
                  <a:cs typeface="Courier New" panose="02070309020205020404" pitchFamily="49" charset="0"/>
                </a:rPr>
                <a:t>CountMutex);</a:t>
              </a:r>
            </a:p>
          </p:txBody>
        </p:sp>
        <p:sp>
          <p:nvSpPr>
            <p:cNvPr id="57" name="Text Box 4"/>
            <p:cNvSpPr txBox="1">
              <a:spLocks noChangeArrowheads="1"/>
            </p:cNvSpPr>
            <p:nvPr/>
          </p:nvSpPr>
          <p:spPr bwMode="auto">
            <a:xfrm>
              <a:off x="6858016" y="3882000"/>
              <a:ext cx="135732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--Rcount;</a:t>
              </a:r>
            </a:p>
          </p:txBody>
        </p:sp>
        <p:sp>
          <p:nvSpPr>
            <p:cNvPr id="58" name="Text Box 4"/>
            <p:cNvSpPr txBox="1">
              <a:spLocks noChangeArrowheads="1"/>
            </p:cNvSpPr>
            <p:nvPr/>
          </p:nvSpPr>
          <p:spPr bwMode="auto">
            <a:xfrm>
              <a:off x="6858016" y="4143386"/>
              <a:ext cx="2286016"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(Rcount == 0)</a:t>
              </a:r>
            </a:p>
          </p:txBody>
        </p:sp>
        <p:sp>
          <p:nvSpPr>
            <p:cNvPr id="59" name="Text Box 4"/>
            <p:cNvSpPr txBox="1">
              <a:spLocks noChangeArrowheads="1"/>
            </p:cNvSpPr>
            <p:nvPr/>
          </p:nvSpPr>
          <p:spPr bwMode="auto">
            <a:xfrm>
              <a:off x="7000892" y="4380278"/>
              <a:ext cx="207170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cs-CZ"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(WriteMutex);</a:t>
              </a:r>
            </a:p>
          </p:txBody>
        </p:sp>
        <p:sp>
          <p:nvSpPr>
            <p:cNvPr id="60" name="Text Box 4"/>
            <p:cNvSpPr txBox="1">
              <a:spLocks noChangeArrowheads="1"/>
            </p:cNvSpPr>
            <p:nvPr/>
          </p:nvSpPr>
          <p:spPr bwMode="auto">
            <a:xfrm>
              <a:off x="6715140" y="4643452"/>
              <a:ext cx="2286016"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90000"/>
                </a:lnSpc>
              </a:pPr>
              <a:r>
                <a:rPr lang="is-IS" sz="1800" b="1" dirty="0">
                  <a:latin typeface="Courier New" panose="02070309020205020404" pitchFamily="49" charset="0"/>
                  <a:cs typeface="Courier New" panose="02070309020205020404" pitchFamily="49" charset="0"/>
                </a:rPr>
                <a:t>V</a:t>
              </a:r>
              <a:r>
                <a:rPr lang="zh-CN" altLang="en-US" sz="1800" b="1" dirty="0">
                  <a:latin typeface="Courier New" panose="02070309020205020404" pitchFamily="49" charset="0"/>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R</a:t>
              </a:r>
              <a:r>
                <a:rPr lang="zh-CN" altLang="en-US" sz="1800" b="1" dirty="0">
                  <a:latin typeface="Courier New" panose="02070309020205020404" pitchFamily="49" charset="0"/>
                  <a:cs typeface="Courier New" panose="02070309020205020404" pitchFamily="49" charset="0"/>
                </a:rPr>
                <a:t>CountMutex)</a:t>
              </a:r>
              <a:r>
                <a:rPr lang="en-US" altLang="zh-CN" sz="1800" b="1" dirty="0">
                  <a:latin typeface="Courier New" panose="02070309020205020404" pitchFamily="49" charset="0"/>
                  <a:cs typeface="Courier New" panose="02070309020205020404" pitchFamily="49" charset="0"/>
                </a:rPr>
                <a:t>;</a:t>
              </a:r>
              <a:endParaRPr lang="zh-CN" altLang="en-US" sz="1800" b="1" dirty="0">
                <a:latin typeface="Courier New" panose="02070309020205020404" pitchFamily="49" charset="0"/>
                <a:cs typeface="Courier New" panose="02070309020205020404" pitchFamily="49" charset="0"/>
              </a:endParaRPr>
            </a:p>
          </p:txBody>
        </p:sp>
      </p:grpSp>
      <p:sp>
        <p:nvSpPr>
          <p:cNvPr id="5" name="矩形 4">
            <a:extLst>
              <a:ext uri="{FF2B5EF4-FFF2-40B4-BE49-F238E27FC236}">
                <a16:creationId xmlns:a16="http://schemas.microsoft.com/office/drawing/2014/main" id="{21F93A1E-DBE3-7D15-FF22-56AA3CB2CBBE}"/>
              </a:ext>
            </a:extLst>
          </p:cNvPr>
          <p:cNvSpPr/>
          <p:nvPr/>
        </p:nvSpPr>
        <p:spPr>
          <a:xfrm>
            <a:off x="2588698" y="2519686"/>
            <a:ext cx="2643206" cy="3357586"/>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6" name="组合 60">
            <a:extLst>
              <a:ext uri="{FF2B5EF4-FFF2-40B4-BE49-F238E27FC236}">
                <a16:creationId xmlns:a16="http://schemas.microsoft.com/office/drawing/2014/main" id="{3192BAFE-710D-46E7-C19E-1CECD926F3DB}"/>
              </a:ext>
            </a:extLst>
          </p:cNvPr>
          <p:cNvGrpSpPr/>
          <p:nvPr/>
        </p:nvGrpSpPr>
        <p:grpSpPr>
          <a:xfrm>
            <a:off x="2660136" y="2519687"/>
            <a:ext cx="2428892" cy="3348953"/>
            <a:chOff x="6715140" y="1643056"/>
            <a:chExt cx="2428892" cy="3348953"/>
          </a:xfrm>
        </p:grpSpPr>
        <p:sp>
          <p:nvSpPr>
            <p:cNvPr id="7" name="Text Box 4">
              <a:extLst>
                <a:ext uri="{FF2B5EF4-FFF2-40B4-BE49-F238E27FC236}">
                  <a16:creationId xmlns:a16="http://schemas.microsoft.com/office/drawing/2014/main" id="{0F82D11B-DD18-77AF-39D3-61BDB9538385}"/>
                </a:ext>
              </a:extLst>
            </p:cNvPr>
            <p:cNvSpPr txBox="1">
              <a:spLocks noChangeArrowheads="1"/>
            </p:cNvSpPr>
            <p:nvPr/>
          </p:nvSpPr>
          <p:spPr bwMode="auto">
            <a:xfrm>
              <a:off x="6715140" y="1643056"/>
              <a:ext cx="2143140"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pl-PL"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CountMutex);</a:t>
              </a:r>
            </a:p>
          </p:txBody>
        </p:sp>
        <p:sp>
          <p:nvSpPr>
            <p:cNvPr id="9" name="Text Box 4">
              <a:extLst>
                <a:ext uri="{FF2B5EF4-FFF2-40B4-BE49-F238E27FC236}">
                  <a16:creationId xmlns:a16="http://schemas.microsoft.com/office/drawing/2014/main" id="{B9E8A392-7264-2A0B-79A2-8D9704E637A1}"/>
                </a:ext>
              </a:extLst>
            </p:cNvPr>
            <p:cNvSpPr txBox="1">
              <a:spLocks noChangeArrowheads="1"/>
            </p:cNvSpPr>
            <p:nvPr/>
          </p:nvSpPr>
          <p:spPr bwMode="auto">
            <a:xfrm>
              <a:off x="6850608" y="1890708"/>
              <a:ext cx="229342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a:t>
              </a:r>
              <a:r>
                <a:rPr lang="en-US" altLang="zh-CN" sz="1800" b="1" dirty="0">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 == 0)</a:t>
              </a:r>
            </a:p>
          </p:txBody>
        </p:sp>
        <p:sp>
          <p:nvSpPr>
            <p:cNvPr id="10" name="Text Box 4">
              <a:extLst>
                <a:ext uri="{FF2B5EF4-FFF2-40B4-BE49-F238E27FC236}">
                  <a16:creationId xmlns:a16="http://schemas.microsoft.com/office/drawing/2014/main" id="{D4116ABC-49D8-42C6-0814-9CC881BBAC3C}"/>
                </a:ext>
              </a:extLst>
            </p:cNvPr>
            <p:cNvSpPr txBox="1">
              <a:spLocks noChangeArrowheads="1"/>
            </p:cNvSpPr>
            <p:nvPr/>
          </p:nvSpPr>
          <p:spPr bwMode="auto">
            <a:xfrm>
              <a:off x="7072330" y="2176460"/>
              <a:ext cx="207170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fr-FR"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11" name="Text Box 4">
              <a:extLst>
                <a:ext uri="{FF2B5EF4-FFF2-40B4-BE49-F238E27FC236}">
                  <a16:creationId xmlns:a16="http://schemas.microsoft.com/office/drawing/2014/main" id="{089662CA-0C9A-1FA2-CFFE-74FAED760DAE}"/>
                </a:ext>
              </a:extLst>
            </p:cNvPr>
            <p:cNvSpPr txBox="1">
              <a:spLocks noChangeArrowheads="1"/>
            </p:cNvSpPr>
            <p:nvPr/>
          </p:nvSpPr>
          <p:spPr bwMode="auto">
            <a:xfrm>
              <a:off x="6858016" y="2411412"/>
              <a:ext cx="164307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a:t>
              </a:r>
              <a:r>
                <a:rPr lang="en-US" altLang="zh-CN" sz="1800" b="1" dirty="0">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a:t>
              </a:r>
            </a:p>
          </p:txBody>
        </p:sp>
        <p:sp>
          <p:nvSpPr>
            <p:cNvPr id="12" name="Text Box 4">
              <a:extLst>
                <a:ext uri="{FF2B5EF4-FFF2-40B4-BE49-F238E27FC236}">
                  <a16:creationId xmlns:a16="http://schemas.microsoft.com/office/drawing/2014/main" id="{9931DE48-2EAC-1DA1-AEBA-E05F13537E2F}"/>
                </a:ext>
              </a:extLst>
            </p:cNvPr>
            <p:cNvSpPr txBox="1">
              <a:spLocks noChangeArrowheads="1"/>
            </p:cNvSpPr>
            <p:nvPr/>
          </p:nvSpPr>
          <p:spPr bwMode="auto">
            <a:xfrm>
              <a:off x="6715140" y="2640013"/>
              <a:ext cx="2286016"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is-IS"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CountMutex);</a:t>
              </a:r>
            </a:p>
          </p:txBody>
        </p:sp>
        <p:sp>
          <p:nvSpPr>
            <p:cNvPr id="13" name="Text Box 4">
              <a:extLst>
                <a:ext uri="{FF2B5EF4-FFF2-40B4-BE49-F238E27FC236}">
                  <a16:creationId xmlns:a16="http://schemas.microsoft.com/office/drawing/2014/main" id="{D870D43F-212A-4D09-F818-D1A92E1E517E}"/>
                </a:ext>
              </a:extLst>
            </p:cNvPr>
            <p:cNvSpPr txBox="1">
              <a:spLocks noChangeArrowheads="1"/>
            </p:cNvSpPr>
            <p:nvPr/>
          </p:nvSpPr>
          <p:spPr bwMode="auto">
            <a:xfrm>
              <a:off x="6715140" y="3143254"/>
              <a:ext cx="100013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write</a:t>
              </a:r>
              <a:r>
                <a:rPr lang="zh-CN" altLang="en-US" sz="1800" b="1" dirty="0">
                  <a:latin typeface="Courier New" panose="02070309020205020404" pitchFamily="49" charset="0"/>
                  <a:ea typeface="+mn-ea"/>
                  <a:cs typeface="Courier New" panose="02070309020205020404" pitchFamily="49" charset="0"/>
                </a:rPr>
                <a:t>;</a:t>
              </a:r>
            </a:p>
          </p:txBody>
        </p:sp>
        <p:sp>
          <p:nvSpPr>
            <p:cNvPr id="14" name="Text Box 4">
              <a:extLst>
                <a:ext uri="{FF2B5EF4-FFF2-40B4-BE49-F238E27FC236}">
                  <a16:creationId xmlns:a16="http://schemas.microsoft.com/office/drawing/2014/main" id="{2FC37322-CA9B-4951-6AC5-84D13F403277}"/>
                </a:ext>
              </a:extLst>
            </p:cNvPr>
            <p:cNvSpPr txBox="1">
              <a:spLocks noChangeArrowheads="1"/>
            </p:cNvSpPr>
            <p:nvPr/>
          </p:nvSpPr>
          <p:spPr bwMode="auto">
            <a:xfrm>
              <a:off x="6715140" y="3636300"/>
              <a:ext cx="2143140"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pl-PL"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CountMutex);</a:t>
              </a:r>
            </a:p>
          </p:txBody>
        </p:sp>
        <p:sp>
          <p:nvSpPr>
            <p:cNvPr id="15" name="Text Box 4">
              <a:extLst>
                <a:ext uri="{FF2B5EF4-FFF2-40B4-BE49-F238E27FC236}">
                  <a16:creationId xmlns:a16="http://schemas.microsoft.com/office/drawing/2014/main" id="{DF9B0F08-8B24-7D96-95B7-EBD8BA37B3F6}"/>
                </a:ext>
              </a:extLst>
            </p:cNvPr>
            <p:cNvSpPr txBox="1">
              <a:spLocks noChangeArrowheads="1"/>
            </p:cNvSpPr>
            <p:nvPr/>
          </p:nvSpPr>
          <p:spPr bwMode="auto">
            <a:xfrm>
              <a:off x="6858016" y="3882000"/>
              <a:ext cx="135732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a:t>
              </a:r>
              <a:r>
                <a:rPr lang="en-US" altLang="zh-CN" sz="1800" b="1" dirty="0">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a:t>
              </a:r>
            </a:p>
          </p:txBody>
        </p:sp>
        <p:sp>
          <p:nvSpPr>
            <p:cNvPr id="16" name="Text Box 4">
              <a:extLst>
                <a:ext uri="{FF2B5EF4-FFF2-40B4-BE49-F238E27FC236}">
                  <a16:creationId xmlns:a16="http://schemas.microsoft.com/office/drawing/2014/main" id="{3557FFFA-CF8A-BF32-F1E5-44018DA6D90D}"/>
                </a:ext>
              </a:extLst>
            </p:cNvPr>
            <p:cNvSpPr txBox="1">
              <a:spLocks noChangeArrowheads="1"/>
            </p:cNvSpPr>
            <p:nvPr/>
          </p:nvSpPr>
          <p:spPr bwMode="auto">
            <a:xfrm>
              <a:off x="6858016" y="4143386"/>
              <a:ext cx="2286016"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a:t>
              </a:r>
              <a:r>
                <a:rPr lang="en-US" altLang="zh-CN" sz="1800" b="1" dirty="0">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 == 0)</a:t>
              </a:r>
            </a:p>
          </p:txBody>
        </p:sp>
        <p:sp>
          <p:nvSpPr>
            <p:cNvPr id="17" name="Text Box 4">
              <a:extLst>
                <a:ext uri="{FF2B5EF4-FFF2-40B4-BE49-F238E27FC236}">
                  <a16:creationId xmlns:a16="http://schemas.microsoft.com/office/drawing/2014/main" id="{CC0B81DB-A311-83FE-2D35-A3D832A781CC}"/>
                </a:ext>
              </a:extLst>
            </p:cNvPr>
            <p:cNvSpPr txBox="1">
              <a:spLocks noChangeArrowheads="1"/>
            </p:cNvSpPr>
            <p:nvPr/>
          </p:nvSpPr>
          <p:spPr bwMode="auto">
            <a:xfrm>
              <a:off x="7000892" y="4380278"/>
              <a:ext cx="207170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cs-CZ"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(WriteMutex);</a:t>
              </a:r>
            </a:p>
          </p:txBody>
        </p:sp>
        <p:sp>
          <p:nvSpPr>
            <p:cNvPr id="18" name="Text Box 4">
              <a:extLst>
                <a:ext uri="{FF2B5EF4-FFF2-40B4-BE49-F238E27FC236}">
                  <a16:creationId xmlns:a16="http://schemas.microsoft.com/office/drawing/2014/main" id="{9AA34EA4-B41F-6EAC-0397-3832F527C30A}"/>
                </a:ext>
              </a:extLst>
            </p:cNvPr>
            <p:cNvSpPr txBox="1">
              <a:spLocks noChangeArrowheads="1"/>
            </p:cNvSpPr>
            <p:nvPr/>
          </p:nvSpPr>
          <p:spPr bwMode="auto">
            <a:xfrm>
              <a:off x="6715140" y="4643452"/>
              <a:ext cx="2286016"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90000"/>
                </a:lnSpc>
              </a:pPr>
              <a:r>
                <a:rPr lang="is-IS" sz="1800" b="1" dirty="0">
                  <a:latin typeface="Courier New" panose="02070309020205020404" pitchFamily="49" charset="0"/>
                  <a:cs typeface="Courier New" panose="02070309020205020404" pitchFamily="49" charset="0"/>
                </a:rPr>
                <a:t>V</a:t>
              </a:r>
              <a:r>
                <a:rPr lang="zh-CN" altLang="en-US" sz="1800" b="1" dirty="0">
                  <a:latin typeface="Courier New" panose="02070309020205020404" pitchFamily="49" charset="0"/>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cs typeface="Courier New" panose="02070309020205020404" pitchFamily="49" charset="0"/>
                </a:rPr>
                <a:t>CountMutex)</a:t>
              </a:r>
              <a:r>
                <a:rPr lang="en-US" altLang="zh-CN" sz="1800" b="1" dirty="0">
                  <a:latin typeface="Courier New" panose="02070309020205020404" pitchFamily="49" charset="0"/>
                  <a:cs typeface="Courier New" panose="02070309020205020404" pitchFamily="49" charset="0"/>
                </a:rPr>
                <a:t>;</a:t>
              </a:r>
              <a:endParaRPr lang="zh-CN" altLang="en-US" sz="1800" b="1" dirty="0">
                <a:latin typeface="Courier New" panose="02070309020205020404" pitchFamily="49" charset="0"/>
                <a:cs typeface="Courier New" panose="02070309020205020404" pitchFamily="49" charset="0"/>
              </a:endParaRPr>
            </a:p>
          </p:txBody>
        </p:sp>
      </p:grpSp>
      <p:sp>
        <p:nvSpPr>
          <p:cNvPr id="19" name="文本框 18">
            <a:extLst>
              <a:ext uri="{FF2B5EF4-FFF2-40B4-BE49-F238E27FC236}">
                <a16:creationId xmlns:a16="http://schemas.microsoft.com/office/drawing/2014/main" id="{3120BE56-4A66-4B3C-713A-61FEBE47E179}"/>
              </a:ext>
            </a:extLst>
          </p:cNvPr>
          <p:cNvSpPr txBox="1"/>
          <p:nvPr/>
        </p:nvSpPr>
        <p:spPr>
          <a:xfrm>
            <a:off x="8640104" y="3096516"/>
            <a:ext cx="2357422" cy="2308324"/>
          </a:xfrm>
          <a:prstGeom prst="rect">
            <a:avLst/>
          </a:prstGeom>
          <a:noFill/>
        </p:spPr>
        <p:txBody>
          <a:bodyPr wrap="square" rtlCol="0">
            <a:spAutoFit/>
          </a:bodyPr>
          <a:lstStyle/>
          <a:p>
            <a:r>
              <a:rPr lang="zh-CN" altLang="en-US" dirty="0"/>
              <a:t>这个实现是不对的！</a:t>
            </a:r>
            <a:endParaRPr lang="en-US" altLang="zh-CN" dirty="0"/>
          </a:p>
          <a:p>
            <a:r>
              <a:rPr lang="zh-CN" altLang="en-US" dirty="0"/>
              <a:t>因为写者之间是存在冲突的，所以多个写者之间，必须还有一个锁！</a:t>
            </a:r>
            <a:endParaRPr lang="en-US" altLang="zh-CN" dirty="0"/>
          </a:p>
          <a:p>
            <a:r>
              <a:rPr lang="zh-CN" altLang="en-US" dirty="0"/>
              <a:t>同时还需要一个锁，防止读者打断连续到来的写者</a:t>
            </a:r>
          </a:p>
        </p:txBody>
      </p:sp>
      <p:sp>
        <p:nvSpPr>
          <p:cNvPr id="20" name="标题 1">
            <a:extLst>
              <a:ext uri="{FF2B5EF4-FFF2-40B4-BE49-F238E27FC236}">
                <a16:creationId xmlns:a16="http://schemas.microsoft.com/office/drawing/2014/main" id="{7BD846F2-F32D-7DE4-AC0A-054ECECAFF31}"/>
              </a:ext>
            </a:extLst>
          </p:cNvPr>
          <p:cNvSpPr>
            <a:spLocks noGrp="1"/>
          </p:cNvSpPr>
          <p:nvPr>
            <p:ph type="title"/>
          </p:nvPr>
        </p:nvSpPr>
        <p:spPr>
          <a:xfrm>
            <a:off x="695400" y="871855"/>
            <a:ext cx="10801200" cy="680403"/>
          </a:xfrm>
        </p:spPr>
        <p:txBody>
          <a:bodyPr>
            <a:normAutofit/>
          </a:bodyPr>
          <a:lstStyle/>
          <a:p>
            <a:r>
              <a:rPr lang="zh-CN" altLang="en-US" dirty="0"/>
              <a:t>用信号量解决读者</a:t>
            </a:r>
            <a:r>
              <a:rPr lang="en-US" altLang="zh-CN" dirty="0"/>
              <a:t>-</a:t>
            </a:r>
            <a:r>
              <a:rPr lang="zh-CN" altLang="en-US" dirty="0"/>
              <a:t>写者问题</a:t>
            </a:r>
          </a:p>
        </p:txBody>
      </p:sp>
    </p:spTree>
    <p:extLst>
      <p:ext uri="{BB962C8B-B14F-4D97-AF65-F5344CB8AC3E}">
        <p14:creationId xmlns:p14="http://schemas.microsoft.com/office/powerpoint/2010/main" val="16001873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a:off x="288129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矩形 44"/>
          <p:cNvSpPr/>
          <p:nvPr/>
        </p:nvSpPr>
        <p:spPr>
          <a:xfrm>
            <a:off x="6096000" y="1857364"/>
            <a:ext cx="1357322" cy="571504"/>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矩形 41"/>
          <p:cNvSpPr/>
          <p:nvPr/>
        </p:nvSpPr>
        <p:spPr>
          <a:xfrm>
            <a:off x="5595934" y="2500306"/>
            <a:ext cx="2643206" cy="388102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0" name="Rectangle 15"/>
          <p:cNvSpPr>
            <a:spLocks noChangeArrowheads="1"/>
          </p:cNvSpPr>
          <p:nvPr/>
        </p:nvSpPr>
        <p:spPr bwMode="auto">
          <a:xfrm>
            <a:off x="2905112"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Writer</a:t>
            </a:r>
          </a:p>
        </p:txBody>
      </p:sp>
      <p:sp>
        <p:nvSpPr>
          <p:cNvPr id="41" name="Rectangle 15"/>
          <p:cNvSpPr>
            <a:spLocks noChangeArrowheads="1"/>
          </p:cNvSpPr>
          <p:nvPr/>
        </p:nvSpPr>
        <p:spPr bwMode="auto">
          <a:xfrm>
            <a:off x="6127760" y="1857364"/>
            <a:ext cx="1295400" cy="533400"/>
          </a:xfrm>
          <a:prstGeom prst="rect">
            <a:avLst/>
          </a:prstGeom>
          <a:noFill/>
          <a:ln w="12700">
            <a:noFill/>
            <a:miter lim="800000"/>
            <a:headEnd/>
            <a:tailEnd/>
          </a:ln>
        </p:spPr>
        <p:txBody>
          <a:bodyPr wrap="none" anchor="ctr"/>
          <a:lstStyle/>
          <a:p>
            <a:pPr algn="ctr" eaLnBrk="1" hangingPunct="1">
              <a:buFont typeface="Monotype Sorts" charset="0"/>
              <a:buNone/>
            </a:pPr>
            <a:r>
              <a:rPr lang="en-US" altLang="zh-CN" b="1" dirty="0">
                <a:solidFill>
                  <a:schemeClr val="bg1"/>
                </a:solidFill>
                <a:latin typeface="+mn-ea"/>
                <a:cs typeface="宋体" charset="0"/>
              </a:rPr>
              <a:t>Reader</a:t>
            </a:r>
          </a:p>
        </p:txBody>
      </p:sp>
      <p:cxnSp>
        <p:nvCxnSpPr>
          <p:cNvPr id="56" name="直接连接符 55"/>
          <p:cNvCxnSpPr/>
          <p:nvPr/>
        </p:nvCxnSpPr>
        <p:spPr>
          <a:xfrm rot="5400000">
            <a:off x="9798859" y="3607595"/>
            <a:ext cx="8929750" cy="285752"/>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组合 60"/>
          <p:cNvGrpSpPr/>
          <p:nvPr/>
        </p:nvGrpSpPr>
        <p:grpSpPr>
          <a:xfrm>
            <a:off x="5667372" y="2708921"/>
            <a:ext cx="2428892" cy="3348953"/>
            <a:chOff x="6715140" y="1643056"/>
            <a:chExt cx="2428892" cy="3348953"/>
          </a:xfrm>
        </p:grpSpPr>
        <p:sp>
          <p:nvSpPr>
            <p:cNvPr id="47" name="Text Box 4"/>
            <p:cNvSpPr txBox="1">
              <a:spLocks noChangeArrowheads="1"/>
            </p:cNvSpPr>
            <p:nvPr/>
          </p:nvSpPr>
          <p:spPr bwMode="auto">
            <a:xfrm>
              <a:off x="6715140" y="1643056"/>
              <a:ext cx="2143140"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pl-PL"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R</a:t>
              </a:r>
              <a:r>
                <a:rPr lang="zh-CN" altLang="en-US" sz="1800" b="1" dirty="0">
                  <a:latin typeface="Courier New" panose="02070309020205020404" pitchFamily="49" charset="0"/>
                  <a:ea typeface="+mn-ea"/>
                  <a:cs typeface="Courier New" panose="02070309020205020404" pitchFamily="49" charset="0"/>
                </a:rPr>
                <a:t>CountMutex);</a:t>
              </a:r>
            </a:p>
          </p:txBody>
        </p:sp>
        <p:sp>
          <p:nvSpPr>
            <p:cNvPr id="49" name="Text Box 4"/>
            <p:cNvSpPr txBox="1">
              <a:spLocks noChangeArrowheads="1"/>
            </p:cNvSpPr>
            <p:nvPr/>
          </p:nvSpPr>
          <p:spPr bwMode="auto">
            <a:xfrm>
              <a:off x="6850608" y="1890708"/>
              <a:ext cx="229342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(Rcount == 0)</a:t>
              </a:r>
            </a:p>
          </p:txBody>
        </p:sp>
        <p:sp>
          <p:nvSpPr>
            <p:cNvPr id="50" name="Text Box 4"/>
            <p:cNvSpPr txBox="1">
              <a:spLocks noChangeArrowheads="1"/>
            </p:cNvSpPr>
            <p:nvPr/>
          </p:nvSpPr>
          <p:spPr bwMode="auto">
            <a:xfrm>
              <a:off x="7072330" y="2176460"/>
              <a:ext cx="207170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fr-FR"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51" name="Text Box 4"/>
            <p:cNvSpPr txBox="1">
              <a:spLocks noChangeArrowheads="1"/>
            </p:cNvSpPr>
            <p:nvPr/>
          </p:nvSpPr>
          <p:spPr bwMode="auto">
            <a:xfrm>
              <a:off x="6858016" y="2411412"/>
              <a:ext cx="164307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++Rcount;</a:t>
              </a:r>
            </a:p>
          </p:txBody>
        </p:sp>
        <p:sp>
          <p:nvSpPr>
            <p:cNvPr id="52" name="Text Box 4"/>
            <p:cNvSpPr txBox="1">
              <a:spLocks noChangeArrowheads="1"/>
            </p:cNvSpPr>
            <p:nvPr/>
          </p:nvSpPr>
          <p:spPr bwMode="auto">
            <a:xfrm>
              <a:off x="6715140" y="2640013"/>
              <a:ext cx="2286016"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is-IS"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R</a:t>
              </a:r>
              <a:r>
                <a:rPr lang="zh-CN" altLang="en-US" sz="1800" b="1" dirty="0">
                  <a:latin typeface="Courier New" panose="02070309020205020404" pitchFamily="49" charset="0"/>
                  <a:ea typeface="+mn-ea"/>
                  <a:cs typeface="Courier New" panose="02070309020205020404" pitchFamily="49" charset="0"/>
                </a:rPr>
                <a:t>CountMutex);</a:t>
              </a:r>
            </a:p>
          </p:txBody>
        </p:sp>
        <p:sp>
          <p:nvSpPr>
            <p:cNvPr id="53" name="Text Box 4"/>
            <p:cNvSpPr txBox="1">
              <a:spLocks noChangeArrowheads="1"/>
            </p:cNvSpPr>
            <p:nvPr/>
          </p:nvSpPr>
          <p:spPr bwMode="auto">
            <a:xfrm>
              <a:off x="6715140" y="3143254"/>
              <a:ext cx="100013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read</a:t>
              </a:r>
              <a:r>
                <a:rPr lang="zh-CN" altLang="en-US" sz="1800" b="1" dirty="0">
                  <a:latin typeface="Courier New" panose="02070309020205020404" pitchFamily="49" charset="0"/>
                  <a:ea typeface="+mn-ea"/>
                  <a:cs typeface="Courier New" panose="02070309020205020404" pitchFamily="49" charset="0"/>
                </a:rPr>
                <a:t>;</a:t>
              </a:r>
            </a:p>
          </p:txBody>
        </p:sp>
        <p:sp>
          <p:nvSpPr>
            <p:cNvPr id="54" name="Text Box 4"/>
            <p:cNvSpPr txBox="1">
              <a:spLocks noChangeArrowheads="1"/>
            </p:cNvSpPr>
            <p:nvPr/>
          </p:nvSpPr>
          <p:spPr bwMode="auto">
            <a:xfrm>
              <a:off x="6715140" y="3636300"/>
              <a:ext cx="2143140"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pl-PL"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R</a:t>
              </a:r>
              <a:r>
                <a:rPr lang="zh-CN" altLang="en-US" sz="1800" b="1" dirty="0">
                  <a:latin typeface="Courier New" panose="02070309020205020404" pitchFamily="49" charset="0"/>
                  <a:ea typeface="+mn-ea"/>
                  <a:cs typeface="Courier New" panose="02070309020205020404" pitchFamily="49" charset="0"/>
                </a:rPr>
                <a:t>CountMutex);</a:t>
              </a:r>
            </a:p>
          </p:txBody>
        </p:sp>
        <p:sp>
          <p:nvSpPr>
            <p:cNvPr id="57" name="Text Box 4"/>
            <p:cNvSpPr txBox="1">
              <a:spLocks noChangeArrowheads="1"/>
            </p:cNvSpPr>
            <p:nvPr/>
          </p:nvSpPr>
          <p:spPr bwMode="auto">
            <a:xfrm>
              <a:off x="6858016" y="3882000"/>
              <a:ext cx="135732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--Rcount;</a:t>
              </a:r>
            </a:p>
          </p:txBody>
        </p:sp>
        <p:sp>
          <p:nvSpPr>
            <p:cNvPr id="58" name="Text Box 4"/>
            <p:cNvSpPr txBox="1">
              <a:spLocks noChangeArrowheads="1"/>
            </p:cNvSpPr>
            <p:nvPr/>
          </p:nvSpPr>
          <p:spPr bwMode="auto">
            <a:xfrm>
              <a:off x="6858016" y="4143386"/>
              <a:ext cx="2286016"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(Rcount == 0)</a:t>
              </a:r>
            </a:p>
          </p:txBody>
        </p:sp>
        <p:sp>
          <p:nvSpPr>
            <p:cNvPr id="59" name="Text Box 4"/>
            <p:cNvSpPr txBox="1">
              <a:spLocks noChangeArrowheads="1"/>
            </p:cNvSpPr>
            <p:nvPr/>
          </p:nvSpPr>
          <p:spPr bwMode="auto">
            <a:xfrm>
              <a:off x="7000892" y="4380278"/>
              <a:ext cx="207170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cs-CZ"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(WriteMutex);</a:t>
              </a:r>
            </a:p>
          </p:txBody>
        </p:sp>
        <p:sp>
          <p:nvSpPr>
            <p:cNvPr id="60" name="Text Box 4"/>
            <p:cNvSpPr txBox="1">
              <a:spLocks noChangeArrowheads="1"/>
            </p:cNvSpPr>
            <p:nvPr/>
          </p:nvSpPr>
          <p:spPr bwMode="auto">
            <a:xfrm>
              <a:off x="6715140" y="4643452"/>
              <a:ext cx="2286016"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90000"/>
                </a:lnSpc>
              </a:pPr>
              <a:r>
                <a:rPr lang="is-IS" sz="1800" b="1" dirty="0">
                  <a:latin typeface="Courier New" panose="02070309020205020404" pitchFamily="49" charset="0"/>
                  <a:cs typeface="Courier New" panose="02070309020205020404" pitchFamily="49" charset="0"/>
                </a:rPr>
                <a:t>V</a:t>
              </a:r>
              <a:r>
                <a:rPr lang="zh-CN" altLang="en-US" sz="1800" b="1" dirty="0">
                  <a:latin typeface="Courier New" panose="02070309020205020404" pitchFamily="49" charset="0"/>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R</a:t>
              </a:r>
              <a:r>
                <a:rPr lang="zh-CN" altLang="en-US" sz="1800" b="1" dirty="0">
                  <a:latin typeface="Courier New" panose="02070309020205020404" pitchFamily="49" charset="0"/>
                  <a:cs typeface="Courier New" panose="02070309020205020404" pitchFamily="49" charset="0"/>
                </a:rPr>
                <a:t>CountMutex)</a:t>
              </a:r>
              <a:r>
                <a:rPr lang="en-US" altLang="zh-CN" sz="1800" b="1" dirty="0">
                  <a:latin typeface="Courier New" panose="02070309020205020404" pitchFamily="49" charset="0"/>
                  <a:cs typeface="Courier New" panose="02070309020205020404" pitchFamily="49" charset="0"/>
                </a:rPr>
                <a:t>;</a:t>
              </a:r>
              <a:endParaRPr lang="zh-CN" altLang="en-US" sz="1800" b="1" dirty="0">
                <a:latin typeface="Courier New" panose="02070309020205020404" pitchFamily="49" charset="0"/>
                <a:cs typeface="Courier New" panose="02070309020205020404" pitchFamily="49" charset="0"/>
              </a:endParaRPr>
            </a:p>
          </p:txBody>
        </p:sp>
      </p:grpSp>
      <p:sp>
        <p:nvSpPr>
          <p:cNvPr id="5" name="矩形 4">
            <a:extLst>
              <a:ext uri="{FF2B5EF4-FFF2-40B4-BE49-F238E27FC236}">
                <a16:creationId xmlns:a16="http://schemas.microsoft.com/office/drawing/2014/main" id="{21F93A1E-DBE3-7D15-FF22-56AA3CB2CBBE}"/>
              </a:ext>
            </a:extLst>
          </p:cNvPr>
          <p:cNvSpPr/>
          <p:nvPr/>
        </p:nvSpPr>
        <p:spPr>
          <a:xfrm>
            <a:off x="2588698" y="2519686"/>
            <a:ext cx="2643206" cy="3861642"/>
          </a:xfrm>
          <a:prstGeom prst="rect">
            <a:avLst/>
          </a:prstGeom>
          <a:gradFill>
            <a:gsLst>
              <a:gs pos="0">
                <a:srgbClr val="FFFF00">
                  <a:tint val="66000"/>
                  <a:satMod val="160000"/>
                </a:srgbClr>
              </a:gs>
              <a:gs pos="50000">
                <a:srgbClr val="FFFF00">
                  <a:tint val="44500"/>
                  <a:satMod val="160000"/>
                </a:srgbClr>
              </a:gs>
              <a:gs pos="100000">
                <a:srgbClr val="FFFF00">
                  <a:tint val="23500"/>
                  <a:satMod val="160000"/>
                </a:srgbClr>
              </a:gs>
            </a:gsLst>
            <a:lin ang="16200000" scaled="1"/>
          </a:gradFill>
          <a:ln w="19050">
            <a:solidFill>
              <a:schemeClr val="tx1"/>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grpSp>
        <p:nvGrpSpPr>
          <p:cNvPr id="6" name="组合 60">
            <a:extLst>
              <a:ext uri="{FF2B5EF4-FFF2-40B4-BE49-F238E27FC236}">
                <a16:creationId xmlns:a16="http://schemas.microsoft.com/office/drawing/2014/main" id="{3192BAFE-710D-46E7-C19E-1CECD926F3DB}"/>
              </a:ext>
            </a:extLst>
          </p:cNvPr>
          <p:cNvGrpSpPr/>
          <p:nvPr/>
        </p:nvGrpSpPr>
        <p:grpSpPr>
          <a:xfrm>
            <a:off x="2660136" y="2519687"/>
            <a:ext cx="2428892" cy="3348953"/>
            <a:chOff x="6715140" y="1643056"/>
            <a:chExt cx="2428892" cy="3348953"/>
          </a:xfrm>
        </p:grpSpPr>
        <p:sp>
          <p:nvSpPr>
            <p:cNvPr id="7" name="Text Box 4">
              <a:extLst>
                <a:ext uri="{FF2B5EF4-FFF2-40B4-BE49-F238E27FC236}">
                  <a16:creationId xmlns:a16="http://schemas.microsoft.com/office/drawing/2014/main" id="{0F82D11B-DD18-77AF-39D3-61BDB9538385}"/>
                </a:ext>
              </a:extLst>
            </p:cNvPr>
            <p:cNvSpPr txBox="1">
              <a:spLocks noChangeArrowheads="1"/>
            </p:cNvSpPr>
            <p:nvPr/>
          </p:nvSpPr>
          <p:spPr bwMode="auto">
            <a:xfrm>
              <a:off x="6715140" y="1643056"/>
              <a:ext cx="2143140"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pl-PL"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CountMutex);</a:t>
              </a:r>
            </a:p>
          </p:txBody>
        </p:sp>
        <p:sp>
          <p:nvSpPr>
            <p:cNvPr id="9" name="Text Box 4">
              <a:extLst>
                <a:ext uri="{FF2B5EF4-FFF2-40B4-BE49-F238E27FC236}">
                  <a16:creationId xmlns:a16="http://schemas.microsoft.com/office/drawing/2014/main" id="{B9E8A392-7264-2A0B-79A2-8D9704E637A1}"/>
                </a:ext>
              </a:extLst>
            </p:cNvPr>
            <p:cNvSpPr txBox="1">
              <a:spLocks noChangeArrowheads="1"/>
            </p:cNvSpPr>
            <p:nvPr/>
          </p:nvSpPr>
          <p:spPr bwMode="auto">
            <a:xfrm>
              <a:off x="6850608" y="1890708"/>
              <a:ext cx="229342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a:t>
              </a:r>
              <a:r>
                <a:rPr lang="en-US" altLang="zh-CN" sz="1800" b="1" dirty="0">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 == 0)</a:t>
              </a:r>
            </a:p>
          </p:txBody>
        </p:sp>
        <p:sp>
          <p:nvSpPr>
            <p:cNvPr id="10" name="Text Box 4">
              <a:extLst>
                <a:ext uri="{FF2B5EF4-FFF2-40B4-BE49-F238E27FC236}">
                  <a16:creationId xmlns:a16="http://schemas.microsoft.com/office/drawing/2014/main" id="{D4116ABC-49D8-42C6-0814-9CC881BBAC3C}"/>
                </a:ext>
              </a:extLst>
            </p:cNvPr>
            <p:cNvSpPr txBox="1">
              <a:spLocks noChangeArrowheads="1"/>
            </p:cNvSpPr>
            <p:nvPr/>
          </p:nvSpPr>
          <p:spPr bwMode="auto">
            <a:xfrm>
              <a:off x="7072330" y="2176460"/>
              <a:ext cx="207170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fr-FR"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7030A0"/>
                  </a:solidFill>
                  <a:latin typeface="Courier New" panose="02070309020205020404" pitchFamily="49" charset="0"/>
                  <a:ea typeface="+mn-ea"/>
                  <a:cs typeface="Courier New" panose="02070309020205020404" pitchFamily="49" charset="0"/>
                </a:rPr>
                <a:t>Read</a:t>
              </a:r>
              <a:r>
                <a:rPr lang="zh-CN" altLang="en-US" sz="1800" b="1" dirty="0">
                  <a:solidFill>
                    <a:srgbClr val="7030A0"/>
                  </a:solidFill>
                  <a:latin typeface="Courier New" panose="02070309020205020404" pitchFamily="49" charset="0"/>
                  <a:ea typeface="+mn-ea"/>
                  <a:cs typeface="Courier New" panose="02070309020205020404" pitchFamily="49" charset="0"/>
                </a:rPr>
                <a:t>Mutex</a:t>
              </a:r>
              <a:r>
                <a:rPr lang="zh-CN" altLang="en-US" sz="1800" b="1" dirty="0">
                  <a:latin typeface="Courier New" panose="02070309020205020404" pitchFamily="49" charset="0"/>
                  <a:ea typeface="+mn-ea"/>
                  <a:cs typeface="Courier New" panose="02070309020205020404" pitchFamily="49" charset="0"/>
                </a:rPr>
                <a:t>);</a:t>
              </a:r>
            </a:p>
          </p:txBody>
        </p:sp>
        <p:sp>
          <p:nvSpPr>
            <p:cNvPr id="11" name="Text Box 4">
              <a:extLst>
                <a:ext uri="{FF2B5EF4-FFF2-40B4-BE49-F238E27FC236}">
                  <a16:creationId xmlns:a16="http://schemas.microsoft.com/office/drawing/2014/main" id="{089662CA-0C9A-1FA2-CFFE-74FAED760DAE}"/>
                </a:ext>
              </a:extLst>
            </p:cNvPr>
            <p:cNvSpPr txBox="1">
              <a:spLocks noChangeArrowheads="1"/>
            </p:cNvSpPr>
            <p:nvPr/>
          </p:nvSpPr>
          <p:spPr bwMode="auto">
            <a:xfrm>
              <a:off x="6858016" y="2411412"/>
              <a:ext cx="1643074"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a:t>
              </a:r>
              <a:r>
                <a:rPr lang="en-US" altLang="zh-CN" sz="1800" b="1" dirty="0">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a:t>
              </a:r>
            </a:p>
          </p:txBody>
        </p:sp>
        <p:sp>
          <p:nvSpPr>
            <p:cNvPr id="12" name="Text Box 4">
              <a:extLst>
                <a:ext uri="{FF2B5EF4-FFF2-40B4-BE49-F238E27FC236}">
                  <a16:creationId xmlns:a16="http://schemas.microsoft.com/office/drawing/2014/main" id="{9931DE48-2EAC-1DA1-AEBA-E05F13537E2F}"/>
                </a:ext>
              </a:extLst>
            </p:cNvPr>
            <p:cNvSpPr txBox="1">
              <a:spLocks noChangeArrowheads="1"/>
            </p:cNvSpPr>
            <p:nvPr/>
          </p:nvSpPr>
          <p:spPr bwMode="auto">
            <a:xfrm>
              <a:off x="6715140" y="2640013"/>
              <a:ext cx="2286016"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is-IS"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CountMutex);</a:t>
              </a:r>
            </a:p>
          </p:txBody>
        </p:sp>
        <p:sp>
          <p:nvSpPr>
            <p:cNvPr id="13" name="Text Box 4">
              <a:extLst>
                <a:ext uri="{FF2B5EF4-FFF2-40B4-BE49-F238E27FC236}">
                  <a16:creationId xmlns:a16="http://schemas.microsoft.com/office/drawing/2014/main" id="{D870D43F-212A-4D09-F818-D1A92E1E517E}"/>
                </a:ext>
              </a:extLst>
            </p:cNvPr>
            <p:cNvSpPr txBox="1">
              <a:spLocks noChangeArrowheads="1"/>
            </p:cNvSpPr>
            <p:nvPr/>
          </p:nvSpPr>
          <p:spPr bwMode="auto">
            <a:xfrm>
              <a:off x="6715140" y="3143254"/>
              <a:ext cx="100013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en-US" altLang="zh-CN" sz="1800" b="1" dirty="0">
                  <a:latin typeface="Courier New" panose="02070309020205020404" pitchFamily="49" charset="0"/>
                  <a:ea typeface="+mn-ea"/>
                  <a:cs typeface="Courier New" panose="02070309020205020404" pitchFamily="49" charset="0"/>
                </a:rPr>
                <a:t>write</a:t>
              </a:r>
              <a:r>
                <a:rPr lang="zh-CN" altLang="en-US" sz="1800" b="1" dirty="0">
                  <a:latin typeface="Courier New" panose="02070309020205020404" pitchFamily="49" charset="0"/>
                  <a:ea typeface="+mn-ea"/>
                  <a:cs typeface="Courier New" panose="02070309020205020404" pitchFamily="49" charset="0"/>
                </a:rPr>
                <a:t>;</a:t>
              </a:r>
            </a:p>
          </p:txBody>
        </p:sp>
        <p:sp>
          <p:nvSpPr>
            <p:cNvPr id="14" name="Text Box 4">
              <a:extLst>
                <a:ext uri="{FF2B5EF4-FFF2-40B4-BE49-F238E27FC236}">
                  <a16:creationId xmlns:a16="http://schemas.microsoft.com/office/drawing/2014/main" id="{2FC37322-CA9B-4951-6AC5-84D13F403277}"/>
                </a:ext>
              </a:extLst>
            </p:cNvPr>
            <p:cNvSpPr txBox="1">
              <a:spLocks noChangeArrowheads="1"/>
            </p:cNvSpPr>
            <p:nvPr/>
          </p:nvSpPr>
          <p:spPr bwMode="auto">
            <a:xfrm>
              <a:off x="6715140" y="3636300"/>
              <a:ext cx="2143140"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pl-PL"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CountMutex);</a:t>
              </a:r>
            </a:p>
          </p:txBody>
        </p:sp>
        <p:sp>
          <p:nvSpPr>
            <p:cNvPr id="15" name="Text Box 4">
              <a:extLst>
                <a:ext uri="{FF2B5EF4-FFF2-40B4-BE49-F238E27FC236}">
                  <a16:creationId xmlns:a16="http://schemas.microsoft.com/office/drawing/2014/main" id="{DF9B0F08-8B24-7D96-95B7-EBD8BA37B3F6}"/>
                </a:ext>
              </a:extLst>
            </p:cNvPr>
            <p:cNvSpPr txBox="1">
              <a:spLocks noChangeArrowheads="1"/>
            </p:cNvSpPr>
            <p:nvPr/>
          </p:nvSpPr>
          <p:spPr bwMode="auto">
            <a:xfrm>
              <a:off x="6858016" y="3882000"/>
              <a:ext cx="135732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a:t>
              </a:r>
              <a:r>
                <a:rPr lang="en-US" altLang="zh-CN" sz="1800" b="1" dirty="0">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a:t>
              </a:r>
            </a:p>
          </p:txBody>
        </p:sp>
        <p:sp>
          <p:nvSpPr>
            <p:cNvPr id="16" name="Text Box 4">
              <a:extLst>
                <a:ext uri="{FF2B5EF4-FFF2-40B4-BE49-F238E27FC236}">
                  <a16:creationId xmlns:a16="http://schemas.microsoft.com/office/drawing/2014/main" id="{3557FFFA-CF8A-BF32-F1E5-44018DA6D90D}"/>
                </a:ext>
              </a:extLst>
            </p:cNvPr>
            <p:cNvSpPr txBox="1">
              <a:spLocks noChangeArrowheads="1"/>
            </p:cNvSpPr>
            <p:nvPr/>
          </p:nvSpPr>
          <p:spPr bwMode="auto">
            <a:xfrm>
              <a:off x="6858016" y="4143386"/>
              <a:ext cx="2286016"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zh-CN" altLang="en-US" sz="1800" b="1" dirty="0">
                  <a:latin typeface="Courier New" panose="02070309020205020404" pitchFamily="49" charset="0"/>
                  <a:ea typeface="+mn-ea"/>
                  <a:cs typeface="Courier New" panose="02070309020205020404" pitchFamily="49" charset="0"/>
                </a:rPr>
                <a:t>if (</a:t>
              </a:r>
              <a:r>
                <a:rPr lang="en-US" altLang="zh-CN" sz="1800" b="1" dirty="0">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ea typeface="+mn-ea"/>
                  <a:cs typeface="Courier New" panose="02070309020205020404" pitchFamily="49" charset="0"/>
                </a:rPr>
                <a:t>count == 0)</a:t>
              </a:r>
            </a:p>
          </p:txBody>
        </p:sp>
        <p:sp>
          <p:nvSpPr>
            <p:cNvPr id="17" name="Text Box 4">
              <a:extLst>
                <a:ext uri="{FF2B5EF4-FFF2-40B4-BE49-F238E27FC236}">
                  <a16:creationId xmlns:a16="http://schemas.microsoft.com/office/drawing/2014/main" id="{CC0B81DB-A311-83FE-2D35-A3D832A781CC}"/>
                </a:ext>
              </a:extLst>
            </p:cNvPr>
            <p:cNvSpPr txBox="1">
              <a:spLocks noChangeArrowheads="1"/>
            </p:cNvSpPr>
            <p:nvPr/>
          </p:nvSpPr>
          <p:spPr bwMode="auto">
            <a:xfrm>
              <a:off x="7000892" y="4380278"/>
              <a:ext cx="207170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cs-CZ"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7030A0"/>
                  </a:solidFill>
                  <a:latin typeface="Courier New" panose="02070309020205020404" pitchFamily="49" charset="0"/>
                  <a:ea typeface="+mn-ea"/>
                  <a:cs typeface="Courier New" panose="02070309020205020404" pitchFamily="49" charset="0"/>
                </a:rPr>
                <a:t>Read</a:t>
              </a:r>
              <a:r>
                <a:rPr lang="zh-CN" altLang="en-US" sz="1800" b="1" dirty="0">
                  <a:solidFill>
                    <a:srgbClr val="7030A0"/>
                  </a:solidFill>
                  <a:latin typeface="Courier New" panose="02070309020205020404" pitchFamily="49" charset="0"/>
                  <a:ea typeface="+mn-ea"/>
                  <a:cs typeface="Courier New" panose="02070309020205020404" pitchFamily="49" charset="0"/>
                </a:rPr>
                <a:t>Mutex</a:t>
              </a:r>
              <a:r>
                <a:rPr lang="zh-CN" altLang="en-US" sz="1800" b="1" dirty="0">
                  <a:latin typeface="Courier New" panose="02070309020205020404" pitchFamily="49" charset="0"/>
                  <a:ea typeface="+mn-ea"/>
                  <a:cs typeface="Courier New" panose="02070309020205020404" pitchFamily="49" charset="0"/>
                </a:rPr>
                <a:t>);</a:t>
              </a:r>
            </a:p>
          </p:txBody>
        </p:sp>
        <p:sp>
          <p:nvSpPr>
            <p:cNvPr id="18" name="Text Box 4">
              <a:extLst>
                <a:ext uri="{FF2B5EF4-FFF2-40B4-BE49-F238E27FC236}">
                  <a16:creationId xmlns:a16="http://schemas.microsoft.com/office/drawing/2014/main" id="{9AA34EA4-B41F-6EAC-0397-3832F527C30A}"/>
                </a:ext>
              </a:extLst>
            </p:cNvPr>
            <p:cNvSpPr txBox="1">
              <a:spLocks noChangeArrowheads="1"/>
            </p:cNvSpPr>
            <p:nvPr/>
          </p:nvSpPr>
          <p:spPr bwMode="auto">
            <a:xfrm>
              <a:off x="6715140" y="4643452"/>
              <a:ext cx="2286016"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nSpc>
                  <a:spcPct val="90000"/>
                </a:lnSpc>
              </a:pPr>
              <a:r>
                <a:rPr lang="is-IS" sz="1800" b="1" dirty="0">
                  <a:latin typeface="Courier New" panose="02070309020205020404" pitchFamily="49" charset="0"/>
                  <a:cs typeface="Courier New" panose="02070309020205020404" pitchFamily="49" charset="0"/>
                </a:rPr>
                <a:t>V</a:t>
              </a:r>
              <a:r>
                <a:rPr lang="zh-CN" altLang="en-US" sz="1800" b="1" dirty="0">
                  <a:latin typeface="Courier New" panose="02070309020205020404" pitchFamily="49" charset="0"/>
                  <a:cs typeface="Courier New" panose="02070309020205020404" pitchFamily="49" charset="0"/>
                </a:rPr>
                <a:t>(</a:t>
              </a:r>
              <a:r>
                <a:rPr lang="en-US" altLang="zh-CN" sz="1800" b="1" dirty="0">
                  <a:solidFill>
                    <a:srgbClr val="FF0000"/>
                  </a:solidFill>
                  <a:latin typeface="Courier New" panose="02070309020205020404" pitchFamily="49" charset="0"/>
                  <a:ea typeface="+mn-ea"/>
                  <a:cs typeface="Courier New" panose="02070309020205020404" pitchFamily="49" charset="0"/>
                </a:rPr>
                <a:t>W</a:t>
              </a:r>
              <a:r>
                <a:rPr lang="zh-CN" altLang="en-US" sz="1800" b="1" dirty="0">
                  <a:latin typeface="Courier New" panose="02070309020205020404" pitchFamily="49" charset="0"/>
                  <a:cs typeface="Courier New" panose="02070309020205020404" pitchFamily="49" charset="0"/>
                </a:rPr>
                <a:t>CountMutex)</a:t>
              </a:r>
              <a:r>
                <a:rPr lang="en-US" altLang="zh-CN" sz="1800" b="1" dirty="0">
                  <a:latin typeface="Courier New" panose="02070309020205020404" pitchFamily="49" charset="0"/>
                  <a:cs typeface="Courier New" panose="02070309020205020404" pitchFamily="49" charset="0"/>
                </a:rPr>
                <a:t>;</a:t>
              </a:r>
              <a:endParaRPr lang="zh-CN" altLang="en-US" sz="1800" b="1" dirty="0">
                <a:latin typeface="Courier New" panose="02070309020205020404" pitchFamily="49" charset="0"/>
                <a:cs typeface="Courier New" panose="02070309020205020404" pitchFamily="49" charset="0"/>
              </a:endParaRPr>
            </a:p>
          </p:txBody>
        </p:sp>
      </p:grpSp>
      <p:sp>
        <p:nvSpPr>
          <p:cNvPr id="3" name="Text Box 4">
            <a:extLst>
              <a:ext uri="{FF2B5EF4-FFF2-40B4-BE49-F238E27FC236}">
                <a16:creationId xmlns:a16="http://schemas.microsoft.com/office/drawing/2014/main" id="{C5D0DC87-2320-F24E-8164-788EAB524375}"/>
              </a:ext>
            </a:extLst>
          </p:cNvPr>
          <p:cNvSpPr txBox="1">
            <a:spLocks noChangeArrowheads="1"/>
          </p:cNvSpPr>
          <p:nvPr/>
        </p:nvSpPr>
        <p:spPr bwMode="auto">
          <a:xfrm>
            <a:off x="2655537" y="3788572"/>
            <a:ext cx="207170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fr-FR"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(WriteMutex);</a:t>
            </a:r>
          </a:p>
        </p:txBody>
      </p:sp>
      <p:sp>
        <p:nvSpPr>
          <p:cNvPr id="4" name="Text Box 4">
            <a:extLst>
              <a:ext uri="{FF2B5EF4-FFF2-40B4-BE49-F238E27FC236}">
                <a16:creationId xmlns:a16="http://schemas.microsoft.com/office/drawing/2014/main" id="{17CF68B9-9F53-2987-BA9C-2E614F45EB4F}"/>
              </a:ext>
            </a:extLst>
          </p:cNvPr>
          <p:cNvSpPr txBox="1">
            <a:spLocks noChangeArrowheads="1"/>
          </p:cNvSpPr>
          <p:nvPr/>
        </p:nvSpPr>
        <p:spPr bwMode="auto">
          <a:xfrm>
            <a:off x="2695855" y="4258470"/>
            <a:ext cx="207170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cs-CZ"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(WriteMutex);</a:t>
            </a:r>
          </a:p>
        </p:txBody>
      </p:sp>
      <p:sp>
        <p:nvSpPr>
          <p:cNvPr id="19" name="Text Box 4">
            <a:extLst>
              <a:ext uri="{FF2B5EF4-FFF2-40B4-BE49-F238E27FC236}">
                <a16:creationId xmlns:a16="http://schemas.microsoft.com/office/drawing/2014/main" id="{9625AF8D-3EAC-110F-42DA-E73C375115B2}"/>
              </a:ext>
            </a:extLst>
          </p:cNvPr>
          <p:cNvSpPr txBox="1">
            <a:spLocks noChangeArrowheads="1"/>
          </p:cNvSpPr>
          <p:nvPr/>
        </p:nvSpPr>
        <p:spPr bwMode="auto">
          <a:xfrm>
            <a:off x="5667372" y="2496542"/>
            <a:ext cx="207170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fr-FR" sz="1800" b="1" dirty="0">
                <a:latin typeface="Courier New" panose="02070309020205020404" pitchFamily="49" charset="0"/>
                <a:ea typeface="+mn-ea"/>
                <a:cs typeface="Courier New" panose="02070309020205020404" pitchFamily="49" charset="0"/>
              </a:rPr>
              <a:t>P</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7030A0"/>
                </a:solidFill>
                <a:latin typeface="Courier New" panose="02070309020205020404" pitchFamily="49" charset="0"/>
                <a:ea typeface="+mn-ea"/>
                <a:cs typeface="Courier New" panose="02070309020205020404" pitchFamily="49" charset="0"/>
              </a:rPr>
              <a:t>Read</a:t>
            </a:r>
            <a:r>
              <a:rPr lang="zh-CN" altLang="en-US" sz="1800" b="1" dirty="0">
                <a:solidFill>
                  <a:srgbClr val="7030A0"/>
                </a:solidFill>
                <a:latin typeface="Courier New" panose="02070309020205020404" pitchFamily="49" charset="0"/>
                <a:ea typeface="+mn-ea"/>
                <a:cs typeface="Courier New" panose="02070309020205020404" pitchFamily="49" charset="0"/>
              </a:rPr>
              <a:t>Mutex</a:t>
            </a:r>
            <a:r>
              <a:rPr lang="zh-CN" altLang="en-US" sz="1800" b="1" dirty="0">
                <a:latin typeface="Courier New" panose="02070309020205020404" pitchFamily="49" charset="0"/>
                <a:ea typeface="+mn-ea"/>
                <a:cs typeface="Courier New" panose="02070309020205020404" pitchFamily="49" charset="0"/>
              </a:rPr>
              <a:t>);</a:t>
            </a:r>
          </a:p>
        </p:txBody>
      </p:sp>
      <p:sp>
        <p:nvSpPr>
          <p:cNvPr id="20" name="Text Box 4">
            <a:extLst>
              <a:ext uri="{FF2B5EF4-FFF2-40B4-BE49-F238E27FC236}">
                <a16:creationId xmlns:a16="http://schemas.microsoft.com/office/drawing/2014/main" id="{FCE95EE4-24D1-2227-48B0-8CD7CAE71EDC}"/>
              </a:ext>
            </a:extLst>
          </p:cNvPr>
          <p:cNvSpPr txBox="1">
            <a:spLocks noChangeArrowheads="1"/>
          </p:cNvSpPr>
          <p:nvPr/>
        </p:nvSpPr>
        <p:spPr bwMode="auto">
          <a:xfrm>
            <a:off x="5667372" y="3946678"/>
            <a:ext cx="2071702" cy="348557"/>
          </a:xfrm>
          <a:prstGeom prst="rect">
            <a:avLst/>
          </a:prstGeom>
          <a:noFill/>
          <a:ln>
            <a:noFill/>
          </a:ln>
          <a:effectLst/>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lnSpc>
                <a:spcPct val="90000"/>
              </a:lnSpc>
              <a:buFont typeface="Monotype Sorts" charset="0"/>
              <a:buNone/>
            </a:pPr>
            <a:r>
              <a:rPr lang="cs-CZ" sz="1800" b="1" dirty="0">
                <a:latin typeface="Courier New" panose="02070309020205020404" pitchFamily="49" charset="0"/>
                <a:ea typeface="+mn-ea"/>
                <a:cs typeface="Courier New" panose="02070309020205020404" pitchFamily="49" charset="0"/>
              </a:rPr>
              <a:t>V</a:t>
            </a:r>
            <a:r>
              <a:rPr lang="zh-CN" altLang="en-US" sz="1800" b="1" dirty="0">
                <a:latin typeface="Courier New" panose="02070309020205020404" pitchFamily="49" charset="0"/>
                <a:ea typeface="+mn-ea"/>
                <a:cs typeface="Courier New" panose="02070309020205020404" pitchFamily="49" charset="0"/>
              </a:rPr>
              <a:t>(</a:t>
            </a:r>
            <a:r>
              <a:rPr lang="en-US" altLang="zh-CN" sz="1800" b="1" dirty="0">
                <a:solidFill>
                  <a:srgbClr val="7030A0"/>
                </a:solidFill>
                <a:latin typeface="Courier New" panose="02070309020205020404" pitchFamily="49" charset="0"/>
                <a:ea typeface="+mn-ea"/>
                <a:cs typeface="Courier New" panose="02070309020205020404" pitchFamily="49" charset="0"/>
              </a:rPr>
              <a:t>Read</a:t>
            </a:r>
            <a:r>
              <a:rPr lang="zh-CN" altLang="en-US" sz="1800" b="1" dirty="0">
                <a:solidFill>
                  <a:srgbClr val="7030A0"/>
                </a:solidFill>
                <a:latin typeface="Courier New" panose="02070309020205020404" pitchFamily="49" charset="0"/>
                <a:ea typeface="+mn-ea"/>
                <a:cs typeface="Courier New" panose="02070309020205020404" pitchFamily="49" charset="0"/>
              </a:rPr>
              <a:t>Mutex</a:t>
            </a:r>
            <a:r>
              <a:rPr lang="zh-CN" altLang="en-US" sz="1800" b="1" dirty="0">
                <a:latin typeface="Courier New" panose="02070309020205020404" pitchFamily="49" charset="0"/>
                <a:ea typeface="+mn-ea"/>
                <a:cs typeface="Courier New" panose="02070309020205020404" pitchFamily="49" charset="0"/>
              </a:rPr>
              <a:t>);</a:t>
            </a:r>
          </a:p>
        </p:txBody>
      </p:sp>
      <p:sp>
        <p:nvSpPr>
          <p:cNvPr id="21" name="文本框 20">
            <a:extLst>
              <a:ext uri="{FF2B5EF4-FFF2-40B4-BE49-F238E27FC236}">
                <a16:creationId xmlns:a16="http://schemas.microsoft.com/office/drawing/2014/main" id="{AE4F2657-B8AA-D499-8172-27145B704F28}"/>
              </a:ext>
            </a:extLst>
          </p:cNvPr>
          <p:cNvSpPr txBox="1"/>
          <p:nvPr/>
        </p:nvSpPr>
        <p:spPr>
          <a:xfrm>
            <a:off x="8751601" y="2143116"/>
            <a:ext cx="2357422" cy="3693319"/>
          </a:xfrm>
          <a:prstGeom prst="rect">
            <a:avLst/>
          </a:prstGeom>
          <a:noFill/>
        </p:spPr>
        <p:txBody>
          <a:bodyPr wrap="square" rtlCol="0">
            <a:spAutoFit/>
          </a:bodyPr>
          <a:lstStyle/>
          <a:p>
            <a:r>
              <a:rPr lang="zh-CN" altLang="en-US" dirty="0"/>
              <a:t>思考：</a:t>
            </a:r>
            <a:endParaRPr lang="en-US" altLang="zh-CN" dirty="0"/>
          </a:p>
          <a:p>
            <a:r>
              <a:rPr lang="en-US" altLang="zh-CN" dirty="0"/>
              <a:t>1.</a:t>
            </a:r>
            <a:r>
              <a:rPr lang="zh-CN" altLang="en-US" dirty="0"/>
              <a:t>读者连续到来，则后续读者不必重新申请锁</a:t>
            </a:r>
            <a:r>
              <a:rPr lang="en-US" altLang="zh-CN" dirty="0" err="1"/>
              <a:t>WriteMutex</a:t>
            </a:r>
            <a:r>
              <a:rPr lang="zh-CN" altLang="en-US" dirty="0"/>
              <a:t>，就能连续读取</a:t>
            </a:r>
            <a:endParaRPr lang="en-US" altLang="zh-CN" dirty="0"/>
          </a:p>
          <a:p>
            <a:r>
              <a:rPr lang="en-US" altLang="zh-CN" dirty="0"/>
              <a:t>2.</a:t>
            </a:r>
            <a:r>
              <a:rPr lang="zh-CN" altLang="en-US" dirty="0"/>
              <a:t>同理，写者连续到来时，写者也不必申请</a:t>
            </a:r>
            <a:r>
              <a:rPr lang="en-US" altLang="zh-CN" dirty="0" err="1"/>
              <a:t>ReadMutex</a:t>
            </a:r>
            <a:r>
              <a:rPr lang="zh-CN" altLang="en-US" dirty="0"/>
              <a:t>，就能连续写入</a:t>
            </a:r>
            <a:endParaRPr lang="en-US" altLang="zh-CN" dirty="0"/>
          </a:p>
          <a:p>
            <a:r>
              <a:rPr lang="en-US" altLang="zh-CN" dirty="0"/>
              <a:t>3.</a:t>
            </a:r>
            <a:r>
              <a:rPr lang="zh-CN" altLang="en-US" dirty="0"/>
              <a:t>如果读者连绵不断而写者到来，写者能否打断读者并夺回控制权？</a:t>
            </a:r>
          </a:p>
        </p:txBody>
      </p:sp>
      <p:sp>
        <p:nvSpPr>
          <p:cNvPr id="24" name="标题 1">
            <a:extLst>
              <a:ext uri="{FF2B5EF4-FFF2-40B4-BE49-F238E27FC236}">
                <a16:creationId xmlns:a16="http://schemas.microsoft.com/office/drawing/2014/main" id="{3E181D24-24FA-FB2F-273E-6D2AC0930E6B}"/>
              </a:ext>
            </a:extLst>
          </p:cNvPr>
          <p:cNvSpPr>
            <a:spLocks noGrp="1"/>
          </p:cNvSpPr>
          <p:nvPr>
            <p:ph type="title"/>
          </p:nvPr>
        </p:nvSpPr>
        <p:spPr>
          <a:xfrm>
            <a:off x="695400" y="871855"/>
            <a:ext cx="10801200" cy="680403"/>
          </a:xfrm>
        </p:spPr>
        <p:txBody>
          <a:bodyPr>
            <a:normAutofit/>
          </a:bodyPr>
          <a:lstStyle/>
          <a:p>
            <a:r>
              <a:rPr lang="zh-CN" altLang="en-US" dirty="0"/>
              <a:t>用信号量解决读者</a:t>
            </a:r>
            <a:r>
              <a:rPr lang="en-US" altLang="zh-CN" dirty="0"/>
              <a:t>-</a:t>
            </a:r>
            <a:r>
              <a:rPr lang="zh-CN" altLang="en-US" dirty="0"/>
              <a:t>写者问题</a:t>
            </a:r>
          </a:p>
        </p:txBody>
      </p:sp>
    </p:spTree>
    <p:extLst>
      <p:ext uri="{BB962C8B-B14F-4D97-AF65-F5344CB8AC3E}">
        <p14:creationId xmlns:p14="http://schemas.microsoft.com/office/powerpoint/2010/main" val="42794098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3"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50C0DBBB-BA6B-4059-9B20-E1A0D8AE692B}" type="slidenum">
              <a:rPr lang="en-US" altLang="ko-KR" sz="1200">
                <a:solidFill>
                  <a:schemeClr val="bg1"/>
                </a:solidFill>
              </a:rPr>
              <a:pPr>
                <a:spcBef>
                  <a:spcPct val="0"/>
                </a:spcBef>
                <a:buClrTx/>
                <a:buSzTx/>
                <a:buFontTx/>
                <a:buNone/>
              </a:pPr>
              <a:t>49</a:t>
            </a:fld>
            <a:endParaRPr lang="en-US" altLang="ko-KR" sz="1200">
              <a:solidFill>
                <a:schemeClr val="bg1"/>
              </a:solidFill>
            </a:endParaRPr>
          </a:p>
        </p:txBody>
      </p:sp>
      <p:sp>
        <p:nvSpPr>
          <p:cNvPr id="130050" name="标题 1"/>
          <p:cNvSpPr>
            <a:spLocks noGrp="1"/>
          </p:cNvSpPr>
          <p:nvPr>
            <p:ph type="title"/>
          </p:nvPr>
        </p:nvSpPr>
        <p:spPr>
          <a:prstGeom prst="rect">
            <a:avLst/>
          </a:prstGeom>
        </p:spPr>
        <p:txBody>
          <a:bodyPr/>
          <a:lstStyle/>
          <a:p>
            <a:r>
              <a:rPr lang="en-US" altLang="zh-CN">
                <a:ea typeface="宋体" panose="02010600030101010101" pitchFamily="2" charset="-122"/>
              </a:rPr>
              <a:t>IPC problem: Sleeping Barber</a:t>
            </a:r>
            <a:endParaRPr lang="zh-CN" altLang="en-US">
              <a:ea typeface="宋体" panose="02010600030101010101" pitchFamily="2" charset="-122"/>
            </a:endParaRPr>
          </a:p>
        </p:txBody>
      </p:sp>
      <p:sp>
        <p:nvSpPr>
          <p:cNvPr id="130054" name="内容占位符 2"/>
          <p:cNvSpPr>
            <a:spLocks noGrp="1"/>
          </p:cNvSpPr>
          <p:nvPr>
            <p:ph idx="1"/>
          </p:nvPr>
        </p:nvSpPr>
        <p:spPr>
          <a:prstGeom prst="rect">
            <a:avLst/>
          </a:prstGeom>
        </p:spPr>
        <p:txBody>
          <a:bodyPr/>
          <a:lstStyle/>
          <a:p>
            <a:pPr>
              <a:lnSpc>
                <a:spcPct val="110000"/>
              </a:lnSpc>
            </a:pPr>
            <a:r>
              <a:rPr lang="en-US" altLang="zh-CN">
                <a:ea typeface="宋体" panose="02010600030101010101" pitchFamily="2" charset="-122"/>
              </a:rPr>
              <a:t>Problem description</a:t>
            </a:r>
          </a:p>
          <a:p>
            <a:pPr lvl="1">
              <a:lnSpc>
                <a:spcPct val="110000"/>
              </a:lnSpc>
            </a:pPr>
            <a:r>
              <a:rPr lang="en-US" altLang="zh-CN">
                <a:ea typeface="宋体" panose="02010600030101010101" pitchFamily="2" charset="-122"/>
              </a:rPr>
              <a:t>One chair for barbering, and N chairs for waiting</a:t>
            </a:r>
          </a:p>
          <a:p>
            <a:pPr lvl="1">
              <a:lnSpc>
                <a:spcPct val="110000"/>
              </a:lnSpc>
            </a:pPr>
            <a:r>
              <a:rPr lang="en-US" altLang="zh-CN">
                <a:ea typeface="宋体" panose="02010600030101010101" pitchFamily="2" charset="-122"/>
              </a:rPr>
              <a:t>Customer: occupy barbering chair, or sit on waiting chair, or leaving when all chairs are full</a:t>
            </a:r>
          </a:p>
          <a:p>
            <a:pPr lvl="1">
              <a:lnSpc>
                <a:spcPct val="110000"/>
              </a:lnSpc>
            </a:pPr>
            <a:r>
              <a:rPr lang="en-US" altLang="zh-CN">
                <a:ea typeface="宋体" panose="02010600030101010101" pitchFamily="2" charset="-122"/>
              </a:rPr>
              <a:t>Barber: 0 customer sleeping, or working</a:t>
            </a:r>
          </a:p>
        </p:txBody>
      </p:sp>
      <p:pic>
        <p:nvPicPr>
          <p:cNvPr id="8" name="Picture 6" descr="睡眠理发师"/>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6614" y="2143125"/>
            <a:ext cx="4751387" cy="344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90160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9"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7C04A739-7D65-4C56-AD09-F32264E640C1}" type="slidenum">
              <a:rPr lang="en-US" altLang="ko-KR" sz="1200">
                <a:solidFill>
                  <a:schemeClr val="bg1"/>
                </a:solidFill>
              </a:rPr>
              <a:pPr>
                <a:spcBef>
                  <a:spcPct val="0"/>
                </a:spcBef>
                <a:buClrTx/>
                <a:buSzTx/>
                <a:buFontTx/>
                <a:buNone/>
              </a:pPr>
              <a:t>50</a:t>
            </a:fld>
            <a:endParaRPr lang="en-US" altLang="ko-KR" sz="1200">
              <a:solidFill>
                <a:schemeClr val="bg1"/>
              </a:solidFill>
            </a:endParaRPr>
          </a:p>
        </p:txBody>
      </p:sp>
      <p:sp>
        <p:nvSpPr>
          <p:cNvPr id="195586" name="标题 1"/>
          <p:cNvSpPr>
            <a:spLocks noGrp="1"/>
          </p:cNvSpPr>
          <p:nvPr>
            <p:ph type="title"/>
          </p:nvPr>
        </p:nvSpPr>
        <p:spPr>
          <a:prstGeom prst="rect">
            <a:avLst/>
          </a:prstGeom>
        </p:spPr>
        <p:txBody>
          <a:bodyPr/>
          <a:lstStyle/>
          <a:p>
            <a:r>
              <a:rPr lang="en-US" altLang="zh-CN">
                <a:ea typeface="宋体" panose="02010600030101010101" pitchFamily="2" charset="-122"/>
              </a:rPr>
              <a:t>Analysis of “Sleeping Barber”</a:t>
            </a:r>
            <a:endParaRPr lang="zh-CN" altLang="en-US">
              <a:ea typeface="宋体" panose="02010600030101010101" pitchFamily="2" charset="-122"/>
            </a:endParaRPr>
          </a:p>
        </p:txBody>
      </p:sp>
      <p:sp>
        <p:nvSpPr>
          <p:cNvPr id="195590" name="内容占位符 2"/>
          <p:cNvSpPr>
            <a:spLocks noGrp="1"/>
          </p:cNvSpPr>
          <p:nvPr>
            <p:ph idx="1"/>
          </p:nvPr>
        </p:nvSpPr>
        <p:spPr>
          <a:prstGeom prst="rect">
            <a:avLst/>
          </a:prstGeom>
        </p:spPr>
        <p:txBody>
          <a:bodyPr/>
          <a:lstStyle/>
          <a:p>
            <a:pPr>
              <a:lnSpc>
                <a:spcPct val="110000"/>
              </a:lnSpc>
            </a:pPr>
            <a:r>
              <a:rPr lang="en-US" altLang="zh-CN">
                <a:ea typeface="宋体" panose="02010600030101010101" pitchFamily="2" charset="-122"/>
              </a:rPr>
              <a:t>Mutual exclusion</a:t>
            </a:r>
          </a:p>
          <a:p>
            <a:pPr lvl="1">
              <a:lnSpc>
                <a:spcPct val="110000"/>
              </a:lnSpc>
            </a:pPr>
            <a:r>
              <a:rPr lang="en-US" altLang="zh-CN">
                <a:ea typeface="宋体" panose="02010600030101010101" pitchFamily="2" charset="-122"/>
              </a:rPr>
              <a:t>Barbing chair: only one customer can use it</a:t>
            </a:r>
          </a:p>
          <a:p>
            <a:pPr>
              <a:lnSpc>
                <a:spcPct val="110000"/>
              </a:lnSpc>
            </a:pPr>
            <a:r>
              <a:rPr lang="en-US" altLang="zh-CN">
                <a:ea typeface="宋体" panose="02010600030101010101" pitchFamily="2" charset="-122"/>
              </a:rPr>
              <a:t>Synchronism</a:t>
            </a:r>
          </a:p>
          <a:p>
            <a:pPr lvl="1">
              <a:lnSpc>
                <a:spcPct val="110000"/>
              </a:lnSpc>
            </a:pPr>
            <a:r>
              <a:rPr lang="en-US" altLang="zh-CN">
                <a:ea typeface="宋体" panose="02010600030101010101" pitchFamily="2" charset="-122"/>
              </a:rPr>
              <a:t>Barber will sleep until customer appeared</a:t>
            </a:r>
          </a:p>
          <a:p>
            <a:pPr lvl="1">
              <a:lnSpc>
                <a:spcPct val="110000"/>
              </a:lnSpc>
            </a:pPr>
            <a:r>
              <a:rPr lang="en-US" altLang="zh-CN">
                <a:ea typeface="宋体" panose="02010600030101010101" pitchFamily="2" charset="-122"/>
              </a:rPr>
              <a:t>The waiting chair is a “producer-consumer” problem</a:t>
            </a:r>
          </a:p>
          <a:p>
            <a:pPr lvl="1">
              <a:lnSpc>
                <a:spcPct val="110000"/>
              </a:lnSpc>
            </a:pPr>
            <a:endParaRPr lang="en-US" altLang="zh-CN">
              <a:ea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3"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829AE28D-8CC5-4AB4-BB11-44D7CA871B6E}" type="slidenum">
              <a:rPr lang="en-US" altLang="ko-KR" sz="1200">
                <a:solidFill>
                  <a:schemeClr val="bg1"/>
                </a:solidFill>
              </a:rPr>
              <a:pPr>
                <a:spcBef>
                  <a:spcPct val="0"/>
                </a:spcBef>
                <a:buClrTx/>
                <a:buSzTx/>
                <a:buFontTx/>
                <a:buNone/>
              </a:pPr>
              <a:t>51</a:t>
            </a:fld>
            <a:endParaRPr lang="en-US" altLang="ko-KR" sz="1200">
              <a:solidFill>
                <a:schemeClr val="bg1"/>
              </a:solidFill>
            </a:endParaRPr>
          </a:p>
        </p:txBody>
      </p:sp>
      <p:sp>
        <p:nvSpPr>
          <p:cNvPr id="196610" name="标题 1"/>
          <p:cNvSpPr>
            <a:spLocks noGrp="1"/>
          </p:cNvSpPr>
          <p:nvPr>
            <p:ph type="title"/>
          </p:nvPr>
        </p:nvSpPr>
        <p:spPr>
          <a:prstGeom prst="rect">
            <a:avLst/>
          </a:prstGeom>
        </p:spPr>
        <p:txBody>
          <a:bodyPr/>
          <a:lstStyle/>
          <a:p>
            <a:r>
              <a:rPr lang="en-US" altLang="zh-CN">
                <a:ea typeface="宋体" panose="02010600030101010101" pitchFamily="2" charset="-122"/>
              </a:rPr>
              <a:t>Solution of “Sleeping barber”</a:t>
            </a:r>
            <a:endParaRPr lang="zh-CN" altLang="en-US">
              <a:ea typeface="宋体" panose="02010600030101010101" pitchFamily="2" charset="-122"/>
            </a:endParaRPr>
          </a:p>
        </p:txBody>
      </p:sp>
      <p:sp>
        <p:nvSpPr>
          <p:cNvPr id="8" name="Text Box 4"/>
          <p:cNvSpPr txBox="1">
            <a:spLocks noChangeArrowheads="1"/>
          </p:cNvSpPr>
          <p:nvPr/>
        </p:nvSpPr>
        <p:spPr bwMode="auto">
          <a:xfrm>
            <a:off x="1952625" y="2222078"/>
            <a:ext cx="2662238" cy="1889125"/>
          </a:xfrm>
          <a:prstGeom prst="rect">
            <a:avLst/>
          </a:prstGeom>
          <a:solidFill>
            <a:schemeClr val="bg1"/>
          </a:solidFill>
          <a:ln w="9525">
            <a:solidFill>
              <a:srgbClr val="000000"/>
            </a:solidFill>
            <a:miter lim="800000"/>
            <a:headEnd/>
            <a:tailEnd/>
          </a:ln>
          <a:effectLst/>
        </p:spPr>
        <p:txBody>
          <a:bodyPr>
            <a:spAutoFit/>
          </a:bodyPr>
          <a:lstStyle/>
          <a:p>
            <a:pPr>
              <a:lnSpc>
                <a:spcPct val="80000"/>
              </a:lnSpc>
              <a:spcBef>
                <a:spcPct val="50000"/>
              </a:spcBef>
              <a:buSzPct val="80000"/>
              <a:buFont typeface="Wingdings" panose="05000000000000000000" pitchFamily="2" charset="2"/>
              <a:buNone/>
              <a:defRPr/>
            </a:pPr>
            <a:r>
              <a:rPr lang="en-US" altLang="zh-CN" sz="1600" b="1" dirty="0">
                <a:solidFill>
                  <a:schemeClr val="accent5">
                    <a:lumMod val="50000"/>
                  </a:schemeClr>
                </a:solidFill>
                <a:effectLst>
                  <a:outerShdw blurRad="38100" dist="38100" dir="2700000" algn="tl">
                    <a:srgbClr val="C0C0C0"/>
                  </a:outerShdw>
                </a:effectLst>
              </a:rPr>
              <a:t>#define CHAIRS    N</a:t>
            </a:r>
          </a:p>
          <a:p>
            <a:pPr>
              <a:lnSpc>
                <a:spcPct val="80000"/>
              </a:lnSpc>
              <a:spcBef>
                <a:spcPct val="50000"/>
              </a:spcBef>
              <a:buSzPct val="80000"/>
              <a:buFont typeface="Wingdings" panose="05000000000000000000" pitchFamily="2" charset="2"/>
              <a:buNone/>
              <a:defRPr/>
            </a:pPr>
            <a:r>
              <a:rPr lang="en-US" altLang="zh-CN" sz="1600" b="1" dirty="0" err="1">
                <a:solidFill>
                  <a:schemeClr val="accent5">
                    <a:lumMod val="50000"/>
                  </a:schemeClr>
                </a:solidFill>
                <a:effectLst>
                  <a:outerShdw blurRad="38100" dist="38100" dir="2700000" algn="tl">
                    <a:srgbClr val="C0C0C0"/>
                  </a:outerShdw>
                </a:effectLst>
              </a:rPr>
              <a:t>typedef</a:t>
            </a:r>
            <a:r>
              <a:rPr lang="en-US" altLang="zh-CN" sz="1600" b="1" dirty="0">
                <a:solidFill>
                  <a:schemeClr val="accent5">
                    <a:lumMod val="50000"/>
                  </a:schemeClr>
                </a:solidFill>
                <a:effectLst>
                  <a:outerShdw blurRad="38100" dist="38100" dir="2700000" algn="tl">
                    <a:srgbClr val="C0C0C0"/>
                  </a:outerShdw>
                </a:effectLst>
              </a:rPr>
              <a:t> </a:t>
            </a:r>
            <a:r>
              <a:rPr lang="en-US" altLang="zh-CN" sz="1600" b="1" dirty="0" err="1">
                <a:solidFill>
                  <a:schemeClr val="accent5">
                    <a:lumMod val="50000"/>
                  </a:schemeClr>
                </a:solidFill>
                <a:effectLst>
                  <a:outerShdw blurRad="38100" dist="38100" dir="2700000" algn="tl">
                    <a:srgbClr val="C0C0C0"/>
                  </a:outerShdw>
                </a:effectLst>
              </a:rPr>
              <a:t>int</a:t>
            </a:r>
            <a:r>
              <a:rPr lang="en-US" altLang="zh-CN" sz="1600" b="1" dirty="0">
                <a:solidFill>
                  <a:schemeClr val="accent5">
                    <a:lumMod val="50000"/>
                  </a:schemeClr>
                </a:solidFill>
                <a:effectLst>
                  <a:outerShdw blurRad="38100" dist="38100" dir="2700000" algn="tl">
                    <a:srgbClr val="C0C0C0"/>
                  </a:outerShdw>
                </a:effectLst>
              </a:rPr>
              <a:t> </a:t>
            </a:r>
            <a:r>
              <a:rPr lang="en-US" altLang="zh-CN" sz="1600" b="1" dirty="0" err="1">
                <a:solidFill>
                  <a:schemeClr val="accent5">
                    <a:lumMod val="50000"/>
                  </a:schemeClr>
                </a:solidFill>
                <a:effectLst>
                  <a:outerShdw blurRad="38100" dist="38100" dir="2700000" algn="tl">
                    <a:srgbClr val="C0C0C0"/>
                  </a:outerShdw>
                </a:effectLst>
              </a:rPr>
              <a:t>semph</a:t>
            </a:r>
            <a:endParaRPr lang="en-US" altLang="zh-CN" sz="1600" b="1" dirty="0">
              <a:solidFill>
                <a:schemeClr val="accent5">
                  <a:lumMod val="50000"/>
                </a:schemeClr>
              </a:solidFill>
              <a:effectLst>
                <a:outerShdw blurRad="38100" dist="38100" dir="2700000" algn="tl">
                  <a:srgbClr val="C0C0C0"/>
                </a:outerShdw>
              </a:effectLst>
            </a:endParaRPr>
          </a:p>
          <a:p>
            <a:pPr>
              <a:lnSpc>
                <a:spcPct val="80000"/>
              </a:lnSpc>
              <a:spcBef>
                <a:spcPct val="50000"/>
              </a:spcBef>
              <a:buSzPct val="80000"/>
              <a:buFont typeface="Wingdings" panose="05000000000000000000" pitchFamily="2" charset="2"/>
              <a:buNone/>
              <a:defRPr/>
            </a:pPr>
            <a:r>
              <a:rPr lang="en-US" altLang="zh-CN" sz="1600" b="1" dirty="0" err="1">
                <a:solidFill>
                  <a:schemeClr val="accent5">
                    <a:lumMod val="50000"/>
                  </a:schemeClr>
                </a:solidFill>
                <a:effectLst>
                  <a:outerShdw blurRad="38100" dist="38100" dir="2700000" algn="tl">
                    <a:srgbClr val="C0C0C0"/>
                  </a:outerShdw>
                </a:effectLst>
              </a:rPr>
              <a:t>semph</a:t>
            </a:r>
            <a:r>
              <a:rPr lang="en-US" altLang="zh-CN" sz="1600" b="1" dirty="0">
                <a:solidFill>
                  <a:schemeClr val="accent5">
                    <a:lumMod val="50000"/>
                  </a:schemeClr>
                </a:solidFill>
                <a:effectLst>
                  <a:outerShdw blurRad="38100" dist="38100" dir="2700000" algn="tl">
                    <a:srgbClr val="C0C0C0"/>
                  </a:outerShdw>
                </a:effectLst>
              </a:rPr>
              <a:t> customer = 0;</a:t>
            </a:r>
          </a:p>
          <a:p>
            <a:pPr>
              <a:lnSpc>
                <a:spcPct val="80000"/>
              </a:lnSpc>
              <a:spcBef>
                <a:spcPct val="50000"/>
              </a:spcBef>
              <a:buSzPct val="80000"/>
              <a:buFont typeface="Wingdings" panose="05000000000000000000" pitchFamily="2" charset="2"/>
              <a:buNone/>
              <a:defRPr/>
            </a:pPr>
            <a:r>
              <a:rPr lang="en-US" altLang="zh-CN" sz="1600" b="1" dirty="0" err="1">
                <a:solidFill>
                  <a:schemeClr val="accent5">
                    <a:lumMod val="50000"/>
                  </a:schemeClr>
                </a:solidFill>
                <a:effectLst>
                  <a:outerShdw blurRad="38100" dist="38100" dir="2700000" algn="tl">
                    <a:srgbClr val="C0C0C0"/>
                  </a:outerShdw>
                </a:effectLst>
              </a:rPr>
              <a:t>semph</a:t>
            </a:r>
            <a:r>
              <a:rPr lang="en-US" altLang="zh-CN" sz="1600" b="1" dirty="0">
                <a:solidFill>
                  <a:schemeClr val="accent5">
                    <a:lumMod val="50000"/>
                  </a:schemeClr>
                </a:solidFill>
                <a:effectLst>
                  <a:outerShdw blurRad="38100" dist="38100" dir="2700000" algn="tl">
                    <a:srgbClr val="C0C0C0"/>
                  </a:outerShdw>
                </a:effectLst>
              </a:rPr>
              <a:t> barer = 0;</a:t>
            </a:r>
          </a:p>
          <a:p>
            <a:pPr>
              <a:lnSpc>
                <a:spcPct val="80000"/>
              </a:lnSpc>
              <a:spcBef>
                <a:spcPct val="50000"/>
              </a:spcBef>
              <a:buSzPct val="80000"/>
              <a:buFont typeface="Wingdings" panose="05000000000000000000" pitchFamily="2" charset="2"/>
              <a:buNone/>
              <a:defRPr/>
            </a:pPr>
            <a:r>
              <a:rPr lang="en-US" altLang="zh-CN" sz="1600" b="1" dirty="0" err="1">
                <a:solidFill>
                  <a:schemeClr val="accent5">
                    <a:lumMod val="50000"/>
                  </a:schemeClr>
                </a:solidFill>
                <a:effectLst>
                  <a:outerShdw blurRad="38100" dist="38100" dir="2700000" algn="tl">
                    <a:srgbClr val="C0C0C0"/>
                  </a:outerShdw>
                </a:effectLst>
              </a:rPr>
              <a:t>semph</a:t>
            </a:r>
            <a:r>
              <a:rPr lang="en-US" altLang="zh-CN" sz="1600" b="1" dirty="0">
                <a:solidFill>
                  <a:schemeClr val="accent5">
                    <a:lumMod val="50000"/>
                  </a:schemeClr>
                </a:solidFill>
                <a:effectLst>
                  <a:outerShdw blurRad="38100" dist="38100" dir="2700000" algn="tl">
                    <a:srgbClr val="C0C0C0"/>
                  </a:outerShdw>
                </a:effectLst>
              </a:rPr>
              <a:t> </a:t>
            </a:r>
            <a:r>
              <a:rPr lang="en-US" altLang="zh-CN" sz="1600" b="1" dirty="0" err="1">
                <a:solidFill>
                  <a:schemeClr val="accent5">
                    <a:lumMod val="50000"/>
                  </a:schemeClr>
                </a:solidFill>
                <a:effectLst>
                  <a:outerShdw blurRad="38100" dist="38100" dir="2700000" algn="tl">
                    <a:srgbClr val="C0C0C0"/>
                  </a:outerShdw>
                </a:effectLst>
              </a:rPr>
              <a:t>mutex</a:t>
            </a:r>
            <a:r>
              <a:rPr lang="en-US" altLang="zh-CN" sz="1600" b="1" dirty="0">
                <a:solidFill>
                  <a:schemeClr val="accent5">
                    <a:lumMod val="50000"/>
                  </a:schemeClr>
                </a:solidFill>
                <a:effectLst>
                  <a:outerShdw blurRad="38100" dist="38100" dir="2700000" algn="tl">
                    <a:srgbClr val="C0C0C0"/>
                  </a:outerShdw>
                </a:effectLst>
              </a:rPr>
              <a:t> = 1;</a:t>
            </a:r>
          </a:p>
          <a:p>
            <a:pPr>
              <a:lnSpc>
                <a:spcPct val="80000"/>
              </a:lnSpc>
              <a:spcBef>
                <a:spcPct val="50000"/>
              </a:spcBef>
              <a:buSzPct val="80000"/>
              <a:buFont typeface="Wingdings" panose="05000000000000000000" pitchFamily="2" charset="2"/>
              <a:buNone/>
              <a:defRPr/>
            </a:pPr>
            <a:r>
              <a:rPr lang="en-US" altLang="zh-CN" sz="1600" b="1" dirty="0" err="1">
                <a:solidFill>
                  <a:schemeClr val="accent5">
                    <a:lumMod val="50000"/>
                  </a:schemeClr>
                </a:solidFill>
                <a:effectLst>
                  <a:outerShdw blurRad="38100" dist="38100" dir="2700000" algn="tl">
                    <a:srgbClr val="C0C0C0"/>
                  </a:outerShdw>
                </a:effectLst>
              </a:rPr>
              <a:t>int</a:t>
            </a:r>
            <a:r>
              <a:rPr lang="en-US" altLang="zh-CN" sz="1600" b="1" dirty="0">
                <a:solidFill>
                  <a:schemeClr val="accent5">
                    <a:lumMod val="50000"/>
                  </a:schemeClr>
                </a:solidFill>
                <a:effectLst>
                  <a:outerShdw blurRad="38100" dist="38100" dir="2700000" algn="tl">
                    <a:srgbClr val="C0C0C0"/>
                  </a:outerShdw>
                </a:effectLst>
              </a:rPr>
              <a:t> waiting = 0;</a:t>
            </a:r>
          </a:p>
        </p:txBody>
      </p:sp>
      <p:sp>
        <p:nvSpPr>
          <p:cNvPr id="9" name="Text Box 5"/>
          <p:cNvSpPr txBox="1">
            <a:spLocks noChangeArrowheads="1"/>
          </p:cNvSpPr>
          <p:nvPr/>
        </p:nvSpPr>
        <p:spPr bwMode="auto">
          <a:xfrm>
            <a:off x="4667250" y="1709315"/>
            <a:ext cx="2833688" cy="3776662"/>
          </a:xfrm>
          <a:prstGeom prst="rect">
            <a:avLst/>
          </a:prstGeom>
          <a:noFill/>
          <a:ln w="9525">
            <a:solidFill>
              <a:srgbClr val="9C4E00"/>
            </a:solidFill>
            <a:miter lim="800000"/>
            <a:headEnd/>
            <a:tailEnd/>
          </a:ln>
          <a:effectLst/>
        </p:spPr>
        <p:txBody>
          <a:bodyPr>
            <a:spAutoFit/>
          </a:bodyPr>
          <a:lstStyle/>
          <a:p>
            <a:pPr algn="ct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barber</a:t>
            </a:r>
            <a:endParaRPr lang="zh-CN" altLang="en-US" b="1" dirty="0">
              <a:solidFill>
                <a:srgbClr val="9C4E00"/>
              </a:solidFill>
              <a:effectLst>
                <a:outerShdw blurRad="38100" dist="38100" dir="2700000" algn="tl">
                  <a:srgbClr val="C0C0C0"/>
                </a:outerShdw>
              </a:effectLst>
            </a:endParaRP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While(TRUE)</a:t>
            </a: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b="1" dirty="0">
                <a:solidFill>
                  <a:srgbClr val="FF0000"/>
                </a:solidFill>
                <a:effectLst>
                  <a:outerShdw blurRad="38100" dist="38100" dir="2700000" algn="tl">
                    <a:srgbClr val="C0C0C0"/>
                  </a:outerShdw>
                </a:effectLst>
              </a:rPr>
              <a:t>P(customer);</a:t>
            </a:r>
          </a:p>
          <a:p>
            <a:pPr>
              <a:lnSpc>
                <a:spcPct val="80000"/>
              </a:lnSpc>
              <a:spcBef>
                <a:spcPct val="50000"/>
              </a:spcBef>
              <a:buSzPct val="80000"/>
              <a:buFont typeface="Wingdings" panose="05000000000000000000" pitchFamily="2" charset="2"/>
              <a:buNone/>
              <a:defRPr/>
            </a:pPr>
            <a:r>
              <a:rPr lang="en-US" altLang="zh-CN" b="1" dirty="0">
                <a:solidFill>
                  <a:schemeClr val="accent5">
                    <a:lumMod val="50000"/>
                  </a:schemeClr>
                </a:solidFill>
                <a:effectLst>
                  <a:outerShdw blurRad="38100" dist="38100" dir="2700000" algn="tl">
                    <a:srgbClr val="C0C0C0"/>
                  </a:outerShdw>
                </a:effectLst>
              </a:rPr>
              <a:t>P(</a:t>
            </a:r>
            <a:r>
              <a:rPr lang="en-US" altLang="zh-CN" b="1" dirty="0" err="1">
                <a:solidFill>
                  <a:schemeClr val="accent5">
                    <a:lumMod val="50000"/>
                  </a:schemeClr>
                </a:solidFill>
                <a:effectLst>
                  <a:outerShdw blurRad="38100" dist="38100" dir="2700000" algn="tl">
                    <a:srgbClr val="C0C0C0"/>
                  </a:outerShdw>
                </a:effectLst>
              </a:rPr>
              <a:t>mutex</a:t>
            </a:r>
            <a:r>
              <a:rPr lang="en-US" altLang="zh-CN" b="1" dirty="0">
                <a:solidFill>
                  <a:schemeClr val="accent5">
                    <a:lumMod val="50000"/>
                  </a:schemeClr>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waiting = waiting </a:t>
            </a:r>
            <a:r>
              <a:rPr lang="en-US" altLang="zh-CN" b="1" dirty="0">
                <a:solidFill>
                  <a:srgbClr val="9C4E00"/>
                </a:solidFill>
                <a:effectLst>
                  <a:outerShdw blurRad="38100" dist="38100" dir="2700000" algn="tl">
                    <a:srgbClr val="C0C0C0"/>
                  </a:outerShdw>
                </a:effectLst>
                <a:latin typeface="Arial"/>
              </a:rPr>
              <a:t>–</a:t>
            </a:r>
            <a:r>
              <a:rPr lang="en-US" altLang="zh-CN" b="1" dirty="0">
                <a:solidFill>
                  <a:srgbClr val="9C4E00"/>
                </a:solidFill>
                <a:effectLst>
                  <a:outerShdw blurRad="38100" dist="38100" dir="2700000" algn="tl">
                    <a:srgbClr val="C0C0C0"/>
                  </a:outerShdw>
                </a:effectLst>
              </a:rPr>
              <a:t> 1;</a:t>
            </a:r>
          </a:p>
          <a:p>
            <a:pPr>
              <a:lnSpc>
                <a:spcPct val="80000"/>
              </a:lnSpc>
              <a:spcBef>
                <a:spcPct val="50000"/>
              </a:spcBef>
              <a:buSzPct val="80000"/>
              <a:buFont typeface="Wingdings" panose="05000000000000000000" pitchFamily="2" charset="2"/>
              <a:buNone/>
              <a:defRPr/>
            </a:pPr>
            <a:r>
              <a:rPr lang="en-US" altLang="zh-CN" b="1" dirty="0">
                <a:solidFill>
                  <a:srgbClr val="FF0000"/>
                </a:solidFill>
                <a:effectLst>
                  <a:outerShdw blurRad="38100" dist="38100" dir="2700000" algn="tl">
                    <a:srgbClr val="C0C0C0"/>
                  </a:outerShdw>
                </a:effectLst>
              </a:rPr>
              <a:t>V(barbers);</a:t>
            </a:r>
          </a:p>
          <a:p>
            <a:pPr>
              <a:lnSpc>
                <a:spcPct val="80000"/>
              </a:lnSpc>
              <a:spcBef>
                <a:spcPct val="50000"/>
              </a:spcBef>
              <a:buSzPct val="80000"/>
              <a:buFont typeface="Wingdings" panose="05000000000000000000" pitchFamily="2" charset="2"/>
              <a:buNone/>
              <a:defRPr/>
            </a:pPr>
            <a:r>
              <a:rPr lang="en-US" altLang="zh-CN" b="1" dirty="0">
                <a:solidFill>
                  <a:schemeClr val="accent5">
                    <a:lumMod val="50000"/>
                  </a:schemeClr>
                </a:solidFill>
                <a:effectLst>
                  <a:outerShdw blurRad="38100" dist="38100" dir="2700000" algn="tl">
                    <a:srgbClr val="C0C0C0"/>
                  </a:outerShdw>
                </a:effectLst>
              </a:rPr>
              <a:t>V(</a:t>
            </a:r>
            <a:r>
              <a:rPr lang="en-US" altLang="zh-CN" b="1" dirty="0" err="1">
                <a:solidFill>
                  <a:schemeClr val="accent5">
                    <a:lumMod val="50000"/>
                  </a:schemeClr>
                </a:solidFill>
                <a:effectLst>
                  <a:outerShdw blurRad="38100" dist="38100" dir="2700000" algn="tl">
                    <a:srgbClr val="C0C0C0"/>
                  </a:outerShdw>
                </a:effectLst>
              </a:rPr>
              <a:t>mutex</a:t>
            </a:r>
            <a:r>
              <a:rPr lang="en-US" altLang="zh-CN" b="1" dirty="0">
                <a:solidFill>
                  <a:schemeClr val="accent5">
                    <a:lumMod val="50000"/>
                  </a:schemeClr>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barbering();</a:t>
            </a: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a:t>
            </a:r>
          </a:p>
        </p:txBody>
      </p:sp>
      <p:sp>
        <p:nvSpPr>
          <p:cNvPr id="10" name="Text Box 6"/>
          <p:cNvSpPr txBox="1">
            <a:spLocks noChangeArrowheads="1"/>
          </p:cNvSpPr>
          <p:nvPr/>
        </p:nvSpPr>
        <p:spPr bwMode="auto">
          <a:xfrm>
            <a:off x="7596189" y="1718841"/>
            <a:ext cx="3000375" cy="4662487"/>
          </a:xfrm>
          <a:prstGeom prst="rect">
            <a:avLst/>
          </a:prstGeom>
          <a:noFill/>
          <a:ln w="9525">
            <a:solidFill>
              <a:srgbClr val="9C4E00"/>
            </a:solidFill>
            <a:miter lim="800000"/>
            <a:headEnd/>
            <a:tailEnd/>
          </a:ln>
          <a:effectLst/>
        </p:spPr>
        <p:txBody>
          <a:bodyPr>
            <a:spAutoFit/>
          </a:bodyPr>
          <a:lstStyle/>
          <a:p>
            <a:pPr algn="ct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customer</a:t>
            </a:r>
            <a:endParaRPr lang="zh-CN" altLang="en-US" b="1" dirty="0">
              <a:solidFill>
                <a:srgbClr val="9C4E00"/>
              </a:solidFill>
              <a:effectLst>
                <a:outerShdw blurRad="38100" dist="38100" dir="2700000" algn="tl">
                  <a:srgbClr val="C0C0C0"/>
                </a:outerShdw>
              </a:effectLst>
            </a:endParaRP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While(TRUE)</a:t>
            </a: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b="1" dirty="0">
                <a:solidFill>
                  <a:schemeClr val="accent5">
                    <a:lumMod val="50000"/>
                  </a:schemeClr>
                </a:solidFill>
                <a:effectLst>
                  <a:outerShdw blurRad="38100" dist="38100" dir="2700000" algn="tl">
                    <a:srgbClr val="C0C0C0"/>
                  </a:outerShdw>
                </a:effectLst>
              </a:rPr>
              <a:t>P(</a:t>
            </a:r>
            <a:r>
              <a:rPr lang="en-US" altLang="zh-CN" b="1" dirty="0" err="1">
                <a:solidFill>
                  <a:schemeClr val="accent5">
                    <a:lumMod val="50000"/>
                  </a:schemeClr>
                </a:solidFill>
                <a:effectLst>
                  <a:outerShdw blurRad="38100" dist="38100" dir="2700000" algn="tl">
                    <a:srgbClr val="C0C0C0"/>
                  </a:outerShdw>
                </a:effectLst>
              </a:rPr>
              <a:t>mutex</a:t>
            </a:r>
            <a:r>
              <a:rPr lang="en-US" altLang="zh-CN" b="1" dirty="0">
                <a:solidFill>
                  <a:schemeClr val="accent5">
                    <a:lumMod val="50000"/>
                  </a:schemeClr>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if(waiting &lt; CHAIRS)</a:t>
            </a: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   {</a:t>
            </a: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       waiting += 1;</a:t>
            </a: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       </a:t>
            </a:r>
            <a:r>
              <a:rPr lang="en-US" altLang="zh-CN" b="1" dirty="0">
                <a:solidFill>
                  <a:srgbClr val="FF0000"/>
                </a:solidFill>
                <a:effectLst>
                  <a:outerShdw blurRad="38100" dist="38100" dir="2700000" algn="tl">
                    <a:srgbClr val="C0C0C0"/>
                  </a:outerShdw>
                </a:effectLst>
              </a:rPr>
              <a:t>V(customer);</a:t>
            </a:r>
          </a:p>
          <a:p>
            <a:pPr>
              <a:lnSpc>
                <a:spcPct val="80000"/>
              </a:lnSpc>
              <a:spcBef>
                <a:spcPct val="20000"/>
              </a:spcBef>
              <a:buSzPct val="80000"/>
              <a:buFont typeface="Wingdings" panose="05000000000000000000" pitchFamily="2" charset="2"/>
              <a:buNone/>
              <a:defRPr/>
            </a:pPr>
            <a:r>
              <a:rPr lang="en-US" altLang="zh-CN" b="1" dirty="0">
                <a:solidFill>
                  <a:schemeClr val="accent5">
                    <a:lumMod val="50000"/>
                  </a:schemeClr>
                </a:solidFill>
                <a:effectLst>
                  <a:outerShdw blurRad="38100" dist="38100" dir="2700000" algn="tl">
                    <a:srgbClr val="C0C0C0"/>
                  </a:outerShdw>
                </a:effectLst>
              </a:rPr>
              <a:t>       V(</a:t>
            </a:r>
            <a:r>
              <a:rPr lang="en-US" altLang="zh-CN" b="1" dirty="0" err="1">
                <a:solidFill>
                  <a:schemeClr val="accent5">
                    <a:lumMod val="50000"/>
                  </a:schemeClr>
                </a:solidFill>
                <a:effectLst>
                  <a:outerShdw blurRad="38100" dist="38100" dir="2700000" algn="tl">
                    <a:srgbClr val="C0C0C0"/>
                  </a:outerShdw>
                </a:effectLst>
              </a:rPr>
              <a:t>mutex</a:t>
            </a:r>
            <a:r>
              <a:rPr lang="en-US" altLang="zh-CN" b="1" dirty="0">
                <a:solidFill>
                  <a:schemeClr val="accent5">
                    <a:lumMod val="50000"/>
                  </a:schemeClr>
                </a:solidFill>
                <a:effectLst>
                  <a:outerShdw blurRad="38100" dist="38100" dir="2700000" algn="tl">
                    <a:srgbClr val="C0C0C0"/>
                  </a:outerShdw>
                </a:effectLst>
              </a:rPr>
              <a:t>); </a:t>
            </a:r>
          </a:p>
          <a:p>
            <a:pPr>
              <a:lnSpc>
                <a:spcPct val="80000"/>
              </a:lnSpc>
              <a:spcBef>
                <a:spcPct val="20000"/>
              </a:spcBef>
              <a:buSzPct val="80000"/>
              <a:buFont typeface="Wingdings" panose="05000000000000000000" pitchFamily="2" charset="2"/>
              <a:buNone/>
              <a:defRPr/>
            </a:pPr>
            <a:r>
              <a:rPr lang="en-US" altLang="zh-CN" b="1" dirty="0">
                <a:solidFill>
                  <a:schemeClr val="bg1"/>
                </a:solidFill>
                <a:effectLst>
                  <a:outerShdw blurRad="38100" dist="38100" dir="2700000" algn="tl">
                    <a:srgbClr val="C0C0C0"/>
                  </a:outerShdw>
                </a:effectLst>
              </a:rPr>
              <a:t>       </a:t>
            </a:r>
            <a:r>
              <a:rPr lang="en-US" altLang="zh-CN" b="1" dirty="0">
                <a:solidFill>
                  <a:srgbClr val="FF0000"/>
                </a:solidFill>
                <a:effectLst>
                  <a:outerShdw blurRad="38100" dist="38100" dir="2700000" algn="tl">
                    <a:srgbClr val="C0C0C0"/>
                  </a:outerShdw>
                </a:effectLst>
              </a:rPr>
              <a:t>P(barber);</a:t>
            </a: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    }</a:t>
            </a:r>
          </a:p>
          <a:p>
            <a:pPr>
              <a:lnSpc>
                <a:spcPct val="80000"/>
              </a:lnSpc>
              <a:spcBef>
                <a:spcPct val="2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else</a:t>
            </a:r>
          </a:p>
          <a:p>
            <a:pPr>
              <a:lnSpc>
                <a:spcPct val="80000"/>
              </a:lnSpc>
              <a:spcBef>
                <a:spcPct val="20000"/>
              </a:spcBef>
              <a:buSzPct val="80000"/>
              <a:buFont typeface="Wingdings" panose="05000000000000000000" pitchFamily="2" charset="2"/>
              <a:buNone/>
              <a:defRPr/>
            </a:pPr>
            <a:r>
              <a:rPr lang="en-US" altLang="zh-CN" b="1" dirty="0">
                <a:solidFill>
                  <a:schemeClr val="accent5">
                    <a:lumMod val="50000"/>
                  </a:schemeClr>
                </a:solidFill>
                <a:effectLst>
                  <a:outerShdw blurRad="38100" dist="38100" dir="2700000" algn="tl">
                    <a:srgbClr val="C0C0C0"/>
                  </a:outerShdw>
                </a:effectLst>
              </a:rPr>
              <a:t>    {V(</a:t>
            </a:r>
            <a:r>
              <a:rPr lang="en-US" altLang="zh-CN" b="1" dirty="0" err="1">
                <a:solidFill>
                  <a:schemeClr val="accent5">
                    <a:lumMod val="50000"/>
                  </a:schemeClr>
                </a:solidFill>
                <a:effectLst>
                  <a:outerShdw blurRad="38100" dist="38100" dir="2700000" algn="tl">
                    <a:srgbClr val="C0C0C0"/>
                  </a:outerShdw>
                </a:effectLst>
              </a:rPr>
              <a:t>mutex</a:t>
            </a:r>
            <a:r>
              <a:rPr lang="en-US" altLang="zh-CN" b="1" dirty="0">
                <a:solidFill>
                  <a:schemeClr val="accent5">
                    <a:lumMod val="50000"/>
                  </a:schemeClr>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b="1" dirty="0">
                <a:solidFill>
                  <a:srgbClr val="9C4E00"/>
                </a:solidFill>
                <a:effectLst>
                  <a:outerShdw blurRad="38100" dist="38100" dir="2700000" algn="tl">
                    <a:srgbClr val="C0C0C0"/>
                  </a:outerShdw>
                </a:effectLst>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5"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4B8F8CE8-4BFE-4491-ACA6-9BE59F3D0EBA}" type="slidenum">
              <a:rPr lang="en-US" altLang="ko-KR" sz="1200">
                <a:solidFill>
                  <a:schemeClr val="bg1"/>
                </a:solidFill>
              </a:rPr>
              <a:pPr>
                <a:spcBef>
                  <a:spcPct val="0"/>
                </a:spcBef>
                <a:buClrTx/>
                <a:buSzTx/>
                <a:buFontTx/>
                <a:buNone/>
              </a:pPr>
              <a:t>52</a:t>
            </a:fld>
            <a:endParaRPr lang="en-US" altLang="ko-KR" sz="1200">
              <a:solidFill>
                <a:schemeClr val="bg1"/>
              </a:solidFill>
            </a:endParaRPr>
          </a:p>
        </p:txBody>
      </p:sp>
      <p:sp>
        <p:nvSpPr>
          <p:cNvPr id="204802" name="标题 1"/>
          <p:cNvSpPr>
            <a:spLocks noGrp="1"/>
          </p:cNvSpPr>
          <p:nvPr>
            <p:ph type="title"/>
          </p:nvPr>
        </p:nvSpPr>
        <p:spPr>
          <a:prstGeom prst="rect">
            <a:avLst/>
          </a:prstGeom>
        </p:spPr>
        <p:txBody>
          <a:bodyPr/>
          <a:lstStyle/>
          <a:p>
            <a:r>
              <a:rPr lang="en-US" altLang="zh-CN">
                <a:ea typeface="宋体" panose="02010600030101010101" pitchFamily="2" charset="-122"/>
              </a:rPr>
              <a:t>Message Passing</a:t>
            </a:r>
            <a:endParaRPr lang="zh-CN" altLang="en-US">
              <a:ea typeface="宋体" panose="02010600030101010101" pitchFamily="2" charset="-122"/>
            </a:endParaRPr>
          </a:p>
        </p:txBody>
      </p:sp>
      <p:sp>
        <p:nvSpPr>
          <p:cNvPr id="8" name="内容占位符 2"/>
          <p:cNvSpPr>
            <a:spLocks noGrp="1"/>
          </p:cNvSpPr>
          <p:nvPr>
            <p:ph idx="1"/>
          </p:nvPr>
        </p:nvSpPr>
        <p:spPr>
          <a:prstGeom prst="rect">
            <a:avLst/>
          </a:prstGeom>
        </p:spPr>
        <p:txBody>
          <a:bodyPr>
            <a:normAutofit fontScale="70000" lnSpcReduction="20000"/>
          </a:bodyPr>
          <a:lstStyle/>
          <a:p>
            <a:pPr>
              <a:lnSpc>
                <a:spcPct val="110000"/>
              </a:lnSpc>
              <a:defRPr/>
            </a:pPr>
            <a:r>
              <a:rPr lang="en-US" altLang="zh-CN" dirty="0">
                <a:ea typeface="宋体" pitchFamily="2" charset="-122"/>
              </a:rPr>
              <a:t>Design rules</a:t>
            </a:r>
          </a:p>
          <a:p>
            <a:pPr lvl="1">
              <a:lnSpc>
                <a:spcPct val="110000"/>
              </a:lnSpc>
              <a:defRPr/>
            </a:pPr>
            <a:r>
              <a:rPr lang="en-US" altLang="zh-CN" dirty="0">
                <a:ea typeface="宋体" pitchFamily="2" charset="-122"/>
              </a:rPr>
              <a:t>Semaphore mechanism depends on CPU, under distributed environment, this mechanism is useless</a:t>
            </a:r>
          </a:p>
          <a:p>
            <a:pPr lvl="1">
              <a:lnSpc>
                <a:spcPct val="110000"/>
              </a:lnSpc>
              <a:defRPr/>
            </a:pPr>
            <a:r>
              <a:rPr lang="en-US" altLang="zh-CN" dirty="0">
                <a:ea typeface="宋体" pitchFamily="2" charset="-122"/>
              </a:rPr>
              <a:t>All mentioned method is designed for mutual exclusion and synchronism, general information transferring between processes need more simple and efficient mechanism</a:t>
            </a:r>
          </a:p>
          <a:p>
            <a:pPr>
              <a:lnSpc>
                <a:spcPct val="110000"/>
              </a:lnSpc>
              <a:defRPr/>
            </a:pPr>
            <a:r>
              <a:rPr lang="en-US" altLang="zh-CN" dirty="0">
                <a:ea typeface="宋体" pitchFamily="2" charset="-122"/>
              </a:rPr>
              <a:t>Key issues</a:t>
            </a:r>
          </a:p>
          <a:p>
            <a:pPr lvl="1">
              <a:lnSpc>
                <a:spcPct val="110000"/>
              </a:lnSpc>
              <a:defRPr/>
            </a:pPr>
            <a:r>
              <a:rPr lang="en-US" altLang="zh-CN" dirty="0">
                <a:ea typeface="宋体" pitchFamily="2" charset="-122"/>
              </a:rPr>
              <a:t>Stability: avoid data/information losing</a:t>
            </a:r>
          </a:p>
          <a:p>
            <a:pPr lvl="1">
              <a:lnSpc>
                <a:spcPct val="110000"/>
              </a:lnSpc>
              <a:defRPr/>
            </a:pPr>
            <a:r>
              <a:rPr lang="en-US" altLang="zh-CN" dirty="0">
                <a:ea typeface="宋体" pitchFamily="2" charset="-122"/>
              </a:rPr>
              <a:t>Consistency: assure the target is correct</a:t>
            </a:r>
          </a:p>
          <a:p>
            <a:pPr lvl="1">
              <a:lnSpc>
                <a:spcPct val="110000"/>
              </a:lnSpc>
              <a:defRPr/>
            </a:pPr>
            <a:r>
              <a:rPr lang="en-US" altLang="zh-CN" dirty="0">
                <a:ea typeface="宋体" pitchFamily="2" charset="-122"/>
              </a:rPr>
              <a:t>Efficiency: unified format of message and transferring transaction</a:t>
            </a:r>
          </a:p>
          <a:p>
            <a:pPr>
              <a:lnSpc>
                <a:spcPct val="110000"/>
              </a:lnSpc>
              <a:defRPr/>
            </a:pPr>
            <a:r>
              <a:rPr lang="en-US" altLang="zh-CN" dirty="0">
                <a:ea typeface="宋体" pitchFamily="2" charset="-122"/>
              </a:rPr>
              <a:t>Method</a:t>
            </a:r>
          </a:p>
          <a:p>
            <a:pPr lvl="1">
              <a:lnSpc>
                <a:spcPct val="110000"/>
              </a:lnSpc>
              <a:defRPr/>
            </a:pPr>
            <a:r>
              <a:rPr lang="en-US" altLang="zh-CN" dirty="0">
                <a:ea typeface="宋体" pitchFamily="2" charset="-122"/>
              </a:rPr>
              <a:t>Simple message passing: send and receive primitive</a:t>
            </a:r>
          </a:p>
          <a:p>
            <a:pPr lvl="1">
              <a:lnSpc>
                <a:spcPct val="110000"/>
              </a:lnSpc>
              <a:defRPr/>
            </a:pPr>
            <a:r>
              <a:rPr lang="en-US" altLang="zh-CN" dirty="0">
                <a:ea typeface="宋体" pitchFamily="2" charset="-122"/>
              </a:rPr>
              <a:t>Mail box: supported by OS</a:t>
            </a:r>
          </a:p>
          <a:p>
            <a:pPr lvl="1">
              <a:lnSpc>
                <a:spcPct val="110000"/>
              </a:lnSpc>
              <a:defRPr/>
            </a:pPr>
            <a:r>
              <a:rPr lang="en-US" altLang="zh-CN" dirty="0">
                <a:ea typeface="宋体" pitchFamily="2" charset="-122"/>
              </a:rPr>
              <a:t>Rendezvous: without intermediate buffer</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3"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A0B18E09-DBC4-4C8E-892F-9319ED0645AC}" type="slidenum">
              <a:rPr lang="en-US" altLang="ko-KR" sz="1200">
                <a:solidFill>
                  <a:schemeClr val="bg1"/>
                </a:solidFill>
              </a:rPr>
              <a:pPr>
                <a:spcBef>
                  <a:spcPct val="0"/>
                </a:spcBef>
                <a:buClrTx/>
                <a:buSzTx/>
                <a:buFontTx/>
                <a:buNone/>
              </a:pPr>
              <a:t>53</a:t>
            </a:fld>
            <a:endParaRPr lang="en-US" altLang="ko-KR" sz="1200">
              <a:solidFill>
                <a:schemeClr val="bg1"/>
              </a:solidFill>
            </a:endParaRPr>
          </a:p>
        </p:txBody>
      </p:sp>
      <p:sp>
        <p:nvSpPr>
          <p:cNvPr id="206850" name="标题 1"/>
          <p:cNvSpPr>
            <a:spLocks noGrp="1"/>
          </p:cNvSpPr>
          <p:nvPr>
            <p:ph type="title"/>
          </p:nvPr>
        </p:nvSpPr>
        <p:spPr>
          <a:prstGeom prst="rect">
            <a:avLst/>
          </a:prstGeom>
        </p:spPr>
        <p:txBody>
          <a:bodyPr/>
          <a:lstStyle/>
          <a:p>
            <a:r>
              <a:rPr lang="en-US" altLang="zh-CN">
                <a:ea typeface="宋体" panose="02010600030101010101" pitchFamily="2" charset="-122"/>
              </a:rPr>
              <a:t>Solution of “Producer-Consumer”</a:t>
            </a:r>
            <a:endParaRPr lang="zh-CN" altLang="en-US">
              <a:ea typeface="宋体" panose="02010600030101010101" pitchFamily="2" charset="-122"/>
            </a:endParaRPr>
          </a:p>
        </p:txBody>
      </p:sp>
      <p:sp>
        <p:nvSpPr>
          <p:cNvPr id="10" name="Text Box 4"/>
          <p:cNvSpPr txBox="1">
            <a:spLocks noChangeArrowheads="1"/>
          </p:cNvSpPr>
          <p:nvPr/>
        </p:nvSpPr>
        <p:spPr bwMode="auto">
          <a:xfrm>
            <a:off x="4310063" y="1773239"/>
            <a:ext cx="3143250" cy="3170237"/>
          </a:xfrm>
          <a:prstGeom prst="rect">
            <a:avLst/>
          </a:prstGeom>
          <a:noFill/>
          <a:ln w="9525">
            <a:solidFill>
              <a:srgbClr val="9C4E00"/>
            </a:solidFill>
            <a:miter lim="800000"/>
            <a:headEnd/>
            <a:tailEnd/>
          </a:ln>
          <a:effectLst/>
        </p:spPr>
        <p:txBody>
          <a:bodyPr>
            <a:spAutoFit/>
          </a:bodyPr>
          <a:lstStyle/>
          <a:p>
            <a:pPr algn="ct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Producer</a:t>
            </a:r>
            <a:endParaRPr lang="zh-CN" altLang="en-US" sz="1600" b="1" dirty="0">
              <a:solidFill>
                <a:srgbClr val="9C4E00"/>
              </a:solidFill>
              <a:effectLst>
                <a:outerShdw blurRad="38100" dist="38100" dir="2700000" algn="tl">
                  <a:srgbClr val="C0C0C0"/>
                </a:outerShdw>
              </a:effectLst>
            </a:endParaRPr>
          </a:p>
          <a:p>
            <a:pPr>
              <a:lnSpc>
                <a:spcPct val="80000"/>
              </a:lnSpc>
              <a:spcBef>
                <a:spcPct val="50000"/>
              </a:spcBef>
              <a:buSzPct val="80000"/>
              <a:buFont typeface="Wingdings" panose="05000000000000000000" pitchFamily="2" charset="2"/>
              <a:buNone/>
              <a:defRPr/>
            </a:pPr>
            <a:r>
              <a:rPr lang="en-US" altLang="zh-CN" sz="1600" b="1" dirty="0" err="1">
                <a:solidFill>
                  <a:srgbClr val="9C4E00"/>
                </a:solidFill>
                <a:effectLst>
                  <a:outerShdw blurRad="38100" dist="38100" dir="2700000" algn="tl">
                    <a:srgbClr val="C0C0C0"/>
                  </a:outerShdw>
                </a:effectLst>
              </a:rPr>
              <a:t>int</a:t>
            </a:r>
            <a:r>
              <a:rPr lang="en-US" altLang="zh-CN" sz="1600" b="1" dirty="0">
                <a:solidFill>
                  <a:srgbClr val="9C4E00"/>
                </a:solidFill>
                <a:effectLst>
                  <a:outerShdw blurRad="38100" dist="38100" dir="2700000" algn="tl">
                    <a:srgbClr val="C0C0C0"/>
                  </a:outerShdw>
                </a:effectLst>
              </a:rPr>
              <a:t> item;</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message m;</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While(TRUE)</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Produce-Item(&amp;item);</a:t>
            </a:r>
          </a:p>
          <a:p>
            <a:pPr>
              <a:lnSpc>
                <a:spcPct val="80000"/>
              </a:lnSpc>
              <a:spcBef>
                <a:spcPct val="50000"/>
              </a:spcBef>
              <a:buSzPct val="80000"/>
              <a:buFont typeface="Wingdings" panose="05000000000000000000" pitchFamily="2" charset="2"/>
              <a:buNone/>
              <a:defRPr/>
            </a:pPr>
            <a:r>
              <a:rPr lang="en-US" altLang="zh-CN" sz="1600" b="1" dirty="0" err="1">
                <a:solidFill>
                  <a:srgbClr val="FF0000"/>
                </a:solidFill>
                <a:effectLst>
                  <a:outerShdw blurRad="38100" dist="38100" dir="2700000" algn="tl">
                    <a:srgbClr val="C0C0C0"/>
                  </a:outerShdw>
                </a:effectLst>
              </a:rPr>
              <a:t>recieve</a:t>
            </a:r>
            <a:r>
              <a:rPr lang="en-US" altLang="zh-CN" sz="1600" b="1" dirty="0">
                <a:solidFill>
                  <a:srgbClr val="FF0000"/>
                </a:solidFill>
                <a:effectLst>
                  <a:outerShdw blurRad="38100" dist="38100" dir="2700000" algn="tl">
                    <a:srgbClr val="C0C0C0"/>
                  </a:outerShdw>
                </a:effectLst>
              </a:rPr>
              <a:t>(</a:t>
            </a:r>
            <a:r>
              <a:rPr lang="en-US" altLang="zh-CN" sz="1600" b="1" dirty="0" err="1">
                <a:solidFill>
                  <a:srgbClr val="FF0000"/>
                </a:solidFill>
                <a:effectLst>
                  <a:outerShdw blurRad="38100" dist="38100" dir="2700000" algn="tl">
                    <a:srgbClr val="C0C0C0"/>
                  </a:outerShdw>
                </a:effectLst>
              </a:rPr>
              <a:t>consumer,&amp;m</a:t>
            </a:r>
            <a:r>
              <a:rPr lang="en-US" altLang="zh-CN" sz="1600" b="1" dirty="0">
                <a:solidFill>
                  <a:srgbClr val="FF0000"/>
                </a:solidFill>
                <a:effectLst>
                  <a:outerShdw blurRad="38100" dist="38100" dir="2700000" algn="tl">
                    <a:srgbClr val="C0C0C0"/>
                  </a:outerShdw>
                </a:effectLst>
              </a:rPr>
              <a:t>);</a:t>
            </a:r>
            <a:r>
              <a:rPr lang="en-US" altLang="zh-CN" sz="1600" b="1" dirty="0">
                <a:solidFill>
                  <a:srgbClr val="9C4E00"/>
                </a:solidFill>
                <a:effectLst>
                  <a:outerShdw blurRad="38100" dist="38100" dir="2700000" algn="tl">
                    <a:srgbClr val="C0C0C0"/>
                  </a:outerShdw>
                </a:effectLst>
              </a:rPr>
              <a:t> </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build-message(&amp;</a:t>
            </a:r>
            <a:r>
              <a:rPr lang="en-US" altLang="zh-CN" sz="1600" b="1" dirty="0" err="1">
                <a:solidFill>
                  <a:srgbClr val="9C4E00"/>
                </a:solidFill>
                <a:effectLst>
                  <a:outerShdw blurRad="38100" dist="38100" dir="2700000" algn="tl">
                    <a:srgbClr val="C0C0C0"/>
                  </a:outerShdw>
                </a:effectLst>
              </a:rPr>
              <a:t>m,item</a:t>
            </a: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FF0000"/>
                </a:solidFill>
                <a:effectLst>
                  <a:outerShdw blurRad="38100" dist="38100" dir="2700000" algn="tl">
                    <a:srgbClr val="C0C0C0"/>
                  </a:outerShdw>
                </a:effectLst>
              </a:rPr>
              <a:t>send(</a:t>
            </a:r>
            <a:r>
              <a:rPr lang="en-US" altLang="zh-CN" sz="1600" b="1" dirty="0" err="1">
                <a:solidFill>
                  <a:srgbClr val="FF0000"/>
                </a:solidFill>
                <a:effectLst>
                  <a:outerShdw blurRad="38100" dist="38100" dir="2700000" algn="tl">
                    <a:srgbClr val="C0C0C0"/>
                  </a:outerShdw>
                </a:effectLst>
              </a:rPr>
              <a:t>consumer,&amp;m</a:t>
            </a:r>
            <a:r>
              <a:rPr lang="en-US" altLang="zh-CN" sz="1600" b="1" dirty="0">
                <a:solidFill>
                  <a:srgbClr val="FF00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a:t>
            </a:r>
          </a:p>
        </p:txBody>
      </p:sp>
      <p:sp>
        <p:nvSpPr>
          <p:cNvPr id="15" name="Text Box 5"/>
          <p:cNvSpPr txBox="1">
            <a:spLocks noChangeArrowheads="1"/>
          </p:cNvSpPr>
          <p:nvPr/>
        </p:nvSpPr>
        <p:spPr bwMode="auto">
          <a:xfrm>
            <a:off x="2390775" y="1844676"/>
            <a:ext cx="1847850" cy="288925"/>
          </a:xfrm>
          <a:prstGeom prst="rect">
            <a:avLst/>
          </a:prstGeom>
          <a:noFill/>
          <a:ln w="9525">
            <a:solidFill>
              <a:srgbClr val="000000"/>
            </a:solidFill>
            <a:miter lim="800000"/>
            <a:headEnd/>
            <a:tailEnd/>
          </a:ln>
          <a:effectLst/>
        </p:spPr>
        <p:txBody>
          <a:bodyPr>
            <a:spAutoFit/>
          </a:bodyPr>
          <a:lstStyle/>
          <a:p>
            <a:pPr>
              <a:lnSpc>
                <a:spcPct val="80000"/>
              </a:lnSpc>
              <a:spcBef>
                <a:spcPct val="50000"/>
              </a:spcBef>
              <a:buSzPct val="80000"/>
              <a:buFont typeface="Wingdings" panose="05000000000000000000" pitchFamily="2" charset="2"/>
              <a:buNone/>
              <a:defRPr/>
            </a:pPr>
            <a:r>
              <a:rPr lang="zh-CN" altLang="en-US" sz="1600" b="1" dirty="0">
                <a:solidFill>
                  <a:schemeClr val="accent5">
                    <a:lumMod val="50000"/>
                  </a:schemeClr>
                </a:solidFill>
                <a:effectLst>
                  <a:outerShdw blurRad="38100" dist="38100" dir="2700000" algn="tl">
                    <a:srgbClr val="C0C0C0"/>
                  </a:outerShdw>
                </a:effectLst>
              </a:rPr>
              <a:t>＃</a:t>
            </a:r>
            <a:r>
              <a:rPr lang="en-US" altLang="zh-CN" sz="1600" b="1" dirty="0">
                <a:solidFill>
                  <a:schemeClr val="accent5">
                    <a:lumMod val="50000"/>
                  </a:schemeClr>
                </a:solidFill>
                <a:effectLst>
                  <a:outerShdw blurRad="38100" dist="38100" dir="2700000" algn="tl">
                    <a:srgbClr val="C0C0C0"/>
                  </a:outerShdw>
                </a:effectLst>
              </a:rPr>
              <a:t>define N 100</a:t>
            </a:r>
          </a:p>
        </p:txBody>
      </p:sp>
      <p:sp>
        <p:nvSpPr>
          <p:cNvPr id="16" name="Text Box 6"/>
          <p:cNvSpPr txBox="1">
            <a:spLocks noChangeArrowheads="1"/>
          </p:cNvSpPr>
          <p:nvPr/>
        </p:nvSpPr>
        <p:spPr bwMode="auto">
          <a:xfrm>
            <a:off x="7524751" y="1714501"/>
            <a:ext cx="3071813" cy="3643313"/>
          </a:xfrm>
          <a:prstGeom prst="rect">
            <a:avLst/>
          </a:prstGeom>
          <a:noFill/>
          <a:ln w="9525">
            <a:solidFill>
              <a:srgbClr val="9C4E00"/>
            </a:solidFill>
            <a:miter lim="800000"/>
            <a:headEnd/>
            <a:tailEnd/>
          </a:ln>
          <a:effectLst/>
        </p:spPr>
        <p:txBody>
          <a:bodyPr>
            <a:spAutoFit/>
          </a:bodyPr>
          <a:lstStyle/>
          <a:p>
            <a:pPr algn="ctr">
              <a:lnSpc>
                <a:spcPct val="80000"/>
              </a:lnSpc>
              <a:spcBef>
                <a:spcPct val="50000"/>
              </a:spcBef>
              <a:buSzPct val="80000"/>
              <a:buFont typeface="Wingdings" panose="05000000000000000000" pitchFamily="2" charset="2"/>
              <a:buNone/>
              <a:defRPr/>
            </a:pPr>
            <a:r>
              <a:rPr lang="en-US" altLang="zh-CN" sz="1600" b="1" dirty="0" err="1">
                <a:solidFill>
                  <a:srgbClr val="9C4E00"/>
                </a:solidFill>
                <a:effectLst>
                  <a:outerShdw blurRad="38100" dist="38100" dir="2700000" algn="tl">
                    <a:srgbClr val="C0C0C0"/>
                  </a:outerShdw>
                </a:effectLst>
              </a:rPr>
              <a:t>Comsumer</a:t>
            </a:r>
            <a:endParaRPr lang="zh-CN" altLang="en-US" sz="1600" b="1" dirty="0">
              <a:solidFill>
                <a:srgbClr val="9C4E00"/>
              </a:solidFill>
              <a:effectLst>
                <a:outerShdw blurRad="38100" dist="38100" dir="2700000" algn="tl">
                  <a:srgbClr val="C0C0C0"/>
                </a:outerShdw>
              </a:effectLst>
            </a:endParaRPr>
          </a:p>
          <a:p>
            <a:pPr>
              <a:lnSpc>
                <a:spcPct val="80000"/>
              </a:lnSpc>
              <a:spcBef>
                <a:spcPct val="50000"/>
              </a:spcBef>
              <a:buSzPct val="80000"/>
              <a:buFont typeface="Wingdings" panose="05000000000000000000" pitchFamily="2" charset="2"/>
              <a:buNone/>
              <a:defRPr/>
            </a:pPr>
            <a:r>
              <a:rPr lang="en-US" altLang="zh-CN" sz="1600" b="1" dirty="0" err="1">
                <a:solidFill>
                  <a:srgbClr val="9C4E00"/>
                </a:solidFill>
                <a:effectLst>
                  <a:outerShdw blurRad="38100" dist="38100" dir="2700000" algn="tl">
                    <a:srgbClr val="C0C0C0"/>
                  </a:outerShdw>
                </a:effectLst>
              </a:rPr>
              <a:t>int</a:t>
            </a:r>
            <a:r>
              <a:rPr lang="en-US" altLang="zh-CN" sz="1600" b="1" dirty="0">
                <a:solidFill>
                  <a:srgbClr val="9C4E00"/>
                </a:solidFill>
                <a:effectLst>
                  <a:outerShdw blurRad="38100" dist="38100" dir="2700000" algn="tl">
                    <a:srgbClr val="C0C0C0"/>
                  </a:outerShdw>
                </a:effectLst>
              </a:rPr>
              <a:t> </a:t>
            </a:r>
            <a:r>
              <a:rPr lang="en-US" altLang="zh-CN" sz="1600" b="1" dirty="0" err="1">
                <a:solidFill>
                  <a:srgbClr val="9C4E00"/>
                </a:solidFill>
                <a:effectLst>
                  <a:outerShdw blurRad="38100" dist="38100" dir="2700000" algn="tl">
                    <a:srgbClr val="C0C0C0"/>
                  </a:outerShdw>
                </a:effectLst>
              </a:rPr>
              <a:t>item,i</a:t>
            </a: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message m;</a:t>
            </a:r>
          </a:p>
          <a:p>
            <a:pPr>
              <a:lnSpc>
                <a:spcPct val="80000"/>
              </a:lnSpc>
              <a:spcBef>
                <a:spcPct val="50000"/>
              </a:spcBef>
              <a:buSzPct val="80000"/>
              <a:buFont typeface="Wingdings" panose="05000000000000000000" pitchFamily="2" charset="2"/>
              <a:buChar char="•"/>
              <a:defRPr/>
            </a:pPr>
            <a:endParaRPr lang="en-US" altLang="zh-CN" sz="1600" b="1" dirty="0">
              <a:solidFill>
                <a:srgbClr val="9C4E00"/>
              </a:solidFill>
              <a:effectLst>
                <a:outerShdw blurRad="38100" dist="38100" dir="2700000" algn="tl">
                  <a:srgbClr val="C0C0C0"/>
                </a:outerShdw>
              </a:effectLst>
            </a:endParaRPr>
          </a:p>
          <a:p>
            <a:pPr>
              <a:lnSpc>
                <a:spcPct val="80000"/>
              </a:lnSpc>
              <a:spcBef>
                <a:spcPct val="20000"/>
              </a:spcBef>
              <a:buSzPct val="80000"/>
              <a:buFont typeface="Wingdings" panose="05000000000000000000" pitchFamily="2" charset="2"/>
              <a:buNone/>
              <a:defRPr/>
            </a:pPr>
            <a:r>
              <a:rPr lang="en-US" altLang="zh-CN" sz="1600" b="1" dirty="0">
                <a:solidFill>
                  <a:srgbClr val="FF0000"/>
                </a:solidFill>
                <a:effectLst>
                  <a:outerShdw blurRad="38100" dist="38100" dir="2700000" algn="tl">
                    <a:srgbClr val="C0C0C0"/>
                  </a:outerShdw>
                </a:effectLst>
              </a:rPr>
              <a:t>for(</a:t>
            </a:r>
            <a:r>
              <a:rPr lang="en-US" altLang="zh-CN" sz="1600" b="1" dirty="0" err="1">
                <a:solidFill>
                  <a:srgbClr val="FF0000"/>
                </a:solidFill>
                <a:effectLst>
                  <a:outerShdw blurRad="38100" dist="38100" dir="2700000" algn="tl">
                    <a:srgbClr val="C0C0C0"/>
                  </a:outerShdw>
                </a:effectLst>
              </a:rPr>
              <a:t>i</a:t>
            </a:r>
            <a:r>
              <a:rPr lang="en-US" altLang="zh-CN" sz="1600" b="1" dirty="0">
                <a:solidFill>
                  <a:srgbClr val="FF0000"/>
                </a:solidFill>
                <a:effectLst>
                  <a:outerShdw blurRad="38100" dist="38100" dir="2700000" algn="tl">
                    <a:srgbClr val="C0C0C0"/>
                  </a:outerShdw>
                </a:effectLst>
              </a:rPr>
              <a:t> = 0; </a:t>
            </a:r>
            <a:r>
              <a:rPr lang="en-US" altLang="zh-CN" sz="1600" b="1" dirty="0" err="1">
                <a:solidFill>
                  <a:srgbClr val="FF0000"/>
                </a:solidFill>
                <a:effectLst>
                  <a:outerShdw blurRad="38100" dist="38100" dir="2700000" algn="tl">
                    <a:srgbClr val="C0C0C0"/>
                  </a:outerShdw>
                </a:effectLst>
              </a:rPr>
              <a:t>i</a:t>
            </a:r>
            <a:r>
              <a:rPr lang="en-US" altLang="zh-CN" sz="1600" b="1" dirty="0">
                <a:solidFill>
                  <a:srgbClr val="FF0000"/>
                </a:solidFill>
                <a:effectLst>
                  <a:outerShdw blurRad="38100" dist="38100" dir="2700000" algn="tl">
                    <a:srgbClr val="C0C0C0"/>
                  </a:outerShdw>
                </a:effectLst>
              </a:rPr>
              <a:t> &lt; N; </a:t>
            </a:r>
            <a:r>
              <a:rPr lang="en-US" altLang="zh-CN" sz="1600" b="1" dirty="0" err="1">
                <a:solidFill>
                  <a:srgbClr val="FF0000"/>
                </a:solidFill>
                <a:effectLst>
                  <a:outerShdw blurRad="38100" dist="38100" dir="2700000" algn="tl">
                    <a:srgbClr val="C0C0C0"/>
                  </a:outerShdw>
                </a:effectLst>
              </a:rPr>
              <a:t>i</a:t>
            </a:r>
            <a:r>
              <a:rPr lang="en-US" altLang="zh-CN" sz="1600" b="1" dirty="0">
                <a:solidFill>
                  <a:srgbClr val="FF0000"/>
                </a:solidFill>
                <a:effectLst>
                  <a:outerShdw blurRad="38100" dist="38100" dir="2700000" algn="tl">
                    <a:srgbClr val="C0C0C0"/>
                  </a:outerShdw>
                </a:effectLst>
              </a:rPr>
              <a:t>++)</a:t>
            </a:r>
          </a:p>
          <a:p>
            <a:pPr>
              <a:lnSpc>
                <a:spcPct val="80000"/>
              </a:lnSpc>
              <a:spcBef>
                <a:spcPct val="20000"/>
              </a:spcBef>
              <a:buSzPct val="80000"/>
              <a:buFont typeface="Wingdings" panose="05000000000000000000" pitchFamily="2" charset="2"/>
              <a:buNone/>
              <a:defRPr/>
            </a:pPr>
            <a:r>
              <a:rPr lang="en-US" altLang="zh-CN" sz="1600" b="1" dirty="0">
                <a:solidFill>
                  <a:srgbClr val="FF0000"/>
                </a:solidFill>
                <a:effectLst>
                  <a:outerShdw blurRad="38100" dist="38100" dir="2700000" algn="tl">
                    <a:srgbClr val="C0C0C0"/>
                  </a:outerShdw>
                </a:effectLst>
              </a:rPr>
              <a:t>   send(</a:t>
            </a:r>
            <a:r>
              <a:rPr lang="en-US" altLang="zh-CN" sz="1600" b="1" dirty="0" err="1">
                <a:solidFill>
                  <a:srgbClr val="FF0000"/>
                </a:solidFill>
                <a:effectLst>
                  <a:outerShdw blurRad="38100" dist="38100" dir="2700000" algn="tl">
                    <a:srgbClr val="C0C0C0"/>
                  </a:outerShdw>
                </a:effectLst>
              </a:rPr>
              <a:t>producer,&amp;m</a:t>
            </a:r>
            <a:r>
              <a:rPr lang="en-US" altLang="zh-CN" sz="1600" b="1" dirty="0">
                <a:solidFill>
                  <a:srgbClr val="FF0000"/>
                </a:solidFill>
                <a:effectLst>
                  <a:outerShdw blurRad="38100" dist="38100" dir="2700000" algn="tl">
                    <a:srgbClr val="C0C0C0"/>
                  </a:outerShdw>
                </a:effectLst>
              </a:rPr>
              <a:t>);</a:t>
            </a:r>
            <a:r>
              <a:rPr lang="en-US" altLang="zh-CN" dirty="0"/>
              <a:t> </a:t>
            </a:r>
            <a:r>
              <a:rPr lang="en-US" altLang="zh-CN" sz="1600" b="1" dirty="0">
                <a:solidFill>
                  <a:srgbClr val="9C4E00"/>
                </a:solidFill>
                <a:effectLst>
                  <a:outerShdw blurRad="38100" dist="38100" dir="2700000" algn="tl">
                    <a:srgbClr val="C0C0C0"/>
                  </a:outerShdw>
                </a:effectLst>
              </a:rPr>
              <a:t>While(TRUE)</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receive(</a:t>
            </a:r>
            <a:r>
              <a:rPr lang="en-US" altLang="zh-CN" sz="1600" b="1" dirty="0" err="1">
                <a:solidFill>
                  <a:srgbClr val="9C4E00"/>
                </a:solidFill>
                <a:effectLst>
                  <a:outerShdw blurRad="38100" dist="38100" dir="2700000" algn="tl">
                    <a:srgbClr val="C0C0C0"/>
                  </a:outerShdw>
                </a:effectLst>
              </a:rPr>
              <a:t>producer,&amp;m</a:t>
            </a:r>
            <a:r>
              <a:rPr lang="en-US" altLang="zh-CN" sz="1600" b="1" dirty="0">
                <a:solidFill>
                  <a:srgbClr val="9C4E00"/>
                </a:solidFill>
                <a:effectLst>
                  <a:outerShdw blurRad="38100" dist="38100" dir="2700000" algn="tl">
                    <a:srgbClr val="C0C0C0"/>
                  </a:outerShdw>
                </a:effectLst>
              </a:rPr>
              <a:t>); extract-item(&amp;</a:t>
            </a:r>
            <a:r>
              <a:rPr lang="en-US" altLang="zh-CN" sz="1600" b="1" dirty="0" err="1">
                <a:solidFill>
                  <a:srgbClr val="9C4E00"/>
                </a:solidFill>
                <a:effectLst>
                  <a:outerShdw blurRad="38100" dist="38100" dir="2700000" algn="tl">
                    <a:srgbClr val="C0C0C0"/>
                  </a:outerShdw>
                </a:effectLst>
              </a:rPr>
              <a:t>m,&amp;item</a:t>
            </a:r>
            <a:r>
              <a:rPr lang="en-US" altLang="zh-CN" sz="1600" b="1" dirty="0">
                <a:solidFill>
                  <a:srgbClr val="9C4E00"/>
                </a:solidFill>
                <a:effectLst>
                  <a:outerShdw blurRad="38100" dist="38100" dir="2700000" algn="tl">
                    <a:srgbClr val="C0C0C0"/>
                  </a:outerShdw>
                </a:effectLst>
              </a:rPr>
              <a:t>);</a:t>
            </a:r>
          </a:p>
          <a:p>
            <a:pPr>
              <a:lnSpc>
                <a:spcPct val="80000"/>
              </a:lnSpc>
              <a:spcBef>
                <a:spcPct val="50000"/>
              </a:spcBef>
              <a:buSzPct val="80000"/>
              <a:buFont typeface="Wingdings" panose="05000000000000000000" pitchFamily="2" charset="2"/>
              <a:buNone/>
              <a:defRPr/>
            </a:pPr>
            <a:r>
              <a:rPr lang="en-US" altLang="zh-CN" sz="1600" b="1" dirty="0">
                <a:solidFill>
                  <a:srgbClr val="FF0000"/>
                </a:solidFill>
                <a:effectLst>
                  <a:outerShdw blurRad="38100" dist="38100" dir="2700000" algn="tl">
                    <a:srgbClr val="C0C0C0"/>
                  </a:outerShdw>
                </a:effectLst>
              </a:rPr>
              <a:t>send(</a:t>
            </a:r>
            <a:r>
              <a:rPr lang="en-US" altLang="zh-CN" sz="1600" b="1" dirty="0" err="1">
                <a:solidFill>
                  <a:srgbClr val="FF0000"/>
                </a:solidFill>
                <a:effectLst>
                  <a:outerShdw blurRad="38100" dist="38100" dir="2700000" algn="tl">
                    <a:srgbClr val="C0C0C0"/>
                  </a:outerShdw>
                </a:effectLst>
              </a:rPr>
              <a:t>producer,&amp;m</a:t>
            </a:r>
            <a:r>
              <a:rPr lang="en-US" altLang="zh-CN" sz="1600" b="1" dirty="0">
                <a:solidFill>
                  <a:srgbClr val="FF0000"/>
                </a:solidFill>
                <a:effectLst>
                  <a:outerShdw blurRad="38100" dist="38100" dir="2700000" algn="tl">
                    <a:srgbClr val="C0C0C0"/>
                  </a:outerShdw>
                </a:effectLst>
              </a:rPr>
              <a:t>);</a:t>
            </a:r>
            <a:r>
              <a:rPr lang="en-US" altLang="zh-CN" sz="1600" b="1" dirty="0">
                <a:solidFill>
                  <a:srgbClr val="9C4E00"/>
                </a:solidFill>
                <a:effectLst>
                  <a:outerShdw blurRad="38100" dist="38100" dir="2700000" algn="tl">
                    <a:srgbClr val="C0C0C0"/>
                  </a:outerShdw>
                </a:effectLst>
              </a:rPr>
              <a:t> Consume-item(item);</a:t>
            </a:r>
          </a:p>
          <a:p>
            <a:pPr>
              <a:lnSpc>
                <a:spcPct val="80000"/>
              </a:lnSpc>
              <a:spcBef>
                <a:spcPct val="50000"/>
              </a:spcBef>
              <a:buSzPct val="80000"/>
              <a:buFont typeface="Wingdings" panose="05000000000000000000" pitchFamily="2" charset="2"/>
              <a:buNone/>
              <a:defRPr/>
            </a:pPr>
            <a:r>
              <a:rPr lang="en-US" altLang="zh-CN" sz="1600" b="1" dirty="0">
                <a:solidFill>
                  <a:srgbClr val="9C4E00"/>
                </a:solidFill>
                <a:effectLst>
                  <a:outerShdw blurRad="38100" dist="38100" dir="2700000" algn="tl">
                    <a:srgbClr val="C0C0C0"/>
                  </a:outerShdw>
                </a:effectLst>
              </a:rPr>
              <a:t>}</a:t>
            </a:r>
          </a:p>
        </p:txBody>
      </p:sp>
      <p:sp>
        <p:nvSpPr>
          <p:cNvPr id="2" name="文本框 1">
            <a:extLst>
              <a:ext uri="{FF2B5EF4-FFF2-40B4-BE49-F238E27FC236}">
                <a16:creationId xmlns:a16="http://schemas.microsoft.com/office/drawing/2014/main" id="{50E2E2F9-212E-2707-2807-7367D3F3E342}"/>
              </a:ext>
            </a:extLst>
          </p:cNvPr>
          <p:cNvSpPr txBox="1"/>
          <p:nvPr/>
        </p:nvSpPr>
        <p:spPr>
          <a:xfrm>
            <a:off x="2615022" y="5164457"/>
            <a:ext cx="4633106" cy="64633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Send</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Receive</a:t>
            </a:r>
            <a:r>
              <a:rPr lang="zh-CN" altLang="en-US" dirty="0">
                <a:latin typeface="微软雅黑" panose="020B0503020204020204" pitchFamily="34" charset="-122"/>
                <a:ea typeface="微软雅黑" panose="020B0503020204020204" pitchFamily="34" charset="-122"/>
              </a:rPr>
              <a:t>是内核提供的函数，能够保证不丢失、不乱序、不被中途打断等特性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checkerboard(across)">
                                      <p:cBhvr>
                                        <p:cTn id="7" dur="500"/>
                                        <p:tgtEl>
                                          <p:spTgt spid="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par>
                          <p:cTn id="13" fill="hold" nodeType="afterGroup">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blinds(horizontal)">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1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45466965-B0FC-EDD3-AC7F-08A5692FB595}"/>
              </a:ext>
            </a:extLst>
          </p:cNvPr>
          <p:cNvSpPr>
            <a:spLocks noGrp="1"/>
          </p:cNvSpPr>
          <p:nvPr>
            <p:ph type="sldNum" sz="quarter" idx="12"/>
          </p:nvPr>
        </p:nvSpPr>
        <p:spPr>
          <a:prstGeom prst="rect">
            <a:avLst/>
          </a:prstGeom>
        </p:spPr>
        <p:txBody>
          <a:bodyPr/>
          <a:lstStyle/>
          <a:p>
            <a:pPr marL="0" marR="0" lvl="0" indent="0" algn="r" defTabSz="914400" rtl="0" eaLnBrk="0" fontAlgn="base" latinLnBrk="0" hangingPunct="0">
              <a:lnSpc>
                <a:spcPct val="80000"/>
              </a:lnSpc>
              <a:spcBef>
                <a:spcPct val="20000"/>
              </a:spcBef>
              <a:spcAft>
                <a:spcPct val="0"/>
              </a:spcAft>
              <a:buClrTx/>
              <a:buSzPct val="80000"/>
              <a:buFont typeface="Wingdings" panose="05000000000000000000" pitchFamily="2" charset="2"/>
              <a:buNone/>
              <a:tabLst/>
              <a:defRPr/>
            </a:pPr>
            <a:fld id="{23E5303B-8A3A-477A-93B0-1543526987BB}" type="slidenum">
              <a:rPr kumimoji="0" lang="en-US" altLang="ko-KR" sz="1600" b="1" i="0" u="none" strike="noStrike" kern="1200" cap="none" spc="0" normalizeH="0" baseline="0" noProof="0" smtClean="0">
                <a:ln>
                  <a:noFill/>
                </a:ln>
                <a:solidFill>
                  <a:srgbClr val="FFFFFF"/>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80000"/>
                </a:lnSpc>
                <a:spcBef>
                  <a:spcPct val="20000"/>
                </a:spcBef>
                <a:spcAft>
                  <a:spcPct val="0"/>
                </a:spcAft>
                <a:buClrTx/>
                <a:buSzPct val="80000"/>
                <a:buFont typeface="Wingdings" panose="05000000000000000000" pitchFamily="2" charset="2"/>
                <a:buNone/>
                <a:tabLst/>
                <a:defRPr/>
              </a:pPr>
              <a:t>54</a:t>
            </a:fld>
            <a:endParaRPr kumimoji="0" lang="en-US" altLang="ko-KR"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5" name="标题 4">
            <a:extLst>
              <a:ext uri="{FF2B5EF4-FFF2-40B4-BE49-F238E27FC236}">
                <a16:creationId xmlns:a16="http://schemas.microsoft.com/office/drawing/2014/main" id="{BC59A54E-A4AF-8C60-82F6-F9E567A5130D}"/>
              </a:ext>
            </a:extLst>
          </p:cNvPr>
          <p:cNvSpPr>
            <a:spLocks noGrp="1"/>
          </p:cNvSpPr>
          <p:nvPr>
            <p:ph type="title"/>
          </p:nvPr>
        </p:nvSpPr>
        <p:spPr>
          <a:prstGeom prst="rect">
            <a:avLst/>
          </a:prstGeom>
        </p:spPr>
        <p:txBody>
          <a:bodyPr/>
          <a:lstStyle/>
          <a:p>
            <a:r>
              <a:rPr lang="zh-CN" altLang="en-US" dirty="0"/>
              <a:t>前情提要</a:t>
            </a:r>
          </a:p>
        </p:txBody>
      </p:sp>
      <p:sp>
        <p:nvSpPr>
          <p:cNvPr id="6" name="内容占位符 5">
            <a:extLst>
              <a:ext uri="{FF2B5EF4-FFF2-40B4-BE49-F238E27FC236}">
                <a16:creationId xmlns:a16="http://schemas.microsoft.com/office/drawing/2014/main" id="{56A4CDDD-B7F7-8B40-6B34-B017F8B484BF}"/>
              </a:ext>
            </a:extLst>
          </p:cNvPr>
          <p:cNvSpPr>
            <a:spLocks noGrp="1"/>
          </p:cNvSpPr>
          <p:nvPr>
            <p:ph idx="1"/>
          </p:nvPr>
        </p:nvSpPr>
        <p:spPr>
          <a:xfrm>
            <a:off x="695399" y="1569766"/>
            <a:ext cx="10801200" cy="4811561"/>
          </a:xfrm>
          <a:prstGeom prst="rect">
            <a:avLst/>
          </a:prstGeom>
        </p:spPr>
        <p:txBody>
          <a:bodyPr>
            <a:normAutofit/>
          </a:bodyPr>
          <a:lstStyle/>
          <a:p>
            <a:pPr eaLnBrk="1" hangingPunct="1">
              <a:lnSpc>
                <a:spcPct val="120000"/>
              </a:lnSpc>
            </a:pPr>
            <a:r>
              <a:rPr lang="zh-CN" altLang="en-US" sz="1600" dirty="0"/>
              <a:t>线程的技术发展后出现了新的变体</a:t>
            </a:r>
            <a:endParaRPr lang="en-US" altLang="zh-CN" sz="1600" dirty="0"/>
          </a:p>
          <a:p>
            <a:pPr eaLnBrk="1" hangingPunct="1">
              <a:lnSpc>
                <a:spcPct val="120000"/>
              </a:lnSpc>
            </a:pPr>
            <a:r>
              <a:rPr lang="zh-CN" altLang="en-US" sz="1600" dirty="0"/>
              <a:t>多个线程共享数据、调度事件随时可能发生，导致了软件执行过程中结果的不可控</a:t>
            </a:r>
            <a:endParaRPr lang="en-US" altLang="zh-CN" sz="1600" dirty="0"/>
          </a:p>
          <a:p>
            <a:pPr eaLnBrk="1" hangingPunct="1">
              <a:lnSpc>
                <a:spcPct val="120000"/>
              </a:lnSpc>
            </a:pPr>
            <a:r>
              <a:rPr lang="zh-CN" altLang="en-US" sz="1600" dirty="0"/>
              <a:t>对于修改同一块内存区的多段代码，将其定义为</a:t>
            </a:r>
            <a:r>
              <a:rPr lang="zh-CN" altLang="en-US" sz="1600" dirty="0">
                <a:solidFill>
                  <a:srgbClr val="FF0000"/>
                </a:solidFill>
              </a:rPr>
              <a:t>临界区</a:t>
            </a:r>
            <a:r>
              <a:rPr lang="zh-CN" altLang="en-US" sz="1600" dirty="0"/>
              <a:t>，同一时刻，不要有两个或以上的线程处于临界区当中</a:t>
            </a:r>
            <a:endParaRPr lang="en-US" altLang="zh-CN" sz="1600" dirty="0"/>
          </a:p>
          <a:p>
            <a:pPr eaLnBrk="1" hangingPunct="1">
              <a:lnSpc>
                <a:spcPct val="120000"/>
              </a:lnSpc>
            </a:pPr>
            <a:r>
              <a:rPr lang="zh-CN" altLang="en-US" sz="1600" dirty="0"/>
              <a:t>为了避免多个线程同时进入临界区，在</a:t>
            </a:r>
            <a:r>
              <a:rPr lang="zh-CN" altLang="en-US" sz="1600" dirty="0">
                <a:solidFill>
                  <a:srgbClr val="FF0000"/>
                </a:solidFill>
              </a:rPr>
              <a:t>进出临界区</a:t>
            </a:r>
            <a:r>
              <a:rPr lang="zh-CN" altLang="en-US" sz="1600" dirty="0"/>
              <a:t>前做状态检查和标记设置，用一种相对保守的机制保障正确性</a:t>
            </a:r>
            <a:endParaRPr lang="en-US" altLang="zh-CN" sz="1600" dirty="0"/>
          </a:p>
          <a:p>
            <a:pPr eaLnBrk="1" hangingPunct="1">
              <a:lnSpc>
                <a:spcPct val="120000"/>
              </a:lnSpc>
            </a:pPr>
            <a:r>
              <a:rPr lang="zh-CN" altLang="en-US" sz="1600" dirty="0">
                <a:solidFill>
                  <a:srgbClr val="FF0000"/>
                </a:solidFill>
              </a:rPr>
              <a:t>检查临界区里无人</a:t>
            </a:r>
            <a:r>
              <a:rPr lang="zh-CN" altLang="en-US" sz="1600" dirty="0"/>
              <a:t>与</a:t>
            </a:r>
            <a:r>
              <a:rPr lang="zh-CN" altLang="en-US" sz="1600" dirty="0">
                <a:solidFill>
                  <a:srgbClr val="FF0000"/>
                </a:solidFill>
              </a:rPr>
              <a:t>设置标志标识已进入临界区</a:t>
            </a:r>
            <a:r>
              <a:rPr lang="zh-CN" altLang="en-US" sz="1600" dirty="0"/>
              <a:t>，这两个操作必须在无人打断的情况下完成，也就是操作的</a:t>
            </a:r>
            <a:r>
              <a:rPr lang="zh-CN" altLang="en-US" sz="1600" dirty="0">
                <a:solidFill>
                  <a:srgbClr val="FF0000"/>
                </a:solidFill>
              </a:rPr>
              <a:t>原子性</a:t>
            </a:r>
            <a:r>
              <a:rPr lang="zh-CN" altLang="en-US" sz="1600" dirty="0"/>
              <a:t>。</a:t>
            </a:r>
            <a:endParaRPr lang="en-US" altLang="zh-CN" sz="1600" dirty="0"/>
          </a:p>
          <a:p>
            <a:pPr eaLnBrk="1" hangingPunct="1">
              <a:lnSpc>
                <a:spcPct val="120000"/>
              </a:lnSpc>
            </a:pPr>
            <a:r>
              <a:rPr lang="en-US" altLang="zh-CN" sz="1600" dirty="0"/>
              <a:t>Test-and-set</a:t>
            </a:r>
            <a:r>
              <a:rPr lang="zh-CN" altLang="en-US" sz="1600" dirty="0"/>
              <a:t>类的</a:t>
            </a:r>
            <a:r>
              <a:rPr lang="zh-CN" altLang="en-US" sz="1600" dirty="0">
                <a:solidFill>
                  <a:srgbClr val="FF0000"/>
                </a:solidFill>
              </a:rPr>
              <a:t>原子指令</a:t>
            </a:r>
            <a:r>
              <a:rPr lang="zh-CN" altLang="en-US" sz="1600" dirty="0"/>
              <a:t>实现的是保障正确性的“无序竞争”，是一种轻量级的临界区保障方法</a:t>
            </a:r>
            <a:endParaRPr lang="en-US" altLang="zh-CN" sz="1600" dirty="0"/>
          </a:p>
          <a:p>
            <a:pPr eaLnBrk="1" hangingPunct="1">
              <a:lnSpc>
                <a:spcPct val="120000"/>
              </a:lnSpc>
            </a:pPr>
            <a:r>
              <a:rPr lang="zh-CN" altLang="en-US" sz="1600" dirty="0"/>
              <a:t>原子指令的核心价值在于</a:t>
            </a:r>
            <a:r>
              <a:rPr lang="zh-CN" altLang="en-US" sz="1600" dirty="0">
                <a:solidFill>
                  <a:srgbClr val="FF0000"/>
                </a:solidFill>
              </a:rPr>
              <a:t>无法被调度（中断）打断</a:t>
            </a:r>
            <a:r>
              <a:rPr lang="zh-CN" altLang="en-US" sz="1600" dirty="0"/>
              <a:t>，这是一种专用的指令，在多核上还有对应的硬件实现方法</a:t>
            </a:r>
            <a:endParaRPr lang="en-US" altLang="zh-CN" sz="1600" dirty="0"/>
          </a:p>
          <a:p>
            <a:pPr eaLnBrk="1" hangingPunct="1">
              <a:lnSpc>
                <a:spcPct val="120000"/>
              </a:lnSpc>
            </a:pPr>
            <a:r>
              <a:rPr lang="zh-CN" altLang="en-US" sz="1600" dirty="0"/>
              <a:t>信号量是</a:t>
            </a:r>
            <a:r>
              <a:rPr lang="zh-CN" altLang="en-US" sz="1600" dirty="0">
                <a:solidFill>
                  <a:srgbClr val="FF0000"/>
                </a:solidFill>
              </a:rPr>
              <a:t>操作系统提供的机制</a:t>
            </a:r>
            <a:r>
              <a:rPr lang="zh-CN" altLang="en-US" sz="1600" dirty="0"/>
              <a:t>，由</a:t>
            </a:r>
            <a:r>
              <a:rPr lang="zh-CN" altLang="en-US" sz="1600" dirty="0">
                <a:solidFill>
                  <a:srgbClr val="FF0000"/>
                </a:solidFill>
              </a:rPr>
              <a:t>系统调用实现在内核禁止调度</a:t>
            </a:r>
            <a:r>
              <a:rPr lang="zh-CN" altLang="en-US" sz="1600" dirty="0"/>
              <a:t>（以及其他线程抢占），然后实现对于临界区标志位的查看和修改，可能实现共享资源的有效获取，或者</a:t>
            </a:r>
            <a:r>
              <a:rPr lang="zh-CN" altLang="en-US" sz="1600" dirty="0">
                <a:solidFill>
                  <a:srgbClr val="FF0000"/>
                </a:solidFill>
              </a:rPr>
              <a:t>无法获取资源的进程进入阻塞状态</a:t>
            </a:r>
            <a:r>
              <a:rPr lang="zh-CN" altLang="en-US" sz="1600" dirty="0"/>
              <a:t>。</a:t>
            </a:r>
            <a:endParaRPr lang="en-US" altLang="zh-CN" sz="1600" dirty="0"/>
          </a:p>
          <a:p>
            <a:pPr eaLnBrk="1" hangingPunct="1">
              <a:lnSpc>
                <a:spcPct val="120000"/>
              </a:lnSpc>
            </a:pPr>
            <a:r>
              <a:rPr lang="zh-CN" altLang="en-US" sz="1600" dirty="0"/>
              <a:t>借助信号量可以实现</a:t>
            </a:r>
            <a:r>
              <a:rPr lang="zh-CN" altLang="en-US" sz="1600" dirty="0">
                <a:solidFill>
                  <a:srgbClr val="FF0000"/>
                </a:solidFill>
              </a:rPr>
              <a:t>互斥</a:t>
            </a:r>
            <a:r>
              <a:rPr lang="zh-CN" altLang="en-US" sz="1600" dirty="0"/>
              <a:t>（竞争）或者</a:t>
            </a:r>
            <a:r>
              <a:rPr lang="zh-CN" altLang="en-US" sz="1600" dirty="0">
                <a:solidFill>
                  <a:srgbClr val="FF0000"/>
                </a:solidFill>
              </a:rPr>
              <a:t>同步</a:t>
            </a:r>
            <a:r>
              <a:rPr lang="zh-CN" altLang="en-US" sz="1600" dirty="0"/>
              <a:t>（保序），其中的</a:t>
            </a:r>
            <a:r>
              <a:rPr lang="zh-CN" altLang="en-US" sz="1600" dirty="0">
                <a:solidFill>
                  <a:srgbClr val="FF0000"/>
                </a:solidFill>
              </a:rPr>
              <a:t>套路</a:t>
            </a:r>
            <a:r>
              <a:rPr lang="zh-CN" altLang="en-US" sz="1600" dirty="0"/>
              <a:t>需要记住，互斥在一个线程里</a:t>
            </a:r>
            <a:r>
              <a:rPr lang="en-US" altLang="zh-CN" sz="1600" dirty="0"/>
              <a:t>PV</a:t>
            </a:r>
            <a:r>
              <a:rPr lang="zh-CN" altLang="en-US" sz="1600" dirty="0"/>
              <a:t>，同步在两个线程里先</a:t>
            </a:r>
            <a:r>
              <a:rPr lang="en-US" altLang="zh-CN" sz="1600" dirty="0"/>
              <a:t>V</a:t>
            </a:r>
            <a:r>
              <a:rPr lang="zh-CN" altLang="en-US" sz="1600" dirty="0"/>
              <a:t>再</a:t>
            </a:r>
            <a:r>
              <a:rPr lang="en-US" altLang="zh-CN" sz="1600" dirty="0"/>
              <a:t>P</a:t>
            </a:r>
          </a:p>
          <a:p>
            <a:pPr eaLnBrk="1" hangingPunct="1">
              <a:lnSpc>
                <a:spcPct val="120000"/>
              </a:lnSpc>
            </a:pPr>
            <a:r>
              <a:rPr lang="zh-CN" altLang="en-US" sz="1600" dirty="0"/>
              <a:t>信号量存在使用技巧上的要求，因此面向对象出现了</a:t>
            </a:r>
            <a:r>
              <a:rPr lang="zh-CN" altLang="en-US" sz="1600" dirty="0">
                <a:solidFill>
                  <a:srgbClr val="FF0000"/>
                </a:solidFill>
              </a:rPr>
              <a:t>管程</a:t>
            </a:r>
            <a:r>
              <a:rPr lang="zh-CN" altLang="en-US" sz="1600" dirty="0"/>
              <a:t>等技术，简化程序员工作</a:t>
            </a:r>
            <a:endParaRPr lang="en-US" altLang="zh-CN" sz="1600" dirty="0"/>
          </a:p>
          <a:p>
            <a:pPr eaLnBrk="1" hangingPunct="1">
              <a:lnSpc>
                <a:spcPct val="120000"/>
              </a:lnSpc>
            </a:pPr>
            <a:r>
              <a:rPr lang="zh-CN" altLang="en-US" sz="1600" dirty="0"/>
              <a:t>几类典型的并发同步类的任务，例如生产者</a:t>
            </a:r>
            <a:r>
              <a:rPr lang="en-US" altLang="zh-CN" sz="1600" dirty="0"/>
              <a:t>-</a:t>
            </a:r>
            <a:r>
              <a:rPr lang="zh-CN" altLang="en-US" sz="1600" dirty="0"/>
              <a:t>消费者，读者</a:t>
            </a:r>
            <a:r>
              <a:rPr lang="en-US" altLang="zh-CN" sz="1600" dirty="0"/>
              <a:t>-</a:t>
            </a:r>
            <a:r>
              <a:rPr lang="zh-CN" altLang="en-US" sz="1600" dirty="0"/>
              <a:t>写者，哲学家就餐，沉睡的理发师等</a:t>
            </a:r>
            <a:endParaRPr lang="en-US" altLang="zh-CN" sz="1600" dirty="0"/>
          </a:p>
          <a:p>
            <a:pPr eaLnBrk="1" hangingPunct="1">
              <a:lnSpc>
                <a:spcPct val="120000"/>
              </a:lnSpc>
            </a:pPr>
            <a:r>
              <a:rPr lang="zh-CN" altLang="en-US" sz="1600" dirty="0"/>
              <a:t>锁机制因为不需要进入内核态，有更好的执行效率。但是锁也不可避免的存在内存带宽和处理器时间的浪费</a:t>
            </a:r>
            <a:endParaRPr lang="en-US" altLang="zh-CN" sz="1600" dirty="0"/>
          </a:p>
        </p:txBody>
      </p:sp>
    </p:spTree>
    <p:extLst>
      <p:ext uri="{BB962C8B-B14F-4D97-AF65-F5344CB8AC3E}">
        <p14:creationId xmlns:p14="http://schemas.microsoft.com/office/powerpoint/2010/main" val="41092344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6"/>
          <p:cNvSpPr>
            <a:spLocks noChangeAspect="1" noChangeArrowheads="1"/>
          </p:cNvSpPr>
          <p:nvPr/>
        </p:nvSpPr>
        <p:spPr bwMode="auto">
          <a:xfrm>
            <a:off x="6145715" y="3357562"/>
            <a:ext cx="692769" cy="720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miter lim="800000"/>
            <a:headEnd/>
            <a:tailEnd/>
          </a:ln>
        </p:spPr>
        <p:txBody>
          <a:bodyPr wrap="none" anchor="ctr"/>
          <a:lstStyle/>
          <a:p>
            <a:pPr algn="ctr" eaLnBrk="1" hangingPunct="1">
              <a:buFont typeface="Monotype Sorts" charset="0"/>
              <a:buNone/>
            </a:pPr>
            <a:r>
              <a:rPr lang="zh-CN" altLang="en-US" b="1" dirty="0">
                <a:solidFill>
                  <a:srgbClr val="11576A"/>
                </a:solidFill>
                <a:latin typeface="+mn-ea"/>
                <a:cs typeface="宋体" charset="0"/>
              </a:rPr>
              <a:t>锁</a:t>
            </a:r>
            <a:endParaRPr lang="en-US" altLang="zh-CN" b="1" dirty="0">
              <a:solidFill>
                <a:srgbClr val="11576A"/>
              </a:solidFill>
              <a:latin typeface="+mn-ea"/>
              <a:cs typeface="宋体" charset="0"/>
            </a:endParaRPr>
          </a:p>
        </p:txBody>
      </p:sp>
      <p:sp>
        <p:nvSpPr>
          <p:cNvPr id="24" name="Rectangle 14"/>
          <p:cNvSpPr>
            <a:spLocks noChangeAspect="1" noChangeArrowheads="1"/>
          </p:cNvSpPr>
          <p:nvPr/>
        </p:nvSpPr>
        <p:spPr bwMode="auto">
          <a:xfrm>
            <a:off x="6985625" y="3357562"/>
            <a:ext cx="1167259" cy="720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miter lim="800000"/>
            <a:headEnd/>
            <a:tailEnd/>
          </a:ln>
        </p:spPr>
        <p:txBody>
          <a:bodyPr wrap="none" anchor="ctr"/>
          <a:lstStyle/>
          <a:p>
            <a:pPr algn="ctr" eaLnBrk="1" hangingPunct="1">
              <a:buFont typeface="Monotype Sorts" charset="0"/>
              <a:buNone/>
            </a:pPr>
            <a:r>
              <a:rPr lang="zh-CN" altLang="en-US" b="1">
                <a:solidFill>
                  <a:srgbClr val="11576A"/>
                </a:solidFill>
                <a:latin typeface="+mn-ea"/>
                <a:cs typeface="宋体" charset="0"/>
              </a:rPr>
              <a:t>条件变量</a:t>
            </a:r>
            <a:endParaRPr lang="en-US" altLang="zh-CN" b="1">
              <a:solidFill>
                <a:srgbClr val="11576A"/>
              </a:solidFill>
              <a:latin typeface="+mn-ea"/>
              <a:cs typeface="宋体" charset="0"/>
            </a:endParaRPr>
          </a:p>
        </p:txBody>
      </p:sp>
      <p:sp>
        <p:nvSpPr>
          <p:cNvPr id="31" name="Rectangle 6"/>
          <p:cNvSpPr>
            <a:spLocks noChangeAspect="1" noChangeArrowheads="1"/>
          </p:cNvSpPr>
          <p:nvPr/>
        </p:nvSpPr>
        <p:spPr bwMode="auto">
          <a:xfrm>
            <a:off x="5065594" y="3357562"/>
            <a:ext cx="936104" cy="720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bevel/>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lgn="ctr" eaLnBrk="1" hangingPunct="1">
              <a:buFont typeface="Monotype Sorts" charset="0"/>
              <a:buNone/>
            </a:pPr>
            <a:r>
              <a:rPr lang="zh-CN" altLang="en-US" b="1" dirty="0">
                <a:solidFill>
                  <a:srgbClr val="11576A"/>
                </a:solidFill>
                <a:latin typeface="+mn-ea"/>
                <a:cs typeface="宋体" charset="0"/>
              </a:rPr>
              <a:t>信号量</a:t>
            </a:r>
            <a:endParaRPr lang="en-US" altLang="zh-CN" b="1" dirty="0">
              <a:solidFill>
                <a:srgbClr val="11576A"/>
              </a:solidFill>
              <a:latin typeface="+mn-ea"/>
              <a:cs typeface="宋体" charset="0"/>
            </a:endParaRPr>
          </a:p>
        </p:txBody>
      </p:sp>
      <p:grpSp>
        <p:nvGrpSpPr>
          <p:cNvPr id="20" name="组合 19"/>
          <p:cNvGrpSpPr/>
          <p:nvPr/>
        </p:nvGrpSpPr>
        <p:grpSpPr>
          <a:xfrm>
            <a:off x="5376114" y="4173542"/>
            <a:ext cx="2447199" cy="684218"/>
            <a:chOff x="3451414" y="3316292"/>
            <a:chExt cx="2447199" cy="684218"/>
          </a:xfrm>
        </p:grpSpPr>
        <p:sp>
          <p:nvSpPr>
            <p:cNvPr id="32" name="AutoShape 7"/>
            <p:cNvSpPr>
              <a:spLocks noChangeArrowheads="1"/>
            </p:cNvSpPr>
            <p:nvPr/>
          </p:nvSpPr>
          <p:spPr bwMode="auto">
            <a:xfrm>
              <a:off x="4652948" y="3316292"/>
              <a:ext cx="294377" cy="612000"/>
            </a:xfrm>
            <a:prstGeom prst="upArrow">
              <a:avLst>
                <a:gd name="adj1" fmla="val 50000"/>
                <a:gd name="adj2" fmla="val 58088"/>
              </a:avLst>
            </a:prstGeom>
            <a:gradFill>
              <a:gsLst>
                <a:gs pos="100000">
                  <a:srgbClr val="11576A"/>
                </a:gs>
                <a:gs pos="0">
                  <a:srgbClr val="0EB1C8"/>
                </a:gs>
                <a:gs pos="100000">
                  <a:schemeClr val="accent1">
                    <a:tint val="23500"/>
                    <a:satMod val="160000"/>
                  </a:schemeClr>
                </a:gs>
              </a:gsLst>
              <a:lin ang="5400000" scaled="0"/>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vert="eaVert" wrap="none" anchor="ctr"/>
            <a:lstStyle/>
            <a:p>
              <a:pPr eaLnBrk="1" hangingPunct="1">
                <a:buFont typeface="Monotype Sorts" charset="0"/>
                <a:buNone/>
              </a:pPr>
              <a:endParaRPr lang="zh-CN" altLang="en-US" b="1">
                <a:latin typeface="+mn-ea"/>
                <a:cs typeface="宋体" charset="0"/>
              </a:endParaRPr>
            </a:p>
          </p:txBody>
        </p:sp>
        <p:sp>
          <p:nvSpPr>
            <p:cNvPr id="33" name="Text Box 8"/>
            <p:cNvSpPr txBox="1">
              <a:spLocks noChangeArrowheads="1"/>
            </p:cNvSpPr>
            <p:nvPr/>
          </p:nvSpPr>
          <p:spPr bwMode="auto">
            <a:xfrm>
              <a:off x="4867261" y="3354179"/>
              <a:ext cx="1031352"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zh-CN" altLang="en-US" sz="1800" b="1" dirty="0">
                  <a:solidFill>
                    <a:srgbClr val="11576A"/>
                  </a:solidFill>
                  <a:latin typeface="+mn-ea"/>
                  <a:ea typeface="+mn-ea"/>
                  <a:cs typeface="宋体" charset="0"/>
                </a:rPr>
                <a:t>忙等</a:t>
              </a:r>
              <a:endParaRPr lang="en-US" altLang="zh-CN" sz="1800" b="1" dirty="0">
                <a:solidFill>
                  <a:srgbClr val="11576A"/>
                </a:solidFill>
                <a:latin typeface="+mn-ea"/>
                <a:ea typeface="+mn-ea"/>
                <a:cs typeface="宋体" charset="0"/>
              </a:endParaRPr>
            </a:p>
            <a:p>
              <a:pPr eaLnBrk="1" hangingPunct="1">
                <a:buFont typeface="Monotype Sorts" charset="0"/>
                <a:buNone/>
              </a:pPr>
              <a:r>
                <a:rPr lang="en-US" altLang="zh-CN" sz="1800" b="1" dirty="0">
                  <a:solidFill>
                    <a:srgbClr val="11576A"/>
                  </a:solidFill>
                  <a:latin typeface="+mn-ea"/>
                  <a:ea typeface="+mn-ea"/>
                  <a:cs typeface="宋体" charset="0"/>
                </a:rPr>
                <a:t>(</a:t>
              </a:r>
              <a:r>
                <a:rPr lang="zh-CN" altLang="en-US" sz="1800" b="1" dirty="0">
                  <a:solidFill>
                    <a:srgbClr val="11576A"/>
                  </a:solidFill>
                  <a:latin typeface="+mn-ea"/>
                  <a:ea typeface="+mn-ea"/>
                  <a:cs typeface="宋体" charset="0"/>
                </a:rPr>
                <a:t>自旋锁</a:t>
              </a:r>
              <a:r>
                <a:rPr lang="en-US" altLang="zh-CN" sz="1800" b="1" dirty="0">
                  <a:solidFill>
                    <a:srgbClr val="11576A"/>
                  </a:solidFill>
                  <a:latin typeface="+mn-ea"/>
                  <a:ea typeface="+mn-ea"/>
                  <a:cs typeface="宋体" charset="0"/>
                </a:rPr>
                <a:t>)</a:t>
              </a:r>
            </a:p>
          </p:txBody>
        </p:sp>
        <p:sp>
          <p:nvSpPr>
            <p:cNvPr id="34" name="Text Box 9"/>
            <p:cNvSpPr txBox="1">
              <a:spLocks noChangeArrowheads="1"/>
            </p:cNvSpPr>
            <p:nvPr/>
          </p:nvSpPr>
          <p:spPr bwMode="auto">
            <a:xfrm>
              <a:off x="3451414" y="3354179"/>
              <a:ext cx="1287532"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algn="r" eaLnBrk="1" hangingPunct="1">
                <a:buFont typeface="Monotype Sorts" charset="0"/>
                <a:buNone/>
              </a:pPr>
              <a:r>
                <a:rPr lang="zh-CN" altLang="en-US" sz="1800" b="1" dirty="0">
                  <a:solidFill>
                    <a:srgbClr val="11576A"/>
                  </a:solidFill>
                  <a:latin typeface="+mn-ea"/>
                  <a:ea typeface="+mn-ea"/>
                  <a:cs typeface="宋体" charset="0"/>
                </a:rPr>
                <a:t>阻塞</a:t>
              </a:r>
              <a:endParaRPr lang="en-US" altLang="zh-CN" sz="1800" b="1" dirty="0">
                <a:solidFill>
                  <a:srgbClr val="11576A"/>
                </a:solidFill>
                <a:latin typeface="+mn-ea"/>
                <a:ea typeface="+mn-ea"/>
                <a:cs typeface="宋体" charset="0"/>
              </a:endParaRPr>
            </a:p>
            <a:p>
              <a:pPr algn="r" eaLnBrk="1" hangingPunct="1">
                <a:buFont typeface="Monotype Sorts" charset="0"/>
                <a:buNone/>
              </a:pPr>
              <a:r>
                <a:rPr lang="en-US" altLang="zh-CN" sz="1800" b="1" dirty="0">
                  <a:solidFill>
                    <a:srgbClr val="11576A"/>
                  </a:solidFill>
                  <a:latin typeface="+mn-ea"/>
                  <a:ea typeface="+mn-ea"/>
                  <a:cs typeface="宋体" charset="0"/>
                </a:rPr>
                <a:t>(</a:t>
              </a:r>
              <a:r>
                <a:rPr lang="zh-CN" altLang="en-US" sz="1800" b="1" dirty="0">
                  <a:solidFill>
                    <a:srgbClr val="11576A"/>
                  </a:solidFill>
                  <a:latin typeface="+mn-ea"/>
                  <a:ea typeface="+mn-ea"/>
                  <a:cs typeface="宋体" charset="0"/>
                </a:rPr>
                <a:t>等待队列</a:t>
              </a:r>
              <a:r>
                <a:rPr lang="en-US" altLang="zh-CN" sz="1800" b="1" dirty="0">
                  <a:solidFill>
                    <a:srgbClr val="11576A"/>
                  </a:solidFill>
                  <a:latin typeface="+mn-ea"/>
                  <a:ea typeface="+mn-ea"/>
                  <a:cs typeface="宋体" charset="0"/>
                </a:rPr>
                <a:t>)</a:t>
              </a:r>
            </a:p>
          </p:txBody>
        </p:sp>
      </p:grpSp>
      <p:sp>
        <p:nvSpPr>
          <p:cNvPr id="35" name="内容占位符 2"/>
          <p:cNvSpPr txBox="1">
            <a:spLocks/>
          </p:cNvSpPr>
          <p:nvPr/>
        </p:nvSpPr>
        <p:spPr>
          <a:xfrm>
            <a:off x="2567608" y="2071678"/>
            <a:ext cx="1428760"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eaLnBrk="1" fontAlgn="auto" hangingPunct="1">
              <a:spcBef>
                <a:spcPct val="20000"/>
              </a:spcBef>
              <a:spcAft>
                <a:spcPts val="0"/>
              </a:spcAft>
              <a:defRPr/>
            </a:pPr>
            <a:r>
              <a:rPr lang="zh-CN" altLang="en-US" dirty="0"/>
              <a:t>并发编程</a:t>
            </a:r>
          </a:p>
        </p:txBody>
      </p:sp>
      <p:sp>
        <p:nvSpPr>
          <p:cNvPr id="37" name="内容占位符 2"/>
          <p:cNvSpPr txBox="1">
            <a:spLocks/>
          </p:cNvSpPr>
          <p:nvPr/>
        </p:nvSpPr>
        <p:spPr>
          <a:xfrm>
            <a:off x="2567608" y="5000636"/>
            <a:ext cx="1214446"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zh-CN" altLang="en-US" dirty="0"/>
              <a:t>硬件支持</a:t>
            </a:r>
          </a:p>
        </p:txBody>
      </p:sp>
      <p:sp>
        <p:nvSpPr>
          <p:cNvPr id="38" name="Rectangle 6"/>
          <p:cNvSpPr>
            <a:spLocks noChangeAspect="1" noChangeArrowheads="1"/>
          </p:cNvSpPr>
          <p:nvPr/>
        </p:nvSpPr>
        <p:spPr bwMode="auto">
          <a:xfrm>
            <a:off x="3970715" y="4833938"/>
            <a:ext cx="1380000" cy="720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miter lim="800000"/>
            <a:headEnd/>
            <a:tailEnd/>
          </a:ln>
        </p:spPr>
        <p:txBody>
          <a:bodyPr wrap="none" anchor="ctr"/>
          <a:lstStyle/>
          <a:p>
            <a:pPr algn="ctr" eaLnBrk="1" hangingPunct="1">
              <a:buFont typeface="Monotype Sorts" charset="0"/>
              <a:buNone/>
            </a:pPr>
            <a:r>
              <a:rPr lang="zh-CN" altLang="en-US" b="1" dirty="0">
                <a:solidFill>
                  <a:srgbClr val="11576A"/>
                </a:solidFill>
                <a:latin typeface="+mn-ea"/>
                <a:cs typeface="宋体" charset="0"/>
              </a:rPr>
              <a:t>禁用中断</a:t>
            </a:r>
            <a:endParaRPr lang="en-US" altLang="zh-CN" b="1" dirty="0">
              <a:solidFill>
                <a:srgbClr val="11576A"/>
              </a:solidFill>
              <a:latin typeface="+mn-ea"/>
              <a:cs typeface="宋体" charset="0"/>
            </a:endParaRPr>
          </a:p>
        </p:txBody>
      </p:sp>
      <p:sp>
        <p:nvSpPr>
          <p:cNvPr id="39" name="Rectangle 7"/>
          <p:cNvSpPr>
            <a:spLocks noChangeAspect="1" noChangeArrowheads="1"/>
          </p:cNvSpPr>
          <p:nvPr/>
        </p:nvSpPr>
        <p:spPr bwMode="auto">
          <a:xfrm>
            <a:off x="5527802" y="4833938"/>
            <a:ext cx="2400000" cy="720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miter lim="800000"/>
            <a:headEnd/>
            <a:tailEnd/>
          </a:ln>
        </p:spPr>
        <p:txBody>
          <a:bodyPr wrap="none" anchor="ctr"/>
          <a:lstStyle/>
          <a:p>
            <a:pPr algn="ctr" eaLnBrk="1" hangingPunct="1">
              <a:buFont typeface="Monotype Sorts" charset="0"/>
              <a:buNone/>
            </a:pPr>
            <a:r>
              <a:rPr lang="zh-CN" altLang="en-US" b="1" dirty="0">
                <a:solidFill>
                  <a:srgbClr val="11576A"/>
                </a:solidFill>
                <a:latin typeface="+mn-ea"/>
                <a:cs typeface="宋体" charset="0"/>
              </a:rPr>
              <a:t>原子操作</a:t>
            </a:r>
            <a:endParaRPr lang="en-US" altLang="zh-CN" b="1" dirty="0">
              <a:solidFill>
                <a:srgbClr val="11576A"/>
              </a:solidFill>
              <a:latin typeface="+mn-ea"/>
              <a:cs typeface="宋体" charset="0"/>
            </a:endParaRPr>
          </a:p>
          <a:p>
            <a:pPr algn="ctr" eaLnBrk="1" hangingPunct="1">
              <a:buFont typeface="Monotype Sorts" charset="0"/>
              <a:buNone/>
            </a:pPr>
            <a:r>
              <a:rPr lang="en-US" altLang="zh-CN" b="1" dirty="0">
                <a:solidFill>
                  <a:srgbClr val="11576A"/>
                </a:solidFill>
                <a:latin typeface="+mn-ea"/>
                <a:cs typeface="宋体" charset="0"/>
              </a:rPr>
              <a:t>(</a:t>
            </a:r>
            <a:r>
              <a:rPr lang="zh-CN" altLang="en-US" b="1" dirty="0">
                <a:solidFill>
                  <a:srgbClr val="11576A"/>
                </a:solidFill>
                <a:latin typeface="+mn-ea"/>
                <a:cs typeface="宋体" charset="0"/>
              </a:rPr>
              <a:t>如</a:t>
            </a:r>
            <a:r>
              <a:rPr lang="en-US" altLang="zh-CN" b="1" dirty="0">
                <a:solidFill>
                  <a:srgbClr val="11576A"/>
                </a:solidFill>
                <a:latin typeface="+mn-ea"/>
                <a:cs typeface="宋体" charset="0"/>
              </a:rPr>
              <a:t>TS</a:t>
            </a:r>
            <a:r>
              <a:rPr lang="zh-CN" altLang="en-US" b="1" dirty="0">
                <a:solidFill>
                  <a:srgbClr val="11576A"/>
                </a:solidFill>
                <a:latin typeface="+mn-ea"/>
                <a:cs typeface="宋体" charset="0"/>
              </a:rPr>
              <a:t>指令</a:t>
            </a:r>
            <a:r>
              <a:rPr lang="en-US" altLang="zh-CN" b="1" dirty="0">
                <a:solidFill>
                  <a:srgbClr val="11576A"/>
                </a:solidFill>
                <a:latin typeface="+mn-ea"/>
                <a:cs typeface="宋体" charset="0"/>
              </a:rPr>
              <a:t>)</a:t>
            </a:r>
          </a:p>
        </p:txBody>
      </p:sp>
      <p:sp>
        <p:nvSpPr>
          <p:cNvPr id="40" name="Rectangle 6"/>
          <p:cNvSpPr>
            <a:spLocks noChangeAspect="1" noChangeArrowheads="1"/>
          </p:cNvSpPr>
          <p:nvPr/>
        </p:nvSpPr>
        <p:spPr bwMode="auto">
          <a:xfrm>
            <a:off x="8104889" y="4833938"/>
            <a:ext cx="1380000" cy="720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miter lim="800000"/>
            <a:headEnd/>
            <a:tailEnd/>
          </a:ln>
        </p:spPr>
        <p:txBody>
          <a:bodyPr wrap="none" anchor="ctr"/>
          <a:lstStyle/>
          <a:p>
            <a:pPr algn="ctr" eaLnBrk="1" hangingPunct="1">
              <a:buFont typeface="Monotype Sorts" charset="0"/>
              <a:buNone/>
            </a:pPr>
            <a:r>
              <a:rPr lang="zh-CN" altLang="en-US" b="1" dirty="0">
                <a:solidFill>
                  <a:srgbClr val="11576A"/>
                </a:solidFill>
                <a:latin typeface="+mn-ea"/>
                <a:cs typeface="宋体" charset="0"/>
              </a:rPr>
              <a:t>原子</a:t>
            </a:r>
            <a:endParaRPr lang="en-US" altLang="zh-CN" b="1" dirty="0">
              <a:solidFill>
                <a:srgbClr val="11576A"/>
              </a:solidFill>
              <a:latin typeface="+mn-ea"/>
              <a:cs typeface="宋体" charset="0"/>
            </a:endParaRPr>
          </a:p>
          <a:p>
            <a:pPr algn="ctr" eaLnBrk="1" hangingPunct="1">
              <a:buFont typeface="Monotype Sorts" charset="0"/>
              <a:buNone/>
            </a:pPr>
            <a:r>
              <a:rPr lang="en-US" altLang="zh-CN" b="1" dirty="0">
                <a:solidFill>
                  <a:srgbClr val="11576A"/>
                </a:solidFill>
                <a:latin typeface="+mn-ea"/>
                <a:cs typeface="宋体" charset="0"/>
              </a:rPr>
              <a:t>Load/Store</a:t>
            </a:r>
          </a:p>
        </p:txBody>
      </p:sp>
      <p:sp>
        <p:nvSpPr>
          <p:cNvPr id="41" name="内容占位符 2"/>
          <p:cNvSpPr txBox="1">
            <a:spLocks/>
          </p:cNvSpPr>
          <p:nvPr/>
        </p:nvSpPr>
        <p:spPr>
          <a:xfrm>
            <a:off x="2567608" y="3490128"/>
            <a:ext cx="1285884" cy="428628"/>
          </a:xfrm>
          <a:prstGeom prst="rect">
            <a:avLst/>
          </a:prstGeom>
        </p:spPr>
        <p:txBody>
          <a:bodyPr/>
          <a:lstStyle>
            <a:lvl1pPr marL="269875" indent="-269875">
              <a:buNone/>
              <a:defRPr sz="2000" b="1" baseline="0">
                <a:solidFill>
                  <a:srgbClr val="11576A"/>
                </a:solidFill>
                <a:latin typeface="微软雅黑" pitchFamily="34" charset="-122"/>
                <a:ea typeface="微软雅黑" pitchFamily="34" charset="-122"/>
              </a:defRPr>
            </a:lvl1pPr>
            <a:lvl2pPr marL="269875" indent="-93663">
              <a:buNone/>
              <a:defRPr sz="2000" b="1">
                <a:solidFill>
                  <a:srgbClr val="11576A"/>
                </a:solidFill>
                <a:latin typeface="微软雅黑" pitchFamily="34" charset="-122"/>
                <a:ea typeface="微软雅黑" pitchFamily="34" charset="-122"/>
              </a:defRPr>
            </a:lvl2pPr>
            <a:lvl3pPr>
              <a:buNone/>
              <a:defRPr sz="1800" b="1">
                <a:solidFill>
                  <a:srgbClr val="11576A"/>
                </a:solidFill>
                <a:latin typeface="微软雅黑" pitchFamily="34" charset="-122"/>
                <a:ea typeface="微软雅黑" pitchFamily="34" charset="-122"/>
              </a:defRPr>
            </a:lvl3pPr>
          </a:lstStyle>
          <a:p>
            <a:pPr lvl="0">
              <a:spcBef>
                <a:spcPct val="20000"/>
              </a:spcBef>
            </a:pPr>
            <a:r>
              <a:rPr lang="zh-CN" altLang="en-US" dirty="0"/>
              <a:t>高层抽象</a:t>
            </a:r>
          </a:p>
        </p:txBody>
      </p:sp>
      <p:sp>
        <p:nvSpPr>
          <p:cNvPr id="42" name="AutoShape 7"/>
          <p:cNvSpPr>
            <a:spLocks noChangeArrowheads="1"/>
          </p:cNvSpPr>
          <p:nvPr/>
        </p:nvSpPr>
        <p:spPr bwMode="auto">
          <a:xfrm>
            <a:off x="6577648" y="2735258"/>
            <a:ext cx="294377" cy="612000"/>
          </a:xfrm>
          <a:prstGeom prst="upArrow">
            <a:avLst>
              <a:gd name="adj1" fmla="val 50000"/>
              <a:gd name="adj2" fmla="val 58088"/>
            </a:avLst>
          </a:prstGeom>
          <a:gradFill>
            <a:gsLst>
              <a:gs pos="100000">
                <a:srgbClr val="11576A"/>
              </a:gs>
              <a:gs pos="0">
                <a:srgbClr val="0EB1C8"/>
              </a:gs>
              <a:gs pos="100000">
                <a:schemeClr val="accent1">
                  <a:tint val="23500"/>
                  <a:satMod val="160000"/>
                </a:schemeClr>
              </a:gs>
            </a:gsLst>
            <a:lin ang="5400000" scaled="0"/>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vert="eaVert" wrap="none" anchor="ctr"/>
          <a:lstStyle/>
          <a:p>
            <a:pPr eaLnBrk="1" hangingPunct="1">
              <a:buFont typeface="Monotype Sorts" charset="0"/>
              <a:buNone/>
            </a:pPr>
            <a:endParaRPr lang="zh-CN" altLang="en-US" b="1">
              <a:latin typeface="+mn-ea"/>
              <a:cs typeface="宋体" charset="0"/>
            </a:endParaRPr>
          </a:p>
        </p:txBody>
      </p:sp>
      <p:sp>
        <p:nvSpPr>
          <p:cNvPr id="22" name="任意多边形 21"/>
          <p:cNvSpPr/>
          <p:nvPr/>
        </p:nvSpPr>
        <p:spPr>
          <a:xfrm>
            <a:off x="4462583" y="3740150"/>
            <a:ext cx="592445" cy="1041400"/>
          </a:xfrm>
          <a:custGeom>
            <a:avLst/>
            <a:gdLst>
              <a:gd name="connsiteX0" fmla="*/ 27517 w 1030817"/>
              <a:gd name="connsiteY0" fmla="*/ 1041400 h 1041400"/>
              <a:gd name="connsiteX1" fmla="*/ 167217 w 1030817"/>
              <a:gd name="connsiteY1" fmla="*/ 317500 h 1041400"/>
              <a:gd name="connsiteX2" fmla="*/ 1030817 w 1030817"/>
              <a:gd name="connsiteY2" fmla="*/ 0 h 1041400"/>
            </a:gdLst>
            <a:ahLst/>
            <a:cxnLst>
              <a:cxn ang="0">
                <a:pos x="connsiteX0" y="connsiteY0"/>
              </a:cxn>
              <a:cxn ang="0">
                <a:pos x="connsiteX1" y="connsiteY1"/>
              </a:cxn>
              <a:cxn ang="0">
                <a:pos x="connsiteX2" y="connsiteY2"/>
              </a:cxn>
            </a:cxnLst>
            <a:rect l="l" t="t" r="r" b="b"/>
            <a:pathLst>
              <a:path w="1030817" h="1041400">
                <a:moveTo>
                  <a:pt x="27517" y="1041400"/>
                </a:moveTo>
                <a:cubicBezTo>
                  <a:pt x="13758" y="766233"/>
                  <a:pt x="0" y="491067"/>
                  <a:pt x="167217" y="317500"/>
                </a:cubicBezTo>
                <a:cubicBezTo>
                  <a:pt x="334434" y="143933"/>
                  <a:pt x="682625" y="71966"/>
                  <a:pt x="1030817" y="0"/>
                </a:cubicBezTo>
              </a:path>
            </a:pathLst>
          </a:custGeom>
          <a:ln w="76200">
            <a:gradFill>
              <a:gsLst>
                <a:gs pos="100000">
                  <a:srgbClr val="11576A"/>
                </a:gs>
                <a:gs pos="0">
                  <a:srgbClr val="0EB1C8"/>
                </a:gs>
                <a:gs pos="100000">
                  <a:schemeClr val="accent1">
                    <a:tint val="23500"/>
                    <a:satMod val="160000"/>
                  </a:schemeClr>
                </a:gs>
              </a:gsLst>
              <a:lin ang="5400000" scaled="0"/>
            </a:gra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26" name="组合 25"/>
          <p:cNvGrpSpPr/>
          <p:nvPr/>
        </p:nvGrpSpPr>
        <p:grpSpPr>
          <a:xfrm>
            <a:off x="7970454" y="3740152"/>
            <a:ext cx="1701845" cy="1062557"/>
            <a:chOff x="6045754" y="2882900"/>
            <a:chExt cx="1701845" cy="1062557"/>
          </a:xfrm>
        </p:grpSpPr>
        <p:sp>
          <p:nvSpPr>
            <p:cNvPr id="27" name="任意多边形 26"/>
            <p:cNvSpPr/>
            <p:nvPr/>
          </p:nvSpPr>
          <p:spPr>
            <a:xfrm>
              <a:off x="6045754" y="2882900"/>
              <a:ext cx="804847" cy="1041400"/>
            </a:xfrm>
            <a:custGeom>
              <a:avLst/>
              <a:gdLst>
                <a:gd name="connsiteX0" fmla="*/ 27517 w 1030817"/>
                <a:gd name="connsiteY0" fmla="*/ 1041400 h 1041400"/>
                <a:gd name="connsiteX1" fmla="*/ 167217 w 1030817"/>
                <a:gd name="connsiteY1" fmla="*/ 317500 h 1041400"/>
                <a:gd name="connsiteX2" fmla="*/ 1030817 w 1030817"/>
                <a:gd name="connsiteY2" fmla="*/ 0 h 1041400"/>
              </a:gdLst>
              <a:ahLst/>
              <a:cxnLst>
                <a:cxn ang="0">
                  <a:pos x="connsiteX0" y="connsiteY0"/>
                </a:cxn>
                <a:cxn ang="0">
                  <a:pos x="connsiteX1" y="connsiteY1"/>
                </a:cxn>
                <a:cxn ang="0">
                  <a:pos x="connsiteX2" y="connsiteY2"/>
                </a:cxn>
              </a:cxnLst>
              <a:rect l="l" t="t" r="r" b="b"/>
              <a:pathLst>
                <a:path w="1030817" h="1041400">
                  <a:moveTo>
                    <a:pt x="27517" y="1041400"/>
                  </a:moveTo>
                  <a:cubicBezTo>
                    <a:pt x="13758" y="766233"/>
                    <a:pt x="0" y="491067"/>
                    <a:pt x="167217" y="317500"/>
                  </a:cubicBezTo>
                  <a:cubicBezTo>
                    <a:pt x="334434" y="143933"/>
                    <a:pt x="682625" y="71966"/>
                    <a:pt x="1030817" y="0"/>
                  </a:cubicBezTo>
                </a:path>
              </a:pathLst>
            </a:custGeom>
            <a:ln w="76200">
              <a:gradFill>
                <a:gsLst>
                  <a:gs pos="100000">
                    <a:srgbClr val="11576A"/>
                  </a:gs>
                  <a:gs pos="0">
                    <a:srgbClr val="0EB1C8"/>
                  </a:gs>
                  <a:gs pos="100000">
                    <a:schemeClr val="accent1">
                      <a:tint val="23500"/>
                      <a:satMod val="160000"/>
                    </a:schemeClr>
                  </a:gs>
                </a:gsLst>
                <a:lin ang="5400000" scaled="0"/>
              </a:gradFill>
              <a:tailEnd type="triangle"/>
            </a:ln>
            <a:scene3d>
              <a:camera prst="orthographicFront">
                <a:rot lat="0" lon="10800000" rev="0"/>
              </a:camera>
              <a:lightRig rig="threePt" dir="t"/>
            </a:scene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Text Box 8"/>
            <p:cNvSpPr txBox="1">
              <a:spLocks noChangeArrowheads="1"/>
            </p:cNvSpPr>
            <p:nvPr/>
          </p:nvSpPr>
          <p:spPr bwMode="auto">
            <a:xfrm>
              <a:off x="7101268" y="3299126"/>
              <a:ext cx="646331"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MS PGothic" charset="0"/>
                  <a:cs typeface="MS PGothic" charset="0"/>
                </a:defRPr>
              </a:lvl1pPr>
              <a:lvl2pPr>
                <a:defRPr sz="2000">
                  <a:solidFill>
                    <a:schemeClr val="folHlink"/>
                  </a:solidFill>
                  <a:latin typeface="Times New Roman" charset="0"/>
                  <a:ea typeface="MS PGothic" charset="0"/>
                  <a:cs typeface="MS PGothic" charset="0"/>
                </a:defRPr>
              </a:lvl2pPr>
              <a:lvl3pPr>
                <a:defRPr sz="2400">
                  <a:solidFill>
                    <a:schemeClr val="tx1"/>
                  </a:solidFill>
                  <a:latin typeface="Times New Roman" charset="0"/>
                  <a:ea typeface="MS PGothic" charset="0"/>
                  <a:cs typeface="MS PGothic" charset="0"/>
                </a:defRPr>
              </a:lvl3pPr>
              <a:lvl4pPr>
                <a:defRPr sz="1600">
                  <a:solidFill>
                    <a:schemeClr val="tx1"/>
                  </a:solidFill>
                  <a:latin typeface="Times New Roman" charset="0"/>
                  <a:ea typeface="MS PGothic" charset="0"/>
                  <a:cs typeface="MS PGothic" charset="0"/>
                </a:defRPr>
              </a:lvl4pPr>
              <a:lvl5pPr>
                <a:defRPr sz="1400">
                  <a:solidFill>
                    <a:schemeClr val="tx1"/>
                  </a:solidFill>
                  <a:latin typeface="Times New Roman" charset="0"/>
                  <a:ea typeface="MS PGothic" charset="0"/>
                  <a:cs typeface="MS PGothic" charset="0"/>
                </a:defRPr>
              </a:lvl5pPr>
              <a:lvl6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6pPr>
              <a:lvl7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7pPr>
              <a:lvl8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8pPr>
              <a:lvl9pPr eaLnBrk="0" fontAlgn="base" hangingPunct="0">
                <a:spcBef>
                  <a:spcPct val="20000"/>
                </a:spcBef>
                <a:spcAft>
                  <a:spcPct val="0"/>
                </a:spcAft>
                <a:buClr>
                  <a:schemeClr val="folHlink"/>
                </a:buClr>
                <a:buSzPct val="75000"/>
                <a:buFont typeface="Monotype Sorts" charset="0"/>
                <a:buChar char="–"/>
                <a:defRPr sz="1400">
                  <a:solidFill>
                    <a:schemeClr val="tx1"/>
                  </a:solidFill>
                  <a:latin typeface="Times New Roman" charset="0"/>
                  <a:ea typeface="MS PGothic" charset="0"/>
                  <a:cs typeface="MS PGothic" charset="0"/>
                </a:defRPr>
              </a:lvl9pPr>
            </a:lstStyle>
            <a:p>
              <a:pPr eaLnBrk="1" hangingPunct="1">
                <a:buFont typeface="Monotype Sorts" charset="0"/>
                <a:buNone/>
              </a:pPr>
              <a:r>
                <a:rPr lang="zh-CN" altLang="en-US" sz="1800" b="1" dirty="0">
                  <a:solidFill>
                    <a:srgbClr val="11576A"/>
                  </a:solidFill>
                  <a:latin typeface="+mn-ea"/>
                  <a:ea typeface="+mn-ea"/>
                  <a:cs typeface="宋体" charset="0"/>
                </a:rPr>
                <a:t>软件</a:t>
              </a:r>
              <a:endParaRPr lang="en-US" altLang="zh-CN" sz="1800" b="1" dirty="0">
                <a:solidFill>
                  <a:srgbClr val="11576A"/>
                </a:solidFill>
                <a:latin typeface="+mn-ea"/>
                <a:ea typeface="+mn-ea"/>
                <a:cs typeface="宋体" charset="0"/>
              </a:endParaRPr>
            </a:p>
            <a:p>
              <a:pPr eaLnBrk="1" hangingPunct="1">
                <a:buFont typeface="Monotype Sorts" charset="0"/>
                <a:buNone/>
              </a:pPr>
              <a:r>
                <a:rPr lang="zh-CN" altLang="en-US" sz="1800" b="1" dirty="0">
                  <a:solidFill>
                    <a:srgbClr val="11576A"/>
                  </a:solidFill>
                  <a:latin typeface="+mn-ea"/>
                  <a:ea typeface="+mn-ea"/>
                  <a:cs typeface="宋体" charset="0"/>
                </a:rPr>
                <a:t>解决</a:t>
              </a:r>
              <a:endParaRPr lang="en-US" altLang="zh-CN" sz="1800" b="1" dirty="0">
                <a:solidFill>
                  <a:srgbClr val="11576A"/>
                </a:solidFill>
                <a:latin typeface="+mn-ea"/>
                <a:ea typeface="+mn-ea"/>
                <a:cs typeface="宋体" charset="0"/>
              </a:endParaRPr>
            </a:p>
          </p:txBody>
        </p:sp>
      </p:grpSp>
      <p:sp>
        <p:nvSpPr>
          <p:cNvPr id="29" name="Rectangle 13"/>
          <p:cNvSpPr>
            <a:spLocks noChangeAspect="1" noChangeArrowheads="1"/>
          </p:cNvSpPr>
          <p:nvPr/>
        </p:nvSpPr>
        <p:spPr bwMode="auto">
          <a:xfrm>
            <a:off x="5549458" y="1924050"/>
            <a:ext cx="1163264" cy="792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miter lim="800000"/>
            <a:headEnd/>
            <a:tailEnd/>
          </a:ln>
        </p:spPr>
        <p:txBody>
          <a:bodyPr wrap="none" anchor="ctr"/>
          <a:lstStyle/>
          <a:p>
            <a:pPr algn="ctr" eaLnBrk="1" hangingPunct="1">
              <a:buFont typeface="Monotype Sorts" charset="0"/>
              <a:buNone/>
            </a:pPr>
            <a:r>
              <a:rPr lang="zh-CN" altLang="en-US" b="1" dirty="0">
                <a:solidFill>
                  <a:srgbClr val="11576A"/>
                </a:solidFill>
                <a:latin typeface="+mn-ea"/>
                <a:cs typeface="宋体" charset="0"/>
              </a:rPr>
              <a:t>临界区</a:t>
            </a:r>
            <a:endParaRPr lang="en-US" altLang="zh-CN" b="1" dirty="0">
              <a:solidFill>
                <a:srgbClr val="11576A"/>
              </a:solidFill>
              <a:latin typeface="+mn-ea"/>
              <a:cs typeface="宋体" charset="0"/>
            </a:endParaRPr>
          </a:p>
        </p:txBody>
      </p:sp>
      <p:sp>
        <p:nvSpPr>
          <p:cNvPr id="30" name="Rectangle 15"/>
          <p:cNvSpPr>
            <a:spLocks noChangeAspect="1" noChangeArrowheads="1"/>
          </p:cNvSpPr>
          <p:nvPr/>
        </p:nvSpPr>
        <p:spPr bwMode="auto">
          <a:xfrm>
            <a:off x="6872023" y="1924050"/>
            <a:ext cx="1053434" cy="792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miter lim="800000"/>
            <a:headEnd/>
            <a:tailEnd/>
          </a:ln>
        </p:spPr>
        <p:txBody>
          <a:bodyPr wrap="none" anchor="ctr"/>
          <a:lstStyle/>
          <a:p>
            <a:pPr algn="ctr" eaLnBrk="1" hangingPunct="1">
              <a:buFont typeface="Monotype Sorts" charset="0"/>
              <a:buNone/>
            </a:pPr>
            <a:r>
              <a:rPr lang="zh-CN" altLang="en-US" b="1" dirty="0">
                <a:solidFill>
                  <a:srgbClr val="11576A"/>
                </a:solidFill>
                <a:latin typeface="+mn-ea"/>
                <a:cs typeface="宋体" charset="0"/>
              </a:rPr>
              <a:t>管程</a:t>
            </a:r>
            <a:endParaRPr lang="en-US" altLang="zh-CN" b="1" dirty="0">
              <a:solidFill>
                <a:srgbClr val="11576A"/>
              </a:solidFill>
              <a:latin typeface="+mn-ea"/>
              <a:cs typeface="宋体" charset="0"/>
            </a:endParaRPr>
          </a:p>
        </p:txBody>
      </p:sp>
      <p:sp>
        <p:nvSpPr>
          <p:cNvPr id="2" name="标题 1">
            <a:extLst>
              <a:ext uri="{FF2B5EF4-FFF2-40B4-BE49-F238E27FC236}">
                <a16:creationId xmlns:a16="http://schemas.microsoft.com/office/drawing/2014/main" id="{66C37BA1-913C-9DF5-E4BA-7B903D4CAA44}"/>
              </a:ext>
            </a:extLst>
          </p:cNvPr>
          <p:cNvSpPr>
            <a:spLocks noGrp="1"/>
          </p:cNvSpPr>
          <p:nvPr>
            <p:ph type="title"/>
          </p:nvPr>
        </p:nvSpPr>
        <p:spPr/>
        <p:txBody>
          <a:bodyPr>
            <a:normAutofit/>
          </a:bodyPr>
          <a:lstStyle/>
          <a:p>
            <a:r>
              <a:rPr lang="zh-CN" altLang="en-US" dirty="0"/>
              <a:t>基本同步方法</a:t>
            </a:r>
          </a:p>
        </p:txBody>
      </p:sp>
    </p:spTree>
    <p:extLst>
      <p:ext uri="{BB962C8B-B14F-4D97-AF65-F5344CB8AC3E}">
        <p14:creationId xmlns:p14="http://schemas.microsoft.com/office/powerpoint/2010/main" val="8654234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prstGeom prst="rect">
            <a:avLst/>
          </a:prstGeom>
        </p:spPr>
        <p:txBody>
          <a:bodyPr/>
          <a:lstStyle/>
          <a:p>
            <a:pPr>
              <a:defRPr/>
            </a:pPr>
            <a:fld id="{735FD82A-B7E6-45EF-A6AD-CFE05C0DE389}" type="slidenum">
              <a:rPr lang="en-US" altLang="ko-KR" smtClean="0"/>
              <a:pPr>
                <a:defRPr/>
              </a:pPr>
              <a:t>56</a:t>
            </a:fld>
            <a:endParaRPr lang="en-US" altLang="ko-KR"/>
          </a:p>
        </p:txBody>
      </p:sp>
      <p:sp>
        <p:nvSpPr>
          <p:cNvPr id="2" name="标题 1"/>
          <p:cNvSpPr>
            <a:spLocks noGrp="1"/>
          </p:cNvSpPr>
          <p:nvPr>
            <p:ph type="title"/>
          </p:nvPr>
        </p:nvSpPr>
        <p:spPr>
          <a:prstGeom prst="rect">
            <a:avLst/>
          </a:prstGeom>
        </p:spPr>
        <p:txBody>
          <a:bodyPr/>
          <a:lstStyle/>
          <a:p>
            <a:r>
              <a:rPr lang="zh-CN" altLang="en-US" dirty="0"/>
              <a:t>你需要知道的一些事</a:t>
            </a:r>
          </a:p>
        </p:txBody>
      </p:sp>
      <p:sp>
        <p:nvSpPr>
          <p:cNvPr id="3" name="内容占位符 2"/>
          <p:cNvSpPr>
            <a:spLocks noGrp="1"/>
          </p:cNvSpPr>
          <p:nvPr>
            <p:ph idx="1"/>
          </p:nvPr>
        </p:nvSpPr>
        <p:spPr>
          <a:prstGeom prst="rect">
            <a:avLst/>
          </a:prstGeom>
        </p:spPr>
        <p:txBody>
          <a:bodyPr>
            <a:normAutofit fontScale="92500" lnSpcReduction="10000"/>
          </a:bodyPr>
          <a:lstStyle/>
          <a:p>
            <a:r>
              <a:rPr lang="zh-CN" altLang="en-US" dirty="0"/>
              <a:t>没有任何一个哲学家因操作系统的研究被饿死</a:t>
            </a:r>
            <a:endParaRPr lang="en-US" altLang="zh-CN" dirty="0"/>
          </a:p>
          <a:p>
            <a:r>
              <a:rPr lang="zh-CN" altLang="en-US" dirty="0"/>
              <a:t>哲学家就餐问题，或类似问题，极少在工程问题中出现</a:t>
            </a:r>
            <a:endParaRPr lang="en-US" altLang="zh-CN" dirty="0"/>
          </a:p>
          <a:p>
            <a:r>
              <a:rPr lang="zh-CN" altLang="en-US" dirty="0">
                <a:solidFill>
                  <a:srgbClr val="FF0000"/>
                </a:solidFill>
              </a:rPr>
              <a:t>锁机制的使用远超过信号量</a:t>
            </a:r>
            <a:endParaRPr lang="en-US" altLang="zh-CN" dirty="0">
              <a:solidFill>
                <a:srgbClr val="FF0000"/>
              </a:solidFill>
            </a:endParaRPr>
          </a:p>
          <a:p>
            <a:r>
              <a:rPr lang="zh-CN" altLang="en-US" dirty="0"/>
              <a:t>操作系统通常仅向用户提供最简单的同步机制，其他内容由用户自主开发或第三方完成</a:t>
            </a:r>
            <a:endParaRPr lang="en-US" altLang="zh-CN" dirty="0"/>
          </a:p>
          <a:p>
            <a:r>
              <a:rPr lang="zh-CN" altLang="en-US" dirty="0"/>
              <a:t>操作系统的内核代码中反而缺少好的管理</a:t>
            </a:r>
            <a:endParaRPr lang="en-US" altLang="zh-CN" dirty="0"/>
          </a:p>
          <a:p>
            <a:r>
              <a:rPr lang="zh-CN" altLang="en-US" dirty="0"/>
              <a:t>并发与同步引起的错误是极难发现和消除的，目前没有很好的工具和手段</a:t>
            </a:r>
            <a:endParaRPr lang="en-US" altLang="zh-CN" dirty="0"/>
          </a:p>
          <a:p>
            <a:r>
              <a:rPr lang="zh-CN" altLang="en-US" dirty="0"/>
              <a:t>管程在</a:t>
            </a:r>
            <a:r>
              <a:rPr lang="en-US" altLang="zh-CN" dirty="0"/>
              <a:t>C++</a:t>
            </a:r>
            <a:r>
              <a:rPr lang="zh-CN" altLang="en-US" dirty="0"/>
              <a:t>中没有支持，在</a:t>
            </a:r>
            <a:r>
              <a:rPr lang="en-US" altLang="zh-CN" dirty="0"/>
              <a:t>JAVA</a:t>
            </a:r>
            <a:r>
              <a:rPr lang="zh-CN" altLang="en-US" dirty="0"/>
              <a:t>中也没有完整的实现</a:t>
            </a:r>
            <a:endParaRPr lang="en-US" altLang="zh-CN" dirty="0"/>
          </a:p>
          <a:p>
            <a:r>
              <a:rPr lang="zh-CN" altLang="en-US" dirty="0"/>
              <a:t>锁是一种消极的机制，改进的方案是</a:t>
            </a:r>
            <a:r>
              <a:rPr lang="zh-CN" altLang="en-US" dirty="0">
                <a:solidFill>
                  <a:srgbClr val="FF0000"/>
                </a:solidFill>
              </a:rPr>
              <a:t>事务型内存</a:t>
            </a:r>
            <a:endParaRPr lang="en-US" altLang="zh-CN" dirty="0">
              <a:solidFill>
                <a:srgbClr val="FF0000"/>
              </a:solidFill>
            </a:endParaRPr>
          </a:p>
        </p:txBody>
      </p:sp>
    </p:spTree>
    <p:extLst>
      <p:ext uri="{BB962C8B-B14F-4D97-AF65-F5344CB8AC3E}">
        <p14:creationId xmlns:p14="http://schemas.microsoft.com/office/powerpoint/2010/main" val="39563734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prstGeom prst="rect">
            <a:avLst/>
          </a:prstGeom>
        </p:spPr>
        <p:txBody>
          <a:bodyPr/>
          <a:lstStyle/>
          <a:p>
            <a:pPr>
              <a:defRPr/>
            </a:pPr>
            <a:fld id="{735FD82A-B7E6-45EF-A6AD-CFE05C0DE389}" type="slidenum">
              <a:rPr lang="en-US" altLang="ko-KR" smtClean="0"/>
              <a:pPr>
                <a:defRPr/>
              </a:pPr>
              <a:t>57</a:t>
            </a:fld>
            <a:endParaRPr lang="en-US" altLang="ko-KR"/>
          </a:p>
        </p:txBody>
      </p:sp>
      <p:sp>
        <p:nvSpPr>
          <p:cNvPr id="2" name="标题 1"/>
          <p:cNvSpPr>
            <a:spLocks noGrp="1"/>
          </p:cNvSpPr>
          <p:nvPr>
            <p:ph type="title"/>
          </p:nvPr>
        </p:nvSpPr>
        <p:spPr>
          <a:prstGeom prst="rect">
            <a:avLst/>
          </a:prstGeom>
        </p:spPr>
        <p:txBody>
          <a:bodyPr/>
          <a:lstStyle/>
          <a:p>
            <a:r>
              <a:rPr lang="zh-CN" altLang="en-US" dirty="0"/>
              <a:t>关于锁机制的实现</a:t>
            </a:r>
          </a:p>
        </p:txBody>
      </p:sp>
      <p:sp>
        <p:nvSpPr>
          <p:cNvPr id="3" name="内容占位符 2"/>
          <p:cNvSpPr>
            <a:spLocks noGrp="1"/>
          </p:cNvSpPr>
          <p:nvPr>
            <p:ph idx="1"/>
          </p:nvPr>
        </p:nvSpPr>
        <p:spPr>
          <a:prstGeom prst="rect">
            <a:avLst/>
          </a:prstGeom>
        </p:spPr>
        <p:txBody>
          <a:bodyPr/>
          <a:lstStyle/>
          <a:p>
            <a:r>
              <a:rPr lang="en-US" altLang="zh-CN" dirty="0"/>
              <a:t>Test-and-Set</a:t>
            </a:r>
            <a:r>
              <a:rPr lang="zh-CN" altLang="en-US" dirty="0"/>
              <a:t>是两个内存操作</a:t>
            </a:r>
            <a:endParaRPr lang="en-US" altLang="zh-CN" dirty="0"/>
          </a:p>
          <a:p>
            <a:r>
              <a:rPr lang="zh-CN" altLang="en-US" dirty="0"/>
              <a:t>如何在</a:t>
            </a:r>
            <a:r>
              <a:rPr lang="en-US" altLang="zh-CN" dirty="0"/>
              <a:t>RISC</a:t>
            </a:r>
            <a:r>
              <a:rPr lang="zh-CN" altLang="en-US" dirty="0"/>
              <a:t>指令中实现？</a:t>
            </a:r>
            <a:endParaRPr lang="en-US" altLang="zh-CN" dirty="0"/>
          </a:p>
          <a:p>
            <a:r>
              <a:rPr lang="en-US" altLang="zh-CN" dirty="0"/>
              <a:t>Exclusive Monitor</a:t>
            </a:r>
          </a:p>
          <a:p>
            <a:r>
              <a:rPr lang="en-US" altLang="zh-CN" dirty="0"/>
              <a:t>Load-Exclusive &amp;&amp; Store-Conditional</a:t>
            </a:r>
          </a:p>
          <a:p>
            <a:endParaRPr lang="zh-CN" altLang="en-US" dirty="0"/>
          </a:p>
        </p:txBody>
      </p:sp>
      <p:pic>
        <p:nvPicPr>
          <p:cNvPr id="1026" name="Picture 2" descr="http://5b0988e595225.cdn.sohucs.com/images/20180818/21d6dae6505248329d06cbca1ce224e2.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1324" y="3572842"/>
            <a:ext cx="6289352" cy="2952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6716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735FD82A-B7E6-45EF-A6AD-CFE05C0DE389}" type="slidenum">
              <a:rPr lang="en-US" altLang="ko-KR" smtClean="0"/>
              <a:pPr>
                <a:defRPr/>
              </a:pPr>
              <a:t>58</a:t>
            </a:fld>
            <a:endParaRPr lang="en-US" altLang="ko-KR"/>
          </a:p>
        </p:txBody>
      </p:sp>
      <p:sp>
        <p:nvSpPr>
          <p:cNvPr id="11" name="标题 10"/>
          <p:cNvSpPr>
            <a:spLocks noGrp="1"/>
          </p:cNvSpPr>
          <p:nvPr>
            <p:ph type="title"/>
          </p:nvPr>
        </p:nvSpPr>
        <p:spPr>
          <a:xfrm>
            <a:off x="0" y="2996952"/>
            <a:ext cx="12192000" cy="680403"/>
          </a:xfrm>
        </p:spPr>
        <p:txBody>
          <a:bodyPr>
            <a:normAutofit fontScale="90000"/>
          </a:bodyPr>
          <a:lstStyle/>
          <a:p>
            <a:pPr algn="ctr"/>
            <a:r>
              <a:rPr lang="zh-CN" altLang="en-US" dirty="0"/>
              <a:t>为什么程序员倾向于锁，而不是信号量</a:t>
            </a:r>
            <a:r>
              <a:rPr lang="en-US" altLang="zh-CN" dirty="0"/>
              <a:t>?</a:t>
            </a:r>
            <a:endParaRPr lang="zh-CN" altLang="en-US" dirty="0"/>
          </a:p>
        </p:txBody>
      </p:sp>
    </p:spTree>
    <p:extLst>
      <p:ext uri="{BB962C8B-B14F-4D97-AF65-F5344CB8AC3E}">
        <p14:creationId xmlns:p14="http://schemas.microsoft.com/office/powerpoint/2010/main" val="23125922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839415" y="1628800"/>
            <a:ext cx="5143536" cy="400110"/>
            <a:chOff x="1475656" y="987574"/>
            <a:chExt cx="4195319" cy="400110"/>
          </a:xfrm>
        </p:grpSpPr>
        <p:sp>
          <p:nvSpPr>
            <p:cNvPr id="24584" name="TextBox 4"/>
            <p:cNvSpPr txBox="1">
              <a:spLocks noChangeArrowheads="1"/>
            </p:cNvSpPr>
            <p:nvPr/>
          </p:nvSpPr>
          <p:spPr bwMode="auto">
            <a:xfrm>
              <a:off x="1798763" y="987574"/>
              <a:ext cx="3872212" cy="400110"/>
            </a:xfrm>
            <a:prstGeom prst="rect">
              <a:avLst/>
            </a:prstGeom>
            <a:noFill/>
            <a:ln w="9525">
              <a:noFill/>
              <a:miter lim="800000"/>
              <a:headEnd/>
              <a:tailEnd/>
            </a:ln>
          </p:spPr>
          <p:txBody>
            <a:bodyPr wrap="square">
              <a:spAutoFit/>
            </a:bodyPr>
            <a:lstStyle/>
            <a:p>
              <a:pPr>
                <a:buNone/>
              </a:pPr>
              <a:r>
                <a:rPr lang="en-US" altLang="zh-CN" sz="2000" b="1" dirty="0">
                  <a:solidFill>
                    <a:srgbClr val="11576A"/>
                  </a:solidFill>
                  <a:latin typeface="微软雅黑" pitchFamily="34" charset="-122"/>
                  <a:ea typeface="微软雅黑" pitchFamily="34" charset="-122"/>
                  <a:cs typeface="宋体" charset="0"/>
                </a:rPr>
                <a:t>PC</a:t>
              </a:r>
              <a:r>
                <a:rPr lang="zh-CN" altLang="en-US" sz="2000" b="1" dirty="0">
                  <a:solidFill>
                    <a:srgbClr val="11576A"/>
                  </a:solidFill>
                  <a:latin typeface="微软雅黑" pitchFamily="34" charset="-122"/>
                  <a:ea typeface="微软雅黑" pitchFamily="34" charset="-122"/>
                  <a:cs typeface="宋体" charset="0"/>
                </a:rPr>
                <a:t>跳转，但代价远超过函数调用</a:t>
              </a:r>
            </a:p>
          </p:txBody>
        </p:sp>
        <p:sp>
          <p:nvSpPr>
            <p:cNvPr id="24585" name="矩形 6"/>
            <p:cNvSpPr>
              <a:spLocks noChangeArrowheads="1"/>
            </p:cNvSpPr>
            <p:nvPr/>
          </p:nvSpPr>
          <p:spPr bwMode="auto">
            <a:xfrm>
              <a:off x="1475656" y="987574"/>
              <a:ext cx="264375" cy="369332"/>
            </a:xfrm>
            <a:prstGeom prst="rect">
              <a:avLst/>
            </a:prstGeom>
            <a:noFill/>
            <a:ln w="9525">
              <a:noFill/>
              <a:miter lim="800000"/>
              <a:headEnd/>
              <a:tailEnd/>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latin typeface="Calibri" pitchFamily="34" charset="0"/>
              </a:endParaRPr>
            </a:p>
          </p:txBody>
        </p:sp>
      </p:grpSp>
      <p:grpSp>
        <p:nvGrpSpPr>
          <p:cNvPr id="5" name="组合 4"/>
          <p:cNvGrpSpPr/>
          <p:nvPr/>
        </p:nvGrpSpPr>
        <p:grpSpPr>
          <a:xfrm>
            <a:off x="767408" y="1980945"/>
            <a:ext cx="3931091" cy="3268281"/>
            <a:chOff x="1403648" y="1339717"/>
            <a:chExt cx="3931091" cy="3268281"/>
          </a:xfrm>
        </p:grpSpPr>
        <p:sp>
          <p:nvSpPr>
            <p:cNvPr id="24" name="TextBox 7"/>
            <p:cNvSpPr txBox="1">
              <a:spLocks noChangeArrowheads="1"/>
            </p:cNvSpPr>
            <p:nvPr/>
          </p:nvSpPr>
          <p:spPr bwMode="auto">
            <a:xfrm>
              <a:off x="1403648" y="1339717"/>
              <a:ext cx="3508584" cy="400110"/>
            </a:xfrm>
            <a:prstGeom prst="rect">
              <a:avLst/>
            </a:prstGeom>
            <a:noFill/>
            <a:ln w="9525">
              <a:noFill/>
              <a:miter lim="800000"/>
              <a:headEnd/>
              <a:tailEnd/>
            </a:ln>
          </p:spPr>
          <p:txBody>
            <a:bodyPr wrap="square">
              <a:spAutoFit/>
            </a:bodyPr>
            <a:lstStyle/>
            <a:p>
              <a:pPr lvl="1">
                <a:buNone/>
              </a:pPr>
              <a:r>
                <a:rPr lang="zh-CN" altLang="en-US" sz="2000" b="1" dirty="0">
                  <a:solidFill>
                    <a:srgbClr val="11576A"/>
                  </a:solidFill>
                  <a:latin typeface="微软雅黑" pitchFamily="34" charset="-122"/>
                  <a:ea typeface="微软雅黑" pitchFamily="34" charset="-122"/>
                  <a:cs typeface="宋体" charset="0"/>
                </a:rPr>
                <a:t>开销：</a:t>
              </a:r>
            </a:p>
          </p:txBody>
        </p:sp>
        <p:sp>
          <p:nvSpPr>
            <p:cNvPr id="43" name="TextBox 7"/>
            <p:cNvSpPr txBox="1">
              <a:spLocks noChangeArrowheads="1"/>
            </p:cNvSpPr>
            <p:nvPr/>
          </p:nvSpPr>
          <p:spPr bwMode="auto">
            <a:xfrm>
              <a:off x="2161199" y="1718800"/>
              <a:ext cx="3172054" cy="400110"/>
            </a:xfrm>
            <a:prstGeom prst="rect">
              <a:avLst/>
            </a:prstGeom>
            <a:noFill/>
            <a:ln w="9525">
              <a:noFill/>
              <a:miter lim="800000"/>
              <a:headEnd/>
              <a:tailEnd/>
            </a:ln>
          </p:spPr>
          <p:txBody>
            <a:bodyPr wrap="square">
              <a:spAutoFit/>
            </a:bodyPr>
            <a:lstStyle/>
            <a:p>
              <a:pPr marL="0" lvl="2"/>
              <a:r>
                <a:rPr lang="zh-CN" altLang="en-US" sz="2000" b="1" dirty="0">
                  <a:solidFill>
                    <a:srgbClr val="11576A"/>
                  </a:solidFill>
                  <a:latin typeface="微软雅黑" pitchFamily="34" charset="-122"/>
                  <a:ea typeface="微软雅黑" pitchFamily="34" charset="-122"/>
                  <a:cs typeface="宋体" charset="0"/>
                </a:rPr>
                <a:t>引导机制</a:t>
              </a:r>
            </a:p>
          </p:txBody>
        </p:sp>
        <p:pic>
          <p:nvPicPr>
            <p:cNvPr id="44" name="图片 8" descr="小点1.png"/>
            <p:cNvPicPr>
              <a:picLocks noChangeAspect="1"/>
            </p:cNvPicPr>
            <p:nvPr/>
          </p:nvPicPr>
          <p:blipFill>
            <a:blip r:embed="rId2"/>
            <a:srcRect/>
            <a:stretch>
              <a:fillRect/>
            </a:stretch>
          </p:blipFill>
          <p:spPr bwMode="auto">
            <a:xfrm>
              <a:off x="1979712" y="1833102"/>
              <a:ext cx="149225" cy="149225"/>
            </a:xfrm>
            <a:prstGeom prst="rect">
              <a:avLst/>
            </a:prstGeom>
            <a:noFill/>
            <a:ln w="9525">
              <a:noFill/>
              <a:miter lim="800000"/>
              <a:headEnd/>
              <a:tailEnd/>
            </a:ln>
          </p:spPr>
        </p:pic>
        <p:sp>
          <p:nvSpPr>
            <p:cNvPr id="51" name="TextBox 7"/>
            <p:cNvSpPr txBox="1">
              <a:spLocks noChangeArrowheads="1"/>
            </p:cNvSpPr>
            <p:nvPr/>
          </p:nvSpPr>
          <p:spPr bwMode="auto">
            <a:xfrm>
              <a:off x="2162685" y="2075990"/>
              <a:ext cx="3172054" cy="400110"/>
            </a:xfrm>
            <a:prstGeom prst="rect">
              <a:avLst/>
            </a:prstGeom>
            <a:noFill/>
            <a:ln w="9525">
              <a:noFill/>
              <a:miter lim="800000"/>
              <a:headEnd/>
              <a:tailEnd/>
            </a:ln>
          </p:spPr>
          <p:txBody>
            <a:bodyPr wrap="square">
              <a:spAutoFit/>
            </a:bodyPr>
            <a:lstStyle/>
            <a:p>
              <a:pPr marL="0" lvl="2"/>
              <a:r>
                <a:rPr lang="zh-CN" altLang="en-US" sz="2000" b="1" dirty="0">
                  <a:solidFill>
                    <a:srgbClr val="11576A"/>
                  </a:solidFill>
                  <a:latin typeface="微软雅黑" pitchFamily="34" charset="-122"/>
                  <a:ea typeface="微软雅黑" pitchFamily="34" charset="-122"/>
                  <a:cs typeface="宋体" charset="0"/>
                </a:rPr>
                <a:t>建立内核堆栈</a:t>
              </a:r>
            </a:p>
          </p:txBody>
        </p:sp>
        <p:pic>
          <p:nvPicPr>
            <p:cNvPr id="52" name="图片 8" descr="小点1.png"/>
            <p:cNvPicPr>
              <a:picLocks noChangeAspect="1"/>
            </p:cNvPicPr>
            <p:nvPr/>
          </p:nvPicPr>
          <p:blipFill>
            <a:blip r:embed="rId2"/>
            <a:srcRect/>
            <a:stretch>
              <a:fillRect/>
            </a:stretch>
          </p:blipFill>
          <p:spPr bwMode="auto">
            <a:xfrm>
              <a:off x="1981198" y="2190292"/>
              <a:ext cx="149225" cy="149225"/>
            </a:xfrm>
            <a:prstGeom prst="rect">
              <a:avLst/>
            </a:prstGeom>
            <a:noFill/>
            <a:ln w="9525">
              <a:noFill/>
              <a:miter lim="800000"/>
              <a:headEnd/>
              <a:tailEnd/>
            </a:ln>
          </p:spPr>
        </p:pic>
        <p:sp>
          <p:nvSpPr>
            <p:cNvPr id="53" name="TextBox 7"/>
            <p:cNvSpPr txBox="1">
              <a:spLocks noChangeArrowheads="1"/>
            </p:cNvSpPr>
            <p:nvPr/>
          </p:nvSpPr>
          <p:spPr bwMode="auto">
            <a:xfrm>
              <a:off x="2161199" y="2426784"/>
              <a:ext cx="3172054" cy="400110"/>
            </a:xfrm>
            <a:prstGeom prst="rect">
              <a:avLst/>
            </a:prstGeom>
            <a:noFill/>
            <a:ln w="9525">
              <a:noFill/>
              <a:miter lim="800000"/>
              <a:headEnd/>
              <a:tailEnd/>
            </a:ln>
          </p:spPr>
          <p:txBody>
            <a:bodyPr wrap="square">
              <a:spAutoFit/>
            </a:bodyPr>
            <a:lstStyle/>
            <a:p>
              <a:pPr marL="0" lvl="2"/>
              <a:r>
                <a:rPr lang="zh-CN" altLang="en-US" sz="2000" b="1" dirty="0">
                  <a:solidFill>
                    <a:srgbClr val="11576A"/>
                  </a:solidFill>
                  <a:latin typeface="微软雅黑" pitchFamily="34" charset="-122"/>
                  <a:ea typeface="微软雅黑" pitchFamily="34" charset="-122"/>
                  <a:cs typeface="宋体" charset="0"/>
                </a:rPr>
                <a:t>验证参数</a:t>
              </a:r>
            </a:p>
          </p:txBody>
        </p:sp>
        <p:pic>
          <p:nvPicPr>
            <p:cNvPr id="54" name="图片 8" descr="小点1.png"/>
            <p:cNvPicPr>
              <a:picLocks noChangeAspect="1"/>
            </p:cNvPicPr>
            <p:nvPr/>
          </p:nvPicPr>
          <p:blipFill>
            <a:blip r:embed="rId2"/>
            <a:srcRect/>
            <a:stretch>
              <a:fillRect/>
            </a:stretch>
          </p:blipFill>
          <p:spPr bwMode="auto">
            <a:xfrm>
              <a:off x="1979712" y="2541086"/>
              <a:ext cx="149225" cy="149225"/>
            </a:xfrm>
            <a:prstGeom prst="rect">
              <a:avLst/>
            </a:prstGeom>
            <a:noFill/>
            <a:ln w="9525">
              <a:noFill/>
              <a:miter lim="800000"/>
              <a:headEnd/>
              <a:tailEnd/>
            </a:ln>
          </p:spPr>
        </p:pic>
        <p:sp>
          <p:nvSpPr>
            <p:cNvPr id="55" name="TextBox 7"/>
            <p:cNvSpPr txBox="1">
              <a:spLocks noChangeArrowheads="1"/>
            </p:cNvSpPr>
            <p:nvPr/>
          </p:nvSpPr>
          <p:spPr bwMode="auto">
            <a:xfrm>
              <a:off x="2162685" y="2783974"/>
              <a:ext cx="3172054" cy="707886"/>
            </a:xfrm>
            <a:prstGeom prst="rect">
              <a:avLst/>
            </a:prstGeom>
            <a:noFill/>
            <a:ln w="9525">
              <a:noFill/>
              <a:miter lim="800000"/>
              <a:headEnd/>
              <a:tailEnd/>
            </a:ln>
          </p:spPr>
          <p:txBody>
            <a:bodyPr wrap="square">
              <a:spAutoFit/>
            </a:bodyPr>
            <a:lstStyle/>
            <a:p>
              <a:pPr marL="0" lvl="2"/>
              <a:r>
                <a:rPr lang="zh-CN" altLang="en-US" sz="2000" b="1" dirty="0">
                  <a:solidFill>
                    <a:srgbClr val="11576A"/>
                  </a:solidFill>
                  <a:latin typeface="微软雅黑" pitchFamily="34" charset="-122"/>
                  <a:ea typeface="微软雅黑" pitchFamily="34" charset="-122"/>
                  <a:cs typeface="宋体" charset="0"/>
                </a:rPr>
                <a:t>内核态映射到用户态的地址空间</a:t>
              </a:r>
            </a:p>
          </p:txBody>
        </p:sp>
        <p:pic>
          <p:nvPicPr>
            <p:cNvPr id="56" name="图片 8" descr="小点1.png"/>
            <p:cNvPicPr>
              <a:picLocks noChangeAspect="1"/>
            </p:cNvPicPr>
            <p:nvPr/>
          </p:nvPicPr>
          <p:blipFill>
            <a:blip r:embed="rId2"/>
            <a:srcRect/>
            <a:stretch>
              <a:fillRect/>
            </a:stretch>
          </p:blipFill>
          <p:spPr bwMode="auto">
            <a:xfrm>
              <a:off x="1981198" y="2898276"/>
              <a:ext cx="149225" cy="149225"/>
            </a:xfrm>
            <a:prstGeom prst="rect">
              <a:avLst/>
            </a:prstGeom>
            <a:noFill/>
            <a:ln w="9525">
              <a:noFill/>
              <a:miter lim="800000"/>
              <a:headEnd/>
              <a:tailEnd/>
            </a:ln>
          </p:spPr>
        </p:pic>
        <p:sp>
          <p:nvSpPr>
            <p:cNvPr id="57" name="TextBox 7"/>
            <p:cNvSpPr txBox="1">
              <a:spLocks noChangeArrowheads="1"/>
            </p:cNvSpPr>
            <p:nvPr/>
          </p:nvSpPr>
          <p:spPr bwMode="auto">
            <a:xfrm>
              <a:off x="2162685" y="3865994"/>
              <a:ext cx="3172054" cy="400110"/>
            </a:xfrm>
            <a:prstGeom prst="rect">
              <a:avLst/>
            </a:prstGeom>
            <a:noFill/>
            <a:ln w="9525">
              <a:noFill/>
              <a:miter lim="800000"/>
              <a:headEnd/>
              <a:tailEnd/>
            </a:ln>
          </p:spPr>
          <p:txBody>
            <a:bodyPr wrap="square">
              <a:spAutoFit/>
            </a:bodyPr>
            <a:lstStyle/>
            <a:p>
              <a:pPr marL="0" lvl="2"/>
              <a:r>
                <a:rPr lang="zh-CN" altLang="en-US" sz="2000" b="1" dirty="0">
                  <a:solidFill>
                    <a:srgbClr val="11576A"/>
                  </a:solidFill>
                  <a:latin typeface="微软雅黑" pitchFamily="34" charset="-122"/>
                  <a:ea typeface="微软雅黑" pitchFamily="34" charset="-122"/>
                  <a:cs typeface="宋体" charset="0"/>
                </a:rPr>
                <a:t>内核态独立地址空间</a:t>
              </a:r>
            </a:p>
          </p:txBody>
        </p:sp>
        <p:pic>
          <p:nvPicPr>
            <p:cNvPr id="58" name="图片 8" descr="小点1.png"/>
            <p:cNvPicPr>
              <a:picLocks noChangeAspect="1"/>
            </p:cNvPicPr>
            <p:nvPr/>
          </p:nvPicPr>
          <p:blipFill>
            <a:blip r:embed="rId2"/>
            <a:srcRect/>
            <a:stretch>
              <a:fillRect/>
            </a:stretch>
          </p:blipFill>
          <p:spPr bwMode="auto">
            <a:xfrm>
              <a:off x="1981198" y="3980296"/>
              <a:ext cx="149225" cy="149225"/>
            </a:xfrm>
            <a:prstGeom prst="rect">
              <a:avLst/>
            </a:prstGeom>
            <a:noFill/>
            <a:ln w="9525">
              <a:noFill/>
              <a:miter lim="800000"/>
              <a:headEnd/>
              <a:tailEnd/>
            </a:ln>
          </p:spPr>
        </p:pic>
        <p:sp>
          <p:nvSpPr>
            <p:cNvPr id="59" name="TextBox 7"/>
            <p:cNvSpPr txBox="1">
              <a:spLocks noChangeArrowheads="1"/>
            </p:cNvSpPr>
            <p:nvPr/>
          </p:nvSpPr>
          <p:spPr bwMode="auto">
            <a:xfrm>
              <a:off x="2195736" y="3468490"/>
              <a:ext cx="2560462" cy="369332"/>
            </a:xfrm>
            <a:prstGeom prst="rect">
              <a:avLst/>
            </a:prstGeom>
            <a:noFill/>
            <a:ln w="9525">
              <a:noFill/>
              <a:miter lim="800000"/>
              <a:headEnd/>
              <a:tailEnd/>
            </a:ln>
          </p:spPr>
          <p:txBody>
            <a:bodyPr wrap="square">
              <a:spAutoFit/>
            </a:bodyPr>
            <a:lstStyle/>
            <a:p>
              <a:pPr marL="0" lvl="2"/>
              <a:r>
                <a:rPr lang="en-US" altLang="zh-CN" b="1" dirty="0">
                  <a:solidFill>
                    <a:srgbClr val="0070C0"/>
                  </a:solidFill>
                  <a:latin typeface="微软雅黑" pitchFamily="34" charset="-122"/>
                  <a:ea typeface="微软雅黑" pitchFamily="34" charset="-122"/>
                  <a:cs typeface="宋体" charset="0"/>
                </a:rPr>
                <a:t>· </a:t>
              </a:r>
              <a:r>
                <a:rPr lang="zh-CN" altLang="en-US" b="1" dirty="0">
                  <a:solidFill>
                    <a:srgbClr val="0070C0"/>
                  </a:solidFill>
                  <a:latin typeface="微软雅黑" pitchFamily="34" charset="-122"/>
                  <a:ea typeface="微软雅黑" pitchFamily="34" charset="-122"/>
                  <a:cs typeface="宋体" charset="0"/>
                </a:rPr>
                <a:t>更新页面映射权限</a:t>
              </a:r>
            </a:p>
          </p:txBody>
        </p:sp>
        <p:sp>
          <p:nvSpPr>
            <p:cNvPr id="60" name="TextBox 7"/>
            <p:cNvSpPr txBox="1">
              <a:spLocks noChangeArrowheads="1"/>
            </p:cNvSpPr>
            <p:nvPr/>
          </p:nvSpPr>
          <p:spPr bwMode="auto">
            <a:xfrm>
              <a:off x="2209384" y="4238666"/>
              <a:ext cx="884552" cy="369332"/>
            </a:xfrm>
            <a:prstGeom prst="rect">
              <a:avLst/>
            </a:prstGeom>
            <a:noFill/>
            <a:ln w="9525">
              <a:noFill/>
              <a:miter lim="800000"/>
              <a:headEnd/>
              <a:tailEnd/>
            </a:ln>
          </p:spPr>
          <p:txBody>
            <a:bodyPr wrap="square">
              <a:spAutoFit/>
            </a:bodyPr>
            <a:lstStyle/>
            <a:p>
              <a:pPr marL="0" lvl="2"/>
              <a:r>
                <a:rPr lang="en-US" altLang="zh-CN" b="1" dirty="0">
                  <a:solidFill>
                    <a:srgbClr val="0070C0"/>
                  </a:solidFill>
                  <a:latin typeface="微软雅黑" pitchFamily="34" charset="-122"/>
                  <a:ea typeface="微软雅黑" pitchFamily="34" charset="-122"/>
                  <a:cs typeface="宋体" charset="0"/>
                </a:rPr>
                <a:t>· TLB</a:t>
              </a:r>
              <a:endParaRPr lang="zh-CN" altLang="en-US" b="1" dirty="0">
                <a:solidFill>
                  <a:srgbClr val="0070C0"/>
                </a:solidFill>
                <a:latin typeface="微软雅黑" pitchFamily="34" charset="-122"/>
                <a:ea typeface="微软雅黑" pitchFamily="34" charset="-122"/>
                <a:cs typeface="宋体" charset="0"/>
              </a:endParaRPr>
            </a:p>
          </p:txBody>
        </p:sp>
        <p:sp>
          <p:nvSpPr>
            <p:cNvPr id="70" name="矩形 6"/>
            <p:cNvSpPr>
              <a:spLocks noChangeArrowheads="1"/>
            </p:cNvSpPr>
            <p:nvPr/>
          </p:nvSpPr>
          <p:spPr bwMode="auto">
            <a:xfrm>
              <a:off x="1475656" y="1352985"/>
              <a:ext cx="324128" cy="369332"/>
            </a:xfrm>
            <a:prstGeom prst="rect">
              <a:avLst/>
            </a:prstGeom>
            <a:noFill/>
            <a:ln w="9525">
              <a:noFill/>
              <a:miter lim="800000"/>
              <a:headEnd/>
              <a:tailEnd/>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latin typeface="Calibri" pitchFamily="34" charset="0"/>
              </a:endParaRPr>
            </a:p>
          </p:txBody>
        </p:sp>
      </p:grpSp>
      <p:sp>
        <p:nvSpPr>
          <p:cNvPr id="2" name="文本框 1">
            <a:extLst>
              <a:ext uri="{FF2B5EF4-FFF2-40B4-BE49-F238E27FC236}">
                <a16:creationId xmlns:a16="http://schemas.microsoft.com/office/drawing/2014/main" id="{D9079295-C7D7-499C-9062-25DA53ADDC92}"/>
              </a:ext>
            </a:extLst>
          </p:cNvPr>
          <p:cNvSpPr txBox="1"/>
          <p:nvPr/>
        </p:nvSpPr>
        <p:spPr>
          <a:xfrm>
            <a:off x="6456040" y="2881707"/>
            <a:ext cx="4752528" cy="1938992"/>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结论：每个系统调用大概需要</a:t>
            </a:r>
            <a:r>
              <a:rPr lang="en-US" altLang="zh-CN" sz="2400" dirty="0">
                <a:latin typeface="微软雅黑" panose="020B0503020204020204" pitchFamily="34" charset="-122"/>
                <a:ea typeface="微软雅黑" panose="020B0503020204020204" pitchFamily="34" charset="-122"/>
              </a:rPr>
              <a:t>1000</a:t>
            </a:r>
            <a:r>
              <a:rPr lang="zh-CN" altLang="en-US" sz="2400" dirty="0">
                <a:latin typeface="微软雅黑" panose="020B0503020204020204" pitchFamily="34" charset="-122"/>
                <a:ea typeface="微软雅黑" panose="020B0503020204020204" pitchFamily="34" charset="-122"/>
              </a:rPr>
              <a:t>个指令的执行时间，虽然各种体系结构都尝试过优化，仍需要</a:t>
            </a:r>
            <a:r>
              <a:rPr lang="en-US" altLang="zh-CN" sz="2400" dirty="0">
                <a:latin typeface="微软雅黑" panose="020B0503020204020204" pitchFamily="34" charset="-122"/>
                <a:ea typeface="微软雅黑" panose="020B0503020204020204" pitchFamily="34" charset="-122"/>
              </a:rPr>
              <a:t>200ns</a:t>
            </a:r>
            <a:r>
              <a:rPr lang="zh-CN" altLang="en-US" sz="2400" dirty="0">
                <a:latin typeface="微软雅黑" panose="020B0503020204020204" pitchFamily="34" charset="-122"/>
                <a:ea typeface="微软雅黑" panose="020B0503020204020204" pitchFamily="34" charset="-122"/>
              </a:rPr>
              <a:t>以上的时间，甚至有的系统实现会到十几个微秒</a:t>
            </a:r>
          </a:p>
        </p:txBody>
      </p:sp>
      <p:sp>
        <p:nvSpPr>
          <p:cNvPr id="23" name="文本框 22">
            <a:extLst>
              <a:ext uri="{FF2B5EF4-FFF2-40B4-BE49-F238E27FC236}">
                <a16:creationId xmlns:a16="http://schemas.microsoft.com/office/drawing/2014/main" id="{9248F1E0-5FBA-4BAC-8DD1-31EFC4B19E6E}"/>
              </a:ext>
            </a:extLst>
          </p:cNvPr>
          <p:cNvSpPr txBox="1"/>
          <p:nvPr/>
        </p:nvSpPr>
        <p:spPr>
          <a:xfrm>
            <a:off x="695400" y="5824923"/>
            <a:ext cx="10078777" cy="369332"/>
          </a:xfrm>
          <a:prstGeom prst="rect">
            <a:avLst/>
          </a:prstGeom>
          <a:noFill/>
        </p:spPr>
        <p:txBody>
          <a:bodyPr wrap="square">
            <a:spAutoFit/>
          </a:bodyPr>
          <a:lstStyle/>
          <a:p>
            <a:r>
              <a:rPr lang="zh-CN" altLang="en-US" dirty="0"/>
              <a:t>https://blog.csdn.net/Rong_Toa/article/details/110350807</a:t>
            </a:r>
          </a:p>
        </p:txBody>
      </p:sp>
      <p:sp>
        <p:nvSpPr>
          <p:cNvPr id="3" name="标题 2">
            <a:extLst>
              <a:ext uri="{FF2B5EF4-FFF2-40B4-BE49-F238E27FC236}">
                <a16:creationId xmlns:a16="http://schemas.microsoft.com/office/drawing/2014/main" id="{FBF51C19-2A0E-5CD1-E59F-69C0EC23D174}"/>
              </a:ext>
            </a:extLst>
          </p:cNvPr>
          <p:cNvSpPr>
            <a:spLocks noGrp="1"/>
          </p:cNvSpPr>
          <p:nvPr>
            <p:ph type="title"/>
          </p:nvPr>
        </p:nvSpPr>
        <p:spPr/>
        <p:txBody>
          <a:bodyPr>
            <a:normAutofit/>
          </a:bodyPr>
          <a:lstStyle/>
          <a:p>
            <a:r>
              <a:rPr lang="zh-CN" altLang="en-US" dirty="0"/>
              <a:t>中断、异常和系统调用的开销</a:t>
            </a:r>
          </a:p>
        </p:txBody>
      </p:sp>
    </p:spTree>
    <p:extLst>
      <p:ext uri="{BB962C8B-B14F-4D97-AF65-F5344CB8AC3E}">
        <p14:creationId xmlns:p14="http://schemas.microsoft.com/office/powerpoint/2010/main" val="3405750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 calcmode="lin" valueType="num">
                                      <p:cBhvr additive="base">
                                        <p:cTn id="21" dur="500" fill="hold"/>
                                        <p:tgtEl>
                                          <p:spTgt spid="23"/>
                                        </p:tgtEl>
                                        <p:attrNameLst>
                                          <p:attrName>ppt_x</p:attrName>
                                        </p:attrNameLst>
                                      </p:cBhvr>
                                      <p:tavLst>
                                        <p:tav tm="0">
                                          <p:val>
                                            <p:strVal val="#ppt_x"/>
                                          </p:val>
                                        </p:tav>
                                        <p:tav tm="100000">
                                          <p:val>
                                            <p:strVal val="#ppt_x"/>
                                          </p:val>
                                        </p:tav>
                                      </p:tavLst>
                                    </p:anim>
                                    <p:anim calcmode="lin" valueType="num">
                                      <p:cBhvr additive="base">
                                        <p:cTn id="2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prstGeom prst="rect">
            <a:avLst/>
          </a:prstGeom>
        </p:spPr>
        <p:txBody>
          <a:bodyPr/>
          <a:lstStyle/>
          <a:p>
            <a:pPr>
              <a:defRPr/>
            </a:pPr>
            <a:fld id="{735FD82A-B7E6-45EF-A6AD-CFE05C0DE389}" type="slidenum">
              <a:rPr lang="en-US" altLang="ko-KR" smtClean="0"/>
              <a:pPr>
                <a:defRPr/>
              </a:pPr>
              <a:t>60</a:t>
            </a:fld>
            <a:endParaRPr lang="en-US" altLang="ko-KR"/>
          </a:p>
        </p:txBody>
      </p:sp>
      <p:sp>
        <p:nvSpPr>
          <p:cNvPr id="2" name="标题 1"/>
          <p:cNvSpPr>
            <a:spLocks noGrp="1"/>
          </p:cNvSpPr>
          <p:nvPr>
            <p:ph type="title"/>
          </p:nvPr>
        </p:nvSpPr>
        <p:spPr>
          <a:prstGeom prst="rect">
            <a:avLst/>
          </a:prstGeom>
        </p:spPr>
        <p:txBody>
          <a:bodyPr/>
          <a:lstStyle/>
          <a:p>
            <a:r>
              <a:rPr lang="zh-CN" altLang="en-US" dirty="0"/>
              <a:t>让我们来思考一下多核</a:t>
            </a:r>
          </a:p>
        </p:txBody>
      </p:sp>
      <p:sp>
        <p:nvSpPr>
          <p:cNvPr id="3" name="内容占位符 2"/>
          <p:cNvSpPr>
            <a:spLocks noGrp="1"/>
          </p:cNvSpPr>
          <p:nvPr>
            <p:ph idx="1"/>
          </p:nvPr>
        </p:nvSpPr>
        <p:spPr>
          <a:prstGeom prst="rect">
            <a:avLst/>
          </a:prstGeom>
        </p:spPr>
        <p:txBody>
          <a:bodyPr/>
          <a:lstStyle/>
          <a:p>
            <a:r>
              <a:rPr lang="zh-CN" altLang="en-US" dirty="0"/>
              <a:t>如何让关中断方法有效？</a:t>
            </a:r>
            <a:endParaRPr lang="en-US" altLang="zh-CN" dirty="0"/>
          </a:p>
          <a:p>
            <a:r>
              <a:rPr lang="zh-CN" altLang="en-US" dirty="0"/>
              <a:t>如何让</a:t>
            </a:r>
            <a:r>
              <a:rPr lang="en-US" altLang="zh-CN" dirty="0"/>
              <a:t>TSL</a:t>
            </a:r>
            <a:r>
              <a:rPr lang="zh-CN" altLang="en-US" dirty="0"/>
              <a:t>方法有效？</a:t>
            </a:r>
            <a:endParaRPr lang="en-US" altLang="zh-CN" dirty="0"/>
          </a:p>
          <a:p>
            <a:r>
              <a:rPr lang="zh-CN" altLang="en-US" dirty="0"/>
              <a:t>核间的数据交换的额外代价是什么？</a:t>
            </a:r>
            <a:endParaRPr lang="en-US" altLang="zh-CN" dirty="0"/>
          </a:p>
          <a:p>
            <a:r>
              <a:rPr lang="zh-CN" altLang="en-US"/>
              <a:t>核间的进程调度会带来什么问题？</a:t>
            </a:r>
            <a:endParaRPr lang="zh-CN" altLang="en-US" dirty="0"/>
          </a:p>
        </p:txBody>
      </p:sp>
    </p:spTree>
    <p:extLst>
      <p:ext uri="{BB962C8B-B14F-4D97-AF65-F5344CB8AC3E}">
        <p14:creationId xmlns:p14="http://schemas.microsoft.com/office/powerpoint/2010/main" val="31330786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BA1E002-EF70-4F7D-EBE9-5DC59DCC6578}"/>
              </a:ext>
            </a:extLst>
          </p:cNvPr>
          <p:cNvSpPr>
            <a:spLocks noGrp="1"/>
          </p:cNvSpPr>
          <p:nvPr>
            <p:ph type="title"/>
          </p:nvPr>
        </p:nvSpPr>
        <p:spPr/>
        <p:txBody>
          <a:bodyPr/>
          <a:lstStyle/>
          <a:p>
            <a:r>
              <a:rPr lang="zh-CN" altLang="en-US" dirty="0"/>
              <a:t>现代化处理器里的</a:t>
            </a:r>
            <a:r>
              <a:rPr lang="en-US" altLang="zh-CN" dirty="0"/>
              <a:t>NUMA</a:t>
            </a:r>
            <a:r>
              <a:rPr lang="zh-CN" altLang="en-US" dirty="0"/>
              <a:t>结构</a:t>
            </a:r>
          </a:p>
        </p:txBody>
      </p:sp>
      <p:pic>
        <p:nvPicPr>
          <p:cNvPr id="1026" name="Picture 2" descr="https://pic4.zhimg.com/v2-db0e442c3e282894debb5d069e0cb537_r.jpg">
            <a:extLst>
              <a:ext uri="{FF2B5EF4-FFF2-40B4-BE49-F238E27FC236}">
                <a16:creationId xmlns:a16="http://schemas.microsoft.com/office/drawing/2014/main" id="{99895C52-5C85-458C-B065-E587CE0DCB3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98972" y="1570038"/>
            <a:ext cx="6794055" cy="4351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25808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BA1E002-EF70-4F7D-EBE9-5DC59DCC6578}"/>
              </a:ext>
            </a:extLst>
          </p:cNvPr>
          <p:cNvSpPr>
            <a:spLocks noGrp="1"/>
          </p:cNvSpPr>
          <p:nvPr>
            <p:ph type="title"/>
          </p:nvPr>
        </p:nvSpPr>
        <p:spPr/>
        <p:txBody>
          <a:bodyPr/>
          <a:lstStyle/>
          <a:p>
            <a:r>
              <a:rPr lang="zh-CN" altLang="en-US" dirty="0"/>
              <a:t>现代化处理器里的</a:t>
            </a:r>
            <a:r>
              <a:rPr lang="en-US" altLang="zh-CN" dirty="0"/>
              <a:t>NUMA</a:t>
            </a:r>
            <a:r>
              <a:rPr lang="zh-CN" altLang="en-US" dirty="0"/>
              <a:t>结构</a:t>
            </a:r>
          </a:p>
        </p:txBody>
      </p:sp>
      <p:pic>
        <p:nvPicPr>
          <p:cNvPr id="1026" name="Picture 2" descr="https://pic4.zhimg.com/v2-db0e442c3e282894debb5d069e0cb537_r.jpg">
            <a:extLst>
              <a:ext uri="{FF2B5EF4-FFF2-40B4-BE49-F238E27FC236}">
                <a16:creationId xmlns:a16="http://schemas.microsoft.com/office/drawing/2014/main" id="{99895C52-5C85-458C-B065-E587CE0DCB3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98972" y="1570038"/>
            <a:ext cx="6794055" cy="4351337"/>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F1ABCF4A-E7A4-4C4A-B8F2-829D5FC7B3EE}"/>
              </a:ext>
            </a:extLst>
          </p:cNvPr>
          <p:cNvSpPr/>
          <p:nvPr/>
        </p:nvSpPr>
        <p:spPr bwMode="auto">
          <a:xfrm>
            <a:off x="1847528" y="2060848"/>
            <a:ext cx="851444" cy="36004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rPr>
              <a:t>进程</a:t>
            </a:r>
            <a:r>
              <a:rPr kumimoji="0" lang="en-US" altLang="zh-CN" sz="1800" b="0" i="0" u="none" strike="noStrike" cap="none" normalizeH="0" baseline="0" dirty="0">
                <a:ln>
                  <a:noFill/>
                </a:ln>
                <a:solidFill>
                  <a:schemeClr val="tx1"/>
                </a:solidFill>
                <a:effectLst/>
                <a:latin typeface="Times New Roman" pitchFamily="18" charset="0"/>
              </a:rPr>
              <a:t>A</a:t>
            </a:r>
            <a:endParaRPr kumimoji="0" lang="zh-CN" altLang="en-US" sz="1800" b="0" i="0" u="none" strike="noStrike" cap="none" normalizeH="0" baseline="0" dirty="0">
              <a:ln>
                <a:noFill/>
              </a:ln>
              <a:solidFill>
                <a:schemeClr val="tx1"/>
              </a:solidFill>
              <a:effectLst/>
              <a:latin typeface="Times New Roman" pitchFamily="18" charset="0"/>
            </a:endParaRPr>
          </a:p>
        </p:txBody>
      </p:sp>
      <p:sp>
        <p:nvSpPr>
          <p:cNvPr id="5" name="矩形 4">
            <a:extLst>
              <a:ext uri="{FF2B5EF4-FFF2-40B4-BE49-F238E27FC236}">
                <a16:creationId xmlns:a16="http://schemas.microsoft.com/office/drawing/2014/main" id="{4314E43D-A298-448D-8C86-0DFF860075C2}"/>
              </a:ext>
            </a:extLst>
          </p:cNvPr>
          <p:cNvSpPr/>
          <p:nvPr/>
        </p:nvSpPr>
        <p:spPr bwMode="auto">
          <a:xfrm>
            <a:off x="1836236" y="2530589"/>
            <a:ext cx="851444" cy="360040"/>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rPr>
              <a:t>进程</a:t>
            </a:r>
            <a:r>
              <a:rPr kumimoji="0" lang="en-US" altLang="zh-CN" sz="1800" b="0" i="0" u="none" strike="noStrike" cap="none" normalizeH="0" baseline="0" dirty="0">
                <a:ln>
                  <a:noFill/>
                </a:ln>
                <a:solidFill>
                  <a:schemeClr val="tx1"/>
                </a:solidFill>
                <a:effectLst/>
                <a:latin typeface="Times New Roman" pitchFamily="18" charset="0"/>
              </a:rPr>
              <a:t>B</a:t>
            </a:r>
            <a:endParaRPr kumimoji="0" lang="zh-CN" altLang="en-US" sz="1800" b="0" i="0" u="none" strike="noStrike" cap="none" normalizeH="0" baseline="0" dirty="0">
              <a:ln>
                <a:noFill/>
              </a:ln>
              <a:solidFill>
                <a:schemeClr val="tx1"/>
              </a:solidFill>
              <a:effectLst/>
              <a:latin typeface="Times New Roman" pitchFamily="18" charset="0"/>
            </a:endParaRPr>
          </a:p>
        </p:txBody>
      </p:sp>
      <p:sp>
        <p:nvSpPr>
          <p:cNvPr id="6" name="矩形 5">
            <a:extLst>
              <a:ext uri="{FF2B5EF4-FFF2-40B4-BE49-F238E27FC236}">
                <a16:creationId xmlns:a16="http://schemas.microsoft.com/office/drawing/2014/main" id="{0C089952-3D5E-44EC-9CE3-A3F27062F155}"/>
              </a:ext>
            </a:extLst>
          </p:cNvPr>
          <p:cNvSpPr/>
          <p:nvPr/>
        </p:nvSpPr>
        <p:spPr bwMode="auto">
          <a:xfrm>
            <a:off x="5244554" y="2083302"/>
            <a:ext cx="1571526" cy="36004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rPr>
              <a:t>进程</a:t>
            </a:r>
            <a:r>
              <a:rPr kumimoji="0" lang="en-US" altLang="zh-CN" sz="1800" b="0" i="0" u="none" strike="noStrike" cap="none" normalizeH="0" baseline="0" dirty="0">
                <a:ln>
                  <a:noFill/>
                </a:ln>
                <a:solidFill>
                  <a:schemeClr val="tx1"/>
                </a:solidFill>
                <a:effectLst/>
                <a:latin typeface="Times New Roman" pitchFamily="18" charset="0"/>
              </a:rPr>
              <a:t>A</a:t>
            </a:r>
            <a:r>
              <a:rPr kumimoji="0" lang="zh-CN" altLang="en-US" sz="1800" b="0" i="0" u="none" strike="noStrike" cap="none" normalizeH="0" baseline="0" dirty="0">
                <a:ln>
                  <a:noFill/>
                </a:ln>
                <a:solidFill>
                  <a:schemeClr val="tx1"/>
                </a:solidFill>
                <a:effectLst/>
                <a:latin typeface="Times New Roman" pitchFamily="18" charset="0"/>
              </a:rPr>
              <a:t>的数据</a:t>
            </a:r>
          </a:p>
        </p:txBody>
      </p:sp>
      <p:sp>
        <p:nvSpPr>
          <p:cNvPr id="7" name="矩形 6">
            <a:extLst>
              <a:ext uri="{FF2B5EF4-FFF2-40B4-BE49-F238E27FC236}">
                <a16:creationId xmlns:a16="http://schemas.microsoft.com/office/drawing/2014/main" id="{4A9608E4-13E1-476F-B39B-538D34AD4259}"/>
              </a:ext>
            </a:extLst>
          </p:cNvPr>
          <p:cNvSpPr/>
          <p:nvPr/>
        </p:nvSpPr>
        <p:spPr bwMode="auto">
          <a:xfrm>
            <a:off x="5244554" y="2536220"/>
            <a:ext cx="1571525" cy="360040"/>
          </a:xfrm>
          <a:prstGeom prst="rect">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rPr>
              <a:t>进程</a:t>
            </a:r>
            <a:r>
              <a:rPr kumimoji="0" lang="en-US" altLang="zh-CN" sz="1800" b="0" i="0" u="none" strike="noStrike" cap="none" normalizeH="0" baseline="0" dirty="0">
                <a:ln>
                  <a:noFill/>
                </a:ln>
                <a:solidFill>
                  <a:schemeClr val="tx1"/>
                </a:solidFill>
                <a:effectLst/>
                <a:latin typeface="Times New Roman" pitchFamily="18" charset="0"/>
              </a:rPr>
              <a:t>B</a:t>
            </a:r>
            <a:r>
              <a:rPr kumimoji="0" lang="zh-CN" altLang="en-US" sz="1800" b="0" i="0" u="none" strike="noStrike" cap="none" normalizeH="0" baseline="0" dirty="0">
                <a:ln>
                  <a:noFill/>
                </a:ln>
                <a:solidFill>
                  <a:schemeClr val="tx1"/>
                </a:solidFill>
                <a:effectLst/>
                <a:latin typeface="Times New Roman" pitchFamily="18" charset="0"/>
              </a:rPr>
              <a:t>的数据</a:t>
            </a:r>
          </a:p>
        </p:txBody>
      </p:sp>
      <p:sp>
        <p:nvSpPr>
          <p:cNvPr id="3" name="矩形 2">
            <a:extLst>
              <a:ext uri="{FF2B5EF4-FFF2-40B4-BE49-F238E27FC236}">
                <a16:creationId xmlns:a16="http://schemas.microsoft.com/office/drawing/2014/main" id="{DCE0CA9E-A1D5-40DA-901C-EEA20403095C}"/>
              </a:ext>
            </a:extLst>
          </p:cNvPr>
          <p:cNvSpPr/>
          <p:nvPr/>
        </p:nvSpPr>
        <p:spPr bwMode="auto">
          <a:xfrm>
            <a:off x="5879976" y="4797152"/>
            <a:ext cx="936103" cy="64807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rPr>
              <a:t>空闲的</a:t>
            </a:r>
            <a:r>
              <a:rPr kumimoji="0" lang="en-US" altLang="zh-CN" sz="1800" b="0" i="0" u="none" strike="noStrike" cap="none" normalizeH="0" baseline="0" dirty="0">
                <a:ln>
                  <a:noFill/>
                </a:ln>
                <a:solidFill>
                  <a:schemeClr val="tx1"/>
                </a:solidFill>
                <a:effectLst/>
                <a:latin typeface="Times New Roman" pitchFamily="18" charset="0"/>
              </a:rPr>
              <a:t>CPU</a:t>
            </a:r>
            <a:r>
              <a:rPr kumimoji="0" lang="zh-CN" altLang="en-US" sz="1800" b="0" i="0" u="none" strike="noStrike" cap="none" normalizeH="0" baseline="0" dirty="0">
                <a:ln>
                  <a:noFill/>
                </a:ln>
                <a:solidFill>
                  <a:schemeClr val="tx1"/>
                </a:solidFill>
                <a:effectLst/>
                <a:latin typeface="Times New Roman" pitchFamily="18" charset="0"/>
              </a:rPr>
              <a:t>？</a:t>
            </a:r>
          </a:p>
        </p:txBody>
      </p:sp>
    </p:spTree>
    <p:extLst>
      <p:ext uri="{BB962C8B-B14F-4D97-AF65-F5344CB8AC3E}">
        <p14:creationId xmlns:p14="http://schemas.microsoft.com/office/powerpoint/2010/main" val="39621278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BA1E002-EF70-4F7D-EBE9-5DC59DCC6578}"/>
              </a:ext>
            </a:extLst>
          </p:cNvPr>
          <p:cNvSpPr>
            <a:spLocks noGrp="1"/>
          </p:cNvSpPr>
          <p:nvPr>
            <p:ph type="title"/>
          </p:nvPr>
        </p:nvSpPr>
        <p:spPr/>
        <p:txBody>
          <a:bodyPr/>
          <a:lstStyle/>
          <a:p>
            <a:r>
              <a:rPr lang="zh-CN" altLang="en-US" dirty="0"/>
              <a:t>现代化处理器里的</a:t>
            </a:r>
            <a:r>
              <a:rPr lang="en-US" altLang="zh-CN" dirty="0"/>
              <a:t>NUMA</a:t>
            </a:r>
            <a:r>
              <a:rPr lang="zh-CN" altLang="en-US" dirty="0"/>
              <a:t>结构</a:t>
            </a:r>
          </a:p>
        </p:txBody>
      </p:sp>
      <p:sp>
        <p:nvSpPr>
          <p:cNvPr id="3" name="内容占位符 2">
            <a:extLst>
              <a:ext uri="{FF2B5EF4-FFF2-40B4-BE49-F238E27FC236}">
                <a16:creationId xmlns:a16="http://schemas.microsoft.com/office/drawing/2014/main" id="{746D12B9-EA2C-428C-8A3A-F2AF95787192}"/>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DD05DB91-A24E-4243-91C9-ACA09A105B9F}"/>
              </a:ext>
            </a:extLst>
          </p:cNvPr>
          <p:cNvPicPr>
            <a:picLocks noChangeAspect="1"/>
          </p:cNvPicPr>
          <p:nvPr/>
        </p:nvPicPr>
        <p:blipFill>
          <a:blip r:embed="rId2"/>
          <a:stretch>
            <a:fillRect/>
          </a:stretch>
        </p:blipFill>
        <p:spPr>
          <a:xfrm>
            <a:off x="1775520" y="1434374"/>
            <a:ext cx="8489308" cy="5397744"/>
          </a:xfrm>
          <a:prstGeom prst="rect">
            <a:avLst/>
          </a:prstGeom>
        </p:spPr>
      </p:pic>
    </p:spTree>
    <p:extLst>
      <p:ext uri="{BB962C8B-B14F-4D97-AF65-F5344CB8AC3E}">
        <p14:creationId xmlns:p14="http://schemas.microsoft.com/office/powerpoint/2010/main" val="13943839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BA1E002-EF70-4F7D-EBE9-5DC59DCC6578}"/>
              </a:ext>
            </a:extLst>
          </p:cNvPr>
          <p:cNvSpPr>
            <a:spLocks noGrp="1"/>
          </p:cNvSpPr>
          <p:nvPr>
            <p:ph type="title"/>
          </p:nvPr>
        </p:nvSpPr>
        <p:spPr/>
        <p:txBody>
          <a:bodyPr/>
          <a:lstStyle/>
          <a:p>
            <a:r>
              <a:rPr lang="zh-CN" altLang="en-US" dirty="0"/>
              <a:t>现代化处理器里的</a:t>
            </a:r>
            <a:r>
              <a:rPr lang="en-US" altLang="zh-CN" dirty="0"/>
              <a:t>NUMA</a:t>
            </a:r>
            <a:r>
              <a:rPr lang="zh-CN" altLang="en-US" dirty="0"/>
              <a:t>结构</a:t>
            </a:r>
          </a:p>
        </p:txBody>
      </p:sp>
      <p:sp>
        <p:nvSpPr>
          <p:cNvPr id="3" name="内容占位符 2">
            <a:extLst>
              <a:ext uri="{FF2B5EF4-FFF2-40B4-BE49-F238E27FC236}">
                <a16:creationId xmlns:a16="http://schemas.microsoft.com/office/drawing/2014/main" id="{746D12B9-EA2C-428C-8A3A-F2AF95787192}"/>
              </a:ext>
            </a:extLst>
          </p:cNvPr>
          <p:cNvSpPr>
            <a:spLocks noGrp="1"/>
          </p:cNvSpPr>
          <p:nvPr>
            <p:ph idx="1"/>
          </p:nvPr>
        </p:nvSpPr>
        <p:spPr/>
        <p:txBody>
          <a:bodyPr/>
          <a:lstStyle/>
          <a:p>
            <a:endParaRPr lang="zh-CN" altLang="en-US"/>
          </a:p>
        </p:txBody>
      </p:sp>
      <p:pic>
        <p:nvPicPr>
          <p:cNvPr id="2" name="图片 1">
            <a:extLst>
              <a:ext uri="{FF2B5EF4-FFF2-40B4-BE49-F238E27FC236}">
                <a16:creationId xmlns:a16="http://schemas.microsoft.com/office/drawing/2014/main" id="{0DEA9F24-6E0E-4F1B-B920-8FDB5FABB4DB}"/>
              </a:ext>
            </a:extLst>
          </p:cNvPr>
          <p:cNvPicPr>
            <a:picLocks noChangeAspect="1"/>
          </p:cNvPicPr>
          <p:nvPr/>
        </p:nvPicPr>
        <p:blipFill>
          <a:blip r:embed="rId2"/>
          <a:stretch>
            <a:fillRect/>
          </a:stretch>
        </p:blipFill>
        <p:spPr>
          <a:xfrm>
            <a:off x="767408" y="1552258"/>
            <a:ext cx="11047619" cy="4523809"/>
          </a:xfrm>
          <a:prstGeom prst="rect">
            <a:avLst/>
          </a:prstGeom>
        </p:spPr>
      </p:pic>
    </p:spTree>
    <p:extLst>
      <p:ext uri="{BB962C8B-B14F-4D97-AF65-F5344CB8AC3E}">
        <p14:creationId xmlns:p14="http://schemas.microsoft.com/office/powerpoint/2010/main" val="16413786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BA1E002-EF70-4F7D-EBE9-5DC59DCC6578}"/>
              </a:ext>
            </a:extLst>
          </p:cNvPr>
          <p:cNvSpPr>
            <a:spLocks noGrp="1"/>
          </p:cNvSpPr>
          <p:nvPr>
            <p:ph type="title"/>
          </p:nvPr>
        </p:nvSpPr>
        <p:spPr/>
        <p:txBody>
          <a:bodyPr/>
          <a:lstStyle/>
          <a:p>
            <a:r>
              <a:rPr lang="zh-CN" altLang="en-US" dirty="0"/>
              <a:t>现代化处理器里的</a:t>
            </a:r>
            <a:r>
              <a:rPr lang="en-US" altLang="zh-CN" dirty="0"/>
              <a:t>NUMA</a:t>
            </a:r>
            <a:r>
              <a:rPr lang="zh-CN" altLang="en-US" dirty="0"/>
              <a:t>结构</a:t>
            </a:r>
          </a:p>
        </p:txBody>
      </p:sp>
      <p:sp>
        <p:nvSpPr>
          <p:cNvPr id="3" name="内容占位符 2">
            <a:extLst>
              <a:ext uri="{FF2B5EF4-FFF2-40B4-BE49-F238E27FC236}">
                <a16:creationId xmlns:a16="http://schemas.microsoft.com/office/drawing/2014/main" id="{746D12B9-EA2C-428C-8A3A-F2AF95787192}"/>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70B3934F-AD66-43A8-86A2-5E0370510227}"/>
              </a:ext>
            </a:extLst>
          </p:cNvPr>
          <p:cNvPicPr>
            <a:picLocks noChangeAspect="1"/>
          </p:cNvPicPr>
          <p:nvPr/>
        </p:nvPicPr>
        <p:blipFill>
          <a:blip r:embed="rId2"/>
          <a:stretch>
            <a:fillRect/>
          </a:stretch>
        </p:blipFill>
        <p:spPr>
          <a:xfrm>
            <a:off x="1713624" y="1412776"/>
            <a:ext cx="8764749" cy="5281814"/>
          </a:xfrm>
          <a:prstGeom prst="rect">
            <a:avLst/>
          </a:prstGeom>
        </p:spPr>
      </p:pic>
    </p:spTree>
    <p:extLst>
      <p:ext uri="{BB962C8B-B14F-4D97-AF65-F5344CB8AC3E}">
        <p14:creationId xmlns:p14="http://schemas.microsoft.com/office/powerpoint/2010/main" val="127285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NUMA </a:t>
            </a:r>
            <a:r>
              <a:rPr lang="zh-CN" altLang="en-US" dirty="0"/>
              <a:t>感知队列自旋锁的引入</a:t>
            </a:r>
          </a:p>
        </p:txBody>
      </p:sp>
      <p:sp>
        <p:nvSpPr>
          <p:cNvPr id="3" name="Text Placeholder 2"/>
          <p:cNvSpPr>
            <a:spLocks noGrp="1"/>
          </p:cNvSpPr>
          <p:nvPr>
            <p:ph type="body" sz="quarter" idx="10"/>
          </p:nvPr>
        </p:nvSpPr>
        <p:spPr/>
        <p:txBody>
          <a:bodyPr/>
          <a:lstStyle/>
          <a:p>
            <a:r>
              <a:rPr lang="en-US" altLang="zh-CN" dirty="0"/>
              <a:t>NUMA</a:t>
            </a:r>
            <a:r>
              <a:rPr lang="zh-CN" altLang="en-US" dirty="0"/>
              <a:t>：</a:t>
            </a:r>
            <a:r>
              <a:rPr lang="en-US" altLang="zh-CN" dirty="0"/>
              <a:t>NUMA-aware </a:t>
            </a:r>
            <a:r>
              <a:rPr lang="en-US" altLang="zh-CN" dirty="0" err="1"/>
              <a:t>Qspinlock</a:t>
            </a:r>
            <a:r>
              <a:rPr lang="zh-CN" altLang="en-US" dirty="0"/>
              <a:t>（为避免线程间同步所依赖的共享变量在不同</a:t>
            </a:r>
            <a:r>
              <a:rPr lang="en-US" altLang="zh-CN" dirty="0"/>
              <a:t>NUMA</a:t>
            </a:r>
            <a:r>
              <a:rPr lang="zh-CN" altLang="en-US" dirty="0"/>
              <a:t>节点间传递所带来的开销，引入</a:t>
            </a:r>
            <a:r>
              <a:rPr lang="en-US" altLang="zh-CN" dirty="0"/>
              <a:t>NUMA</a:t>
            </a:r>
            <a:r>
              <a:rPr lang="zh-CN" altLang="en-US" dirty="0"/>
              <a:t>感知队列自旋锁 。）</a:t>
            </a:r>
            <a:endParaRPr lang="en-US" altLang="zh-CN" dirty="0"/>
          </a:p>
          <a:p>
            <a:pPr lvl="1"/>
            <a:r>
              <a:rPr lang="zh-CN" altLang="en-US" dirty="0"/>
              <a:t>不同线程并发地访问共享地址空间时，如果这些线程占用</a:t>
            </a:r>
            <a:r>
              <a:rPr lang="en-US" altLang="zh-CN" dirty="0"/>
              <a:t>CPU</a:t>
            </a:r>
            <a:r>
              <a:rPr lang="zh-CN" altLang="en-US" dirty="0"/>
              <a:t>的时机或者顺序不同，产生的计算结果不同。</a:t>
            </a:r>
          </a:p>
          <a:p>
            <a:pPr lvl="1"/>
            <a:r>
              <a:rPr lang="zh-CN" altLang="en-US" dirty="0"/>
              <a:t>为了解决这个问题，操作系统提供互斥机制与同步机制。其中互斥机制主要使用自旋锁来实现。</a:t>
            </a:r>
          </a:p>
          <a:p>
            <a:pPr lvl="1"/>
            <a:r>
              <a:rPr lang="en-US" altLang="zh-CN" dirty="0"/>
              <a:t>openEuler</a:t>
            </a:r>
            <a:r>
              <a:rPr lang="zh-CN" altLang="en-US" dirty="0"/>
              <a:t>提供“</a:t>
            </a:r>
            <a:r>
              <a:rPr lang="en-US" altLang="zh-CN" dirty="0"/>
              <a:t>NUMA</a:t>
            </a:r>
            <a:r>
              <a:rPr lang="zh-CN" altLang="en-US" dirty="0"/>
              <a:t>感知队列自旋锁”实现互斥机制以减小</a:t>
            </a:r>
            <a:r>
              <a:rPr lang="en-US" altLang="zh-CN" dirty="0"/>
              <a:t>MUMA</a:t>
            </a:r>
            <a:r>
              <a:rPr lang="zh-CN" altLang="en-US" dirty="0"/>
              <a:t>体系结构中使用自旋锁的开销。</a:t>
            </a:r>
          </a:p>
        </p:txBody>
      </p:sp>
    </p:spTree>
    <p:extLst>
      <p:ext uri="{BB962C8B-B14F-4D97-AF65-F5344CB8AC3E}">
        <p14:creationId xmlns:p14="http://schemas.microsoft.com/office/powerpoint/2010/main" val="17099585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Qspinlock</a:t>
            </a:r>
            <a:endParaRPr lang="zh-CN" altLang="en-US" dirty="0"/>
          </a:p>
        </p:txBody>
      </p:sp>
      <p:sp>
        <p:nvSpPr>
          <p:cNvPr id="3" name="Text Placeholder 2"/>
          <p:cNvSpPr>
            <a:spLocks noGrp="1"/>
          </p:cNvSpPr>
          <p:nvPr>
            <p:ph type="body" sz="quarter" idx="10"/>
          </p:nvPr>
        </p:nvSpPr>
        <p:spPr/>
        <p:txBody>
          <a:bodyPr/>
          <a:lstStyle/>
          <a:p>
            <a:r>
              <a:rPr lang="zh-CN" altLang="en-US" dirty="0"/>
              <a:t>在队列自旋锁（</a:t>
            </a:r>
            <a:r>
              <a:rPr lang="en-US" altLang="zh-CN" dirty="0" err="1"/>
              <a:t>Qspinlock</a:t>
            </a:r>
            <a:r>
              <a:rPr lang="zh-CN" altLang="en-US" dirty="0"/>
              <a:t>）机制中，如果跨</a:t>
            </a:r>
            <a:r>
              <a:rPr lang="en-US" altLang="zh-CN" dirty="0"/>
              <a:t>NUMA</a:t>
            </a:r>
            <a:r>
              <a:rPr lang="zh-CN" altLang="en-US" dirty="0"/>
              <a:t>（</a:t>
            </a:r>
            <a:r>
              <a:rPr lang="en-US" altLang="zh-CN" dirty="0"/>
              <a:t>Non Uniform Memory Access Architecture</a:t>
            </a:r>
            <a:r>
              <a:rPr lang="zh-CN" altLang="en-US" dirty="0"/>
              <a:t>，</a:t>
            </a:r>
            <a:r>
              <a:rPr lang="en-US" altLang="zh-CN" dirty="0"/>
              <a:t>NUMA</a:t>
            </a:r>
            <a:r>
              <a:rPr lang="zh-CN" altLang="en-US" dirty="0"/>
              <a:t>）节点进行锁传递，将导致锁变量从一个</a:t>
            </a:r>
            <a:r>
              <a:rPr lang="en-US" altLang="zh-CN" dirty="0"/>
              <a:t>NUMA</a:t>
            </a:r>
            <a:r>
              <a:rPr lang="zh-CN" altLang="en-US" dirty="0"/>
              <a:t>节点迁移到另一个</a:t>
            </a:r>
            <a:r>
              <a:rPr lang="en-US" altLang="zh-CN" dirty="0"/>
              <a:t>NUMA</a:t>
            </a:r>
            <a:r>
              <a:rPr lang="zh-CN" altLang="en-US" dirty="0"/>
              <a:t>节点。</a:t>
            </a:r>
          </a:p>
          <a:p>
            <a:r>
              <a:rPr lang="zh-CN" altLang="en-US" dirty="0"/>
              <a:t>在</a:t>
            </a:r>
            <a:r>
              <a:rPr lang="en-US" altLang="zh-CN" dirty="0"/>
              <a:t>NUMA</a:t>
            </a:r>
            <a:r>
              <a:rPr lang="zh-CN" altLang="en-US" dirty="0"/>
              <a:t>体系结构中，访问本地节点比访问远程节点快得多。同时，由于缓存失效，将导致额外的性能开销。因此，如果尽可能连续地在同一个</a:t>
            </a:r>
            <a:r>
              <a:rPr lang="en-US" altLang="zh-CN" dirty="0"/>
              <a:t>NUMA</a:t>
            </a:r>
            <a:r>
              <a:rPr lang="zh-CN" altLang="en-US" dirty="0"/>
              <a:t>节点上进行传递锁，将有效地降低使用锁带来的开销。</a:t>
            </a:r>
          </a:p>
          <a:p>
            <a:r>
              <a:rPr lang="zh-CN" altLang="en-US" dirty="0"/>
              <a:t>基于这个思想，在</a:t>
            </a:r>
            <a:r>
              <a:rPr lang="en-US" altLang="zh-CN" dirty="0"/>
              <a:t>NUMA</a:t>
            </a:r>
            <a:r>
              <a:rPr lang="zh-CN" altLang="en-US" dirty="0"/>
              <a:t>体系结构中，</a:t>
            </a:r>
            <a:r>
              <a:rPr lang="en-US" altLang="zh-CN" dirty="0"/>
              <a:t>openEuler</a:t>
            </a:r>
            <a:r>
              <a:rPr lang="zh-CN" altLang="en-US" dirty="0"/>
              <a:t>采用</a:t>
            </a:r>
            <a:r>
              <a:rPr lang="en-US" altLang="zh-CN" dirty="0"/>
              <a:t>CNA</a:t>
            </a:r>
            <a:r>
              <a:rPr lang="zh-CN" altLang="en-US" dirty="0"/>
              <a:t>（</a:t>
            </a:r>
            <a:r>
              <a:rPr lang="en-US" altLang="zh-CN" dirty="0"/>
              <a:t>Compact NUMA-Aware Lock</a:t>
            </a:r>
            <a:r>
              <a:rPr lang="zh-CN" altLang="en-US" dirty="0"/>
              <a:t>，紧凑</a:t>
            </a:r>
            <a:r>
              <a:rPr lang="en-US" altLang="zh-CN" dirty="0"/>
              <a:t>NUMA</a:t>
            </a:r>
            <a:r>
              <a:rPr lang="zh-CN" altLang="en-US" dirty="0"/>
              <a:t>感知锁）队列代替</a:t>
            </a:r>
            <a:r>
              <a:rPr lang="en-US" altLang="zh-CN" dirty="0" err="1"/>
              <a:t>Qspinlock</a:t>
            </a:r>
            <a:r>
              <a:rPr lang="zh-CN" altLang="en-US" dirty="0"/>
              <a:t>中的</a:t>
            </a:r>
            <a:r>
              <a:rPr lang="en-US" altLang="zh-CN" dirty="0"/>
              <a:t>MCS</a:t>
            </a:r>
            <a:r>
              <a:rPr lang="zh-CN" altLang="en-US" dirty="0"/>
              <a:t>队列。</a:t>
            </a:r>
          </a:p>
        </p:txBody>
      </p:sp>
    </p:spTree>
    <p:extLst>
      <p:ext uri="{BB962C8B-B14F-4D97-AF65-F5344CB8AC3E}">
        <p14:creationId xmlns:p14="http://schemas.microsoft.com/office/powerpoint/2010/main" val="19272392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CNA </a:t>
            </a:r>
            <a:r>
              <a:rPr lang="zh-CN" altLang="en-US" dirty="0"/>
              <a:t>队列</a:t>
            </a:r>
          </a:p>
        </p:txBody>
      </p:sp>
      <p:sp>
        <p:nvSpPr>
          <p:cNvPr id="3" name="Text Placeholder 2"/>
          <p:cNvSpPr>
            <a:spLocks noGrp="1"/>
          </p:cNvSpPr>
          <p:nvPr>
            <p:ph type="body" sz="quarter" idx="10"/>
          </p:nvPr>
        </p:nvSpPr>
        <p:spPr/>
        <p:txBody>
          <a:bodyPr/>
          <a:lstStyle/>
          <a:p>
            <a:r>
              <a:rPr lang="en-US" altLang="zh-CN" dirty="0"/>
              <a:t>CNA</a:t>
            </a:r>
            <a:r>
              <a:rPr lang="zh-CN" altLang="en-US" dirty="0"/>
              <a:t>队列是</a:t>
            </a:r>
            <a:r>
              <a:rPr lang="en-US" altLang="zh-CN" dirty="0"/>
              <a:t>MCS</a:t>
            </a:r>
            <a:r>
              <a:rPr lang="zh-CN" altLang="en-US" dirty="0"/>
              <a:t>队列的一种变体。</a:t>
            </a:r>
          </a:p>
          <a:p>
            <a:r>
              <a:rPr lang="en-US" altLang="zh-CN" dirty="0"/>
              <a:t>MCS</a:t>
            </a:r>
            <a:r>
              <a:rPr lang="zh-CN" altLang="en-US" dirty="0"/>
              <a:t>将等待获取锁的线程组织在一个队列中，而</a:t>
            </a:r>
            <a:r>
              <a:rPr lang="en-US" altLang="zh-CN" dirty="0"/>
              <a:t>CNA</a:t>
            </a:r>
            <a:r>
              <a:rPr lang="zh-CN" altLang="en-US" dirty="0"/>
              <a:t>则将等待获取锁的线程组织为两个队列：一个主队列，一个辅助队列。</a:t>
            </a:r>
          </a:p>
          <a:p>
            <a:r>
              <a:rPr lang="zh-CN" altLang="en-US" dirty="0"/>
              <a:t>主队列的线程队头运行在相同的</a:t>
            </a:r>
            <a:r>
              <a:rPr lang="en-US" altLang="zh-CN" dirty="0"/>
              <a:t>NUMA</a:t>
            </a:r>
            <a:r>
              <a:rPr lang="zh-CN" altLang="en-US" dirty="0"/>
              <a:t>节点上。辅助队列的线程与主队列队头运行在不同</a:t>
            </a:r>
            <a:r>
              <a:rPr lang="en-US" altLang="zh-CN" dirty="0"/>
              <a:t>NUMA</a:t>
            </a:r>
            <a:r>
              <a:rPr lang="zh-CN" altLang="en-US" dirty="0"/>
              <a:t>节点上。</a:t>
            </a:r>
          </a:p>
        </p:txBody>
      </p:sp>
    </p:spTree>
    <p:extLst>
      <p:ext uri="{BB962C8B-B14F-4D97-AF65-F5344CB8AC3E}">
        <p14:creationId xmlns:p14="http://schemas.microsoft.com/office/powerpoint/2010/main" val="32118026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NUMA-aware </a:t>
            </a:r>
            <a:r>
              <a:rPr lang="en-US" altLang="zh-CN" dirty="0" err="1"/>
              <a:t>Qspinlock</a:t>
            </a:r>
            <a:endParaRPr lang="zh-CN" altLang="en-US" dirty="0"/>
          </a:p>
        </p:txBody>
      </p:sp>
      <p:sp>
        <p:nvSpPr>
          <p:cNvPr id="3" name="Text Placeholder 2"/>
          <p:cNvSpPr>
            <a:spLocks noGrp="1"/>
          </p:cNvSpPr>
          <p:nvPr>
            <p:ph type="body" sz="quarter" idx="10"/>
          </p:nvPr>
        </p:nvSpPr>
        <p:spPr/>
        <p:txBody>
          <a:bodyPr/>
          <a:lstStyle/>
          <a:p>
            <a:r>
              <a:rPr lang="zh-CN" altLang="en-US" dirty="0"/>
              <a:t>当一个线程试图获取</a:t>
            </a:r>
            <a:r>
              <a:rPr lang="en-US" altLang="zh-CN" dirty="0"/>
              <a:t>CNA</a:t>
            </a:r>
            <a:r>
              <a:rPr lang="zh-CN" altLang="en-US" dirty="0"/>
              <a:t>锁时，它将先被加入主队列。当锁被释放时，与队头不处于同一个</a:t>
            </a:r>
            <a:r>
              <a:rPr lang="en-US" altLang="zh-CN" dirty="0"/>
              <a:t>NUMA</a:t>
            </a:r>
            <a:r>
              <a:rPr lang="zh-CN" altLang="en-US" dirty="0"/>
              <a:t>节点的线程可能将被移动到辅助队列。</a:t>
            </a:r>
          </a:p>
          <a:p>
            <a:r>
              <a:rPr lang="zh-CN" altLang="en-US" dirty="0"/>
              <a:t>这种类型的锁称为</a:t>
            </a:r>
            <a:r>
              <a:rPr lang="en-US" altLang="zh-CN" dirty="0"/>
              <a:t>NUMA</a:t>
            </a:r>
            <a:r>
              <a:rPr lang="zh-CN" altLang="en-US" dirty="0"/>
              <a:t>感知队列自旋锁，即</a:t>
            </a:r>
            <a:r>
              <a:rPr lang="en-US" altLang="zh-CN" dirty="0"/>
              <a:t>NUMA-aware </a:t>
            </a:r>
            <a:r>
              <a:rPr lang="en-US" altLang="zh-CN" dirty="0" err="1"/>
              <a:t>Qspinlock</a:t>
            </a:r>
            <a:r>
              <a:rPr lang="zh-CN" altLang="en-US" dirty="0"/>
              <a:t>。</a:t>
            </a:r>
          </a:p>
        </p:txBody>
      </p:sp>
    </p:spTree>
    <p:extLst>
      <p:ext uri="{BB962C8B-B14F-4D97-AF65-F5344CB8AC3E}">
        <p14:creationId xmlns:p14="http://schemas.microsoft.com/office/powerpoint/2010/main" val="13886354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详细解释：</a:t>
            </a:r>
            <a:r>
              <a:rPr lang="en-US" altLang="zh-CN" dirty="0"/>
              <a:t>CNA </a:t>
            </a:r>
            <a:r>
              <a:rPr lang="zh-CN" altLang="en-US" dirty="0"/>
              <a:t>的数据结构</a:t>
            </a:r>
          </a:p>
        </p:txBody>
      </p:sp>
      <p:sp>
        <p:nvSpPr>
          <p:cNvPr id="3" name="文本占位符 3"/>
          <p:cNvSpPr txBox="1">
            <a:spLocks/>
          </p:cNvSpPr>
          <p:nvPr/>
        </p:nvSpPr>
        <p:spPr>
          <a:xfrm>
            <a:off x="1008063" y="1233488"/>
            <a:ext cx="10464270" cy="575332"/>
          </a:xfrm>
          <a:prstGeom prst="rect">
            <a:avLst/>
          </a:prstGeom>
        </p:spPr>
        <p:txBody>
          <a:bodyPr/>
          <a:lst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marR="0" lvl="0" indent="0" algn="l" defTabSz="801688" rtl="0" eaLnBrk="1" fontAlgn="base" latinLnBrk="0" hangingPunct="1">
              <a:lnSpc>
                <a:spcPct val="140000"/>
              </a:lnSpc>
              <a:spcBef>
                <a:spcPct val="30000"/>
              </a:spcBef>
              <a:spcAft>
                <a:spcPct val="0"/>
              </a:spcAft>
              <a:buClr>
                <a:prstClr val="white">
                  <a:lumMod val="50000"/>
                </a:prstClr>
              </a:buClr>
              <a:buSzPct val="60000"/>
              <a:buFont typeface="Wingdings" pitchFamily="2" charset="2"/>
              <a:buNone/>
              <a:tabLst/>
              <a:defRPr/>
            </a:pPr>
            <a:r>
              <a:rPr kumimoji="0" lang="en-US" altLang="zh-CN" sz="2200" b="0" i="0" u="none" strike="noStrike" kern="0" cap="none" spc="0" normalizeH="0" baseline="0" noProof="0" dirty="0">
                <a:ln>
                  <a:noFill/>
                </a:ln>
                <a:solidFill>
                  <a:prstClr val="black"/>
                </a:solidFill>
                <a:effectLst/>
                <a:uLnTx/>
                <a:uFillTx/>
                <a:latin typeface="Huawei Sans"/>
                <a:ea typeface="方正兰亭黑简体"/>
                <a:cs typeface="+mn-cs"/>
              </a:rPr>
              <a:t>CNA</a:t>
            </a:r>
            <a:r>
              <a:rPr kumimoji="0" lang="zh-CN" altLang="en-US" sz="2200" b="0" i="0" u="none" strike="noStrike" kern="0" cap="none" spc="0" normalizeH="0" baseline="0" noProof="0" dirty="0">
                <a:ln>
                  <a:noFill/>
                </a:ln>
                <a:solidFill>
                  <a:prstClr val="black"/>
                </a:solidFill>
                <a:effectLst/>
                <a:uLnTx/>
                <a:uFillTx/>
                <a:latin typeface="Huawei Sans"/>
                <a:ea typeface="方正兰亭黑简体"/>
                <a:cs typeface="+mn-cs"/>
              </a:rPr>
              <a:t>的数据结构如下图所示：</a:t>
            </a:r>
            <a:endParaRPr kumimoji="0" lang="en-US" altLang="zh-CN" sz="2200" b="0" i="0" u="none" strike="noStrike" kern="0" cap="none" spc="0" normalizeH="0" baseline="0" noProof="0" dirty="0">
              <a:ln>
                <a:noFill/>
              </a:ln>
              <a:solidFill>
                <a:prstClr val="black"/>
              </a:solidFill>
              <a:effectLst/>
              <a:uLnTx/>
              <a:uFillTx/>
              <a:latin typeface="Huawei Sans"/>
              <a:ea typeface="方正兰亭黑简体"/>
              <a:cs typeface="+mn-cs"/>
            </a:endParaRPr>
          </a:p>
        </p:txBody>
      </p:sp>
      <p:sp>
        <p:nvSpPr>
          <p:cNvPr id="4" name="TextBox 3"/>
          <p:cNvSpPr txBox="1"/>
          <p:nvPr/>
        </p:nvSpPr>
        <p:spPr bwMode="auto">
          <a:xfrm>
            <a:off x="1008063" y="1930610"/>
            <a:ext cx="10418337" cy="2550872"/>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B050"/>
                </a:solidFill>
                <a:effectLst/>
                <a:uLnTx/>
                <a:uFillTx/>
                <a:latin typeface="Huawei Sans"/>
                <a:ea typeface="方正兰亭黑简体"/>
                <a:cs typeface="+mn-cs"/>
              </a:rPr>
              <a:t>//</a:t>
            </a:r>
            <a:r>
              <a:rPr kumimoji="0" lang="zh-CN" altLang="en-US" sz="2000" b="0" i="0" u="none" strike="noStrike" kern="1200" cap="none" spc="0" normalizeH="0" baseline="0" noProof="0" dirty="0">
                <a:ln>
                  <a:noFill/>
                </a:ln>
                <a:solidFill>
                  <a:srgbClr val="00B050"/>
                </a:solidFill>
                <a:effectLst/>
                <a:uLnTx/>
                <a:uFillTx/>
                <a:latin typeface="Huawei Sans"/>
                <a:ea typeface="方正兰亭黑简体"/>
                <a:cs typeface="+mn-cs"/>
              </a:rPr>
              <a:t>源文件：</a:t>
            </a:r>
            <a:r>
              <a:rPr kumimoji="0" lang="en-US" altLang="zh-CN" sz="2000" b="0" i="0" u="none" strike="noStrike" kern="1200" cap="none" spc="0" normalizeH="0" baseline="0" noProof="0" dirty="0">
                <a:ln>
                  <a:noFill/>
                </a:ln>
                <a:solidFill>
                  <a:srgbClr val="00B050"/>
                </a:solidFill>
                <a:effectLst/>
                <a:uLnTx/>
                <a:uFillTx/>
                <a:latin typeface="Huawei Sans"/>
                <a:ea typeface="方正兰亭黑简体"/>
                <a:cs typeface="+mn-cs"/>
              </a:rPr>
              <a:t>kernel/locking/</a:t>
            </a:r>
            <a:r>
              <a:rPr kumimoji="0" lang="en-US" altLang="zh-CN" sz="2000" b="0" i="0" u="none" strike="noStrike" kern="1200" cap="none" spc="0" normalizeH="0" baseline="0" noProof="0" dirty="0" err="1">
                <a:ln>
                  <a:noFill/>
                </a:ln>
                <a:solidFill>
                  <a:srgbClr val="00B050"/>
                </a:solidFill>
                <a:effectLst/>
                <a:uLnTx/>
                <a:uFillTx/>
                <a:latin typeface="Huawei Sans"/>
                <a:ea typeface="方正兰亭黑简体"/>
                <a:cs typeface="+mn-cs"/>
              </a:rPr>
              <a:t>qspinlock_cna.h</a:t>
            </a:r>
            <a:endParaRPr kumimoji="0" lang="en-US" altLang="zh-CN" sz="2000" b="0" i="0" u="none" strike="noStrike" kern="1200" cap="none" spc="0" normalizeH="0" baseline="0" noProof="0" dirty="0">
              <a:ln>
                <a:noFill/>
              </a:ln>
              <a:solidFill>
                <a:srgbClr val="00B050"/>
              </a:solidFill>
              <a:effectLst/>
              <a:uLnTx/>
              <a:uFillTx/>
              <a:latin typeface="Huawei Sans"/>
              <a:ea typeface="方正兰亭黑简体"/>
              <a:cs typeface="+mn-cs"/>
            </a:endParaRP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err="1">
                <a:ln>
                  <a:noFill/>
                </a:ln>
                <a:solidFill>
                  <a:srgbClr val="00B0F0"/>
                </a:solidFill>
                <a:effectLst/>
                <a:uLnTx/>
                <a:uFillTx/>
                <a:latin typeface="Huawei Sans"/>
                <a:ea typeface="方正兰亭黑简体"/>
                <a:cs typeface="+mn-cs"/>
              </a:rPr>
              <a:t>struct</a:t>
            </a:r>
            <a:r>
              <a:rPr kumimoji="0" lang="en-US" altLang="zh-CN" sz="2000" b="0" i="0" u="none" strike="noStrike" kern="1200" cap="none" spc="0" normalizeH="0" baseline="0" noProof="0" dirty="0">
                <a:ln>
                  <a:noFill/>
                </a:ln>
                <a:solidFill>
                  <a:srgbClr val="00B0F0"/>
                </a:solidFill>
                <a:effectLst/>
                <a:uLnTx/>
                <a:uFillTx/>
                <a:latin typeface="Huawei Sans"/>
                <a:ea typeface="方正兰亭黑简体"/>
                <a:cs typeface="+mn-cs"/>
              </a:rPr>
              <a:t> </a:t>
            </a:r>
            <a:r>
              <a:rPr kumimoji="0" lang="en-US" altLang="zh-CN" sz="2000" b="0" i="0" u="none" strike="noStrike" kern="1200" cap="none" spc="0" normalizeH="0" baseline="0" noProof="0" dirty="0" err="1">
                <a:ln>
                  <a:noFill/>
                </a:ln>
                <a:solidFill>
                  <a:prstClr val="black"/>
                </a:solidFill>
                <a:effectLst/>
                <a:uLnTx/>
                <a:uFillTx/>
                <a:latin typeface="Huawei Sans"/>
                <a:ea typeface="方正兰亭黑简体"/>
                <a:cs typeface="+mn-cs"/>
              </a:rPr>
              <a:t>cna_node</a:t>
            </a:r>
            <a:r>
              <a:rPr kumimoji="0" lang="en-US" altLang="zh-CN" sz="2000" b="0" i="0" u="none" strike="noStrike" kern="1200" cap="none" spc="0" normalizeH="0" baseline="0" noProof="0" dirty="0">
                <a:ln>
                  <a:noFill/>
                </a:ln>
                <a:solidFill>
                  <a:prstClr val="black"/>
                </a:solidFill>
                <a:effectLst/>
                <a:uLnTx/>
                <a:uFillTx/>
                <a:latin typeface="Huawei Sans"/>
                <a:ea typeface="方正兰亭黑简体"/>
                <a:cs typeface="+mn-cs"/>
              </a:rPr>
              <a:t>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2000" b="0" i="0" u="none" strike="noStrike" kern="1200" cap="none" spc="0" normalizeH="0" baseline="0" noProof="0" dirty="0" err="1">
                <a:ln>
                  <a:noFill/>
                </a:ln>
                <a:solidFill>
                  <a:srgbClr val="00B0F0"/>
                </a:solidFill>
                <a:effectLst/>
                <a:uLnTx/>
                <a:uFillTx/>
                <a:latin typeface="Huawei Sans"/>
                <a:ea typeface="方正兰亭黑简体"/>
                <a:cs typeface="+mn-cs"/>
              </a:rPr>
              <a:t>struct</a:t>
            </a:r>
            <a:r>
              <a:rPr kumimoji="0" lang="en-US" altLang="zh-CN" sz="2000" b="0" i="0" u="none" strike="noStrike" kern="1200" cap="none" spc="0" normalizeH="0" baseline="0" noProof="0" dirty="0">
                <a:ln>
                  <a:noFill/>
                </a:ln>
                <a:solidFill>
                  <a:srgbClr val="00B0F0"/>
                </a:solidFill>
                <a:effectLst/>
                <a:uLnTx/>
                <a:uFillTx/>
                <a:latin typeface="Huawei Sans"/>
                <a:ea typeface="方正兰亭黑简体"/>
                <a:cs typeface="+mn-cs"/>
              </a:rPr>
              <a:t> </a:t>
            </a:r>
            <a:r>
              <a:rPr kumimoji="0" lang="en-US" altLang="zh-CN" sz="2000" b="0" i="0" u="none" strike="noStrike" kern="1200" cap="none" spc="0" normalizeH="0" baseline="0" noProof="0" dirty="0" err="1">
                <a:ln>
                  <a:noFill/>
                </a:ln>
                <a:solidFill>
                  <a:prstClr val="black"/>
                </a:solidFill>
                <a:effectLst/>
                <a:uLnTx/>
                <a:uFillTx/>
                <a:latin typeface="Huawei Sans"/>
                <a:ea typeface="方正兰亭黑简体"/>
                <a:cs typeface="+mn-cs"/>
              </a:rPr>
              <a:t>mcs_spinlock</a:t>
            </a:r>
            <a:r>
              <a:rPr kumimoji="0" lang="en-US" altLang="zh-CN" sz="20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2000" b="0" i="0" u="none" strike="noStrike" kern="1200" cap="none" spc="0" normalizeH="0" baseline="0" noProof="0" dirty="0" err="1">
                <a:ln>
                  <a:noFill/>
                </a:ln>
                <a:solidFill>
                  <a:prstClr val="black"/>
                </a:solidFill>
                <a:effectLst/>
                <a:uLnTx/>
                <a:uFillTx/>
                <a:latin typeface="Huawei Sans"/>
                <a:ea typeface="方正兰亭黑简体"/>
                <a:cs typeface="+mn-cs"/>
              </a:rPr>
              <a:t>mcs</a:t>
            </a:r>
            <a:r>
              <a:rPr kumimoji="0" lang="en-US" altLang="zh-CN" sz="20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2000" b="0" i="0" u="none" strike="noStrike" kern="1200" cap="none" spc="0" normalizeH="0" baseline="0" noProof="0" dirty="0">
                <a:ln>
                  <a:noFill/>
                </a:ln>
                <a:solidFill>
                  <a:srgbClr val="00B050"/>
                </a:solidFill>
                <a:effectLst/>
                <a:uLnTx/>
                <a:uFillTx/>
                <a:latin typeface="Huawei Sans"/>
                <a:ea typeface="方正兰亭黑简体"/>
                <a:cs typeface="+mn-cs"/>
              </a:rPr>
              <a:t>// MCS </a:t>
            </a:r>
            <a:r>
              <a:rPr kumimoji="0" lang="zh-CN" altLang="en-US" sz="2000" b="0" i="0" u="none" strike="noStrike" kern="1200" cap="none" spc="0" normalizeH="0" baseline="0" noProof="0" dirty="0">
                <a:ln>
                  <a:noFill/>
                </a:ln>
                <a:solidFill>
                  <a:srgbClr val="00B050"/>
                </a:solidFill>
                <a:effectLst/>
                <a:uLnTx/>
                <a:uFillTx/>
                <a:latin typeface="Huawei Sans"/>
                <a:ea typeface="方正兰亭黑简体"/>
                <a:cs typeface="+mn-cs"/>
              </a:rPr>
              <a:t>锁的数据结构，记录了锁状态 </a:t>
            </a:r>
            <a:r>
              <a:rPr kumimoji="0" lang="en-US" altLang="zh-CN" sz="2000" b="0" i="1" u="none" strike="noStrike" kern="1200" cap="none" spc="0" normalizeH="0" baseline="0" noProof="0" dirty="0">
                <a:ln>
                  <a:noFill/>
                </a:ln>
                <a:solidFill>
                  <a:srgbClr val="00B050"/>
                </a:solidFill>
                <a:effectLst/>
                <a:uLnTx/>
                <a:uFillTx/>
                <a:latin typeface="Huawei Sans"/>
                <a:ea typeface="方正兰亭黑简体"/>
                <a:cs typeface="+mn-cs"/>
              </a:rPr>
              <a:t>locked </a:t>
            </a:r>
            <a:endParaRPr kumimoji="0" lang="en-US" altLang="zh-CN" sz="2000" b="0" i="0" u="none" strike="noStrike" kern="1200" cap="none" spc="0" normalizeH="0" baseline="0" noProof="0" dirty="0">
              <a:ln>
                <a:noFill/>
              </a:ln>
              <a:solidFill>
                <a:srgbClr val="00B050"/>
              </a:solidFill>
              <a:effectLst/>
              <a:uLnTx/>
              <a:uFillTx/>
              <a:latin typeface="Huawei Sans"/>
              <a:ea typeface="方正兰亭黑简体"/>
              <a:cs typeface="+mn-cs"/>
            </a:endParaRP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B050"/>
                </a:solidFill>
                <a:effectLst/>
                <a:uLnTx/>
                <a:uFillTx/>
                <a:latin typeface="Huawei Sans"/>
                <a:ea typeface="方正兰亭黑简体"/>
                <a:cs typeface="+mn-cs"/>
              </a:rPr>
              <a:t>                                             // </a:t>
            </a:r>
            <a:r>
              <a:rPr kumimoji="0" lang="zh-CN" altLang="en-US" sz="2000" b="0" i="0" u="none" strike="noStrike" kern="1200" cap="none" spc="0" normalizeH="0" baseline="0" noProof="0" dirty="0">
                <a:ln>
                  <a:noFill/>
                </a:ln>
                <a:solidFill>
                  <a:srgbClr val="00B050"/>
                </a:solidFill>
                <a:effectLst/>
                <a:uLnTx/>
                <a:uFillTx/>
                <a:latin typeface="Huawei Sans"/>
                <a:ea typeface="方正兰亭黑简体"/>
                <a:cs typeface="+mn-cs"/>
              </a:rPr>
              <a:t>和指向下一个</a:t>
            </a:r>
            <a:r>
              <a:rPr kumimoji="0" lang="en-US" altLang="zh-CN" sz="2000" b="0" i="0" u="none" strike="noStrike" kern="1200" cap="none" spc="0" normalizeH="0" baseline="0" noProof="0" dirty="0">
                <a:ln>
                  <a:noFill/>
                </a:ln>
                <a:solidFill>
                  <a:srgbClr val="00B050"/>
                </a:solidFill>
                <a:effectLst/>
                <a:uLnTx/>
                <a:uFillTx/>
                <a:latin typeface="Huawei Sans"/>
                <a:ea typeface="方正兰亭黑简体"/>
                <a:cs typeface="+mn-cs"/>
              </a:rPr>
              <a:t>MCS </a:t>
            </a:r>
            <a:r>
              <a:rPr kumimoji="0" lang="zh-CN" altLang="en-US" sz="2000" b="0" i="0" u="none" strike="noStrike" kern="1200" cap="none" spc="0" normalizeH="0" baseline="0" noProof="0" dirty="0">
                <a:ln>
                  <a:noFill/>
                </a:ln>
                <a:solidFill>
                  <a:srgbClr val="00B050"/>
                </a:solidFill>
                <a:effectLst/>
                <a:uLnTx/>
                <a:uFillTx/>
                <a:latin typeface="Huawei Sans"/>
                <a:ea typeface="方正兰亭黑简体"/>
                <a:cs typeface="+mn-cs"/>
              </a:rPr>
              <a:t>节点的指针</a:t>
            </a:r>
            <a:r>
              <a:rPr kumimoji="0" lang="en-US" altLang="zh-CN" sz="2000" b="0" i="1" u="none" strike="noStrike" kern="1200" cap="none" spc="0" normalizeH="0" baseline="0" noProof="0" dirty="0">
                <a:ln>
                  <a:noFill/>
                </a:ln>
                <a:solidFill>
                  <a:srgbClr val="00B050"/>
                </a:solidFill>
                <a:effectLst/>
                <a:uLnTx/>
                <a:uFillTx/>
                <a:latin typeface="Huawei Sans"/>
                <a:ea typeface="方正兰亭黑简体"/>
                <a:cs typeface="+mn-cs"/>
              </a:rPr>
              <a:t>next</a:t>
            </a:r>
            <a:endParaRPr kumimoji="0" lang="zh-CN" altLang="en-US" sz="2000" b="0" i="1" u="none" strike="noStrike" kern="1200" cap="none" spc="0" normalizeH="0" baseline="0" noProof="0" dirty="0">
              <a:ln>
                <a:noFill/>
              </a:ln>
              <a:solidFill>
                <a:srgbClr val="00B050"/>
              </a:solidFill>
              <a:effectLst/>
              <a:uLnTx/>
              <a:uFillTx/>
              <a:latin typeface="Huawei Sans"/>
              <a:ea typeface="方正兰亭黑简体"/>
              <a:cs typeface="+mn-cs"/>
            </a:endParaRP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2000" b="0" i="0" u="none" strike="noStrike" kern="1200" cap="none" spc="0" normalizeH="0" baseline="0" noProof="0" dirty="0" err="1">
                <a:ln>
                  <a:noFill/>
                </a:ln>
                <a:solidFill>
                  <a:srgbClr val="00B0F0"/>
                </a:solidFill>
                <a:effectLst/>
                <a:uLnTx/>
                <a:uFillTx/>
                <a:latin typeface="Huawei Sans"/>
                <a:ea typeface="方正兰亭黑简体"/>
                <a:cs typeface="+mn-cs"/>
              </a:rPr>
              <a:t>int</a:t>
            </a:r>
            <a:r>
              <a:rPr kumimoji="0" lang="en-US" altLang="zh-CN" sz="20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2000" b="0" i="0" u="none" strike="noStrike" kern="1200" cap="none" spc="0" normalizeH="0" baseline="0" noProof="0" dirty="0" err="1">
                <a:ln>
                  <a:noFill/>
                </a:ln>
                <a:solidFill>
                  <a:prstClr val="black"/>
                </a:solidFill>
                <a:effectLst/>
                <a:uLnTx/>
                <a:uFillTx/>
                <a:latin typeface="Huawei Sans"/>
                <a:ea typeface="方正兰亭黑简体"/>
                <a:cs typeface="+mn-cs"/>
              </a:rPr>
              <a:t>numa_node</a:t>
            </a:r>
            <a:r>
              <a:rPr kumimoji="0" lang="en-US" altLang="zh-CN" sz="20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2000" b="0" i="0" u="none" strike="noStrike" kern="1200" cap="none" spc="0" normalizeH="0" baseline="0" noProof="0" dirty="0">
                <a:ln>
                  <a:noFill/>
                </a:ln>
                <a:solidFill>
                  <a:srgbClr val="00B050"/>
                </a:solidFill>
                <a:effectLst/>
                <a:uLnTx/>
                <a:uFillTx/>
                <a:latin typeface="Huawei Sans"/>
                <a:ea typeface="方正兰亭黑简体"/>
                <a:cs typeface="+mn-cs"/>
              </a:rPr>
              <a:t>//</a:t>
            </a:r>
            <a:r>
              <a:rPr kumimoji="0" lang="en-US" altLang="zh-CN" sz="2000" b="0" i="0" u="none" strike="noStrike" kern="1200" cap="none" spc="0" normalizeH="0" baseline="0" noProof="0" dirty="0" err="1">
                <a:ln>
                  <a:noFill/>
                </a:ln>
                <a:solidFill>
                  <a:srgbClr val="00B050"/>
                </a:solidFill>
                <a:effectLst/>
                <a:uLnTx/>
                <a:uFillTx/>
                <a:latin typeface="Huawei Sans"/>
                <a:ea typeface="方正兰亭黑简体"/>
                <a:cs typeface="+mn-cs"/>
              </a:rPr>
              <a:t>numa</a:t>
            </a:r>
            <a:r>
              <a:rPr kumimoji="0" lang="zh-CN" altLang="en-US" sz="2000" b="0" i="0" u="none" strike="noStrike" kern="1200" cap="none" spc="0" normalizeH="0" baseline="0" noProof="0" dirty="0">
                <a:ln>
                  <a:noFill/>
                </a:ln>
                <a:solidFill>
                  <a:srgbClr val="00B050"/>
                </a:solidFill>
                <a:effectLst/>
                <a:uLnTx/>
                <a:uFillTx/>
                <a:latin typeface="Huawei Sans"/>
                <a:ea typeface="方正兰亭黑简体"/>
                <a:cs typeface="+mn-cs"/>
              </a:rPr>
              <a:t>节点的序号</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2000" b="0" i="0" u="none" strike="noStrike" kern="1200" cap="none" spc="0" normalizeH="0" baseline="0" noProof="0" dirty="0">
                <a:ln>
                  <a:noFill/>
                </a:ln>
                <a:solidFill>
                  <a:prstClr val="black"/>
                </a:solidFill>
                <a:effectLst/>
                <a:uLnTx/>
                <a:uFillTx/>
                <a:latin typeface="Huawei Sans"/>
                <a:ea typeface="方正兰亭黑简体"/>
                <a:cs typeface="+mn-cs"/>
              </a:rPr>
              <a:t>u32	</a:t>
            </a:r>
            <a:r>
              <a:rPr kumimoji="0" lang="en-US" altLang="zh-CN" sz="2000" b="0" i="0" u="none" strike="noStrike" kern="1200" cap="none" spc="0" normalizeH="0" baseline="0" noProof="0" dirty="0" err="1">
                <a:ln>
                  <a:noFill/>
                </a:ln>
                <a:solidFill>
                  <a:prstClr val="black"/>
                </a:solidFill>
                <a:effectLst/>
                <a:uLnTx/>
                <a:uFillTx/>
                <a:latin typeface="Huawei Sans"/>
                <a:ea typeface="方正兰亭黑简体"/>
                <a:cs typeface="+mn-cs"/>
              </a:rPr>
              <a:t>encoded_tail</a:t>
            </a:r>
            <a:r>
              <a:rPr kumimoji="0" lang="en-US" altLang="zh-CN" sz="20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2000" b="0" i="0" u="none" strike="noStrike" kern="1200" cap="none" spc="0" normalizeH="0" baseline="0" noProof="0" dirty="0">
                <a:ln>
                  <a:noFill/>
                </a:ln>
                <a:solidFill>
                  <a:srgbClr val="00B050"/>
                </a:solidFill>
                <a:effectLst/>
                <a:uLnTx/>
                <a:uFillTx/>
                <a:latin typeface="Huawei Sans"/>
                <a:ea typeface="方正兰亭黑简体"/>
                <a:cs typeface="+mn-cs"/>
              </a:rPr>
              <a:t>//</a:t>
            </a:r>
            <a:r>
              <a:rPr kumimoji="0" lang="zh-CN" altLang="en-US" sz="2000" b="0" i="0" u="none" strike="noStrike" kern="1200" cap="none" spc="0" normalizeH="0" baseline="0" noProof="0" dirty="0">
                <a:ln>
                  <a:noFill/>
                </a:ln>
                <a:solidFill>
                  <a:srgbClr val="00B050"/>
                </a:solidFill>
                <a:effectLst/>
                <a:uLnTx/>
                <a:uFillTx/>
                <a:latin typeface="Huawei Sans"/>
                <a:ea typeface="方正兰亭黑简体"/>
                <a:cs typeface="+mn-cs"/>
              </a:rPr>
              <a:t>主队列中尾节点的位置</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2000" b="0" i="0" u="none" strike="noStrike" kern="1200" cap="none" spc="0" normalizeH="0" baseline="0" noProof="0" dirty="0" err="1">
                <a:ln>
                  <a:noFill/>
                </a:ln>
                <a:solidFill>
                  <a:srgbClr val="00B0F0"/>
                </a:solidFill>
                <a:effectLst/>
                <a:uLnTx/>
                <a:uFillTx/>
                <a:latin typeface="Huawei Sans"/>
                <a:ea typeface="方正兰亭黑简体"/>
                <a:cs typeface="+mn-cs"/>
              </a:rPr>
              <a:t>struct</a:t>
            </a:r>
            <a:r>
              <a:rPr kumimoji="0" lang="en-US" altLang="zh-CN" sz="2000" b="0" i="0" u="none" strike="noStrike" kern="1200" cap="none" spc="0" normalizeH="0" baseline="0" noProof="0" dirty="0">
                <a:ln>
                  <a:noFill/>
                </a:ln>
                <a:solidFill>
                  <a:srgbClr val="00B0F0"/>
                </a:solidFill>
                <a:effectLst/>
                <a:uLnTx/>
                <a:uFillTx/>
                <a:latin typeface="Huawei Sans"/>
                <a:ea typeface="方正兰亭黑简体"/>
                <a:cs typeface="+mn-cs"/>
              </a:rPr>
              <a:t> </a:t>
            </a:r>
            <a:r>
              <a:rPr kumimoji="0" lang="en-US" altLang="zh-CN" sz="2000" b="0" i="0" u="none" strike="noStrike" kern="1200" cap="none" spc="0" normalizeH="0" baseline="0" noProof="0" dirty="0" err="1">
                <a:ln>
                  <a:noFill/>
                </a:ln>
                <a:solidFill>
                  <a:prstClr val="black"/>
                </a:solidFill>
                <a:effectLst/>
                <a:uLnTx/>
                <a:uFillTx/>
                <a:latin typeface="Huawei Sans"/>
                <a:ea typeface="方正兰亭黑简体"/>
                <a:cs typeface="+mn-cs"/>
              </a:rPr>
              <a:t>cna_node</a:t>
            </a:r>
            <a:r>
              <a:rPr kumimoji="0" lang="en-US" altLang="zh-CN" sz="2000" b="0" i="0" u="none" strike="noStrike" kern="1200" cap="none" spc="0" normalizeH="0" baseline="0" noProof="0" dirty="0">
                <a:ln>
                  <a:noFill/>
                </a:ln>
                <a:solidFill>
                  <a:prstClr val="black"/>
                </a:solidFill>
                <a:effectLst/>
                <a:uLnTx/>
                <a:uFillTx/>
                <a:latin typeface="Huawei Sans"/>
                <a:ea typeface="方正兰亭黑简体"/>
                <a:cs typeface="+mn-cs"/>
              </a:rPr>
              <a:t> *tail;       </a:t>
            </a:r>
            <a:r>
              <a:rPr kumimoji="0" lang="en-US" altLang="zh-CN" sz="2000" b="0" i="0" u="none" strike="noStrike" kern="1200" cap="none" spc="0" normalizeH="0" baseline="0" noProof="0" dirty="0">
                <a:ln>
                  <a:noFill/>
                </a:ln>
                <a:solidFill>
                  <a:srgbClr val="00B050"/>
                </a:solidFill>
                <a:effectLst/>
                <a:uLnTx/>
                <a:uFillTx/>
                <a:latin typeface="Huawei Sans"/>
                <a:ea typeface="方正兰亭黑简体"/>
                <a:cs typeface="+mn-cs"/>
              </a:rPr>
              <a:t>//</a:t>
            </a:r>
            <a:r>
              <a:rPr kumimoji="0" lang="zh-CN" altLang="en-US" sz="2000" b="0" i="0" u="none" strike="noStrike" kern="1200" cap="none" spc="0" normalizeH="0" baseline="0" noProof="0" dirty="0">
                <a:ln>
                  <a:noFill/>
                </a:ln>
                <a:solidFill>
                  <a:srgbClr val="00B050"/>
                </a:solidFill>
                <a:effectLst/>
                <a:uLnTx/>
                <a:uFillTx/>
                <a:latin typeface="Huawei Sans"/>
                <a:ea typeface="方正兰亭黑简体"/>
                <a:cs typeface="+mn-cs"/>
              </a:rPr>
              <a:t>指向辅组队列队尾</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Huawei Sans"/>
                <a:ea typeface="方正兰亭黑简体"/>
                <a:cs typeface="+mn-cs"/>
              </a:rPr>
              <a:t>}</a:t>
            </a:r>
            <a:r>
              <a:rPr kumimoji="0" lang="zh-CN" altLang="en-US" sz="2000" b="0" i="0" u="none" strike="noStrike" kern="1200" cap="none" spc="0" normalizeH="0" baseline="0" noProof="0" dirty="0">
                <a:ln>
                  <a:noFill/>
                </a:ln>
                <a:solidFill>
                  <a:prstClr val="black"/>
                </a:solidFill>
                <a:effectLst/>
                <a:uLnTx/>
                <a:uFillTx/>
                <a:latin typeface="Huawei Sans"/>
                <a:ea typeface="方正兰亭黑简体"/>
                <a:cs typeface="+mn-cs"/>
              </a:rPr>
              <a:t>；</a:t>
            </a:r>
          </a:p>
        </p:txBody>
      </p:sp>
      <p:sp>
        <p:nvSpPr>
          <p:cNvPr id="5" name="文本占位符 3"/>
          <p:cNvSpPr txBox="1">
            <a:spLocks/>
          </p:cNvSpPr>
          <p:nvPr/>
        </p:nvSpPr>
        <p:spPr>
          <a:xfrm>
            <a:off x="962130" y="4606550"/>
            <a:ext cx="10464270" cy="522269"/>
          </a:xfrm>
          <a:prstGeom prst="rect">
            <a:avLst/>
          </a:prstGeom>
        </p:spPr>
        <p:txBody>
          <a:bodyPr/>
          <a:lst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marR="0" lvl="0" indent="0" algn="l" defTabSz="801688" rtl="0" eaLnBrk="1" fontAlgn="base" latinLnBrk="0" hangingPunct="1">
              <a:lnSpc>
                <a:spcPct val="140000"/>
              </a:lnSpc>
              <a:spcBef>
                <a:spcPct val="30000"/>
              </a:spcBef>
              <a:spcAft>
                <a:spcPct val="0"/>
              </a:spcAft>
              <a:buClr>
                <a:prstClr val="white">
                  <a:lumMod val="50000"/>
                </a:prstClr>
              </a:buClr>
              <a:buSzPct val="60000"/>
              <a:buFont typeface="Wingdings" pitchFamily="2" charset="2"/>
              <a:buNone/>
              <a:tabLst/>
              <a:defRPr/>
            </a:pPr>
            <a:r>
              <a:rPr kumimoji="0" lang="zh-CN" altLang="en-US" sz="2200" b="0" i="0" u="none" strike="noStrike" kern="0" cap="none" spc="0" normalizeH="0" baseline="0" noProof="0" dirty="0">
                <a:ln>
                  <a:noFill/>
                </a:ln>
                <a:solidFill>
                  <a:prstClr val="black"/>
                </a:solidFill>
                <a:effectLst/>
                <a:uLnTx/>
                <a:uFillTx/>
                <a:latin typeface="Huawei Sans"/>
                <a:ea typeface="方正兰亭黑简体"/>
                <a:cs typeface="+mn-cs"/>
              </a:rPr>
              <a:t>我们关注其中</a:t>
            </a:r>
            <a:r>
              <a:rPr kumimoji="0" lang="en-US" altLang="zh-CN" sz="2200" b="0" i="0" u="none" strike="noStrike" kern="0" cap="none" spc="0" normalizeH="0" baseline="0" noProof="0" dirty="0">
                <a:ln>
                  <a:noFill/>
                </a:ln>
                <a:solidFill>
                  <a:prstClr val="black"/>
                </a:solidFill>
                <a:effectLst/>
                <a:uLnTx/>
                <a:uFillTx/>
                <a:latin typeface="Huawei Sans"/>
                <a:ea typeface="方正兰亭黑简体"/>
                <a:cs typeface="+mn-cs"/>
              </a:rPr>
              <a:t>4</a:t>
            </a:r>
            <a:r>
              <a:rPr kumimoji="0" lang="zh-CN" altLang="en-US" sz="2200" b="0" i="0" u="none" strike="noStrike" kern="0" cap="none" spc="0" normalizeH="0" baseline="0" noProof="0" dirty="0">
                <a:ln>
                  <a:noFill/>
                </a:ln>
                <a:solidFill>
                  <a:prstClr val="black"/>
                </a:solidFill>
                <a:effectLst/>
                <a:uLnTx/>
                <a:uFillTx/>
                <a:latin typeface="Huawei Sans"/>
                <a:ea typeface="方正兰亭黑简体"/>
                <a:cs typeface="+mn-cs"/>
              </a:rPr>
              <a:t>个主要成员：</a:t>
            </a:r>
            <a:endParaRPr kumimoji="0" lang="en-US" altLang="zh-CN" sz="2200" b="0" i="0" u="none" strike="noStrike" kern="0" cap="none" spc="0" normalizeH="0" baseline="0" noProof="0" dirty="0">
              <a:ln>
                <a:noFill/>
              </a:ln>
              <a:solidFill>
                <a:prstClr val="black"/>
              </a:solidFill>
              <a:effectLst/>
              <a:uLnTx/>
              <a:uFillTx/>
              <a:latin typeface="Huawei Sans"/>
              <a:ea typeface="方正兰亭黑简体"/>
              <a:cs typeface="+mn-cs"/>
            </a:endParaRPr>
          </a:p>
        </p:txBody>
      </p:sp>
      <p:sp>
        <p:nvSpPr>
          <p:cNvPr id="6" name="Rectangle 5"/>
          <p:cNvSpPr/>
          <p:nvPr/>
        </p:nvSpPr>
        <p:spPr bwMode="auto">
          <a:xfrm>
            <a:off x="2603612" y="5292798"/>
            <a:ext cx="1440160"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err="1">
                <a:ln>
                  <a:noFill/>
                </a:ln>
                <a:solidFill>
                  <a:prstClr val="black"/>
                </a:solidFill>
                <a:effectLst/>
                <a:uLnTx/>
                <a:uFillTx/>
                <a:latin typeface="Huawei Sans"/>
                <a:ea typeface="宋体" pitchFamily="2" charset="-122"/>
                <a:cs typeface="+mn-cs"/>
              </a:rPr>
              <a:t>mcs_locked</a:t>
            </a:r>
            <a:endParaRPr kumimoji="0" lang="zh-CN" altLang="en-US" sz="1800" b="0" i="0" u="none" strike="noStrike" kern="1200" cap="none" spc="0" normalizeH="0" baseline="0" noProof="0" dirty="0">
              <a:ln>
                <a:noFill/>
              </a:ln>
              <a:solidFill>
                <a:prstClr val="black"/>
              </a:solidFill>
              <a:effectLst/>
              <a:uLnTx/>
              <a:uFillTx/>
              <a:latin typeface="Huawei Sans"/>
              <a:ea typeface="宋体" pitchFamily="2" charset="-122"/>
              <a:cs typeface="+mn-cs"/>
            </a:endParaRPr>
          </a:p>
        </p:txBody>
      </p:sp>
      <p:sp>
        <p:nvSpPr>
          <p:cNvPr id="7" name="Rectangle 6"/>
          <p:cNvSpPr/>
          <p:nvPr/>
        </p:nvSpPr>
        <p:spPr bwMode="auto">
          <a:xfrm>
            <a:off x="4043772" y="5284933"/>
            <a:ext cx="1440160"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err="1">
                <a:ln>
                  <a:noFill/>
                </a:ln>
                <a:solidFill>
                  <a:prstClr val="black"/>
                </a:solidFill>
                <a:effectLst/>
                <a:uLnTx/>
                <a:uFillTx/>
                <a:latin typeface="Huawei Sans"/>
                <a:ea typeface="宋体" pitchFamily="2" charset="-122"/>
                <a:cs typeface="+mn-cs"/>
              </a:rPr>
              <a:t>numa_node</a:t>
            </a:r>
            <a:endParaRPr kumimoji="0" lang="zh-CN" altLang="en-US" sz="1800" b="0" i="0" u="none" strike="noStrike" kern="1200" cap="none" spc="0" normalizeH="0" baseline="0" noProof="0" dirty="0">
              <a:ln>
                <a:noFill/>
              </a:ln>
              <a:solidFill>
                <a:prstClr val="black"/>
              </a:solidFill>
              <a:effectLst/>
              <a:uLnTx/>
              <a:uFillTx/>
              <a:latin typeface="Huawei Sans"/>
              <a:ea typeface="宋体" pitchFamily="2" charset="-122"/>
              <a:cs typeface="+mn-cs"/>
            </a:endParaRPr>
          </a:p>
        </p:txBody>
      </p:sp>
      <p:sp>
        <p:nvSpPr>
          <p:cNvPr id="8" name="Rectangle 7"/>
          <p:cNvSpPr/>
          <p:nvPr/>
        </p:nvSpPr>
        <p:spPr bwMode="auto">
          <a:xfrm>
            <a:off x="5483932" y="5292798"/>
            <a:ext cx="1440160"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宋体" pitchFamily="2" charset="-122"/>
                <a:cs typeface="+mn-cs"/>
              </a:rPr>
              <a:t>tail</a:t>
            </a:r>
            <a:endParaRPr kumimoji="0" lang="zh-CN" altLang="en-US" sz="1800" b="0" i="0" u="none" strike="noStrike" kern="1200" cap="none" spc="0" normalizeH="0" baseline="0" noProof="0" dirty="0">
              <a:ln>
                <a:noFill/>
              </a:ln>
              <a:solidFill>
                <a:prstClr val="black"/>
              </a:solidFill>
              <a:effectLst/>
              <a:uLnTx/>
              <a:uFillTx/>
              <a:latin typeface="Huawei Sans"/>
              <a:ea typeface="宋体" pitchFamily="2" charset="-122"/>
              <a:cs typeface="+mn-cs"/>
            </a:endParaRPr>
          </a:p>
        </p:txBody>
      </p:sp>
      <p:sp>
        <p:nvSpPr>
          <p:cNvPr id="9" name="Rectangle 8"/>
          <p:cNvSpPr/>
          <p:nvPr/>
        </p:nvSpPr>
        <p:spPr bwMode="auto">
          <a:xfrm>
            <a:off x="6924092" y="5292798"/>
            <a:ext cx="1440160"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err="1">
                <a:ln>
                  <a:noFill/>
                </a:ln>
                <a:solidFill>
                  <a:prstClr val="black"/>
                </a:solidFill>
                <a:effectLst/>
                <a:uLnTx/>
                <a:uFillTx/>
                <a:latin typeface="Huawei Sans"/>
                <a:ea typeface="宋体" pitchFamily="2" charset="-122"/>
                <a:cs typeface="+mn-cs"/>
              </a:rPr>
              <a:t>mcs_next</a:t>
            </a:r>
            <a:endParaRPr kumimoji="0" lang="zh-CN" altLang="en-US" sz="1800" b="0" i="0" u="none" strike="noStrike" kern="1200" cap="none" spc="0" normalizeH="0" baseline="0" noProof="0" dirty="0">
              <a:ln>
                <a:noFill/>
              </a:ln>
              <a:solidFill>
                <a:prstClr val="black"/>
              </a:solidFill>
              <a:effectLst/>
              <a:uLnTx/>
              <a:uFillTx/>
              <a:latin typeface="Huawei Sans"/>
              <a:ea typeface="宋体" pitchFamily="2" charset="-122"/>
              <a:cs typeface="+mn-cs"/>
            </a:endParaRPr>
          </a:p>
        </p:txBody>
      </p:sp>
    </p:spTree>
    <p:extLst>
      <p:ext uri="{BB962C8B-B14F-4D97-AF65-F5344CB8AC3E}">
        <p14:creationId xmlns:p14="http://schemas.microsoft.com/office/powerpoint/2010/main" val="18509795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n-ea"/>
                <a:ea typeface="+mn-ea"/>
              </a:rPr>
              <a:t>CNA </a:t>
            </a:r>
            <a:r>
              <a:rPr lang="zh-CN" altLang="en-US" dirty="0">
                <a:latin typeface="+mn-ea"/>
                <a:ea typeface="+mn-ea"/>
              </a:rPr>
              <a:t>排队示例 </a:t>
            </a:r>
            <a:r>
              <a:rPr lang="en-US" altLang="zh-CN" dirty="0">
                <a:latin typeface="+mn-ea"/>
                <a:ea typeface="+mn-ea"/>
              </a:rPr>
              <a:t>(1)</a:t>
            </a:r>
            <a:endParaRPr lang="zh-CN" altLang="en-US" dirty="0">
              <a:latin typeface="+mn-ea"/>
              <a:ea typeface="+mn-ea"/>
            </a:endParaRPr>
          </a:p>
        </p:txBody>
      </p:sp>
      <p:sp>
        <p:nvSpPr>
          <p:cNvPr id="3" name="TextBox 2"/>
          <p:cNvSpPr txBox="1"/>
          <p:nvPr/>
        </p:nvSpPr>
        <p:spPr bwMode="auto">
          <a:xfrm>
            <a:off x="4798011" y="2293571"/>
            <a:ext cx="2520419"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 </a:t>
            </a: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主队列的初始状态</a:t>
            </a:r>
          </a:p>
        </p:txBody>
      </p:sp>
      <p:sp>
        <p:nvSpPr>
          <p:cNvPr id="4" name="TextBox 3"/>
          <p:cNvSpPr txBox="1"/>
          <p:nvPr/>
        </p:nvSpPr>
        <p:spPr bwMode="auto">
          <a:xfrm>
            <a:off x="4430359" y="4032546"/>
            <a:ext cx="3083433"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(b) </a:t>
            </a: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线程</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T4</a:t>
            </a: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成为主队列的头</a:t>
            </a:r>
          </a:p>
        </p:txBody>
      </p:sp>
      <p:cxnSp>
        <p:nvCxnSpPr>
          <p:cNvPr id="5" name="Straight Arrow Connector 4"/>
          <p:cNvCxnSpPr/>
          <p:nvPr/>
        </p:nvCxnSpPr>
        <p:spPr bwMode="auto">
          <a:xfrm>
            <a:off x="6743047" y="1862899"/>
            <a:ext cx="770746" cy="0"/>
          </a:xfrm>
          <a:prstGeom prst="straightConnector1">
            <a:avLst/>
          </a:prstGeom>
          <a:solidFill>
            <a:schemeClr val="accent1"/>
          </a:solidFill>
          <a:ln w="22225" cap="flat" cmpd="sng" algn="ctr">
            <a:solidFill>
              <a:schemeClr val="tx1"/>
            </a:solidFill>
            <a:prstDash val="solid"/>
            <a:round/>
            <a:headEnd type="oval" w="med" len="med"/>
            <a:tailEnd type="stealth" w="lg" len="med"/>
          </a:ln>
          <a:effectLst/>
        </p:spPr>
      </p:cxnSp>
      <p:sp>
        <p:nvSpPr>
          <p:cNvPr id="6" name="Rectangle 5"/>
          <p:cNvSpPr/>
          <p:nvPr/>
        </p:nvSpPr>
        <p:spPr bwMode="auto">
          <a:xfrm>
            <a:off x="7488652"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0</a:t>
            </a: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7" name="Rectangle 6"/>
          <p:cNvSpPr/>
          <p:nvPr/>
        </p:nvSpPr>
        <p:spPr bwMode="auto">
          <a:xfrm>
            <a:off x="7893730"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0</a:t>
            </a: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8" name="Rectangle 7"/>
          <p:cNvSpPr/>
          <p:nvPr/>
        </p:nvSpPr>
        <p:spPr bwMode="auto">
          <a:xfrm>
            <a:off x="8298808"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9" name="Rectangle 8"/>
          <p:cNvSpPr/>
          <p:nvPr/>
        </p:nvSpPr>
        <p:spPr bwMode="auto">
          <a:xfrm>
            <a:off x="8703886"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cxnSp>
        <p:nvCxnSpPr>
          <p:cNvPr id="10" name="Straight Arrow Connector 9"/>
          <p:cNvCxnSpPr/>
          <p:nvPr/>
        </p:nvCxnSpPr>
        <p:spPr bwMode="auto">
          <a:xfrm>
            <a:off x="8917940" y="1862899"/>
            <a:ext cx="770746" cy="0"/>
          </a:xfrm>
          <a:prstGeom prst="straightConnector1">
            <a:avLst/>
          </a:prstGeom>
          <a:solidFill>
            <a:schemeClr val="accent1"/>
          </a:solidFill>
          <a:ln w="22225" cap="flat" cmpd="sng" algn="ctr">
            <a:solidFill>
              <a:schemeClr val="tx1"/>
            </a:solidFill>
            <a:prstDash val="solid"/>
            <a:round/>
            <a:headEnd type="oval" w="med" len="med"/>
            <a:tailEnd type="stealth" w="lg" len="med"/>
          </a:ln>
          <a:effectLst/>
        </p:spPr>
      </p:cxnSp>
      <p:sp>
        <p:nvSpPr>
          <p:cNvPr id="11" name="Rectangle 10"/>
          <p:cNvSpPr/>
          <p:nvPr/>
        </p:nvSpPr>
        <p:spPr bwMode="auto">
          <a:xfrm>
            <a:off x="9682317"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0</a:t>
            </a: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12" name="Rectangle 11"/>
          <p:cNvSpPr/>
          <p:nvPr/>
        </p:nvSpPr>
        <p:spPr bwMode="auto">
          <a:xfrm>
            <a:off x="10087395"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1</a:t>
            </a: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13" name="Rectangle 12"/>
          <p:cNvSpPr/>
          <p:nvPr/>
        </p:nvSpPr>
        <p:spPr bwMode="auto">
          <a:xfrm>
            <a:off x="10492473"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14" name="Rectangle 13"/>
          <p:cNvSpPr/>
          <p:nvPr/>
        </p:nvSpPr>
        <p:spPr bwMode="auto">
          <a:xfrm>
            <a:off x="10897551"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15" name="Rectangle 14"/>
          <p:cNvSpPr/>
          <p:nvPr/>
        </p:nvSpPr>
        <p:spPr bwMode="auto">
          <a:xfrm>
            <a:off x="885653"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1</a:t>
            </a: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16" name="Rectangle 15"/>
          <p:cNvSpPr/>
          <p:nvPr/>
        </p:nvSpPr>
        <p:spPr bwMode="auto">
          <a:xfrm>
            <a:off x="1290731"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0</a:t>
            </a: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17" name="Rectangle 16"/>
          <p:cNvSpPr/>
          <p:nvPr/>
        </p:nvSpPr>
        <p:spPr bwMode="auto">
          <a:xfrm>
            <a:off x="1695809"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18" name="Rectangle 17"/>
          <p:cNvSpPr/>
          <p:nvPr/>
        </p:nvSpPr>
        <p:spPr bwMode="auto">
          <a:xfrm>
            <a:off x="2100887"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19" name="TextBox 18"/>
          <p:cNvSpPr txBox="1"/>
          <p:nvPr/>
        </p:nvSpPr>
        <p:spPr bwMode="auto">
          <a:xfrm>
            <a:off x="1479255" y="1180847"/>
            <a:ext cx="605649"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T1</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20" name="TextBox 19"/>
          <p:cNvSpPr txBox="1"/>
          <p:nvPr/>
        </p:nvSpPr>
        <p:spPr bwMode="auto">
          <a:xfrm>
            <a:off x="3630527" y="1182794"/>
            <a:ext cx="478351"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T2</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cxnSp>
        <p:nvCxnSpPr>
          <p:cNvPr id="21" name="Straight Arrow Connector 20"/>
          <p:cNvCxnSpPr/>
          <p:nvPr/>
        </p:nvCxnSpPr>
        <p:spPr bwMode="auto">
          <a:xfrm>
            <a:off x="2303426" y="1862899"/>
            <a:ext cx="770746" cy="0"/>
          </a:xfrm>
          <a:prstGeom prst="straightConnector1">
            <a:avLst/>
          </a:prstGeom>
          <a:solidFill>
            <a:schemeClr val="accent1"/>
          </a:solidFill>
          <a:ln w="22225" cap="flat" cmpd="sng" algn="ctr">
            <a:solidFill>
              <a:schemeClr val="tx1"/>
            </a:solidFill>
            <a:prstDash val="solid"/>
            <a:round/>
            <a:headEnd type="oval" w="med" len="med"/>
            <a:tailEnd type="stealth" w="lg" len="med"/>
          </a:ln>
          <a:effectLst/>
        </p:spPr>
      </p:cxnSp>
      <p:sp>
        <p:nvSpPr>
          <p:cNvPr id="22" name="Rectangle 21"/>
          <p:cNvSpPr/>
          <p:nvPr/>
        </p:nvSpPr>
        <p:spPr bwMode="auto">
          <a:xfrm>
            <a:off x="3059547"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0</a:t>
            </a: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23" name="Rectangle 22"/>
          <p:cNvSpPr/>
          <p:nvPr/>
        </p:nvSpPr>
        <p:spPr bwMode="auto">
          <a:xfrm>
            <a:off x="3464625"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1</a:t>
            </a: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24" name="Rectangle 23"/>
          <p:cNvSpPr/>
          <p:nvPr/>
        </p:nvSpPr>
        <p:spPr bwMode="auto">
          <a:xfrm>
            <a:off x="3869703"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25" name="Rectangle 24"/>
          <p:cNvSpPr/>
          <p:nvPr/>
        </p:nvSpPr>
        <p:spPr bwMode="auto">
          <a:xfrm>
            <a:off x="4274781"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cxnSp>
        <p:nvCxnSpPr>
          <p:cNvPr id="26" name="Straight Arrow Connector 25"/>
          <p:cNvCxnSpPr/>
          <p:nvPr/>
        </p:nvCxnSpPr>
        <p:spPr bwMode="auto">
          <a:xfrm>
            <a:off x="4510317" y="1862899"/>
            <a:ext cx="770746" cy="0"/>
          </a:xfrm>
          <a:prstGeom prst="straightConnector1">
            <a:avLst/>
          </a:prstGeom>
          <a:solidFill>
            <a:schemeClr val="accent1"/>
          </a:solidFill>
          <a:ln w="22225" cap="flat" cmpd="sng" algn="ctr">
            <a:solidFill>
              <a:schemeClr val="tx1"/>
            </a:solidFill>
            <a:prstDash val="solid"/>
            <a:round/>
            <a:headEnd type="oval" w="med" len="med"/>
            <a:tailEnd type="stealth" w="lg" len="med"/>
          </a:ln>
          <a:effectLst/>
        </p:spPr>
      </p:cxnSp>
      <p:sp>
        <p:nvSpPr>
          <p:cNvPr id="27" name="Rectangle 26"/>
          <p:cNvSpPr/>
          <p:nvPr/>
        </p:nvSpPr>
        <p:spPr bwMode="auto">
          <a:xfrm>
            <a:off x="5279339"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0</a:t>
            </a: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28" name="Rectangle 27"/>
          <p:cNvSpPr/>
          <p:nvPr/>
        </p:nvSpPr>
        <p:spPr bwMode="auto">
          <a:xfrm>
            <a:off x="5684417"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1</a:t>
            </a: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29" name="Rectangle 28"/>
          <p:cNvSpPr/>
          <p:nvPr/>
        </p:nvSpPr>
        <p:spPr bwMode="auto">
          <a:xfrm>
            <a:off x="6089495"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30" name="Rectangle 29"/>
          <p:cNvSpPr/>
          <p:nvPr/>
        </p:nvSpPr>
        <p:spPr bwMode="auto">
          <a:xfrm>
            <a:off x="6494573" y="162887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31" name="TextBox 30"/>
          <p:cNvSpPr txBox="1"/>
          <p:nvPr/>
        </p:nvSpPr>
        <p:spPr bwMode="auto">
          <a:xfrm>
            <a:off x="5864095" y="1180847"/>
            <a:ext cx="478351"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T3</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32" name="TextBox 31"/>
          <p:cNvSpPr txBox="1"/>
          <p:nvPr/>
        </p:nvSpPr>
        <p:spPr bwMode="auto">
          <a:xfrm>
            <a:off x="8059632" y="1180846"/>
            <a:ext cx="478351"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T4</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33" name="TextBox 32"/>
          <p:cNvSpPr txBox="1"/>
          <p:nvPr/>
        </p:nvSpPr>
        <p:spPr bwMode="auto">
          <a:xfrm>
            <a:off x="10245211" y="1180846"/>
            <a:ext cx="478351"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T5</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34" name="Rectangle 33"/>
          <p:cNvSpPr/>
          <p:nvPr/>
        </p:nvSpPr>
        <p:spPr bwMode="auto">
          <a:xfrm>
            <a:off x="920710"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35" name="Rectangle 34"/>
          <p:cNvSpPr/>
          <p:nvPr/>
        </p:nvSpPr>
        <p:spPr bwMode="auto">
          <a:xfrm>
            <a:off x="1325788"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0</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36" name="Rectangle 35"/>
          <p:cNvSpPr/>
          <p:nvPr/>
        </p:nvSpPr>
        <p:spPr bwMode="auto">
          <a:xfrm>
            <a:off x="1730866"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37" name="Rectangle 36"/>
          <p:cNvSpPr/>
          <p:nvPr/>
        </p:nvSpPr>
        <p:spPr bwMode="auto">
          <a:xfrm>
            <a:off x="2135944"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38" name="TextBox 37"/>
          <p:cNvSpPr txBox="1"/>
          <p:nvPr/>
        </p:nvSpPr>
        <p:spPr bwMode="auto">
          <a:xfrm>
            <a:off x="1514312" y="2690277"/>
            <a:ext cx="605649"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T4</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39" name="TextBox 38"/>
          <p:cNvSpPr txBox="1"/>
          <p:nvPr/>
        </p:nvSpPr>
        <p:spPr bwMode="auto">
          <a:xfrm>
            <a:off x="3665584" y="2692224"/>
            <a:ext cx="478351"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T5</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cxnSp>
        <p:nvCxnSpPr>
          <p:cNvPr id="40" name="Straight Arrow Connector 39"/>
          <p:cNvCxnSpPr/>
          <p:nvPr/>
        </p:nvCxnSpPr>
        <p:spPr bwMode="auto">
          <a:xfrm>
            <a:off x="2338483" y="3372329"/>
            <a:ext cx="770746" cy="0"/>
          </a:xfrm>
          <a:prstGeom prst="straightConnector1">
            <a:avLst/>
          </a:prstGeom>
          <a:solidFill>
            <a:schemeClr val="accent1"/>
          </a:solidFill>
          <a:ln w="22225" cap="flat" cmpd="sng" algn="ctr">
            <a:solidFill>
              <a:schemeClr val="tx1"/>
            </a:solidFill>
            <a:prstDash val="solid"/>
            <a:round/>
            <a:headEnd type="oval" w="med" len="med"/>
            <a:tailEnd type="stealth" w="lg" len="med"/>
          </a:ln>
          <a:effectLst/>
        </p:spPr>
      </p:cxnSp>
      <p:sp>
        <p:nvSpPr>
          <p:cNvPr id="41" name="Rectangle 40"/>
          <p:cNvSpPr/>
          <p:nvPr/>
        </p:nvSpPr>
        <p:spPr bwMode="auto">
          <a:xfrm>
            <a:off x="3094604"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0</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42" name="Rectangle 41"/>
          <p:cNvSpPr/>
          <p:nvPr/>
        </p:nvSpPr>
        <p:spPr bwMode="auto">
          <a:xfrm>
            <a:off x="3499682"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1</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43" name="Rectangle 42"/>
          <p:cNvSpPr/>
          <p:nvPr/>
        </p:nvSpPr>
        <p:spPr bwMode="auto">
          <a:xfrm>
            <a:off x="3904760"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44" name="Rectangle 43"/>
          <p:cNvSpPr/>
          <p:nvPr/>
        </p:nvSpPr>
        <p:spPr bwMode="auto">
          <a:xfrm>
            <a:off x="4309838"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45" name="Rectangle 44"/>
          <p:cNvSpPr/>
          <p:nvPr/>
        </p:nvSpPr>
        <p:spPr bwMode="auto">
          <a:xfrm>
            <a:off x="7439878"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0</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46" name="Rectangle 45"/>
          <p:cNvSpPr/>
          <p:nvPr/>
        </p:nvSpPr>
        <p:spPr bwMode="auto">
          <a:xfrm>
            <a:off x="7844956"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1</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47" name="Rectangle 46"/>
          <p:cNvSpPr/>
          <p:nvPr/>
        </p:nvSpPr>
        <p:spPr bwMode="auto">
          <a:xfrm>
            <a:off x="8250034"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48" name="Rectangle 47"/>
          <p:cNvSpPr/>
          <p:nvPr/>
        </p:nvSpPr>
        <p:spPr bwMode="auto">
          <a:xfrm>
            <a:off x="8655112"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49" name="TextBox 48"/>
          <p:cNvSpPr txBox="1"/>
          <p:nvPr/>
        </p:nvSpPr>
        <p:spPr bwMode="auto">
          <a:xfrm>
            <a:off x="8033480" y="2690277"/>
            <a:ext cx="605649"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T2</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50" name="TextBox 49"/>
          <p:cNvSpPr txBox="1"/>
          <p:nvPr/>
        </p:nvSpPr>
        <p:spPr bwMode="auto">
          <a:xfrm>
            <a:off x="10184752" y="2692224"/>
            <a:ext cx="478351"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T3</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cxnSp>
        <p:nvCxnSpPr>
          <p:cNvPr id="51" name="Straight Arrow Connector 50"/>
          <p:cNvCxnSpPr/>
          <p:nvPr/>
        </p:nvCxnSpPr>
        <p:spPr bwMode="auto">
          <a:xfrm>
            <a:off x="8857651" y="3372329"/>
            <a:ext cx="770746" cy="0"/>
          </a:xfrm>
          <a:prstGeom prst="straightConnector1">
            <a:avLst/>
          </a:prstGeom>
          <a:solidFill>
            <a:schemeClr val="accent1"/>
          </a:solidFill>
          <a:ln w="22225" cap="flat" cmpd="sng" algn="ctr">
            <a:solidFill>
              <a:schemeClr val="tx1"/>
            </a:solidFill>
            <a:prstDash val="solid"/>
            <a:round/>
            <a:headEnd type="oval" w="med" len="med"/>
            <a:tailEnd type="stealth" w="lg" len="med"/>
          </a:ln>
          <a:effectLst/>
        </p:spPr>
      </p:cxnSp>
      <p:sp>
        <p:nvSpPr>
          <p:cNvPr id="52" name="Rectangle 51"/>
          <p:cNvSpPr/>
          <p:nvPr/>
        </p:nvSpPr>
        <p:spPr bwMode="auto">
          <a:xfrm>
            <a:off x="9613772"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0</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53" name="Rectangle 52"/>
          <p:cNvSpPr/>
          <p:nvPr/>
        </p:nvSpPr>
        <p:spPr bwMode="auto">
          <a:xfrm>
            <a:off x="10018850"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1</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54" name="Rectangle 53"/>
          <p:cNvSpPr/>
          <p:nvPr/>
        </p:nvSpPr>
        <p:spPr bwMode="auto">
          <a:xfrm>
            <a:off x="10423928"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55" name="Rectangle 54"/>
          <p:cNvSpPr/>
          <p:nvPr/>
        </p:nvSpPr>
        <p:spPr bwMode="auto">
          <a:xfrm>
            <a:off x="10829006" y="3138303"/>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56" name="TextBox 55"/>
          <p:cNvSpPr txBox="1"/>
          <p:nvPr/>
        </p:nvSpPr>
        <p:spPr bwMode="auto">
          <a:xfrm>
            <a:off x="2351367" y="2700235"/>
            <a:ext cx="877190"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主队列</a:t>
            </a:r>
          </a:p>
        </p:txBody>
      </p:sp>
      <p:sp>
        <p:nvSpPr>
          <p:cNvPr id="57" name="TextBox 56"/>
          <p:cNvSpPr txBox="1"/>
          <p:nvPr/>
        </p:nvSpPr>
        <p:spPr bwMode="auto">
          <a:xfrm>
            <a:off x="8684121" y="2708934"/>
            <a:ext cx="1128503"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辅助队列</a:t>
            </a:r>
          </a:p>
        </p:txBody>
      </p:sp>
      <p:sp>
        <p:nvSpPr>
          <p:cNvPr id="58" name="Freeform 57"/>
          <p:cNvSpPr/>
          <p:nvPr/>
        </p:nvSpPr>
        <p:spPr bwMode="auto">
          <a:xfrm>
            <a:off x="1116105" y="3381932"/>
            <a:ext cx="6476447" cy="483029"/>
          </a:xfrm>
          <a:custGeom>
            <a:avLst/>
            <a:gdLst>
              <a:gd name="connsiteX0" fmla="*/ 0 w 5663381"/>
              <a:gd name="connsiteY0" fmla="*/ 0 h 521202"/>
              <a:gd name="connsiteX1" fmla="*/ 1032387 w 5663381"/>
              <a:gd name="connsiteY1" fmla="*/ 471948 h 521202"/>
              <a:gd name="connsiteX2" fmla="*/ 4940710 w 5663381"/>
              <a:gd name="connsiteY2" fmla="*/ 486696 h 521202"/>
              <a:gd name="connsiteX3" fmla="*/ 5663381 w 5663381"/>
              <a:gd name="connsiteY3" fmla="*/ 294967 h 521202"/>
            </a:gdLst>
            <a:ahLst/>
            <a:cxnLst>
              <a:cxn ang="0">
                <a:pos x="connsiteX0" y="connsiteY0"/>
              </a:cxn>
              <a:cxn ang="0">
                <a:pos x="connsiteX1" y="connsiteY1"/>
              </a:cxn>
              <a:cxn ang="0">
                <a:pos x="connsiteX2" y="connsiteY2"/>
              </a:cxn>
              <a:cxn ang="0">
                <a:pos x="connsiteX3" y="connsiteY3"/>
              </a:cxn>
            </a:cxnLst>
            <a:rect l="l" t="t" r="r" b="b"/>
            <a:pathLst>
              <a:path w="5663381" h="521202">
                <a:moveTo>
                  <a:pt x="0" y="0"/>
                </a:moveTo>
                <a:cubicBezTo>
                  <a:pt x="104467" y="195416"/>
                  <a:pt x="208935" y="390832"/>
                  <a:pt x="1032387" y="471948"/>
                </a:cubicBezTo>
                <a:cubicBezTo>
                  <a:pt x="1855839" y="553064"/>
                  <a:pt x="4168878" y="516193"/>
                  <a:pt x="4940710" y="486696"/>
                </a:cubicBezTo>
                <a:cubicBezTo>
                  <a:pt x="5712542" y="457199"/>
                  <a:pt x="5530646" y="231057"/>
                  <a:pt x="5663381" y="294967"/>
                </a:cubicBezTo>
              </a:path>
            </a:pathLst>
          </a:custGeom>
          <a:noFill/>
          <a:ln w="9525" cap="flat" cmpd="sng" algn="ctr">
            <a:solidFill>
              <a:schemeClr val="tx1"/>
            </a:solidFill>
            <a:prstDash val="solid"/>
            <a:round/>
            <a:headEnd type="oval" w="med" len="med"/>
            <a:tailEnd type="triangle" w="lg"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a:ea typeface="方正兰亭黑简体"/>
              <a:cs typeface="+mn-cs"/>
            </a:endParaRPr>
          </a:p>
        </p:txBody>
      </p:sp>
      <p:sp>
        <p:nvSpPr>
          <p:cNvPr id="59" name="Freeform 58"/>
          <p:cNvSpPr/>
          <p:nvPr/>
        </p:nvSpPr>
        <p:spPr bwMode="auto">
          <a:xfrm>
            <a:off x="8447958" y="3376693"/>
            <a:ext cx="1356852" cy="496885"/>
          </a:xfrm>
          <a:custGeom>
            <a:avLst/>
            <a:gdLst>
              <a:gd name="connsiteX0" fmla="*/ 0 w 1356852"/>
              <a:gd name="connsiteY0" fmla="*/ 0 h 496885"/>
              <a:gd name="connsiteX1" fmla="*/ 309716 w 1356852"/>
              <a:gd name="connsiteY1" fmla="*/ 442452 h 496885"/>
              <a:gd name="connsiteX2" fmla="*/ 973394 w 1356852"/>
              <a:gd name="connsiteY2" fmla="*/ 471948 h 496885"/>
              <a:gd name="connsiteX3" fmla="*/ 1356852 w 1356852"/>
              <a:gd name="connsiteY3" fmla="*/ 280219 h 496885"/>
            </a:gdLst>
            <a:ahLst/>
            <a:cxnLst>
              <a:cxn ang="0">
                <a:pos x="connsiteX0" y="connsiteY0"/>
              </a:cxn>
              <a:cxn ang="0">
                <a:pos x="connsiteX1" y="connsiteY1"/>
              </a:cxn>
              <a:cxn ang="0">
                <a:pos x="connsiteX2" y="connsiteY2"/>
              </a:cxn>
              <a:cxn ang="0">
                <a:pos x="connsiteX3" y="connsiteY3"/>
              </a:cxn>
            </a:cxnLst>
            <a:rect l="l" t="t" r="r" b="b"/>
            <a:pathLst>
              <a:path w="1356852" h="496885">
                <a:moveTo>
                  <a:pt x="0" y="0"/>
                </a:moveTo>
                <a:cubicBezTo>
                  <a:pt x="73742" y="181897"/>
                  <a:pt x="147484" y="363794"/>
                  <a:pt x="309716" y="442452"/>
                </a:cubicBezTo>
                <a:cubicBezTo>
                  <a:pt x="471948" y="521110"/>
                  <a:pt x="798871" y="498987"/>
                  <a:pt x="973394" y="471948"/>
                </a:cubicBezTo>
                <a:cubicBezTo>
                  <a:pt x="1147917" y="444909"/>
                  <a:pt x="1263446" y="280219"/>
                  <a:pt x="1356852" y="280219"/>
                </a:cubicBezTo>
              </a:path>
            </a:pathLst>
          </a:custGeom>
          <a:noFill/>
          <a:ln w="9525" cap="flat" cmpd="sng" algn="ctr">
            <a:solidFill>
              <a:schemeClr val="tx1"/>
            </a:solidFill>
            <a:prstDash val="solid"/>
            <a:round/>
            <a:headEnd type="oval" w="med" len="med"/>
            <a:tailEnd type="triangle" w="lg"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a:ea typeface="方正兰亭黑简体"/>
              <a:cs typeface="+mn-cs"/>
            </a:endParaRPr>
          </a:p>
        </p:txBody>
      </p:sp>
      <p:grpSp>
        <p:nvGrpSpPr>
          <p:cNvPr id="60" name="Group 59"/>
          <p:cNvGrpSpPr/>
          <p:nvPr/>
        </p:nvGrpSpPr>
        <p:grpSpPr>
          <a:xfrm>
            <a:off x="3074172" y="4549550"/>
            <a:ext cx="6013998" cy="916078"/>
            <a:chOff x="593553" y="1388012"/>
            <a:chExt cx="6013998" cy="916078"/>
          </a:xfrm>
        </p:grpSpPr>
        <p:sp>
          <p:nvSpPr>
            <p:cNvPr id="61" name="Rectangle 60"/>
            <p:cNvSpPr/>
            <p:nvPr/>
          </p:nvSpPr>
          <p:spPr bwMode="auto">
            <a:xfrm>
              <a:off x="593553"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1</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62" name="Rectangle 61"/>
            <p:cNvSpPr/>
            <p:nvPr/>
          </p:nvSpPr>
          <p:spPr bwMode="auto">
            <a:xfrm>
              <a:off x="998631"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1</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63" name="Rectangle 62"/>
            <p:cNvSpPr/>
            <p:nvPr/>
          </p:nvSpPr>
          <p:spPr bwMode="auto">
            <a:xfrm>
              <a:off x="1403709"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64" name="Rectangle 63"/>
            <p:cNvSpPr/>
            <p:nvPr/>
          </p:nvSpPr>
          <p:spPr bwMode="auto">
            <a:xfrm>
              <a:off x="1808787"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65" name="TextBox 64"/>
            <p:cNvSpPr txBox="1"/>
            <p:nvPr/>
          </p:nvSpPr>
          <p:spPr bwMode="auto">
            <a:xfrm>
              <a:off x="1187155" y="1388012"/>
              <a:ext cx="605649"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T2</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66" name="TextBox 65"/>
            <p:cNvSpPr txBox="1"/>
            <p:nvPr/>
          </p:nvSpPr>
          <p:spPr bwMode="auto">
            <a:xfrm>
              <a:off x="3338427" y="1389959"/>
              <a:ext cx="478351"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T3</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cxnSp>
          <p:nvCxnSpPr>
            <p:cNvPr id="67" name="Straight Arrow Connector 66"/>
            <p:cNvCxnSpPr/>
            <p:nvPr/>
          </p:nvCxnSpPr>
          <p:spPr bwMode="auto">
            <a:xfrm>
              <a:off x="2011326" y="2070064"/>
              <a:ext cx="770746" cy="0"/>
            </a:xfrm>
            <a:prstGeom prst="straightConnector1">
              <a:avLst/>
            </a:prstGeom>
            <a:solidFill>
              <a:schemeClr val="accent1"/>
            </a:solidFill>
            <a:ln w="22225" cap="flat" cmpd="sng" algn="ctr">
              <a:solidFill>
                <a:schemeClr val="tx1"/>
              </a:solidFill>
              <a:prstDash val="solid"/>
              <a:round/>
              <a:headEnd type="oval" w="med" len="med"/>
              <a:tailEnd type="stealth" w="lg" len="med"/>
            </a:ln>
            <a:effectLst/>
          </p:spPr>
        </p:cxnSp>
        <p:sp>
          <p:nvSpPr>
            <p:cNvPr id="68" name="Rectangle 67"/>
            <p:cNvSpPr/>
            <p:nvPr/>
          </p:nvSpPr>
          <p:spPr bwMode="auto">
            <a:xfrm>
              <a:off x="2767447"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0</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69" name="Rectangle 68"/>
            <p:cNvSpPr/>
            <p:nvPr/>
          </p:nvSpPr>
          <p:spPr bwMode="auto">
            <a:xfrm>
              <a:off x="3172525"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1</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70" name="Rectangle 69"/>
            <p:cNvSpPr/>
            <p:nvPr/>
          </p:nvSpPr>
          <p:spPr bwMode="auto">
            <a:xfrm>
              <a:off x="3577603"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71" name="Rectangle 70"/>
            <p:cNvSpPr/>
            <p:nvPr/>
          </p:nvSpPr>
          <p:spPr bwMode="auto">
            <a:xfrm>
              <a:off x="3982681"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cxnSp>
          <p:nvCxnSpPr>
            <p:cNvPr id="72" name="Straight Arrow Connector 71"/>
            <p:cNvCxnSpPr/>
            <p:nvPr/>
          </p:nvCxnSpPr>
          <p:spPr bwMode="auto">
            <a:xfrm>
              <a:off x="4218217" y="2070064"/>
              <a:ext cx="770746" cy="0"/>
            </a:xfrm>
            <a:prstGeom prst="straightConnector1">
              <a:avLst/>
            </a:prstGeom>
            <a:solidFill>
              <a:schemeClr val="accent1"/>
            </a:solidFill>
            <a:ln w="22225" cap="flat" cmpd="sng" algn="ctr">
              <a:solidFill>
                <a:schemeClr val="tx1"/>
              </a:solidFill>
              <a:prstDash val="solid"/>
              <a:round/>
              <a:headEnd type="oval" w="med" len="med"/>
              <a:tailEnd type="stealth" w="lg" len="med"/>
            </a:ln>
            <a:effectLst/>
          </p:spPr>
        </p:cxnSp>
        <p:sp>
          <p:nvSpPr>
            <p:cNvPr id="73" name="Rectangle 72"/>
            <p:cNvSpPr/>
            <p:nvPr/>
          </p:nvSpPr>
          <p:spPr bwMode="auto">
            <a:xfrm>
              <a:off x="4987239"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0</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74" name="Rectangle 73"/>
            <p:cNvSpPr/>
            <p:nvPr/>
          </p:nvSpPr>
          <p:spPr bwMode="auto">
            <a:xfrm>
              <a:off x="5392317"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1</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75" name="Rectangle 74"/>
            <p:cNvSpPr/>
            <p:nvPr/>
          </p:nvSpPr>
          <p:spPr bwMode="auto">
            <a:xfrm>
              <a:off x="5797395"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76" name="Rectangle 75"/>
            <p:cNvSpPr/>
            <p:nvPr/>
          </p:nvSpPr>
          <p:spPr bwMode="auto">
            <a:xfrm>
              <a:off x="6202473" y="1836038"/>
              <a:ext cx="405078" cy="46805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sp>
          <p:nvSpPr>
            <p:cNvPr id="77" name="TextBox 76"/>
            <p:cNvSpPr txBox="1"/>
            <p:nvPr/>
          </p:nvSpPr>
          <p:spPr bwMode="auto">
            <a:xfrm>
              <a:off x="5571995" y="1388012"/>
              <a:ext cx="478351"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T5</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grpSp>
      <p:sp>
        <p:nvSpPr>
          <p:cNvPr id="78" name="Freeform 77"/>
          <p:cNvSpPr/>
          <p:nvPr/>
        </p:nvSpPr>
        <p:spPr bwMode="auto">
          <a:xfrm>
            <a:off x="4097184" y="5205493"/>
            <a:ext cx="1268361" cy="466102"/>
          </a:xfrm>
          <a:custGeom>
            <a:avLst/>
            <a:gdLst>
              <a:gd name="connsiteX0" fmla="*/ 0 w 1268361"/>
              <a:gd name="connsiteY0" fmla="*/ 0 h 466102"/>
              <a:gd name="connsiteX1" fmla="*/ 309716 w 1268361"/>
              <a:gd name="connsiteY1" fmla="*/ 457200 h 466102"/>
              <a:gd name="connsiteX2" fmla="*/ 1268361 w 1268361"/>
              <a:gd name="connsiteY2" fmla="*/ 309716 h 466102"/>
            </a:gdLst>
            <a:ahLst/>
            <a:cxnLst>
              <a:cxn ang="0">
                <a:pos x="connsiteX0" y="connsiteY0"/>
              </a:cxn>
              <a:cxn ang="0">
                <a:pos x="connsiteX1" y="connsiteY1"/>
              </a:cxn>
              <a:cxn ang="0">
                <a:pos x="connsiteX2" y="connsiteY2"/>
              </a:cxn>
            </a:cxnLst>
            <a:rect l="l" t="t" r="r" b="b"/>
            <a:pathLst>
              <a:path w="1268361" h="466102">
                <a:moveTo>
                  <a:pt x="0" y="0"/>
                </a:moveTo>
                <a:cubicBezTo>
                  <a:pt x="49161" y="202790"/>
                  <a:pt x="98323" y="405581"/>
                  <a:pt x="309716" y="457200"/>
                </a:cubicBezTo>
                <a:cubicBezTo>
                  <a:pt x="521109" y="508819"/>
                  <a:pt x="1069258" y="319548"/>
                  <a:pt x="1268361" y="309716"/>
                </a:cubicBezTo>
              </a:path>
            </a:pathLst>
          </a:custGeom>
          <a:noFill/>
          <a:ln w="9525" cap="flat" cmpd="sng" algn="ctr">
            <a:solidFill>
              <a:schemeClr val="tx1"/>
            </a:solidFill>
            <a:prstDash val="solid"/>
            <a:round/>
            <a:headEnd type="oval" w="med" len="med"/>
            <a:tailEnd type="triangle" w="lg"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t" latinLnBrk="0" hangingPunct="1">
              <a:lnSpc>
                <a:spcPct val="100000"/>
              </a:lnSpc>
              <a:spcBef>
                <a:spcPct val="0"/>
              </a:spcBef>
              <a:spcAft>
                <a:spcPct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a:ea typeface="方正兰亭黑简体"/>
              <a:cs typeface="+mn-cs"/>
            </a:endParaRPr>
          </a:p>
        </p:txBody>
      </p:sp>
      <p:sp>
        <p:nvSpPr>
          <p:cNvPr id="79" name="TextBox 78"/>
          <p:cNvSpPr txBox="1"/>
          <p:nvPr/>
        </p:nvSpPr>
        <p:spPr bwMode="auto">
          <a:xfrm>
            <a:off x="4604688" y="4564938"/>
            <a:ext cx="877190"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主队列</a:t>
            </a:r>
          </a:p>
        </p:txBody>
      </p:sp>
      <p:sp>
        <p:nvSpPr>
          <p:cNvPr id="80" name="TextBox 79"/>
          <p:cNvSpPr txBox="1"/>
          <p:nvPr/>
        </p:nvSpPr>
        <p:spPr bwMode="auto">
          <a:xfrm>
            <a:off x="3432131" y="5816031"/>
            <a:ext cx="5342277" cy="36565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(c) </a:t>
            </a: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辅助队列并入主队列，线程</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T2 </a:t>
            </a: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成为主队列的头</a:t>
            </a:r>
          </a:p>
        </p:txBody>
      </p:sp>
    </p:spTree>
    <p:extLst>
      <p:ext uri="{BB962C8B-B14F-4D97-AF65-F5344CB8AC3E}">
        <p14:creationId xmlns:p14="http://schemas.microsoft.com/office/powerpoint/2010/main" val="26763364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CNA </a:t>
            </a:r>
            <a:r>
              <a:rPr lang="zh-CN" altLang="en-US" dirty="0"/>
              <a:t>排队示例 </a:t>
            </a:r>
            <a:r>
              <a:rPr lang="en-US" altLang="zh-CN" dirty="0"/>
              <a:t>(2)</a:t>
            </a:r>
            <a:endParaRPr lang="zh-CN" altLang="en-US" dirty="0"/>
          </a:p>
        </p:txBody>
      </p:sp>
      <p:sp>
        <p:nvSpPr>
          <p:cNvPr id="3" name="Text Placeholder 2"/>
          <p:cNvSpPr>
            <a:spLocks noGrp="1"/>
          </p:cNvSpPr>
          <p:nvPr>
            <p:ph type="body" sz="quarter" idx="10"/>
          </p:nvPr>
        </p:nvSpPr>
        <p:spPr/>
        <p:txBody>
          <a:bodyPr/>
          <a:lstStyle/>
          <a:p>
            <a:r>
              <a:rPr lang="zh-CN" altLang="en-US" dirty="0"/>
              <a:t>如上图</a:t>
            </a:r>
            <a:r>
              <a:rPr lang="en-US" altLang="zh-CN" dirty="0"/>
              <a:t>(a)</a:t>
            </a:r>
            <a:r>
              <a:rPr lang="zh-CN" altLang="en-US" dirty="0"/>
              <a:t>、</a:t>
            </a:r>
            <a:r>
              <a:rPr lang="en-US" altLang="zh-CN" dirty="0"/>
              <a:t>(b)</a:t>
            </a:r>
            <a:r>
              <a:rPr lang="zh-CN" altLang="en-US" dirty="0"/>
              <a:t>、</a:t>
            </a:r>
            <a:r>
              <a:rPr lang="en-US" altLang="zh-CN" dirty="0"/>
              <a:t>(c)</a:t>
            </a:r>
            <a:r>
              <a:rPr lang="zh-CN" altLang="en-US" dirty="0"/>
              <a:t>所示：</a:t>
            </a:r>
          </a:p>
          <a:p>
            <a:pPr lvl="1"/>
            <a:r>
              <a:rPr lang="zh-CN" altLang="en-US" dirty="0"/>
              <a:t>开始有</a:t>
            </a:r>
            <a:r>
              <a:rPr lang="en-US" altLang="zh-CN" dirty="0"/>
              <a:t>5</a:t>
            </a:r>
            <a:r>
              <a:rPr lang="zh-CN" altLang="en-US" dirty="0"/>
              <a:t>个线程排队，线程</a:t>
            </a:r>
            <a:r>
              <a:rPr lang="en-US" altLang="zh-CN" dirty="0"/>
              <a:t>T1</a:t>
            </a:r>
            <a:r>
              <a:rPr lang="zh-CN" altLang="en-US" dirty="0"/>
              <a:t>位于序号为</a:t>
            </a:r>
            <a:r>
              <a:rPr lang="en-US" altLang="zh-CN" dirty="0"/>
              <a:t>0</a:t>
            </a:r>
            <a:r>
              <a:rPr lang="zh-CN" altLang="en-US" dirty="0"/>
              <a:t>的</a:t>
            </a:r>
            <a:r>
              <a:rPr lang="en-US" altLang="zh-CN" dirty="0"/>
              <a:t>NUMA</a:t>
            </a:r>
            <a:r>
              <a:rPr lang="zh-CN" altLang="en-US" dirty="0"/>
              <a:t>节点上并在队头自旋以等待获取锁；</a:t>
            </a:r>
          </a:p>
          <a:p>
            <a:pPr lvl="1"/>
            <a:r>
              <a:rPr lang="zh-CN" altLang="en-US" dirty="0"/>
              <a:t>线程</a:t>
            </a:r>
            <a:r>
              <a:rPr lang="en-US" altLang="zh-CN" dirty="0"/>
              <a:t>T1</a:t>
            </a:r>
            <a:r>
              <a:rPr lang="zh-CN" altLang="en-US" dirty="0"/>
              <a:t>成功获取锁，遍历主队列寻找队头的继承者。遍历至节点</a:t>
            </a:r>
            <a:r>
              <a:rPr lang="en-US" altLang="zh-CN" dirty="0"/>
              <a:t>T4</a:t>
            </a:r>
            <a:r>
              <a:rPr lang="zh-CN" altLang="en-US" dirty="0"/>
              <a:t>时，由于线程</a:t>
            </a:r>
            <a:r>
              <a:rPr lang="en-US" altLang="zh-CN" dirty="0"/>
              <a:t>T4</a:t>
            </a:r>
            <a:r>
              <a:rPr lang="zh-CN" altLang="en-US" dirty="0"/>
              <a:t>也位于序号为</a:t>
            </a:r>
            <a:r>
              <a:rPr lang="en-US" altLang="zh-CN" dirty="0"/>
              <a:t>0</a:t>
            </a:r>
            <a:r>
              <a:rPr lang="zh-CN" altLang="en-US" dirty="0"/>
              <a:t>的</a:t>
            </a:r>
            <a:r>
              <a:rPr lang="en-US" altLang="zh-CN" dirty="0"/>
              <a:t>NUMA</a:t>
            </a:r>
            <a:r>
              <a:rPr lang="zh-CN" altLang="en-US" dirty="0"/>
              <a:t>节点上，故其成为队头的继承者，遍历结束；</a:t>
            </a:r>
          </a:p>
          <a:p>
            <a:pPr lvl="1"/>
            <a:r>
              <a:rPr lang="zh-CN" altLang="en-US" dirty="0"/>
              <a:t>线程</a:t>
            </a:r>
            <a:r>
              <a:rPr lang="en-US" altLang="zh-CN" dirty="0"/>
              <a:t>T1</a:t>
            </a:r>
            <a:r>
              <a:rPr lang="zh-CN" altLang="en-US" dirty="0"/>
              <a:t>将线程</a:t>
            </a:r>
            <a:r>
              <a:rPr lang="en-US" altLang="zh-CN" dirty="0"/>
              <a:t>T4</a:t>
            </a:r>
            <a:r>
              <a:rPr lang="zh-CN" altLang="en-US" dirty="0"/>
              <a:t>的锁状态</a:t>
            </a:r>
            <a:r>
              <a:rPr lang="en-US" altLang="zh-CN" dirty="0"/>
              <a:t>locked</a:t>
            </a:r>
            <a:r>
              <a:rPr lang="zh-CN" altLang="en-US" dirty="0"/>
              <a:t>置</a:t>
            </a:r>
            <a:r>
              <a:rPr lang="en-US" altLang="zh-CN" dirty="0"/>
              <a:t>1</a:t>
            </a:r>
            <a:r>
              <a:rPr lang="zh-CN" altLang="en-US" dirty="0"/>
              <a:t>，使其成为主队列队头。线程</a:t>
            </a:r>
            <a:r>
              <a:rPr lang="en-US" altLang="zh-CN" dirty="0"/>
              <a:t>T2</a:t>
            </a:r>
            <a:r>
              <a:rPr lang="zh-CN" altLang="en-US" dirty="0"/>
              <a:t>与</a:t>
            </a:r>
            <a:r>
              <a:rPr lang="en-US" altLang="zh-CN" dirty="0"/>
              <a:t>T3</a:t>
            </a:r>
            <a:r>
              <a:rPr lang="zh-CN" altLang="en-US" dirty="0"/>
              <a:t>位于序号为</a:t>
            </a:r>
            <a:r>
              <a:rPr lang="en-US" altLang="zh-CN" dirty="0"/>
              <a:t>1</a:t>
            </a:r>
            <a:r>
              <a:rPr lang="zh-CN" altLang="en-US" dirty="0"/>
              <a:t>的</a:t>
            </a:r>
            <a:r>
              <a:rPr lang="en-US" altLang="zh-CN" dirty="0"/>
              <a:t>NUMA</a:t>
            </a:r>
            <a:r>
              <a:rPr lang="zh-CN" altLang="en-US" dirty="0"/>
              <a:t>节点上，故其将被加入到辅助队列中。由于辅助队列当前为空队列，所以线程</a:t>
            </a:r>
            <a:r>
              <a:rPr lang="en-US" altLang="zh-CN" dirty="0"/>
              <a:t>T2</a:t>
            </a:r>
            <a:r>
              <a:rPr lang="zh-CN" altLang="en-US" dirty="0"/>
              <a:t>成为辅助队列的队头，线程</a:t>
            </a:r>
            <a:r>
              <a:rPr lang="en-US" altLang="zh-CN" dirty="0"/>
              <a:t>T3</a:t>
            </a:r>
            <a:r>
              <a:rPr lang="zh-CN" altLang="en-US" dirty="0"/>
              <a:t>成为辅助队列的队尾；</a:t>
            </a:r>
          </a:p>
          <a:p>
            <a:pPr lvl="1"/>
            <a:r>
              <a:rPr lang="zh-CN" altLang="en-US" dirty="0"/>
              <a:t>线程</a:t>
            </a:r>
            <a:r>
              <a:rPr lang="en-US" altLang="zh-CN" dirty="0"/>
              <a:t>T4</a:t>
            </a:r>
            <a:r>
              <a:rPr lang="zh-CN" altLang="en-US" dirty="0"/>
              <a:t>成功获取锁时，其遍历主队列寻找继承者。线程</a:t>
            </a:r>
            <a:r>
              <a:rPr lang="en-US" altLang="zh-CN" dirty="0"/>
              <a:t>T4</a:t>
            </a:r>
            <a:r>
              <a:rPr lang="zh-CN" altLang="en-US" dirty="0"/>
              <a:t>的后继节点</a:t>
            </a:r>
            <a:r>
              <a:rPr lang="en-US" altLang="zh-CN" dirty="0"/>
              <a:t>T5</a:t>
            </a:r>
            <a:r>
              <a:rPr lang="zh-CN" altLang="en-US" dirty="0"/>
              <a:t>位于节点序号为</a:t>
            </a:r>
            <a:r>
              <a:rPr lang="en-US" altLang="zh-CN" dirty="0"/>
              <a:t>1</a:t>
            </a:r>
            <a:r>
              <a:rPr lang="zh-CN" altLang="en-US" dirty="0"/>
              <a:t>的</a:t>
            </a:r>
            <a:r>
              <a:rPr lang="en-US" altLang="zh-CN" dirty="0"/>
              <a:t>NUMA</a:t>
            </a:r>
            <a:r>
              <a:rPr lang="zh-CN" altLang="en-US" dirty="0"/>
              <a:t>节点上，主队列中没有线程</a:t>
            </a:r>
            <a:r>
              <a:rPr lang="en-US" altLang="zh-CN" dirty="0"/>
              <a:t>T4</a:t>
            </a:r>
            <a:r>
              <a:rPr lang="zh-CN" altLang="en-US" dirty="0"/>
              <a:t>期望找到的继承者，辅助队列的节点被并入主队列中。辅助队列的队头线程</a:t>
            </a:r>
            <a:r>
              <a:rPr lang="en-US" altLang="zh-CN" dirty="0"/>
              <a:t>T2</a:t>
            </a:r>
            <a:r>
              <a:rPr lang="zh-CN" altLang="en-US" dirty="0"/>
              <a:t>成为主队列的队头，线程</a:t>
            </a:r>
            <a:r>
              <a:rPr lang="en-US" altLang="zh-CN" dirty="0"/>
              <a:t>T5</a:t>
            </a:r>
            <a:r>
              <a:rPr lang="zh-CN" altLang="en-US" dirty="0"/>
              <a:t>成为队尾。</a:t>
            </a:r>
          </a:p>
        </p:txBody>
      </p:sp>
    </p:spTree>
    <p:extLst>
      <p:ext uri="{BB962C8B-B14F-4D97-AF65-F5344CB8AC3E}">
        <p14:creationId xmlns:p14="http://schemas.microsoft.com/office/powerpoint/2010/main" val="347047414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cna_pass_lock</a:t>
            </a:r>
            <a:r>
              <a:rPr lang="en-US" altLang="zh-CN" dirty="0"/>
              <a:t>() </a:t>
            </a:r>
            <a:r>
              <a:rPr lang="zh-CN" altLang="en-US" dirty="0"/>
              <a:t>函数 </a:t>
            </a:r>
            <a:r>
              <a:rPr lang="en-US" altLang="zh-CN" dirty="0"/>
              <a:t>(1)</a:t>
            </a:r>
            <a:endParaRPr lang="zh-CN" altLang="en-US" dirty="0"/>
          </a:p>
        </p:txBody>
      </p:sp>
      <p:sp>
        <p:nvSpPr>
          <p:cNvPr id="3" name="TextBox 2"/>
          <p:cNvSpPr txBox="1"/>
          <p:nvPr/>
        </p:nvSpPr>
        <p:spPr bwMode="auto">
          <a:xfrm>
            <a:off x="1594800" y="1232756"/>
            <a:ext cx="9361390" cy="5074640"/>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源代码：</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kernel/locking/</a:t>
            </a:r>
            <a:r>
              <a:rPr kumimoji="0" lang="en-US" altLang="zh-CN" sz="1800" b="0" i="0" u="none" strike="noStrike" kern="1200" cap="none" spc="0" normalizeH="0" baseline="0" noProof="0" dirty="0" err="1">
                <a:ln>
                  <a:noFill/>
                </a:ln>
                <a:solidFill>
                  <a:srgbClr val="00B050"/>
                </a:solidFill>
                <a:effectLst/>
                <a:uLnTx/>
                <a:uFillTx/>
                <a:latin typeface="Huawei Sans"/>
                <a:ea typeface="方正兰亭黑简体"/>
                <a:cs typeface="+mn-cs"/>
              </a:rPr>
              <a:t>qspinlock_cna.h</a:t>
            </a:r>
            <a:endPar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endParaRP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static</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inline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void</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cna_pass_lock</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mcs_spinlock</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*node, </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mcs_spinlock</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*next)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辅助队列为空并且锁的争用较低，直接选择后继节点为继承者</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if</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(node-&gt;locked &lt;= 1 &amp;&amp; probably(SHUFFLE_REDUCTION_PROB_ARG))</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goto</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pass_lock</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if</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(probably(INTRA_NODE_HANDOFF_PROB_ARG))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new_next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cna_try_find_next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(node, next);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在主队列中寻找继承者</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if</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new_next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next_holder</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new_next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更新继承者</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val</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node-&gt;locked + (node-&gt;locked == 0);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else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if</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(node-&gt;locked &gt; 1) {   </a:t>
            </a:r>
            <a:endPar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endParaRP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next_holder</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decode_tail</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(node-&gt;locked);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继承者为辅助队列的队头</a:t>
            </a:r>
            <a:endPar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endParaRP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将原主队列的</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next</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连接在辅助队列的尾节点后</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next_holder</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)-&gt;tail-&gt;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mcs.next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next;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pass_lock</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将继承者的</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locked</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置</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1</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arch_mcs_spin_unlock_contended</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(&amp;</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next_holder</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-&gt;locked,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val</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p>
        </p:txBody>
      </p:sp>
    </p:spTree>
    <p:extLst>
      <p:ext uri="{BB962C8B-B14F-4D97-AF65-F5344CB8AC3E}">
        <p14:creationId xmlns:p14="http://schemas.microsoft.com/office/powerpoint/2010/main" val="119244561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cna_pass_lock</a:t>
            </a:r>
            <a:r>
              <a:rPr lang="en-US" altLang="zh-CN" dirty="0"/>
              <a:t>() </a:t>
            </a:r>
            <a:r>
              <a:rPr lang="zh-CN" altLang="en-US" dirty="0"/>
              <a:t>函数 </a:t>
            </a:r>
            <a:r>
              <a:rPr lang="en-US" altLang="zh-CN" dirty="0"/>
              <a:t>(2)</a:t>
            </a:r>
            <a:endParaRPr lang="zh-CN" altLang="en-US" dirty="0"/>
          </a:p>
        </p:txBody>
      </p:sp>
      <p:sp>
        <p:nvSpPr>
          <p:cNvPr id="3" name="Text Placeholder 2"/>
          <p:cNvSpPr>
            <a:spLocks noGrp="1"/>
          </p:cNvSpPr>
          <p:nvPr>
            <p:ph type="body" sz="quarter" idx="10"/>
          </p:nvPr>
        </p:nvSpPr>
        <p:spPr/>
        <p:txBody>
          <a:bodyPr/>
          <a:lstStyle/>
          <a:p>
            <a:r>
              <a:rPr lang="en-US" altLang="zh-CN" dirty="0"/>
              <a:t>CNA</a:t>
            </a:r>
            <a:r>
              <a:rPr lang="zh-CN" altLang="en-US" dirty="0"/>
              <a:t>与</a:t>
            </a:r>
            <a:r>
              <a:rPr lang="en-US" altLang="zh-CN" dirty="0"/>
              <a:t>MCS</a:t>
            </a:r>
            <a:r>
              <a:rPr lang="zh-CN" altLang="en-US" dirty="0"/>
              <a:t>队列的主要区别在于：在锁释放时，选择哪个节点来拿锁；</a:t>
            </a:r>
          </a:p>
          <a:p>
            <a:r>
              <a:rPr lang="zh-CN" altLang="en-US" dirty="0"/>
              <a:t>即队头在获取锁后，选择哪个节点作为队头的继承者；</a:t>
            </a:r>
          </a:p>
          <a:p>
            <a:r>
              <a:rPr lang="zh-CN" altLang="en-US" dirty="0"/>
              <a:t>在实现上，</a:t>
            </a:r>
            <a:r>
              <a:rPr lang="en-US" altLang="zh-CN" dirty="0"/>
              <a:t>NUMA-aware </a:t>
            </a:r>
            <a:r>
              <a:rPr lang="en-US" altLang="zh-CN" dirty="0" err="1"/>
              <a:t>Qspinlock</a:t>
            </a:r>
            <a:r>
              <a:rPr lang="zh-CN" altLang="en-US" dirty="0"/>
              <a:t>将</a:t>
            </a:r>
            <a:r>
              <a:rPr lang="en-US" altLang="zh-CN" dirty="0"/>
              <a:t>MCS</a:t>
            </a:r>
            <a:r>
              <a:rPr lang="zh-CN" altLang="en-US" dirty="0"/>
              <a:t>的锁传递函数</a:t>
            </a:r>
            <a:r>
              <a:rPr lang="en-US" altLang="zh-CN" dirty="0" err="1"/>
              <a:t>mcs_pass_lock</a:t>
            </a:r>
            <a:r>
              <a:rPr lang="en-US" altLang="zh-CN" dirty="0"/>
              <a:t>()</a:t>
            </a:r>
            <a:r>
              <a:rPr lang="zh-CN" altLang="en-US" dirty="0"/>
              <a:t>替换为</a:t>
            </a:r>
            <a:r>
              <a:rPr lang="en-US" altLang="zh-CN" dirty="0"/>
              <a:t>CNA</a:t>
            </a:r>
            <a:r>
              <a:rPr lang="zh-CN" altLang="en-US" dirty="0"/>
              <a:t>的锁传递函数</a:t>
            </a:r>
            <a:r>
              <a:rPr lang="en-US" altLang="zh-CN" dirty="0" err="1"/>
              <a:t>cna_pass_lock</a:t>
            </a:r>
            <a:r>
              <a:rPr lang="en-US" altLang="zh-CN" dirty="0"/>
              <a:t>()</a:t>
            </a:r>
            <a:r>
              <a:rPr lang="zh-CN" altLang="en-US" dirty="0"/>
              <a:t>。</a:t>
            </a:r>
          </a:p>
        </p:txBody>
      </p:sp>
    </p:spTree>
    <p:extLst>
      <p:ext uri="{BB962C8B-B14F-4D97-AF65-F5344CB8AC3E}">
        <p14:creationId xmlns:p14="http://schemas.microsoft.com/office/powerpoint/2010/main" val="42787005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cna_try_find_next</a:t>
            </a:r>
            <a:r>
              <a:rPr lang="en-US" altLang="zh-CN" dirty="0"/>
              <a:t>() </a:t>
            </a:r>
            <a:r>
              <a:rPr lang="zh-CN" altLang="en-US" dirty="0"/>
              <a:t>函数</a:t>
            </a:r>
          </a:p>
        </p:txBody>
      </p:sp>
      <p:sp>
        <p:nvSpPr>
          <p:cNvPr id="3" name="TextBox 2"/>
          <p:cNvSpPr txBox="1"/>
          <p:nvPr/>
        </p:nvSpPr>
        <p:spPr bwMode="auto">
          <a:xfrm>
            <a:off x="1594800" y="1952836"/>
            <a:ext cx="9349824" cy="424364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源代码：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kernel/locking/</a:t>
            </a:r>
            <a:r>
              <a:rPr kumimoji="0" lang="en-US" altLang="zh-CN" sz="1800" b="0" i="0" u="none" strike="noStrike" kern="1200" cap="none" spc="0" normalizeH="0" baseline="0" noProof="0" dirty="0" err="1">
                <a:ln>
                  <a:noFill/>
                </a:ln>
                <a:solidFill>
                  <a:srgbClr val="00B050"/>
                </a:solidFill>
                <a:effectLst/>
                <a:uLnTx/>
                <a:uFillTx/>
                <a:latin typeface="Huawei Sans"/>
                <a:ea typeface="方正兰亭黑简体"/>
                <a:cs typeface="+mn-cs"/>
              </a:rPr>
              <a:t>qspinlock_cna.h</a:t>
            </a:r>
            <a:endPar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endParaRP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static</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mcs_spinlock</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cna_try_find_next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mcs_spinlock</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*node,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mcs_spinlock</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*next)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int</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my_numa_node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numa_node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当前的</a:t>
            </a:r>
            <a:r>
              <a:rPr kumimoji="0" lang="en-US" altLang="zh-CN" sz="1800" b="0" i="0" u="none" strike="noStrike" kern="1200" cap="none" spc="0" normalizeH="0" baseline="0" noProof="0" dirty="0" err="1">
                <a:ln>
                  <a:noFill/>
                </a:ln>
                <a:solidFill>
                  <a:srgbClr val="00B050"/>
                </a:solidFill>
                <a:effectLst/>
                <a:uLnTx/>
                <a:uFillTx/>
                <a:latin typeface="Huawei Sans"/>
                <a:ea typeface="方正兰亭黑简体"/>
                <a:cs typeface="+mn-cs"/>
              </a:rPr>
              <a:t>numa</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节点序号</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if</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cni</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numa_node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my_numa_node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如果后继节点是继承者</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return</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next;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直接返回</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使用</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first</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记录第一个需要移动的等待者，</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last</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记录最后一个需要移动的等待者</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for</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(first =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cni</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cni</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&amp;&amp;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cni</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numa_node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my_numa_node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last =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cni</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cni</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*)READ_ONCE(</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cni</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mcs.next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if</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cni</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&amp;&amp; last)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找到锁的继承者</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cna_splice_tail</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first, last);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更新主队列与辅助队列</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return</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mcs_spinlock</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cni</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返回找到的继承者</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p>
        </p:txBody>
      </p:sp>
      <p:sp>
        <p:nvSpPr>
          <p:cNvPr id="4" name="文本占位符 3"/>
          <p:cNvSpPr txBox="1">
            <a:spLocks/>
          </p:cNvSpPr>
          <p:nvPr/>
        </p:nvSpPr>
        <p:spPr>
          <a:xfrm>
            <a:off x="1594800" y="1196752"/>
            <a:ext cx="9349824" cy="576064"/>
          </a:xfrm>
          <a:prstGeom prst="rect">
            <a:avLst/>
          </a:prstGeom>
        </p:spPr>
        <p:txBody>
          <a:bodyPr/>
          <a:lst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marR="0" lvl="0" indent="0" algn="l" defTabSz="801688" rtl="0" eaLnBrk="1" fontAlgn="base" latinLnBrk="0" hangingPunct="1">
              <a:lnSpc>
                <a:spcPct val="140000"/>
              </a:lnSpc>
              <a:spcBef>
                <a:spcPct val="30000"/>
              </a:spcBef>
              <a:spcAft>
                <a:spcPct val="0"/>
              </a:spcAft>
              <a:buClr>
                <a:prstClr val="white">
                  <a:lumMod val="50000"/>
                </a:prstClr>
              </a:buClr>
              <a:buSzPct val="60000"/>
              <a:buFont typeface="Wingdings" pitchFamily="2" charset="2"/>
              <a:buNone/>
              <a:tabLst/>
              <a:defRPr/>
            </a:pPr>
            <a:r>
              <a:rPr kumimoji="0" lang="zh-CN" altLang="en-US" sz="2200" b="0" i="0" u="none" strike="noStrike" kern="1200" cap="none" spc="0" normalizeH="0" baseline="0" noProof="0" dirty="0">
                <a:ln>
                  <a:noFill/>
                </a:ln>
                <a:solidFill>
                  <a:prstClr val="black"/>
                </a:solidFill>
                <a:effectLst/>
                <a:uLnTx/>
                <a:uFillTx/>
                <a:latin typeface="Huawei Sans"/>
                <a:ea typeface="方正兰亭黑简体"/>
                <a:cs typeface="+mn-cs"/>
              </a:rPr>
              <a:t>在找到继承者之后，一次性对主队列与辅助队列进行更新：</a:t>
            </a:r>
            <a:endParaRPr kumimoji="0" lang="en-US" altLang="zh-CN" sz="2200" b="0" i="0" u="none" strike="noStrike" kern="0" cap="none" spc="0" normalizeH="0" baseline="0" noProof="0" dirty="0">
              <a:ln>
                <a:noFill/>
              </a:ln>
              <a:solidFill>
                <a:prstClr val="black"/>
              </a:solidFill>
              <a:effectLst/>
              <a:uLnTx/>
              <a:uFillTx/>
              <a:latin typeface="Huawei Sans"/>
              <a:ea typeface="方正兰亭黑简体"/>
              <a:cs typeface="+mn-cs"/>
            </a:endParaRPr>
          </a:p>
        </p:txBody>
      </p:sp>
    </p:spTree>
    <p:extLst>
      <p:ext uri="{BB962C8B-B14F-4D97-AF65-F5344CB8AC3E}">
        <p14:creationId xmlns:p14="http://schemas.microsoft.com/office/powerpoint/2010/main" val="31272075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cna_splice_tail</a:t>
            </a:r>
            <a:r>
              <a:rPr lang="en-US" altLang="zh-CN" dirty="0"/>
              <a:t>() </a:t>
            </a:r>
            <a:r>
              <a:rPr lang="zh-CN" altLang="en-US" dirty="0"/>
              <a:t>函数</a:t>
            </a:r>
          </a:p>
        </p:txBody>
      </p:sp>
      <p:sp>
        <p:nvSpPr>
          <p:cNvPr id="3" name="TextBox 2"/>
          <p:cNvSpPr txBox="1"/>
          <p:nvPr/>
        </p:nvSpPr>
        <p:spPr bwMode="auto">
          <a:xfrm>
            <a:off x="1594800" y="1814336"/>
            <a:ext cx="9349824" cy="4520642"/>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源代码：</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kernel/locking/</a:t>
            </a:r>
            <a:r>
              <a:rPr kumimoji="0" lang="en-US" altLang="zh-CN" sz="1800" b="0" i="0" u="none" strike="noStrike" kern="1200" cap="none" spc="0" normalizeH="0" baseline="0" noProof="0" dirty="0" err="1">
                <a:ln>
                  <a:noFill/>
                </a:ln>
                <a:solidFill>
                  <a:srgbClr val="00B050"/>
                </a:solidFill>
                <a:effectLst/>
                <a:uLnTx/>
                <a:uFillTx/>
                <a:latin typeface="Huawei Sans"/>
                <a:ea typeface="方正兰亭黑简体"/>
                <a:cs typeface="+mn-cs"/>
              </a:rPr>
              <a:t>qspinlock_cna.h</a:t>
            </a:r>
            <a:endPar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endParaRP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static</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void</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cna_splice_tail</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*first,</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*last)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mcs.next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last-&gt;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mcs.next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更新主队列</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last-&gt;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mcs.next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NULL</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清除</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last</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的</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next</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指针</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if</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mcs.locked</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&lt;= 1) {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辅助队列为空</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first-&gt;tail = last;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设置辅助队列尾结点</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mcs.locked</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first-&gt;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encoded_tail</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存储辅助队列头节点的位置</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else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辅助队列不为空，找到辅助队列头节点</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*head_2nd =(</a:t>
            </a:r>
            <a:r>
              <a:rPr kumimoji="0" lang="en-US" altLang="zh-CN" sz="1800" b="0" i="0" u="none" strike="noStrike" kern="1200" cap="none" spc="0" normalizeH="0" baseline="0" noProof="0" dirty="0" err="1">
                <a:ln>
                  <a:noFill/>
                </a:ln>
                <a:solidFill>
                  <a:srgbClr val="0070C0"/>
                </a:solidFill>
                <a:effectLst/>
                <a:uLnTx/>
                <a:uFillTx/>
                <a:latin typeface="Huawei Sans"/>
                <a:ea typeface="方正兰亭黑简体"/>
                <a:cs typeface="+mn-cs"/>
              </a:rPr>
              <a:t>struct</a:t>
            </a:r>
            <a:r>
              <a:rPr kumimoji="0" lang="en-US" altLang="zh-CN" sz="1800" b="0" i="0" u="none" strike="noStrike" kern="1200" cap="none" spc="0" normalizeH="0" baseline="0" noProof="0" dirty="0">
                <a:ln>
                  <a:noFill/>
                </a:ln>
                <a:solidFill>
                  <a:srgbClr val="0070C0"/>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cna_node</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decode_tail</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cn</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mcs.locked</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将被跳过的等待者加入辅助队列</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head_2nd-&gt;tail-&gt;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mcs.next</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 &amp;first-&gt;</a:t>
            </a:r>
            <a:r>
              <a:rPr kumimoji="0" lang="en-US" altLang="zh-CN" sz="1800" b="0" i="0" u="none" strike="noStrike" kern="1200" cap="none" spc="0" normalizeH="0" baseline="0" noProof="0" dirty="0" err="1">
                <a:ln>
                  <a:noFill/>
                </a:ln>
                <a:solidFill>
                  <a:prstClr val="black"/>
                </a:solidFill>
                <a:effectLst/>
                <a:uLnTx/>
                <a:uFillTx/>
                <a:latin typeface="Huawei Sans"/>
                <a:ea typeface="方正兰亭黑简体"/>
                <a:cs typeface="+mn-cs"/>
              </a:rPr>
              <a:t>mcs</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        head_2nd-&gt;tail = last; </a:t>
            </a:r>
            <a:r>
              <a:rPr kumimoji="0" lang="en-US" altLang="zh-CN" sz="1800" b="0" i="0" u="none" strike="noStrike" kern="1200" cap="none" spc="0" normalizeH="0" baseline="0" noProof="0" dirty="0">
                <a:ln>
                  <a:noFill/>
                </a:ln>
                <a:solidFill>
                  <a:srgbClr val="00B050"/>
                </a:solidFill>
                <a:effectLst/>
                <a:uLnTx/>
                <a:uFillTx/>
                <a:latin typeface="Huawei Sans"/>
                <a:ea typeface="方正兰亭黑简体"/>
                <a:cs typeface="+mn-cs"/>
              </a:rPr>
              <a:t>// </a:t>
            </a:r>
            <a:r>
              <a:rPr kumimoji="0" lang="zh-CN" altLang="en-US" sz="1800" b="0" i="0" u="none" strike="noStrike" kern="1200" cap="none" spc="0" normalizeH="0" baseline="0" noProof="0" dirty="0">
                <a:ln>
                  <a:noFill/>
                </a:ln>
                <a:solidFill>
                  <a:srgbClr val="00B050"/>
                </a:solidFill>
                <a:effectLst/>
                <a:uLnTx/>
                <a:uFillTx/>
                <a:latin typeface="Huawei Sans"/>
                <a:ea typeface="方正兰亭黑简体"/>
                <a:cs typeface="+mn-cs"/>
              </a:rPr>
              <a:t>更新辅助队列尾结点</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a:ea typeface="方正兰亭黑简体"/>
                <a:cs typeface="+mn-cs"/>
              </a:rPr>
              <a:t>    </a:t>
            </a: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a:ea typeface="方正兰亭黑简体"/>
                <a:cs typeface="+mn-cs"/>
              </a:rPr>
              <a:t>}</a:t>
            </a:r>
          </a:p>
        </p:txBody>
      </p:sp>
      <p:sp>
        <p:nvSpPr>
          <p:cNvPr id="4" name="文本占位符 3"/>
          <p:cNvSpPr txBox="1">
            <a:spLocks/>
          </p:cNvSpPr>
          <p:nvPr/>
        </p:nvSpPr>
        <p:spPr>
          <a:xfrm>
            <a:off x="1594800" y="1196752"/>
            <a:ext cx="9349824" cy="479085"/>
          </a:xfrm>
          <a:prstGeom prst="rect">
            <a:avLst/>
          </a:prstGeom>
        </p:spPr>
        <p:txBody>
          <a:bodyPr/>
          <a:lst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marR="0" lvl="0" indent="0" algn="l" defTabSz="801688" rtl="0" eaLnBrk="1" fontAlgn="base" latinLnBrk="0" hangingPunct="1">
              <a:lnSpc>
                <a:spcPct val="140000"/>
              </a:lnSpc>
              <a:spcBef>
                <a:spcPct val="30000"/>
              </a:spcBef>
              <a:spcAft>
                <a:spcPct val="0"/>
              </a:spcAft>
              <a:buClr>
                <a:prstClr val="white">
                  <a:lumMod val="50000"/>
                </a:prstClr>
              </a:buClr>
              <a:buSzPct val="60000"/>
              <a:buFont typeface="Wingdings" pitchFamily="2" charset="2"/>
              <a:buNone/>
              <a:tabLst/>
              <a:defRPr/>
            </a:pPr>
            <a:r>
              <a:rPr kumimoji="0" lang="zh-CN" altLang="en-US" sz="2200" b="0" i="0" u="none" strike="noStrike" kern="1200" cap="none" spc="0" normalizeH="0" baseline="0" noProof="0" dirty="0">
                <a:ln>
                  <a:noFill/>
                </a:ln>
                <a:solidFill>
                  <a:prstClr val="black"/>
                </a:solidFill>
                <a:effectLst/>
                <a:uLnTx/>
                <a:uFillTx/>
                <a:latin typeface="Huawei Sans"/>
                <a:ea typeface="方正兰亭黑简体"/>
                <a:cs typeface="+mn-cs"/>
              </a:rPr>
              <a:t>主队列与辅助队列的更新过程：</a:t>
            </a:r>
            <a:endParaRPr kumimoji="0" lang="en-US" altLang="zh-CN" sz="2200" b="0" i="0" u="none" strike="noStrike" kern="0" cap="none" spc="0" normalizeH="0" baseline="0" noProof="0" dirty="0">
              <a:ln>
                <a:noFill/>
              </a:ln>
              <a:solidFill>
                <a:prstClr val="black"/>
              </a:solidFill>
              <a:effectLst/>
              <a:uLnTx/>
              <a:uFillTx/>
              <a:latin typeface="Huawei Sans"/>
              <a:ea typeface="方正兰亭黑简体"/>
              <a:cs typeface="+mn-cs"/>
            </a:endParaRPr>
          </a:p>
        </p:txBody>
      </p:sp>
    </p:spTree>
    <p:extLst>
      <p:ext uri="{BB962C8B-B14F-4D97-AF65-F5344CB8AC3E}">
        <p14:creationId xmlns:p14="http://schemas.microsoft.com/office/powerpoint/2010/main" val="6996518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内存顺序模型示例</a:t>
            </a:r>
          </a:p>
        </p:txBody>
      </p:sp>
      <p:sp>
        <p:nvSpPr>
          <p:cNvPr id="3" name="文本占位符 2"/>
          <p:cNvSpPr txBox="1">
            <a:spLocks/>
          </p:cNvSpPr>
          <p:nvPr/>
        </p:nvSpPr>
        <p:spPr>
          <a:xfrm>
            <a:off x="4176910" y="1168416"/>
            <a:ext cx="3540072" cy="507877"/>
          </a:xfrm>
          <a:prstGeom prst="rect">
            <a:avLst/>
          </a:prstGeom>
        </p:spPr>
        <p:txBody>
          <a:bodyPr/>
          <a:lst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对应四种打印结果：</a:t>
            </a:r>
            <a:endPar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graphicFrame>
        <p:nvGraphicFramePr>
          <p:cNvPr id="4" name="Table 3"/>
          <p:cNvGraphicFramePr>
            <a:graphicFrameLocks noGrp="1"/>
          </p:cNvGraphicFramePr>
          <p:nvPr/>
        </p:nvGraphicFramePr>
        <p:xfrm>
          <a:off x="731838" y="1860282"/>
          <a:ext cx="3092017" cy="2808519"/>
        </p:xfrm>
        <a:graphic>
          <a:graphicData uri="http://schemas.openxmlformats.org/drawingml/2006/table">
            <a:tbl>
              <a:tblPr firstRow="1" firstCol="1" bandRow="1">
                <a:tableStyleId>{72833802-FEF1-4C79-8D5D-14CF1EAF98D9}</a:tableStyleId>
              </a:tblPr>
              <a:tblGrid>
                <a:gridCol w="3092017">
                  <a:extLst>
                    <a:ext uri="{9D8B030D-6E8A-4147-A177-3AD203B41FA5}">
                      <a16:colId xmlns:a16="http://schemas.microsoft.com/office/drawing/2014/main" val="20000"/>
                    </a:ext>
                  </a:extLst>
                </a:gridCol>
              </a:tblGrid>
              <a:tr h="545293">
                <a:tc>
                  <a:txBody>
                    <a:bodyPr/>
                    <a:lstStyle/>
                    <a:p>
                      <a:pPr indent="356870" algn="just">
                        <a:lnSpc>
                          <a:spcPts val="2200"/>
                        </a:lnSpc>
                        <a:spcAft>
                          <a:spcPts val="0"/>
                        </a:spcAft>
                      </a:pPr>
                      <a:r>
                        <a:rPr lang="zh-CN" sz="1600" kern="0" dirty="0">
                          <a:effectLst/>
                          <a:latin typeface="+mn-lt"/>
                        </a:rPr>
                        <a:t>初始状态：</a:t>
                      </a:r>
                      <a:r>
                        <a:rPr lang="en-US" sz="1600" kern="0" dirty="0">
                          <a:effectLst/>
                          <a:latin typeface="+mn-lt"/>
                        </a:rPr>
                        <a:t>a = 0, b = 0;</a:t>
                      </a:r>
                      <a:endParaRPr lang="zh-CN" sz="1600" kern="100" dirty="0">
                        <a:effectLst/>
                        <a:latin typeface="+mn-lt"/>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548640">
                <a:tc>
                  <a:txBody>
                    <a:bodyPr/>
                    <a:lstStyle/>
                    <a:p>
                      <a:pPr indent="356870" algn="just">
                        <a:lnSpc>
                          <a:spcPts val="2200"/>
                        </a:lnSpc>
                        <a:spcAft>
                          <a:spcPts val="0"/>
                        </a:spcAft>
                      </a:pPr>
                      <a:r>
                        <a:rPr lang="en-US" sz="1600" b="1" kern="0" dirty="0">
                          <a:solidFill>
                            <a:schemeClr val="bg1"/>
                          </a:solidFill>
                          <a:effectLst/>
                          <a:latin typeface="+mn-lt"/>
                        </a:rPr>
                        <a:t>CPU0                CPU1</a:t>
                      </a:r>
                      <a:endParaRPr lang="zh-CN" sz="1600" b="1" kern="100" dirty="0">
                        <a:solidFill>
                          <a:schemeClr val="bg1"/>
                        </a:solidFill>
                        <a:effectLst/>
                        <a:latin typeface="+mn-lt"/>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0001"/>
                  </a:ext>
                </a:extLst>
              </a:tr>
              <a:tr h="857293">
                <a:tc>
                  <a:txBody>
                    <a:bodyPr/>
                    <a:lstStyle/>
                    <a:p>
                      <a:pPr indent="356870" algn="just">
                        <a:lnSpc>
                          <a:spcPts val="2200"/>
                        </a:lnSpc>
                        <a:spcAft>
                          <a:spcPts val="0"/>
                        </a:spcAft>
                      </a:pPr>
                      <a:r>
                        <a:rPr lang="en-US" sz="1600" b="0" kern="0" dirty="0">
                          <a:effectLst/>
                          <a:latin typeface="+mn-lt"/>
                        </a:rPr>
                        <a:t>a = 1;                b = 1;</a:t>
                      </a:r>
                      <a:endParaRPr lang="zh-CN" sz="1600" b="0" kern="100" dirty="0">
                        <a:effectLst/>
                        <a:latin typeface="+mn-lt"/>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57293">
                <a:tc>
                  <a:txBody>
                    <a:bodyPr/>
                    <a:lstStyle/>
                    <a:p>
                      <a:pPr indent="356870" algn="just">
                        <a:lnSpc>
                          <a:spcPts val="2200"/>
                        </a:lnSpc>
                        <a:spcAft>
                          <a:spcPts val="0"/>
                        </a:spcAft>
                      </a:pPr>
                      <a:r>
                        <a:rPr lang="en-US" sz="1600" b="0" kern="0" dirty="0">
                          <a:effectLst/>
                          <a:latin typeface="+mn-lt"/>
                        </a:rPr>
                        <a:t>print b;              print a;</a:t>
                      </a:r>
                      <a:endParaRPr lang="zh-CN" sz="1600" b="0" kern="100" dirty="0">
                        <a:effectLst/>
                        <a:latin typeface="+mn-lt"/>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Box 4"/>
          <p:cNvSpPr txBox="1"/>
          <p:nvPr/>
        </p:nvSpPr>
        <p:spPr>
          <a:xfrm>
            <a:off x="631019" y="1301206"/>
            <a:ext cx="2070617" cy="369332"/>
          </a:xfrm>
          <a:prstGeom prst="rect">
            <a:avLst/>
          </a:prstGeom>
          <a:noFill/>
        </p:spPr>
        <p:txBody>
          <a:bodyPr wrap="squar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对于下面的代码：</a:t>
            </a:r>
          </a:p>
        </p:txBody>
      </p:sp>
      <p:graphicFrame>
        <p:nvGraphicFramePr>
          <p:cNvPr id="6" name="Table 5"/>
          <p:cNvGraphicFramePr>
            <a:graphicFrameLocks noGrp="1"/>
          </p:cNvGraphicFramePr>
          <p:nvPr/>
        </p:nvGraphicFramePr>
        <p:xfrm>
          <a:off x="4257503" y="1859562"/>
          <a:ext cx="7202660" cy="3429890"/>
        </p:xfrm>
        <a:graphic>
          <a:graphicData uri="http://schemas.openxmlformats.org/drawingml/2006/table">
            <a:tbl>
              <a:tblPr firstRow="1" bandRow="1">
                <a:tableStyleId>{72833802-FEF1-4C79-8D5D-14CF1EAF98D9}</a:tableStyleId>
              </a:tblPr>
              <a:tblGrid>
                <a:gridCol w="844062">
                  <a:extLst>
                    <a:ext uri="{9D8B030D-6E8A-4147-A177-3AD203B41FA5}">
                      <a16:colId xmlns:a16="http://schemas.microsoft.com/office/drawing/2014/main" val="20000"/>
                    </a:ext>
                  </a:extLst>
                </a:gridCol>
                <a:gridCol w="872197">
                  <a:extLst>
                    <a:ext uri="{9D8B030D-6E8A-4147-A177-3AD203B41FA5}">
                      <a16:colId xmlns:a16="http://schemas.microsoft.com/office/drawing/2014/main" val="20001"/>
                    </a:ext>
                  </a:extLst>
                </a:gridCol>
                <a:gridCol w="3319975">
                  <a:extLst>
                    <a:ext uri="{9D8B030D-6E8A-4147-A177-3AD203B41FA5}">
                      <a16:colId xmlns:a16="http://schemas.microsoft.com/office/drawing/2014/main" val="20002"/>
                    </a:ext>
                  </a:extLst>
                </a:gridCol>
                <a:gridCol w="1041010">
                  <a:extLst>
                    <a:ext uri="{9D8B030D-6E8A-4147-A177-3AD203B41FA5}">
                      <a16:colId xmlns:a16="http://schemas.microsoft.com/office/drawing/2014/main" val="20003"/>
                    </a:ext>
                  </a:extLst>
                </a:gridCol>
                <a:gridCol w="1125416">
                  <a:extLst>
                    <a:ext uri="{9D8B030D-6E8A-4147-A177-3AD203B41FA5}">
                      <a16:colId xmlns:a16="http://schemas.microsoft.com/office/drawing/2014/main" val="20004"/>
                    </a:ext>
                  </a:extLst>
                </a:gridCol>
              </a:tblGrid>
              <a:tr h="685978">
                <a:tc>
                  <a:txBody>
                    <a:bodyPr/>
                    <a:lstStyle/>
                    <a:p>
                      <a:pPr algn="ctr"/>
                      <a:r>
                        <a:rPr lang="en-US" altLang="zh-CN" sz="1600" dirty="0"/>
                        <a:t>CPU0</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r>
                        <a:rPr lang="en-US" altLang="zh-CN" sz="1600" dirty="0"/>
                        <a:t>CPU1</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r>
                        <a:rPr lang="zh-CN" altLang="en-US" sz="1600" dirty="0"/>
                        <a:t>说明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r>
                        <a:rPr lang="zh-CN" altLang="en-US" sz="1600" dirty="0"/>
                        <a:t>绝对顺序模型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r>
                        <a:rPr lang="zh-CN" altLang="en-US" sz="1600" dirty="0"/>
                        <a:t>强、弱内存模型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685978">
                <a:tc>
                  <a:txBody>
                    <a:bodyPr/>
                    <a:lstStyle/>
                    <a:p>
                      <a:pPr algn="ctr"/>
                      <a:r>
                        <a:rPr lang="en-US" altLang="zh-CN" sz="1600" dirty="0"/>
                        <a:t>0</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t>0</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600" dirty="0"/>
                        <a:t>两个</a:t>
                      </a:r>
                      <a:r>
                        <a:rPr lang="en-US" altLang="zh-CN" sz="1600" dirty="0"/>
                        <a:t>CPU</a:t>
                      </a:r>
                      <a:r>
                        <a:rPr lang="zh-CN" altLang="en-US" sz="1600" dirty="0"/>
                        <a:t>都先执行打印，后执行赋值（乱序执行）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t>不可能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t>可能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85978">
                <a:tc>
                  <a:txBody>
                    <a:bodyPr/>
                    <a:lstStyle/>
                    <a:p>
                      <a:pPr algn="ctr"/>
                      <a:r>
                        <a:rPr lang="en-US" altLang="zh-CN" sz="1600" dirty="0"/>
                        <a:t>0</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t>1</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a:t>CPU0</a:t>
                      </a:r>
                      <a:r>
                        <a:rPr lang="zh-CN" altLang="en-US" sz="1600" dirty="0"/>
                        <a:t>先执行完毕，然后</a:t>
                      </a:r>
                      <a:r>
                        <a:rPr lang="en-US" altLang="zh-CN" sz="1600" dirty="0"/>
                        <a:t>CPU1</a:t>
                      </a:r>
                      <a:r>
                        <a:rPr lang="zh-CN" altLang="en-US" sz="1600" dirty="0"/>
                        <a:t>执行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t>可能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t>可能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85978">
                <a:tc>
                  <a:txBody>
                    <a:bodyPr/>
                    <a:lstStyle/>
                    <a:p>
                      <a:pPr algn="ctr"/>
                      <a:r>
                        <a:rPr lang="en-US" altLang="zh-CN" sz="1600" dirty="0"/>
                        <a:t>1</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t>0</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a:t>CPU1</a:t>
                      </a:r>
                      <a:r>
                        <a:rPr lang="zh-CN" altLang="en-US" sz="1600" dirty="0"/>
                        <a:t>先执行完毕，然后</a:t>
                      </a:r>
                      <a:r>
                        <a:rPr lang="en-US" altLang="zh-CN" sz="1600" dirty="0"/>
                        <a:t>CPU0</a:t>
                      </a:r>
                      <a:r>
                        <a:rPr lang="zh-CN" altLang="en-US" sz="1600" dirty="0"/>
                        <a:t>执行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t>可能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t>可能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85978">
                <a:tc>
                  <a:txBody>
                    <a:bodyPr/>
                    <a:lstStyle/>
                    <a:p>
                      <a:pPr algn="ctr"/>
                      <a:r>
                        <a:rPr lang="en-US" altLang="zh-CN" sz="1600" dirty="0"/>
                        <a:t>1</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t>1</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600" dirty="0"/>
                        <a:t>两个</a:t>
                      </a:r>
                      <a:r>
                        <a:rPr lang="en-US" altLang="zh-CN" sz="1600" dirty="0"/>
                        <a:t>CPU</a:t>
                      </a:r>
                      <a:r>
                        <a:rPr lang="zh-CN" altLang="en-US" sz="1600" dirty="0"/>
                        <a:t>同时执行第一条命令，然后同时执行第二条命令</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t>可能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t>可能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文本占位符 2"/>
          <p:cNvSpPr txBox="1">
            <a:spLocks/>
          </p:cNvSpPr>
          <p:nvPr/>
        </p:nvSpPr>
        <p:spPr bwMode="auto">
          <a:xfrm>
            <a:off x="774094" y="5289887"/>
            <a:ext cx="10643811" cy="79939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ctr"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302279" marR="0" lvl="0" indent="-302279" algn="just" defTabSz="914034" rtl="0" eaLnBrk="1" fontAlgn="ctr" latinLnBrk="0" hangingPunct="1">
              <a:lnSpc>
                <a:spcPct val="140000"/>
              </a:lnSpc>
              <a:spcBef>
                <a:spcPts val="792"/>
              </a:spcBef>
              <a:spcAft>
                <a:spcPts val="0"/>
              </a:spcAft>
              <a:buClrTx/>
              <a:buSzPct val="50000"/>
              <a:buFont typeface="Wingdings" panose="05000000000000000000" pitchFamily="2" charset="2"/>
              <a:buChar char="l"/>
              <a:tabLst/>
              <a:defRPr/>
            </a:pP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在绝对顺序模型下，不会出现打印</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0</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0</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的情况，因为此模型下指令执行顺序不会被打乱。</a:t>
            </a:r>
            <a:endPar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endParaRPr>
          </a:p>
          <a:p>
            <a:pPr marL="302279" marR="0" lvl="0" indent="-302279" algn="just" defTabSz="914034" rtl="0" eaLnBrk="1" fontAlgn="ctr" latinLnBrk="0" hangingPunct="1">
              <a:lnSpc>
                <a:spcPct val="140000"/>
              </a:lnSpc>
              <a:spcBef>
                <a:spcPts val="792"/>
              </a:spcBef>
              <a:spcAft>
                <a:spcPts val="0"/>
              </a:spcAft>
              <a:buClrTx/>
              <a:buSzPct val="50000"/>
              <a:buFont typeface="Wingdings" panose="05000000000000000000" pitchFamily="2" charset="2"/>
              <a:buChar char="l"/>
              <a:tabLst/>
              <a:defRPr/>
            </a:pP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强、弱内存模型都不会保证</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store-load</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Huawei Sans" panose="020C0503030203020204" pitchFamily="34" charset="0"/>
              </a:rPr>
              <a:t>顺序，所以上面四种情况都可能会出现</a:t>
            </a:r>
            <a:r>
              <a:rPr kumimoji="0" lang="zh-CN" altLang="en-US" sz="1800" b="0" i="0" u="none" strike="noStrike" kern="1200" cap="none" spc="0" normalizeH="0" baseline="0" noProof="0" dirty="0">
                <a:ln>
                  <a:noFill/>
                </a:ln>
                <a:solidFill>
                  <a:prstClr val="black"/>
                </a:solidFill>
                <a:effectLst/>
                <a:uLnTx/>
                <a:uFillTx/>
                <a:latin typeface="方正兰亭黑简体"/>
                <a:ea typeface="方正兰亭黑简体"/>
                <a:cs typeface="Huawei Sans" panose="020C0503030203020204" pitchFamily="34" charset="0"/>
                <a:sym typeface="Huawei Sans" panose="020C0503030203020204" pitchFamily="34" charset="0"/>
              </a:rPr>
              <a:t>。</a:t>
            </a:r>
          </a:p>
        </p:txBody>
      </p:sp>
    </p:spTree>
    <p:extLst>
      <p:ext uri="{BB962C8B-B14F-4D97-AF65-F5344CB8AC3E}">
        <p14:creationId xmlns:p14="http://schemas.microsoft.com/office/powerpoint/2010/main" val="69513131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SMP</a:t>
            </a:r>
            <a:r>
              <a:rPr lang="zh-CN" altLang="en-US" dirty="0"/>
              <a:t>结构下的指令乱序执行</a:t>
            </a:r>
          </a:p>
        </p:txBody>
      </p:sp>
      <p:sp>
        <p:nvSpPr>
          <p:cNvPr id="3" name="文本占位符 2"/>
          <p:cNvSpPr txBox="1">
            <a:spLocks/>
          </p:cNvSpPr>
          <p:nvPr/>
        </p:nvSpPr>
        <p:spPr>
          <a:xfrm>
            <a:off x="731837" y="1336432"/>
            <a:ext cx="10728325" cy="467554"/>
          </a:xfrm>
          <a:prstGeom prst="rect">
            <a:avLst/>
          </a:prstGeom>
        </p:spPr>
        <p:txBody>
          <a:bodyPr/>
          <a:lst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marR="0" lvl="0" indent="0" algn="l" defTabSz="801688" rtl="0" eaLnBrk="1" fontAlgn="base" latinLnBrk="0" hangingPunct="1">
              <a:lnSpc>
                <a:spcPct val="140000"/>
              </a:lnSpc>
              <a:spcBef>
                <a:spcPct val="30000"/>
              </a:spcBef>
              <a:spcAft>
                <a:spcPct val="0"/>
              </a:spcAft>
              <a:buClr>
                <a:prstClr val="white">
                  <a:lumMod val="50000"/>
                </a:prstClr>
              </a:buClr>
              <a:buSzPct val="60000"/>
              <a:buFont typeface="Wingdings" pitchFamily="2" charset="2"/>
              <a:buNone/>
              <a:tabLst/>
              <a:defRPr/>
            </a:pPr>
            <a:r>
              <a:rPr kumimoji="0" lang="zh-CN" altLang="en-US"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rPr>
              <a:t>考虑如下代码：</a:t>
            </a:r>
            <a:endParaRPr kumimoji="0" lang="en-US" altLang="zh-CN"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endParaRPr>
          </a:p>
          <a:p>
            <a:pPr marL="0" marR="0" lvl="0" indent="0" algn="l" defTabSz="801688" rtl="0" eaLnBrk="1" fontAlgn="base" latinLnBrk="0" hangingPunct="1">
              <a:lnSpc>
                <a:spcPct val="140000"/>
              </a:lnSpc>
              <a:spcBef>
                <a:spcPct val="30000"/>
              </a:spcBef>
              <a:spcAft>
                <a:spcPct val="0"/>
              </a:spcAft>
              <a:buClr>
                <a:prstClr val="white">
                  <a:lumMod val="50000"/>
                </a:prstClr>
              </a:buClr>
              <a:buSzPct val="60000"/>
              <a:buFont typeface="Wingdings" pitchFamily="2" charset="2"/>
              <a:buNone/>
              <a:tabLst/>
              <a:defRPr/>
            </a:pPr>
            <a:endParaRPr kumimoji="0" lang="en-US" altLang="zh-CN"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endParaRPr>
          </a:p>
          <a:p>
            <a:pPr marL="301625" marR="0" lvl="0" indent="-301625" algn="l" defTabSz="801688" rtl="0" eaLnBrk="1" fontAlgn="base" latinLnBrk="0" hangingPunct="1">
              <a:lnSpc>
                <a:spcPct val="140000"/>
              </a:lnSpc>
              <a:spcBef>
                <a:spcPct val="30000"/>
              </a:spcBef>
              <a:spcAft>
                <a:spcPct val="0"/>
              </a:spcAft>
              <a:buClr>
                <a:prstClr val="white">
                  <a:lumMod val="50000"/>
                </a:prstClr>
              </a:buClr>
              <a:buSzPct val="60000"/>
              <a:buFont typeface="Wingdings" pitchFamily="2" charset="2"/>
              <a:buChar char="l"/>
              <a:tabLst/>
              <a:defRPr/>
            </a:pPr>
            <a:endParaRPr kumimoji="0" lang="en-US" altLang="zh-CN"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endParaRPr>
          </a:p>
          <a:p>
            <a:pPr marL="301625" marR="0" lvl="0" indent="-301625" algn="l" defTabSz="801688" rtl="0" eaLnBrk="1" fontAlgn="base" latinLnBrk="0" hangingPunct="1">
              <a:lnSpc>
                <a:spcPct val="140000"/>
              </a:lnSpc>
              <a:spcBef>
                <a:spcPct val="30000"/>
              </a:spcBef>
              <a:spcAft>
                <a:spcPct val="0"/>
              </a:spcAft>
              <a:buClr>
                <a:prstClr val="white">
                  <a:lumMod val="50000"/>
                </a:prstClr>
              </a:buClr>
              <a:buSzPct val="60000"/>
              <a:buFont typeface="Wingdings" pitchFamily="2" charset="2"/>
              <a:buChar char="l"/>
              <a:tabLst/>
              <a:defRPr/>
            </a:pPr>
            <a:endParaRPr kumimoji="0" lang="zh-CN" altLang="en-US"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endParaRPr>
          </a:p>
        </p:txBody>
      </p:sp>
      <p:graphicFrame>
        <p:nvGraphicFramePr>
          <p:cNvPr id="4" name="Table 3"/>
          <p:cNvGraphicFramePr>
            <a:graphicFrameLocks noGrp="1"/>
          </p:cNvGraphicFramePr>
          <p:nvPr>
            <p:extLst/>
          </p:nvPr>
        </p:nvGraphicFramePr>
        <p:xfrm>
          <a:off x="731838" y="2048619"/>
          <a:ext cx="4681879" cy="3270685"/>
        </p:xfrm>
        <a:graphic>
          <a:graphicData uri="http://schemas.openxmlformats.org/drawingml/2006/table">
            <a:tbl>
              <a:tblPr firstRow="1" firstCol="1" bandRow="1">
                <a:tableStyleId>{72833802-FEF1-4C79-8D5D-14CF1EAF98D9}</a:tableStyleId>
              </a:tblPr>
              <a:tblGrid>
                <a:gridCol w="4681879">
                  <a:extLst>
                    <a:ext uri="{9D8B030D-6E8A-4147-A177-3AD203B41FA5}">
                      <a16:colId xmlns:a16="http://schemas.microsoft.com/office/drawing/2014/main" val="20000"/>
                    </a:ext>
                  </a:extLst>
                </a:gridCol>
              </a:tblGrid>
              <a:tr h="657317">
                <a:tc>
                  <a:txBody>
                    <a:bodyPr/>
                    <a:lstStyle/>
                    <a:p>
                      <a:pPr indent="356870" algn="just">
                        <a:lnSpc>
                          <a:spcPts val="2200"/>
                        </a:lnSpc>
                        <a:spcAft>
                          <a:spcPts val="0"/>
                        </a:spcAft>
                      </a:pPr>
                      <a:r>
                        <a:rPr lang="en-US" sz="1600" kern="0" dirty="0">
                          <a:effectLst/>
                        </a:rPr>
                        <a:t>CPU0                CPU1</a:t>
                      </a:r>
                      <a:endParaRPr lang="zh-CN"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solidFill>
                      <a:srgbClr val="C81F1F"/>
                    </a:solidFill>
                  </a:tcPr>
                </a:tc>
                <a:extLst>
                  <a:ext uri="{0D108BD9-81ED-4DB2-BD59-A6C34878D82A}">
                    <a16:rowId xmlns:a16="http://schemas.microsoft.com/office/drawing/2014/main" val="10000"/>
                  </a:ext>
                </a:extLst>
              </a:tr>
              <a:tr h="653342">
                <a:tc>
                  <a:txBody>
                    <a:bodyPr/>
                    <a:lstStyle/>
                    <a:p>
                      <a:pPr indent="356870" algn="just">
                        <a:lnSpc>
                          <a:spcPts val="2200"/>
                        </a:lnSpc>
                        <a:spcAft>
                          <a:spcPts val="0"/>
                        </a:spcAft>
                      </a:pPr>
                      <a:r>
                        <a:rPr lang="en-US" sz="1600" b="0" kern="0" dirty="0">
                          <a:effectLst/>
                        </a:rPr>
                        <a:t>a = 1;                while (true) {</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653342">
                <a:tc>
                  <a:txBody>
                    <a:bodyPr/>
                    <a:lstStyle/>
                    <a:p>
                      <a:pPr indent="356870" algn="just">
                        <a:lnSpc>
                          <a:spcPts val="2200"/>
                        </a:lnSpc>
                        <a:spcAft>
                          <a:spcPts val="0"/>
                        </a:spcAft>
                      </a:pPr>
                      <a:r>
                        <a:rPr lang="en-US" sz="1600" b="0" kern="0" dirty="0">
                          <a:effectLst/>
                        </a:rPr>
                        <a:t>b = 2;                    if (flag)</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653342">
                <a:tc>
                  <a:txBody>
                    <a:bodyPr/>
                    <a:lstStyle/>
                    <a:p>
                      <a:pPr indent="356870" algn="just">
                        <a:lnSpc>
                          <a:spcPts val="2200"/>
                        </a:lnSpc>
                        <a:spcAft>
                          <a:spcPts val="0"/>
                        </a:spcAft>
                      </a:pPr>
                      <a:r>
                        <a:rPr lang="en-US" sz="1600" b="0" kern="0" dirty="0">
                          <a:effectLst/>
                        </a:rPr>
                        <a:t>c = 3;                        </a:t>
                      </a:r>
                      <a:r>
                        <a:rPr lang="en-US" altLang="zh-CN" sz="1600" b="0" kern="0" dirty="0" err="1">
                          <a:effectLst/>
                        </a:rPr>
                        <a:t>do_something</a:t>
                      </a:r>
                      <a:r>
                        <a:rPr lang="en-US" altLang="zh-CN" sz="1600" b="0" kern="0" dirty="0">
                          <a:effectLst/>
                        </a:rPr>
                        <a:t>(a, b, c);</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653342">
                <a:tc>
                  <a:txBody>
                    <a:bodyPr/>
                    <a:lstStyle/>
                    <a:p>
                      <a:pPr indent="356870" algn="just">
                        <a:lnSpc>
                          <a:spcPts val="2200"/>
                        </a:lnSpc>
                        <a:spcAft>
                          <a:spcPts val="0"/>
                        </a:spcAft>
                      </a:pPr>
                      <a:r>
                        <a:rPr lang="en-US" sz="1600" b="0" kern="0" dirty="0">
                          <a:effectLst/>
                        </a:rPr>
                        <a:t>flag = true;        }</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bl>
          </a:graphicData>
        </a:graphic>
      </p:graphicFrame>
      <p:graphicFrame>
        <p:nvGraphicFramePr>
          <p:cNvPr id="5" name="Table 4"/>
          <p:cNvGraphicFramePr>
            <a:graphicFrameLocks noGrp="1"/>
          </p:cNvGraphicFramePr>
          <p:nvPr>
            <p:extLst/>
          </p:nvPr>
        </p:nvGraphicFramePr>
        <p:xfrm>
          <a:off x="6428509" y="2048619"/>
          <a:ext cx="5031654" cy="3270685"/>
        </p:xfrm>
        <a:graphic>
          <a:graphicData uri="http://schemas.openxmlformats.org/drawingml/2006/table">
            <a:tbl>
              <a:tblPr firstRow="1" firstCol="1" bandRow="1">
                <a:tableStyleId>{72833802-FEF1-4C79-8D5D-14CF1EAF98D9}</a:tableStyleId>
              </a:tblPr>
              <a:tblGrid>
                <a:gridCol w="5031654">
                  <a:extLst>
                    <a:ext uri="{9D8B030D-6E8A-4147-A177-3AD203B41FA5}">
                      <a16:colId xmlns:a16="http://schemas.microsoft.com/office/drawing/2014/main" val="20000"/>
                    </a:ext>
                  </a:extLst>
                </a:gridCol>
              </a:tblGrid>
              <a:tr h="657317">
                <a:tc>
                  <a:txBody>
                    <a:bodyPr/>
                    <a:lstStyle/>
                    <a:p>
                      <a:pPr indent="356870" algn="just">
                        <a:lnSpc>
                          <a:spcPts val="2200"/>
                        </a:lnSpc>
                        <a:spcAft>
                          <a:spcPts val="0"/>
                        </a:spcAft>
                      </a:pPr>
                      <a:r>
                        <a:rPr lang="en-US" sz="1600" kern="0" dirty="0">
                          <a:effectLst/>
                        </a:rPr>
                        <a:t>CPU0                CPU1</a:t>
                      </a:r>
                      <a:endParaRPr lang="zh-CN"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solidFill>
                      <a:srgbClr val="C00000"/>
                    </a:solidFill>
                  </a:tcPr>
                </a:tc>
                <a:extLst>
                  <a:ext uri="{0D108BD9-81ED-4DB2-BD59-A6C34878D82A}">
                    <a16:rowId xmlns:a16="http://schemas.microsoft.com/office/drawing/2014/main" val="10000"/>
                  </a:ext>
                </a:extLst>
              </a:tr>
              <a:tr h="653342">
                <a:tc>
                  <a:txBody>
                    <a:bodyPr/>
                    <a:lstStyle/>
                    <a:p>
                      <a:pPr indent="356870" algn="just">
                        <a:lnSpc>
                          <a:spcPts val="2200"/>
                        </a:lnSpc>
                        <a:spcAft>
                          <a:spcPts val="0"/>
                        </a:spcAft>
                      </a:pPr>
                      <a:r>
                        <a:rPr lang="en-US" sz="1600" b="0" kern="0" dirty="0">
                          <a:effectLst/>
                        </a:rPr>
                        <a:t>a = 1;                while (true) {</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653342">
                <a:tc>
                  <a:txBody>
                    <a:bodyPr/>
                    <a:lstStyle/>
                    <a:p>
                      <a:pPr indent="356870" algn="just">
                        <a:lnSpc>
                          <a:spcPts val="2200"/>
                        </a:lnSpc>
                        <a:spcAft>
                          <a:spcPts val="0"/>
                        </a:spcAft>
                      </a:pPr>
                      <a:r>
                        <a:rPr lang="en-US" sz="1600" b="0" kern="0" dirty="0">
                          <a:effectLst/>
                        </a:rPr>
                        <a:t>b = 2;                    if</a:t>
                      </a:r>
                      <a:r>
                        <a:rPr lang="en-US" sz="1600" b="0" kern="0" baseline="0" dirty="0">
                          <a:effectLst/>
                        </a:rPr>
                        <a:t> (flag)</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653342">
                <a:tc>
                  <a:txBody>
                    <a:bodyPr/>
                    <a:lstStyle/>
                    <a:p>
                      <a:pPr indent="356870" algn="just">
                        <a:lnSpc>
                          <a:spcPts val="2200"/>
                        </a:lnSpc>
                        <a:spcAft>
                          <a:spcPts val="0"/>
                        </a:spcAft>
                      </a:pPr>
                      <a:r>
                        <a:rPr lang="en-US" sz="1600" b="0" kern="0" dirty="0">
                          <a:effectLst/>
                        </a:rPr>
                        <a:t>flag = true;                </a:t>
                      </a:r>
                      <a:r>
                        <a:rPr lang="en-US" altLang="zh-CN" sz="1600" b="0" kern="0" dirty="0" err="1">
                          <a:effectLst/>
                        </a:rPr>
                        <a:t>do_something</a:t>
                      </a:r>
                      <a:r>
                        <a:rPr lang="en-US" altLang="zh-CN" sz="1600" b="0" kern="0" dirty="0">
                          <a:effectLst/>
                        </a:rPr>
                        <a:t>(a, b, c);</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653342">
                <a:tc>
                  <a:txBody>
                    <a:bodyPr/>
                    <a:lstStyle/>
                    <a:p>
                      <a:pPr indent="356870" algn="just">
                        <a:lnSpc>
                          <a:spcPts val="2200"/>
                        </a:lnSpc>
                        <a:spcAft>
                          <a:spcPts val="0"/>
                        </a:spcAft>
                      </a:pPr>
                      <a:r>
                        <a:rPr lang="en-US" sz="1600" b="0" kern="0" dirty="0">
                          <a:effectLst/>
                        </a:rPr>
                        <a:t>c = 3;                }</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6" name="Right Arrow 5"/>
          <p:cNvSpPr/>
          <p:nvPr/>
        </p:nvSpPr>
        <p:spPr>
          <a:xfrm>
            <a:off x="5477020" y="3649065"/>
            <a:ext cx="915725" cy="2776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uawei Sans"/>
              <a:ea typeface="方正兰亭黑简体"/>
              <a:cs typeface="+mn-cs"/>
            </a:endParaRPr>
          </a:p>
        </p:txBody>
      </p:sp>
      <p:sp>
        <p:nvSpPr>
          <p:cNvPr id="7" name="TextBox 6"/>
          <p:cNvSpPr txBox="1"/>
          <p:nvPr/>
        </p:nvSpPr>
        <p:spPr>
          <a:xfrm>
            <a:off x="5477020" y="3275111"/>
            <a:ext cx="979029" cy="307777"/>
          </a:xfrm>
          <a:prstGeom prst="rect">
            <a:avLst/>
          </a:prstGeom>
          <a:noFill/>
        </p:spPr>
        <p:txBody>
          <a:bodyPr wrap="squar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Huawei Sans"/>
                <a:ea typeface="方正兰亭黑简体"/>
                <a:cs typeface="+mn-cs"/>
              </a:rPr>
              <a:t>乱序执行</a:t>
            </a:r>
          </a:p>
        </p:txBody>
      </p:sp>
      <p:sp>
        <p:nvSpPr>
          <p:cNvPr id="8" name="TextBox 7"/>
          <p:cNvSpPr txBox="1"/>
          <p:nvPr/>
        </p:nvSpPr>
        <p:spPr>
          <a:xfrm>
            <a:off x="731837" y="5584874"/>
            <a:ext cx="4717643" cy="584775"/>
          </a:xfrm>
          <a:prstGeom prst="rect">
            <a:avLst/>
          </a:prstGeom>
          <a:noFill/>
        </p:spPr>
        <p:txBody>
          <a:bodyPr wrap="squar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如果</a:t>
            </a: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CPU0</a:t>
            </a: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顺序执行，</a:t>
            </a: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a</a:t>
            </a: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a:t>
            </a: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b</a:t>
            </a: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a:t>
            </a: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c</a:t>
            </a: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初始化完毕后</a:t>
            </a: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CPU1 </a:t>
            </a: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再</a:t>
            </a: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do something</a:t>
            </a: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，符合预期。</a:t>
            </a:r>
          </a:p>
        </p:txBody>
      </p:sp>
      <p:sp>
        <p:nvSpPr>
          <p:cNvPr id="9" name="TextBox 8"/>
          <p:cNvSpPr txBox="1"/>
          <p:nvPr/>
        </p:nvSpPr>
        <p:spPr>
          <a:xfrm>
            <a:off x="6428509" y="5614075"/>
            <a:ext cx="5133838" cy="584775"/>
          </a:xfrm>
          <a:prstGeom prst="rect">
            <a:avLst/>
          </a:prstGeom>
          <a:noFill/>
        </p:spPr>
        <p:txBody>
          <a:bodyPr wrap="squar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当</a:t>
            </a:r>
            <a:r>
              <a:rPr kumimoji="0" lang="en-US" altLang="zh-CN" sz="1600" b="0" i="0" u="none" strike="noStrike" kern="1200" cap="none" spc="0" normalizeH="0" baseline="0" noProof="0">
                <a:ln>
                  <a:noFill/>
                </a:ln>
                <a:solidFill>
                  <a:prstClr val="black"/>
                </a:solidFill>
                <a:effectLst/>
                <a:uLnTx/>
                <a:uFillTx/>
                <a:latin typeface="Huawei Sans"/>
                <a:ea typeface="方正兰亭黑简体"/>
                <a:cs typeface="+mn-cs"/>
              </a:rPr>
              <a:t>CPU0</a:t>
            </a: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乱序执行，</a:t>
            </a: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c</a:t>
            </a: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还未初始化</a:t>
            </a: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CPU1</a:t>
            </a: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就</a:t>
            </a:r>
            <a:r>
              <a:rPr kumimoji="0" lang="en-US" altLang="zh-CN" sz="1600" b="0" i="0" u="none" strike="noStrike" kern="1200" cap="none" spc="0" normalizeH="0" baseline="0" noProof="0" dirty="0">
                <a:ln>
                  <a:noFill/>
                </a:ln>
                <a:solidFill>
                  <a:prstClr val="black"/>
                </a:solidFill>
                <a:effectLst/>
                <a:uLnTx/>
                <a:uFillTx/>
                <a:latin typeface="Huawei Sans"/>
                <a:ea typeface="方正兰亭黑简体"/>
                <a:cs typeface="+mn-cs"/>
              </a:rPr>
              <a:t>do something</a:t>
            </a:r>
            <a:r>
              <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rPr>
              <a:t>，出错。</a:t>
            </a:r>
          </a:p>
        </p:txBody>
      </p:sp>
    </p:spTree>
    <p:extLst>
      <p:ext uri="{BB962C8B-B14F-4D97-AF65-F5344CB8AC3E}">
        <p14:creationId xmlns:p14="http://schemas.microsoft.com/office/powerpoint/2010/main" val="25050483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Huawei Sans" panose="020C0503030203020204" pitchFamily="34" charset="0"/>
              </a:rPr>
              <a:t>WMM</a:t>
            </a:r>
            <a:r>
              <a:rPr lang="zh-CN" altLang="en-US" dirty="0">
                <a:sym typeface="Huawei Sans" panose="020C0503030203020204" pitchFamily="34" charset="0"/>
              </a:rPr>
              <a:t>模型下数据依赖</a:t>
            </a:r>
          </a:p>
        </p:txBody>
      </p:sp>
      <p:sp>
        <p:nvSpPr>
          <p:cNvPr id="5" name="文本占位符 4"/>
          <p:cNvSpPr>
            <a:spLocks noGrp="1"/>
          </p:cNvSpPr>
          <p:nvPr>
            <p:ph type="body" sz="quarter" idx="10"/>
          </p:nvPr>
        </p:nvSpPr>
        <p:spPr>
          <a:xfrm>
            <a:off x="742986" y="1081015"/>
            <a:ext cx="10728326" cy="4443243"/>
          </a:xfrm>
        </p:spPr>
        <p:txBody>
          <a:bodyPr/>
          <a:lstStyle/>
          <a:p>
            <a:r>
              <a:rPr lang="en-US" altLang="zh-CN" dirty="0">
                <a:sym typeface="Huawei Sans" panose="020C0503030203020204" pitchFamily="34" charset="0"/>
              </a:rPr>
              <a:t>WMM</a:t>
            </a:r>
            <a:r>
              <a:rPr lang="zh-CN" altLang="en-US" dirty="0">
                <a:sym typeface="Huawei Sans" panose="020C0503030203020204" pitchFamily="34" charset="0"/>
              </a:rPr>
              <a:t>模型</a:t>
            </a:r>
            <a:endParaRPr lang="en-US" altLang="zh-CN" dirty="0">
              <a:sym typeface="Huawei Sans" panose="020C0503030203020204" pitchFamily="34" charset="0"/>
            </a:endParaRPr>
          </a:p>
          <a:p>
            <a:endParaRPr lang="zh-CN" altLang="en-US" dirty="0">
              <a:sym typeface="Huawei Sans" panose="020C0503030203020204" pitchFamily="34" charset="0"/>
            </a:endParaRPr>
          </a:p>
        </p:txBody>
      </p:sp>
      <p:sp>
        <p:nvSpPr>
          <p:cNvPr id="72" name="文本框 71"/>
          <p:cNvSpPr txBox="1"/>
          <p:nvPr/>
        </p:nvSpPr>
        <p:spPr>
          <a:xfrm>
            <a:off x="6100441" y="2104259"/>
            <a:ext cx="4919856" cy="830997"/>
          </a:xfrm>
          <a:prstGeom prst="rect">
            <a:avLst/>
          </a:prstGeom>
          <a:noFill/>
        </p:spPr>
        <p:txBody>
          <a:bodyPr wrap="square" lIns="0" tIns="0" rIns="0" bIns="0" rtlCol="0">
            <a:spAutoFit/>
          </a:bodyPr>
          <a:lstStyle/>
          <a:p>
            <a:pPr marL="285750" marR="0" lvl="0" indent="-285750" algn="l" defTabSz="914478"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X</a:t>
            </a: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和</a:t>
            </a:r>
            <a:r>
              <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Y</a:t>
            </a: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最终读写顺序可能与指令顺序不一致</a:t>
            </a:r>
            <a:endPar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marR="0" lvl="0" indent="-285750" algn="l" defTabSz="914478"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 Y=2</a:t>
            </a: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X=0 </a:t>
            </a: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 Y=2</a:t>
            </a: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X=4</a:t>
            </a: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 Y=0</a:t>
            </a: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X=0 </a:t>
            </a: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 Y=0</a:t>
            </a: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X=4 </a:t>
            </a: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）是允许的</a:t>
            </a:r>
            <a:endPar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3" name="矩形 72"/>
          <p:cNvSpPr/>
          <p:nvPr/>
        </p:nvSpPr>
        <p:spPr>
          <a:xfrm>
            <a:off x="6096000" y="1664221"/>
            <a:ext cx="4928738" cy="276999"/>
          </a:xfrm>
          <a:prstGeom prst="rect">
            <a:avLst/>
          </a:prstGeom>
          <a:solidFill>
            <a:schemeClr val="accent3">
              <a:lumMod val="20000"/>
              <a:lumOff val="80000"/>
            </a:schemeClr>
          </a:solidFill>
        </p:spPr>
        <p:txBody>
          <a:bodyPr wrap="square">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zh-CN" altLang="en-US" sz="12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不产生依赖时 </a:t>
            </a:r>
            <a:r>
              <a:rPr kumimoji="1" lang="zh-CN" altLang="en-US" sz="1200" b="1" i="1"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写</a:t>
            </a:r>
            <a:r>
              <a:rPr kumimoji="1" lang="en-US" altLang="zh-CN" sz="1200" b="1" i="1"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1" lang="zh-CN" altLang="en-US" sz="1200" b="1" i="1"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写 </a:t>
            </a:r>
            <a:r>
              <a:rPr kumimoji="1" lang="zh-CN" altLang="en-US" sz="12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和 </a:t>
            </a:r>
            <a:r>
              <a:rPr kumimoji="1" lang="zh-CN" altLang="en-US" sz="1200" b="1" i="1"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读</a:t>
            </a:r>
            <a:r>
              <a:rPr kumimoji="1" lang="en-US" altLang="zh-CN" sz="1200" b="1" i="1"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1" lang="zh-CN" altLang="en-US" sz="1200" b="1" i="1"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读 </a:t>
            </a:r>
            <a:r>
              <a:rPr kumimoji="1" lang="zh-CN" altLang="en-US" sz="12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指令允许重排</a:t>
            </a:r>
            <a:endParaRPr kumimoji="1" lang="en-US" altLang="zh-CN" sz="12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4" name="文本框 73"/>
          <p:cNvSpPr txBox="1"/>
          <p:nvPr/>
        </p:nvSpPr>
        <p:spPr>
          <a:xfrm>
            <a:off x="6107149" y="4122994"/>
            <a:ext cx="4917589" cy="1938992"/>
          </a:xfrm>
          <a:prstGeom prst="rect">
            <a:avLst/>
          </a:prstGeom>
          <a:noFill/>
        </p:spPr>
        <p:txBody>
          <a:bodyPr wrap="square" lIns="0" tIns="0" rIns="0" bIns="0" rtlCol="0">
            <a:spAutoFit/>
          </a:bodyPr>
          <a:lstStyle/>
          <a:p>
            <a:pPr marL="0" marR="0" lvl="0" indent="0" algn="l" defTabSz="914478"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存在三类依赖，一旦依赖成立，那么这两个操作不会重排序</a:t>
            </a:r>
            <a:endPar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marR="0" lvl="0" indent="-285750" algn="l" defTabSz="914478"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地址依赖：读操作的值用来生成后续内存操作的地址，这个读操作和相应的内存操作存在地址依赖。</a:t>
            </a:r>
            <a:endPar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marR="0" lvl="0" indent="-285750" algn="l" defTabSz="914478"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控制依赖：读操作的值用于后续的条件判断，这个读操作和之后的内存操作存在控制依赖。</a:t>
            </a:r>
            <a:endParaRPr kumimoji="1" lang="en-US" altLang="zh-CN"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285750" marR="0" lvl="0" indent="-285750" algn="l" defTabSz="914478"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数据依赖：读操作的值用于生成后续写操作的值，那么这个读操作和相应的写操作存在数据依赖。</a:t>
            </a:r>
          </a:p>
        </p:txBody>
      </p:sp>
      <p:sp>
        <p:nvSpPr>
          <p:cNvPr id="75" name="矩形 74"/>
          <p:cNvSpPr/>
          <p:nvPr/>
        </p:nvSpPr>
        <p:spPr>
          <a:xfrm>
            <a:off x="6088942" y="3714894"/>
            <a:ext cx="4928738" cy="276999"/>
          </a:xfrm>
          <a:prstGeom prst="rect">
            <a:avLst/>
          </a:prstGeom>
          <a:solidFill>
            <a:schemeClr val="accent3">
              <a:lumMod val="20000"/>
              <a:lumOff val="80000"/>
            </a:schemeClr>
          </a:solidFill>
        </p:spPr>
        <p:txBody>
          <a:bodyPr wrap="square">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zh-CN" altLang="en-US" sz="12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产生依赖时，则某类 </a:t>
            </a:r>
            <a:r>
              <a:rPr kumimoji="1" lang="zh-CN" altLang="en-US" sz="1200" b="1" i="1"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读</a:t>
            </a:r>
            <a:r>
              <a:rPr kumimoji="1" lang="en-US" altLang="zh-CN" sz="1200" b="1" i="1"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1" lang="zh-CN" altLang="en-US" sz="1200" b="1" i="1"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写、读</a:t>
            </a:r>
            <a:r>
              <a:rPr kumimoji="1" lang="en-US" altLang="zh-CN" sz="1200" b="1" i="1"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1" lang="zh-CN" altLang="en-US" sz="1200" b="1" i="1"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读 </a:t>
            </a:r>
            <a:r>
              <a:rPr kumimoji="1" lang="zh-CN" altLang="en-US" sz="12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指令不发生重排</a:t>
            </a:r>
            <a:endParaRPr kumimoji="1" lang="en-US" altLang="zh-CN" sz="12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6" name="文本框 75"/>
          <p:cNvSpPr txBox="1"/>
          <p:nvPr/>
        </p:nvSpPr>
        <p:spPr>
          <a:xfrm>
            <a:off x="1283503" y="3913189"/>
            <a:ext cx="4430129" cy="553998"/>
          </a:xfrm>
          <a:prstGeom prst="rect">
            <a:avLst/>
          </a:prstGeom>
          <a:solidFill>
            <a:srgbClr val="DDDDDD"/>
          </a:solidFill>
        </p:spPr>
        <p:txBody>
          <a:bodyPr wrap="square" lIns="0" tIns="0" rIns="0" bIns="0"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r1=y</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r3=(r1 </a:t>
            </a:r>
            <a:r>
              <a:rPr kumimoji="0" lang="en-US" altLang="zh-CN" sz="12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xor</a:t>
            </a: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 r1) </a:t>
            </a:r>
            <a:r>
              <a:rPr kumimoji="0" lang="en-US" altLang="zh-CN"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//r3</a:t>
            </a:r>
            <a:r>
              <a:rPr kumimoji="0" lang="zh-CN" altLang="en-US"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必然为</a:t>
            </a:r>
            <a:r>
              <a:rPr kumimoji="0" lang="en-US" altLang="zh-CN"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0</a:t>
            </a:r>
            <a:r>
              <a:rPr kumimoji="0" lang="zh-CN" altLang="en-US"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，但仍属于地址依赖</a:t>
            </a:r>
            <a:r>
              <a:rPr kumimoji="0" lang="en-US" altLang="zh-CN"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 </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r2=*(&amp;x + r3)</a:t>
            </a:r>
            <a:endPar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7" name="文本框 76"/>
          <p:cNvSpPr txBox="1"/>
          <p:nvPr/>
        </p:nvSpPr>
        <p:spPr>
          <a:xfrm>
            <a:off x="1275930" y="4768575"/>
            <a:ext cx="4437701" cy="553998"/>
          </a:xfrm>
          <a:prstGeom prst="rect">
            <a:avLst/>
          </a:prstGeom>
          <a:solidFill>
            <a:srgbClr val="DDDDDD"/>
          </a:solidFill>
        </p:spPr>
        <p:txBody>
          <a:bodyPr wrap="square" lIns="0" tIns="0" rIns="0" bIns="0"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 = READ(Y)</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if(a == 1)</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      b = READ(Y); </a:t>
            </a:r>
            <a:r>
              <a:rPr kumimoji="0" lang="en-US" altLang="zh-CN"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//b</a:t>
            </a:r>
            <a:r>
              <a:rPr kumimoji="0" lang="zh-CN" altLang="en-US"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没有作用，仍属于控制依赖</a:t>
            </a: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WRITE(Y) = 1;</a:t>
            </a:r>
            <a:endPar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8" name="文本框 77"/>
          <p:cNvSpPr txBox="1"/>
          <p:nvPr/>
        </p:nvSpPr>
        <p:spPr>
          <a:xfrm>
            <a:off x="1275931" y="5657021"/>
            <a:ext cx="4437700" cy="369332"/>
          </a:xfrm>
          <a:prstGeom prst="rect">
            <a:avLst/>
          </a:prstGeom>
          <a:solidFill>
            <a:srgbClr val="DDDDDD"/>
          </a:solidFill>
        </p:spPr>
        <p:txBody>
          <a:bodyPr wrap="square" lIns="0" tIns="0" rIns="0" bIns="0"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 = READ(X); </a:t>
            </a:r>
            <a:r>
              <a:rPr kumimoji="0" lang="en-US" altLang="zh-CN"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zh-CN" altLang="en-US"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局部变量</a:t>
            </a:r>
            <a:r>
              <a:rPr kumimoji="0" lang="en-US" altLang="zh-CN"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a:t>
            </a:r>
            <a:r>
              <a:rPr kumimoji="0" lang="zh-CN" altLang="en-US"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为读取全局量</a:t>
            </a:r>
            <a:r>
              <a:rPr kumimoji="0" lang="en-US" altLang="zh-CN"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X</a:t>
            </a:r>
            <a:r>
              <a:rPr kumimoji="0" lang="zh-CN" altLang="en-US" sz="12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的值</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WRITE(Y) = a XOR a + 1;</a:t>
            </a:r>
            <a:endParaRPr kumimoji="1" lang="zh-CN" altLang="en-US" sz="12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5" name="文本框 84"/>
          <p:cNvSpPr txBox="1"/>
          <p:nvPr/>
        </p:nvSpPr>
        <p:spPr>
          <a:xfrm>
            <a:off x="1053322" y="3940330"/>
            <a:ext cx="174873" cy="553998"/>
          </a:xfrm>
          <a:prstGeom prst="rect">
            <a:avLst/>
          </a:prstGeom>
          <a:noFill/>
        </p:spPr>
        <p:txBody>
          <a:bodyPr wrap="square" lIns="0" tIns="0" rIns="0" bIns="0" rtlCol="0">
            <a:spAutoFit/>
          </a:bodyPr>
          <a:lstStyle/>
          <a:p>
            <a:pPr marL="0" marR="0" lvl="0" indent="0" algn="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srgbClr val="B5B5B5"/>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1</a:t>
            </a:r>
          </a:p>
          <a:p>
            <a:pPr marL="0" marR="0" lvl="0" indent="0" algn="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srgbClr val="B5B5B5"/>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2</a:t>
            </a:r>
          </a:p>
          <a:p>
            <a:pPr marL="0" marR="0" lvl="0" indent="0" algn="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srgbClr val="B5B5B5"/>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3</a:t>
            </a:r>
          </a:p>
        </p:txBody>
      </p:sp>
      <p:sp>
        <p:nvSpPr>
          <p:cNvPr id="86" name="文本框 85"/>
          <p:cNvSpPr txBox="1"/>
          <p:nvPr/>
        </p:nvSpPr>
        <p:spPr>
          <a:xfrm>
            <a:off x="1053323" y="4768575"/>
            <a:ext cx="174873" cy="738664"/>
          </a:xfrm>
          <a:prstGeom prst="rect">
            <a:avLst/>
          </a:prstGeom>
          <a:noFill/>
        </p:spPr>
        <p:txBody>
          <a:bodyPr wrap="square" lIns="0" tIns="0" rIns="0" bIns="0" rtlCol="0">
            <a:spAutoFit/>
          </a:bodyPr>
          <a:lstStyle/>
          <a:p>
            <a:pPr marL="0" marR="0" lvl="0" indent="0" algn="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srgbClr val="B5B5B5"/>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1</a:t>
            </a:r>
          </a:p>
          <a:p>
            <a:pPr marL="0" marR="0" lvl="0" indent="0" algn="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srgbClr val="B5B5B5"/>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2</a:t>
            </a:r>
          </a:p>
          <a:p>
            <a:pPr marL="0" marR="0" lvl="0" indent="0" algn="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srgbClr val="B5B5B5"/>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3</a:t>
            </a:r>
          </a:p>
          <a:p>
            <a:pPr marL="0" marR="0" lvl="0" indent="0" algn="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srgbClr val="B5B5B5"/>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4</a:t>
            </a:r>
          </a:p>
        </p:txBody>
      </p:sp>
      <p:sp>
        <p:nvSpPr>
          <p:cNvPr id="87" name="文本框 86"/>
          <p:cNvSpPr txBox="1"/>
          <p:nvPr/>
        </p:nvSpPr>
        <p:spPr>
          <a:xfrm>
            <a:off x="1053321" y="5637319"/>
            <a:ext cx="174873" cy="369332"/>
          </a:xfrm>
          <a:prstGeom prst="rect">
            <a:avLst/>
          </a:prstGeom>
          <a:noFill/>
        </p:spPr>
        <p:txBody>
          <a:bodyPr wrap="square" lIns="0" tIns="0" rIns="0" bIns="0" rtlCol="0">
            <a:spAutoFit/>
          </a:bodyPr>
          <a:lstStyle/>
          <a:p>
            <a:pPr marL="0" marR="0" lvl="0" indent="0" algn="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srgbClr val="B5B5B5"/>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1</a:t>
            </a:r>
          </a:p>
          <a:p>
            <a:pPr marL="0" marR="0" lvl="0" indent="0" algn="r" defTabSz="914478"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srgbClr val="B5B5B5"/>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2</a:t>
            </a:r>
          </a:p>
        </p:txBody>
      </p:sp>
      <p:graphicFrame>
        <p:nvGraphicFramePr>
          <p:cNvPr id="29" name="表格 28"/>
          <p:cNvGraphicFramePr>
            <a:graphicFrameLocks noGrp="1"/>
          </p:cNvGraphicFramePr>
          <p:nvPr/>
        </p:nvGraphicFramePr>
        <p:xfrm>
          <a:off x="1298696" y="1678075"/>
          <a:ext cx="4572876" cy="2011426"/>
        </p:xfrm>
        <a:graphic>
          <a:graphicData uri="http://schemas.openxmlformats.org/drawingml/2006/table">
            <a:tbl>
              <a:tblPr/>
              <a:tblGrid>
                <a:gridCol w="1562548">
                  <a:extLst>
                    <a:ext uri="{9D8B030D-6E8A-4147-A177-3AD203B41FA5}">
                      <a16:colId xmlns:a16="http://schemas.microsoft.com/office/drawing/2014/main" val="20000"/>
                    </a:ext>
                  </a:extLst>
                </a:gridCol>
                <a:gridCol w="1315092">
                  <a:extLst>
                    <a:ext uri="{9D8B030D-6E8A-4147-A177-3AD203B41FA5}">
                      <a16:colId xmlns:a16="http://schemas.microsoft.com/office/drawing/2014/main" val="20001"/>
                    </a:ext>
                  </a:extLst>
                </a:gridCol>
                <a:gridCol w="1695236">
                  <a:extLst>
                    <a:ext uri="{9D8B030D-6E8A-4147-A177-3AD203B41FA5}">
                      <a16:colId xmlns:a16="http://schemas.microsoft.com/office/drawing/2014/main" val="20002"/>
                    </a:ext>
                  </a:extLst>
                </a:gridCol>
              </a:tblGrid>
              <a:tr h="224943">
                <a:tc>
                  <a:txBody>
                    <a:bodyPr/>
                    <a:lstStyle/>
                    <a:p>
                      <a:pPr algn="l"/>
                      <a:r>
                        <a:rPr lang="zh-CN" altLang="en-US" sz="1200" b="1"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时序（处理器获取指令的时序）</a:t>
                      </a:r>
                      <a:endParaRPr lang="en-US" sz="1200" b="1" dirty="0">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EAECF0"/>
                    </a:solidFill>
                  </a:tcPr>
                </a:tc>
                <a:tc>
                  <a:txBody>
                    <a:bodyPr/>
                    <a:lstStyle/>
                    <a:p>
                      <a:pPr algn="l"/>
                      <a:r>
                        <a:rPr lang="en-US" altLang="zh-CN" sz="1200" b="1"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Thread0</a:t>
                      </a:r>
                      <a:endParaRPr lang="en-US" sz="1200" b="1" dirty="0">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EAECF0"/>
                    </a:solidFill>
                  </a:tcPr>
                </a:tc>
                <a:tc>
                  <a:txBody>
                    <a:bodyPr/>
                    <a:lstStyle/>
                    <a:p>
                      <a:pPr algn="l"/>
                      <a:r>
                        <a:rPr lang="en-US" altLang="zh-CN" sz="1200" b="1"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Thread1</a:t>
                      </a:r>
                      <a:endParaRPr lang="en-US" sz="1200" b="1" dirty="0">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EAECF0"/>
                    </a:solidFill>
                  </a:tcPr>
                </a:tc>
                <a:extLst>
                  <a:ext uri="{0D108BD9-81ED-4DB2-BD59-A6C34878D82A}">
                    <a16:rowId xmlns:a16="http://schemas.microsoft.com/office/drawing/2014/main" val="10000"/>
                  </a:ext>
                </a:extLst>
              </a:tr>
              <a:tr h="121566">
                <a:tc>
                  <a:txBody>
                    <a:bodyPr/>
                    <a:lstStyle/>
                    <a:p>
                      <a:pPr algn="ctr"/>
                      <a:r>
                        <a:rPr lang="zh-CN" altLang="en-US"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初始值</a:t>
                      </a:r>
                      <a:endParaRPr lang="en-US"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gridSpan="2">
                  <a:txBody>
                    <a:bodyPr/>
                    <a:lstStyle/>
                    <a:p>
                      <a:pPr algn="l"/>
                      <a:r>
                        <a:rPr lang="en-US"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X = 0,</a:t>
                      </a:r>
                      <a:r>
                        <a:rPr lang="en-US" sz="1200" baseline="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 Y = 0</a:t>
                      </a:r>
                      <a:endParaRPr lang="en-US"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a:p>
                  </a:txBody>
                  <a:tcPr/>
                </a:tc>
                <a:extLst>
                  <a:ext uri="{0D108BD9-81ED-4DB2-BD59-A6C34878D82A}">
                    <a16:rowId xmlns:a16="http://schemas.microsoft.com/office/drawing/2014/main" val="10001"/>
                  </a:ext>
                </a:extLst>
              </a:tr>
              <a:tr h="121566">
                <a:tc>
                  <a:txBody>
                    <a:bodyPr/>
                    <a:lstStyle/>
                    <a:p>
                      <a:pPr algn="ctr"/>
                      <a:r>
                        <a:rPr lang="en-US"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1</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l"/>
                      <a:r>
                        <a:rPr lang="en-US"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X</a:t>
                      </a:r>
                      <a:r>
                        <a:rPr lang="en-US" sz="1200" baseline="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 = 4</a:t>
                      </a:r>
                      <a:endParaRPr lang="en-US"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21566">
                <a:tc>
                  <a:txBody>
                    <a:bodyPr/>
                    <a:lstStyle/>
                    <a:p>
                      <a:pPr algn="ctr"/>
                      <a:r>
                        <a:rPr lang="en-US"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2</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Y</a:t>
                      </a:r>
                      <a:r>
                        <a:rPr lang="en-US" altLang="zh-CN" sz="1200" baseline="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 = 2</a:t>
                      </a:r>
                      <a:endParaRPr lang="en-US" altLang="zh-CN"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21566">
                <a:tc>
                  <a:txBody>
                    <a:bodyPr/>
                    <a:lstStyle/>
                    <a:p>
                      <a:pPr algn="ctr"/>
                      <a:r>
                        <a:rPr lang="en-US"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3</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l"/>
                      <a:endParaRPr lang="en-US"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200" baseline="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Read(Y) : </a:t>
                      </a:r>
                      <a:r>
                        <a:rPr lang="en-US" altLang="zh-CN" sz="1200" baseline="0" dirty="0">
                          <a:solidFill>
                            <a:srgbClr val="C7000B"/>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2</a:t>
                      </a:r>
                      <a:endParaRPr lang="en-US" altLang="zh-CN" sz="1200" dirty="0">
                        <a:solidFill>
                          <a:srgbClr val="C7000B"/>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02610">
                <a:tc>
                  <a:txBody>
                    <a:bodyPr/>
                    <a:lstStyle/>
                    <a:p>
                      <a:pPr algn="ctr"/>
                      <a:r>
                        <a:rPr lang="en-US"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4</a:t>
                      </a:r>
                    </a:p>
                  </a:txBody>
                  <a:tcPr anchor="ctr">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l"/>
                      <a:endParaRPr lang="en-US" sz="1200" dirty="0">
                        <a:solidFill>
                          <a:srgbClr val="C7000B"/>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l"/>
                      <a:r>
                        <a:rPr lang="en-US" altLang="zh-CN" sz="120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Read(X)</a:t>
                      </a:r>
                      <a:r>
                        <a:rPr lang="en-US" altLang="zh-CN" sz="1200" baseline="0" dirty="0">
                          <a:effectLst/>
                          <a:latin typeface="Huawei Sans" panose="020C0503030203020204" pitchFamily="34" charset="0"/>
                          <a:ea typeface="方正兰亭黑简体" panose="02000000000000000000" pitchFamily="2" charset="-122"/>
                          <a:cs typeface="+mn-ea"/>
                          <a:sym typeface="Huawei Sans" panose="020C0503030203020204" pitchFamily="34" charset="0"/>
                        </a:rPr>
                        <a:t> : </a:t>
                      </a:r>
                      <a:r>
                        <a:rPr lang="en-US" altLang="zh-CN" sz="1200" baseline="0" dirty="0">
                          <a:solidFill>
                            <a:srgbClr val="C7000B"/>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0</a:t>
                      </a:r>
                      <a:endParaRPr lang="en-US" sz="1200" dirty="0">
                        <a:solidFill>
                          <a:srgbClr val="C7000B"/>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6981801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Huawei Sans" panose="020C0503030203020204" pitchFamily="34" charset="0"/>
              </a:rPr>
              <a:t>WMM</a:t>
            </a:r>
            <a:r>
              <a:rPr lang="zh-CN" altLang="en-US" dirty="0">
                <a:sym typeface="Huawei Sans" panose="020C0503030203020204" pitchFamily="34" charset="0"/>
              </a:rPr>
              <a:t>模型特点</a:t>
            </a:r>
          </a:p>
        </p:txBody>
      </p:sp>
      <p:sp>
        <p:nvSpPr>
          <p:cNvPr id="5" name="文本占位符 4"/>
          <p:cNvSpPr>
            <a:spLocks noGrp="1"/>
          </p:cNvSpPr>
          <p:nvPr>
            <p:ph type="body" sz="quarter" idx="10"/>
          </p:nvPr>
        </p:nvSpPr>
        <p:spPr/>
        <p:txBody>
          <a:bodyPr/>
          <a:lstStyle/>
          <a:p>
            <a:r>
              <a:rPr lang="en-US" altLang="zh-CN" dirty="0">
                <a:sym typeface="Huawei Sans" panose="020C0503030203020204" pitchFamily="34" charset="0"/>
              </a:rPr>
              <a:t>WMM</a:t>
            </a:r>
            <a:r>
              <a:rPr lang="zh-CN" altLang="en-US" dirty="0">
                <a:sym typeface="Huawei Sans" panose="020C0503030203020204" pitchFamily="34" charset="0"/>
              </a:rPr>
              <a:t>总结</a:t>
            </a:r>
            <a:endParaRPr lang="en-US" altLang="zh-CN" dirty="0">
              <a:sym typeface="Huawei Sans" panose="020C0503030203020204" pitchFamily="34" charset="0"/>
            </a:endParaRPr>
          </a:p>
          <a:p>
            <a:pPr lvl="1"/>
            <a:r>
              <a:rPr lang="zh-CN" altLang="en-US" dirty="0">
                <a:sym typeface="Huawei Sans" panose="020C0503030203020204" pitchFamily="34" charset="0"/>
              </a:rPr>
              <a:t>写操作对多核不保序</a:t>
            </a:r>
          </a:p>
          <a:p>
            <a:pPr lvl="2"/>
            <a:r>
              <a:rPr lang="zh-CN" altLang="en-US" dirty="0">
                <a:sym typeface="Huawei Sans" panose="020C0503030203020204" pitchFamily="34" charset="0"/>
              </a:rPr>
              <a:t>对于多个</a:t>
            </a:r>
            <a:r>
              <a:rPr lang="en-US" altLang="zh-CN" dirty="0">
                <a:sym typeface="Huawei Sans" panose="020C0503030203020204" pitchFamily="34" charset="0"/>
              </a:rPr>
              <a:t>processor</a:t>
            </a:r>
            <a:r>
              <a:rPr lang="zh-CN" altLang="en-US" dirty="0">
                <a:sym typeface="Huawei Sans" panose="020C0503030203020204" pitchFamily="34" charset="0"/>
              </a:rPr>
              <a:t>而言，已发生的单个写操作不能同时对其他</a:t>
            </a:r>
            <a:r>
              <a:rPr lang="en-US" altLang="zh-CN" dirty="0">
                <a:sym typeface="Huawei Sans" panose="020C0503030203020204" pitchFamily="34" charset="0"/>
              </a:rPr>
              <a:t>processor</a:t>
            </a:r>
            <a:r>
              <a:rPr lang="zh-CN" altLang="en-US" dirty="0">
                <a:sym typeface="Huawei Sans" panose="020C0503030203020204" pitchFamily="34" charset="0"/>
              </a:rPr>
              <a:t>可见。</a:t>
            </a:r>
            <a:br>
              <a:rPr lang="en-US" altLang="zh-CN" dirty="0">
                <a:sym typeface="Huawei Sans" panose="020C0503030203020204" pitchFamily="34" charset="0"/>
              </a:rPr>
            </a:br>
            <a:r>
              <a:rPr lang="zh-CN" altLang="en-US" dirty="0">
                <a:sym typeface="Huawei Sans" panose="020C0503030203020204" pitchFamily="34" charset="0"/>
              </a:rPr>
              <a:t>且多个连续的写指令不能在其他</a:t>
            </a:r>
            <a:r>
              <a:rPr lang="en-US" altLang="zh-CN" dirty="0">
                <a:sym typeface="Huawei Sans" panose="020C0503030203020204" pitchFamily="34" charset="0"/>
              </a:rPr>
              <a:t>processor</a:t>
            </a:r>
            <a:r>
              <a:rPr lang="zh-CN" altLang="en-US" dirty="0">
                <a:sym typeface="Huawei Sans" panose="020C0503030203020204" pitchFamily="34" charset="0"/>
              </a:rPr>
              <a:t>中保持原有的操作顺序。</a:t>
            </a:r>
          </a:p>
          <a:p>
            <a:pPr lvl="1"/>
            <a:r>
              <a:rPr lang="zh-CN" altLang="en-US" dirty="0">
                <a:sym typeface="Huawei Sans" panose="020C0503030203020204" pitchFamily="34" charset="0"/>
              </a:rPr>
              <a:t>乱序执行</a:t>
            </a:r>
          </a:p>
          <a:p>
            <a:pPr lvl="2"/>
            <a:r>
              <a:rPr lang="zh-CN" altLang="en-US" dirty="0">
                <a:sym typeface="Huawei Sans" panose="020C0503030203020204" pitchFamily="34" charset="0"/>
              </a:rPr>
              <a:t>除非存在因果、依赖关系，否则指令都可以被乱序执行。</a:t>
            </a:r>
          </a:p>
          <a:p>
            <a:pPr lvl="1"/>
            <a:endParaRPr lang="zh-CN" altLang="en-US" dirty="0">
              <a:sym typeface="Huawei Sans" panose="020C0503030203020204" pitchFamily="34" charset="0"/>
            </a:endParaRPr>
          </a:p>
        </p:txBody>
      </p:sp>
    </p:spTree>
    <p:extLst>
      <p:ext uri="{BB962C8B-B14F-4D97-AF65-F5344CB8AC3E}">
        <p14:creationId xmlns:p14="http://schemas.microsoft.com/office/powerpoint/2010/main" val="192604927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Huawei Sans" panose="020C0503030203020204" pitchFamily="34" charset="0"/>
              </a:rPr>
              <a:t>WMM</a:t>
            </a:r>
            <a:r>
              <a:rPr lang="zh-CN" altLang="en-US" dirty="0">
                <a:sym typeface="Huawei Sans" panose="020C0503030203020204" pitchFamily="34" charset="0"/>
              </a:rPr>
              <a:t>示例 </a:t>
            </a:r>
            <a:r>
              <a:rPr lang="en-US" altLang="zh-CN" dirty="0">
                <a:sym typeface="Huawei Sans" panose="020C0503030203020204" pitchFamily="34" charset="0"/>
              </a:rPr>
              <a:t>(1)</a:t>
            </a:r>
            <a:endParaRPr lang="zh-CN" altLang="en-US" dirty="0">
              <a:sym typeface="Huawei Sans" panose="020C0503030203020204" pitchFamily="34" charset="0"/>
            </a:endParaRPr>
          </a:p>
        </p:txBody>
      </p:sp>
      <p:sp>
        <p:nvSpPr>
          <p:cNvPr id="5" name="文本占位符 4"/>
          <p:cNvSpPr>
            <a:spLocks noGrp="1"/>
          </p:cNvSpPr>
          <p:nvPr>
            <p:ph type="body" sz="quarter" idx="10"/>
          </p:nvPr>
        </p:nvSpPr>
        <p:spPr>
          <a:xfrm>
            <a:off x="731837" y="1323429"/>
            <a:ext cx="10728326" cy="4443243"/>
          </a:xfrm>
        </p:spPr>
        <p:txBody>
          <a:bodyPr/>
          <a:lstStyle/>
          <a:p>
            <a:r>
              <a:rPr lang="en-US" altLang="zh-CN" dirty="0">
                <a:sym typeface="Huawei Sans" panose="020C0503030203020204" pitchFamily="34" charset="0"/>
              </a:rPr>
              <a:t>WMM</a:t>
            </a:r>
            <a:r>
              <a:rPr lang="zh-CN" altLang="en-US" dirty="0">
                <a:sym typeface="Huawei Sans" panose="020C0503030203020204" pitchFamily="34" charset="0"/>
              </a:rPr>
              <a:t>示例</a:t>
            </a:r>
            <a:r>
              <a:rPr lang="en-US" altLang="zh-CN" dirty="0">
                <a:sym typeface="Huawei Sans" panose="020C0503030203020204" pitchFamily="34" charset="0"/>
              </a:rPr>
              <a:t>1</a:t>
            </a:r>
            <a:endParaRPr lang="zh-CN" altLang="en-US" dirty="0">
              <a:sym typeface="Huawei Sans" panose="020C0503030203020204" pitchFamily="34" charset="0"/>
            </a:endParaRPr>
          </a:p>
        </p:txBody>
      </p:sp>
      <p:graphicFrame>
        <p:nvGraphicFramePr>
          <p:cNvPr id="7" name="表格 6"/>
          <p:cNvGraphicFramePr>
            <a:graphicFrameLocks noGrp="1"/>
          </p:cNvGraphicFramePr>
          <p:nvPr/>
        </p:nvGraphicFramePr>
        <p:xfrm>
          <a:off x="731838" y="1900503"/>
          <a:ext cx="4098660" cy="1341120"/>
        </p:xfrm>
        <a:graphic>
          <a:graphicData uri="http://schemas.openxmlformats.org/drawingml/2006/table">
            <a:tbl>
              <a:tblPr firstRow="1" bandRow="1">
                <a:tableStyleId>{72833802-FEF1-4C79-8D5D-14CF1EAF98D9}</a:tableStyleId>
              </a:tblPr>
              <a:tblGrid>
                <a:gridCol w="2049330">
                  <a:extLst>
                    <a:ext uri="{9D8B030D-6E8A-4147-A177-3AD203B41FA5}">
                      <a16:colId xmlns:a16="http://schemas.microsoft.com/office/drawing/2014/main" val="20000"/>
                    </a:ext>
                  </a:extLst>
                </a:gridCol>
                <a:gridCol w="2049330">
                  <a:extLst>
                    <a:ext uri="{9D8B030D-6E8A-4147-A177-3AD203B41FA5}">
                      <a16:colId xmlns:a16="http://schemas.microsoft.com/office/drawing/2014/main" val="20001"/>
                    </a:ext>
                  </a:extLst>
                </a:gridCol>
              </a:tblGrid>
              <a:tr h="313529">
                <a:tc>
                  <a:txBody>
                    <a:bodyPr/>
                    <a:lstStyle/>
                    <a:p>
                      <a:pPr algn="ct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Thread1</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Thread2</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13529">
                <a:tc>
                  <a:txBody>
                    <a:bodyPr/>
                    <a:lstStyle/>
                    <a:p>
                      <a:pPr algn="ct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A = 3</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60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A;</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3529">
                <a:tc>
                  <a:txBody>
                    <a:bodyPr/>
                    <a:lstStyle/>
                    <a:p>
                      <a:pPr algn="ct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B = 4</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y</a:t>
                      </a:r>
                      <a:r>
                        <a:rPr lang="en-US" altLang="zh-CN" sz="160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 B;</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3529">
                <a:tc gridSpan="2">
                  <a:txBody>
                    <a:bodyPr/>
                    <a:lstStyle/>
                    <a:p>
                      <a:pPr algn="ct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初始值：</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 == 1</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B == 2</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dirty="0">
                        <a:solidFill>
                          <a:schemeClr val="tx1"/>
                        </a:solidFill>
                      </a:endParaRPr>
                    </a:p>
                  </a:txBody>
                  <a:tcPr>
                    <a:solidFill>
                      <a:schemeClr val="bg1"/>
                    </a:solidFill>
                  </a:tcPr>
                </a:tc>
                <a:extLst>
                  <a:ext uri="{0D108BD9-81ED-4DB2-BD59-A6C34878D82A}">
                    <a16:rowId xmlns:a16="http://schemas.microsoft.com/office/drawing/2014/main" val="10003"/>
                  </a:ext>
                </a:extLst>
              </a:tr>
            </a:tbl>
          </a:graphicData>
        </a:graphic>
      </p:graphicFrame>
      <p:graphicFrame>
        <p:nvGraphicFramePr>
          <p:cNvPr id="8" name="表格 7"/>
          <p:cNvGraphicFramePr>
            <a:graphicFrameLocks noGrp="1"/>
          </p:cNvGraphicFramePr>
          <p:nvPr/>
        </p:nvGraphicFramePr>
        <p:xfrm>
          <a:off x="3508636" y="3683596"/>
          <a:ext cx="5323632" cy="2468880"/>
        </p:xfrm>
        <a:graphic>
          <a:graphicData uri="http://schemas.openxmlformats.org/drawingml/2006/table">
            <a:tbl>
              <a:tblPr firstRow="1" bandRow="1">
                <a:tableStyleId>{72833802-FEF1-4C79-8D5D-14CF1EAF98D9}</a:tableStyleId>
              </a:tblPr>
              <a:tblGrid>
                <a:gridCol w="1330908">
                  <a:extLst>
                    <a:ext uri="{9D8B030D-6E8A-4147-A177-3AD203B41FA5}">
                      <a16:colId xmlns:a16="http://schemas.microsoft.com/office/drawing/2014/main" val="20000"/>
                    </a:ext>
                  </a:extLst>
                </a:gridCol>
                <a:gridCol w="1330908">
                  <a:extLst>
                    <a:ext uri="{9D8B030D-6E8A-4147-A177-3AD203B41FA5}">
                      <a16:colId xmlns:a16="http://schemas.microsoft.com/office/drawing/2014/main" val="20001"/>
                    </a:ext>
                  </a:extLst>
                </a:gridCol>
                <a:gridCol w="1330908">
                  <a:extLst>
                    <a:ext uri="{9D8B030D-6E8A-4147-A177-3AD203B41FA5}">
                      <a16:colId xmlns:a16="http://schemas.microsoft.com/office/drawing/2014/main" val="20002"/>
                    </a:ext>
                  </a:extLst>
                </a:gridCol>
                <a:gridCol w="1330908">
                  <a:extLst>
                    <a:ext uri="{9D8B030D-6E8A-4147-A177-3AD203B41FA5}">
                      <a16:colId xmlns:a16="http://schemas.microsoft.com/office/drawing/2014/main" val="20003"/>
                    </a:ext>
                  </a:extLst>
                </a:gridCol>
              </a:tblGrid>
              <a:tr h="216167">
                <a:tc>
                  <a:txBody>
                    <a:bodyPr/>
                    <a:lstStyle/>
                    <a:p>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A=3</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B=4</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X=LOAD A-&gt;3</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Y=LOAD</a:t>
                      </a:r>
                      <a:r>
                        <a:rPr lang="en-US" altLang="zh-CN" sz="1200" b="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B-&gt;4</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10356">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A=3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B=4</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Y=LOAD B-&gt;4</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X  =LOAD</a:t>
                      </a:r>
                      <a:r>
                        <a:rPr lang="en-US" altLang="zh-CN" sz="120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A-&gt;3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10356">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A=3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X=LOAD A-&gt;3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Y=LOAD B=2</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B=4</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10356">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A=3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X=LOAD A-&gt;3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B=4</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Y=LOAD B-&gt;4</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10356">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A=3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Y=LOAD B=2</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X=LOAD A-&gt;3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B=4</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10356">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A=3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Y=LOAD B=2</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B=4</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X=LOAD A-&gt;3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10356">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B=4</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A=3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X=LOAD A-&gt;3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y=LOAD</a:t>
                      </a:r>
                      <a:r>
                        <a:rPr lang="en-US" altLang="zh-CN" sz="120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B-&gt;4</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10356">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STORE B=4</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210356">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graphicFrame>
        <p:nvGraphicFramePr>
          <p:cNvPr id="14" name="表格 13"/>
          <p:cNvGraphicFramePr>
            <a:graphicFrameLocks noGrp="1"/>
          </p:cNvGraphicFramePr>
          <p:nvPr/>
        </p:nvGraphicFramePr>
        <p:xfrm>
          <a:off x="8357304" y="2162805"/>
          <a:ext cx="2964278" cy="1219200"/>
        </p:xfrm>
        <a:graphic>
          <a:graphicData uri="http://schemas.openxmlformats.org/drawingml/2006/table">
            <a:tbl>
              <a:tblPr firstRow="1" bandRow="1">
                <a:tableStyleId>{72833802-FEF1-4C79-8D5D-14CF1EAF98D9}</a:tableStyleId>
              </a:tblPr>
              <a:tblGrid>
                <a:gridCol w="1482139">
                  <a:extLst>
                    <a:ext uri="{9D8B030D-6E8A-4147-A177-3AD203B41FA5}">
                      <a16:colId xmlns:a16="http://schemas.microsoft.com/office/drawing/2014/main" val="20000"/>
                    </a:ext>
                  </a:extLst>
                </a:gridCol>
                <a:gridCol w="1482139">
                  <a:extLst>
                    <a:ext uri="{9D8B030D-6E8A-4147-A177-3AD203B41FA5}">
                      <a16:colId xmlns:a16="http://schemas.microsoft.com/office/drawing/2014/main" val="20001"/>
                    </a:ext>
                  </a:extLst>
                </a:gridCol>
              </a:tblGrid>
              <a:tr h="298454">
                <a:tc>
                  <a:txBody>
                    <a:bodyPr/>
                    <a:lstStyle/>
                    <a:p>
                      <a:pPr algn="ctr"/>
                      <a:r>
                        <a:rPr lang="en-US" altLang="zh-CN"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X  == 1</a:t>
                      </a:r>
                      <a:endParaRPr lang="zh-CN" altLang="en-US"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y  == 2</a:t>
                      </a:r>
                      <a:endParaRPr lang="zh-CN" altLang="en-US"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98454">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X  == 1</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y  == 4</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98454">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X  == 3</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y  == 2</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98454">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X  == 3</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y  == 4</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cxnSp>
        <p:nvCxnSpPr>
          <p:cNvPr id="17" name="肘形连接符 16"/>
          <p:cNvCxnSpPr>
            <a:stCxn id="7" idx="2"/>
            <a:endCxn id="8" idx="1"/>
          </p:cNvCxnSpPr>
          <p:nvPr/>
        </p:nvCxnSpPr>
        <p:spPr>
          <a:xfrm rot="16200000" flipH="1">
            <a:off x="2306696" y="3716095"/>
            <a:ext cx="1676413" cy="727468"/>
          </a:xfrm>
          <a:prstGeom prst="bentConnector2">
            <a:avLst/>
          </a:prstGeom>
          <a:ln w="190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肘形连接符 25"/>
          <p:cNvCxnSpPr>
            <a:stCxn id="8" idx="3"/>
          </p:cNvCxnSpPr>
          <p:nvPr/>
        </p:nvCxnSpPr>
        <p:spPr>
          <a:xfrm flipV="1">
            <a:off x="8832268" y="3406504"/>
            <a:ext cx="999555" cy="1511532"/>
          </a:xfrm>
          <a:prstGeom prst="bentConnector2">
            <a:avLst/>
          </a:prstGeom>
          <a:ln w="190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2" name="圆角矩形 1"/>
          <p:cNvSpPr/>
          <p:nvPr/>
        </p:nvSpPr>
        <p:spPr>
          <a:xfrm>
            <a:off x="1252734" y="3428412"/>
            <a:ext cx="1488420" cy="815340"/>
          </a:xfrm>
          <a:prstGeom prst="round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这一组访问指令在内存系统上生效的顺序</a:t>
            </a: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可以有 </a:t>
            </a: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24 </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种不同的组合</a:t>
            </a:r>
          </a:p>
        </p:txBody>
      </p:sp>
      <p:sp>
        <p:nvSpPr>
          <p:cNvPr id="12" name="圆角矩形 11"/>
          <p:cNvSpPr/>
          <p:nvPr/>
        </p:nvSpPr>
        <p:spPr>
          <a:xfrm>
            <a:off x="9902745" y="3941778"/>
            <a:ext cx="1488420" cy="603947"/>
          </a:xfrm>
          <a:prstGeom prst="round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然后就产生四种不同组合的结果值</a:t>
            </a:r>
          </a:p>
        </p:txBody>
      </p:sp>
    </p:spTree>
    <p:extLst>
      <p:ext uri="{BB962C8B-B14F-4D97-AF65-F5344CB8AC3E}">
        <p14:creationId xmlns:p14="http://schemas.microsoft.com/office/powerpoint/2010/main" val="84928643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Huawei Sans" panose="020C0503030203020204" pitchFamily="34" charset="0"/>
              </a:rPr>
              <a:t>WMM</a:t>
            </a:r>
            <a:r>
              <a:rPr lang="zh-CN" altLang="en-US" dirty="0">
                <a:sym typeface="Huawei Sans" panose="020C0503030203020204" pitchFamily="34" charset="0"/>
              </a:rPr>
              <a:t>示例 </a:t>
            </a:r>
            <a:r>
              <a:rPr lang="en-US" altLang="zh-CN" dirty="0">
                <a:sym typeface="Huawei Sans" panose="020C0503030203020204" pitchFamily="34" charset="0"/>
              </a:rPr>
              <a:t>(2)</a:t>
            </a:r>
            <a:endParaRPr lang="zh-CN" altLang="en-US" dirty="0">
              <a:sym typeface="Huawei Sans" panose="020C0503030203020204" pitchFamily="34" charset="0"/>
            </a:endParaRPr>
          </a:p>
        </p:txBody>
      </p:sp>
      <p:graphicFrame>
        <p:nvGraphicFramePr>
          <p:cNvPr id="5" name="表格 4"/>
          <p:cNvGraphicFramePr>
            <a:graphicFrameLocks noGrp="1"/>
          </p:cNvGraphicFramePr>
          <p:nvPr/>
        </p:nvGraphicFramePr>
        <p:xfrm>
          <a:off x="815156" y="2198066"/>
          <a:ext cx="5902685" cy="1254116"/>
        </p:xfrm>
        <a:graphic>
          <a:graphicData uri="http://schemas.openxmlformats.org/drawingml/2006/table">
            <a:tbl>
              <a:tblPr firstRow="1" bandRow="1">
                <a:tableStyleId>{72833802-FEF1-4C79-8D5D-14CF1EAF98D9}</a:tableStyleId>
              </a:tblPr>
              <a:tblGrid>
                <a:gridCol w="2613246">
                  <a:extLst>
                    <a:ext uri="{9D8B030D-6E8A-4147-A177-3AD203B41FA5}">
                      <a16:colId xmlns:a16="http://schemas.microsoft.com/office/drawing/2014/main" val="20000"/>
                    </a:ext>
                  </a:extLst>
                </a:gridCol>
                <a:gridCol w="3289439">
                  <a:extLst>
                    <a:ext uri="{9D8B030D-6E8A-4147-A177-3AD203B41FA5}">
                      <a16:colId xmlns:a16="http://schemas.microsoft.com/office/drawing/2014/main" val="20001"/>
                    </a:ext>
                  </a:extLst>
                </a:gridCol>
              </a:tblGrid>
              <a:tr h="313529">
                <a:tc>
                  <a:txBody>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Thread1</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Thread2</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13529">
                <a:tc>
                  <a:txBody>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B = 4</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Q</a:t>
                      </a:r>
                      <a:r>
                        <a:rPr lang="zh-CN" altLang="en-US" sz="140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P;</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3529">
                <a:tc>
                  <a:txBody>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 = &amp;B</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 = </a:t>
                      </a:r>
                      <a:r>
                        <a:rPr lang="zh-CN" altLang="en-US" sz="140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Q;</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3529">
                <a:tc gridSpan="2">
                  <a:txBody>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初始值：</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 == 1</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B == 2</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 = 3</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 == &amp;A</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Q == &amp;C</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dirty="0">
                        <a:solidFill>
                          <a:schemeClr val="tx1"/>
                        </a:solidFill>
                      </a:endParaRPr>
                    </a:p>
                  </a:txBody>
                  <a:tcPr>
                    <a:solidFill>
                      <a:schemeClr val="bg1"/>
                    </a:solidFill>
                  </a:tcPr>
                </a:tc>
                <a:extLst>
                  <a:ext uri="{0D108BD9-81ED-4DB2-BD59-A6C34878D82A}">
                    <a16:rowId xmlns:a16="http://schemas.microsoft.com/office/drawing/2014/main" val="10003"/>
                  </a:ext>
                </a:extLst>
              </a:tr>
            </a:tbl>
          </a:graphicData>
        </a:graphic>
      </p:graphicFrame>
      <p:sp>
        <p:nvSpPr>
          <p:cNvPr id="6" name="文本框 5"/>
          <p:cNvSpPr txBox="1"/>
          <p:nvPr/>
        </p:nvSpPr>
        <p:spPr>
          <a:xfrm>
            <a:off x="3791900" y="4387406"/>
            <a:ext cx="3828100" cy="954107"/>
          </a:xfrm>
          <a:prstGeom prst="rect">
            <a:avLst/>
          </a:prstGeom>
          <a:solidFill>
            <a:srgbClr val="92D050"/>
          </a:solidFill>
        </p:spPr>
        <p:txBody>
          <a:bodyPr wrap="squar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这里明显的数据依赖</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因为在 </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CPU2 </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上</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LOAD </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到 </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D </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里面的值依赖于从 </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P </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获取到 的地址</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在操作序列的最后</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下面的几种结果都是有可能出现的</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graphicFrame>
        <p:nvGraphicFramePr>
          <p:cNvPr id="7" name="表格 6"/>
          <p:cNvGraphicFramePr>
            <a:graphicFrameLocks noGrp="1"/>
          </p:cNvGraphicFramePr>
          <p:nvPr/>
        </p:nvGraphicFramePr>
        <p:xfrm>
          <a:off x="8013948" y="5095151"/>
          <a:ext cx="2978647" cy="1112520"/>
        </p:xfrm>
        <a:graphic>
          <a:graphicData uri="http://schemas.openxmlformats.org/drawingml/2006/table">
            <a:tbl>
              <a:tblPr firstRow="1" bandRow="1">
                <a:tableStyleId>{72833802-FEF1-4C79-8D5D-14CF1EAF98D9}</a:tableStyleId>
              </a:tblPr>
              <a:tblGrid>
                <a:gridCol w="2978647">
                  <a:extLst>
                    <a:ext uri="{9D8B030D-6E8A-4147-A177-3AD203B41FA5}">
                      <a16:colId xmlns:a16="http://schemas.microsoft.com/office/drawing/2014/main" val="20000"/>
                    </a:ext>
                  </a:extLst>
                </a:gridCol>
              </a:tblGrid>
              <a:tr h="370840">
                <a:tc>
                  <a:txBody>
                    <a:bodyPr/>
                    <a:lstStyle/>
                    <a:p>
                      <a:r>
                        <a:rPr lang="en-US" altLang="zh-CN" sz="16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(Q == &amp;A) </a:t>
                      </a:r>
                      <a:r>
                        <a:rPr lang="zh-CN" altLang="en-US" sz="16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且（</a:t>
                      </a:r>
                      <a:r>
                        <a:rPr lang="en-US" altLang="zh-CN" sz="16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 == 1</a:t>
                      </a:r>
                      <a:r>
                        <a:rPr lang="zh-CN" altLang="en-US" sz="16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0"/>
                  </a:ext>
                </a:extLst>
              </a:tr>
              <a:tr h="370840">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(Q == &amp;B) </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且（</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 == 2</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10001"/>
                  </a:ext>
                </a:extLst>
              </a:tr>
              <a:tr h="370840">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(Q == &amp;B) </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且（</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 == 4</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cxnSp>
        <p:nvCxnSpPr>
          <p:cNvPr id="11" name="肘形连接符 10"/>
          <p:cNvCxnSpPr>
            <a:stCxn id="6" idx="3"/>
            <a:endCxn id="7" idx="1"/>
          </p:cNvCxnSpPr>
          <p:nvPr/>
        </p:nvCxnSpPr>
        <p:spPr>
          <a:xfrm>
            <a:off x="7620000" y="4864460"/>
            <a:ext cx="393948" cy="786951"/>
          </a:xfrm>
          <a:prstGeom prst="bentConnector3">
            <a:avLst/>
          </a:prstGeom>
          <a:ln w="190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8" name="文本占位符 4"/>
          <p:cNvSpPr txBox="1">
            <a:spLocks/>
          </p:cNvSpPr>
          <p:nvPr/>
        </p:nvSpPr>
        <p:spPr>
          <a:xfrm>
            <a:off x="731838" y="1404835"/>
            <a:ext cx="10728326" cy="4820208"/>
          </a:xfrm>
          <a:prstGeom prst="rect">
            <a:avLst/>
          </a:prstGeom>
        </p:spPr>
        <p:txBody>
          <a:bodyPr/>
          <a:lst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302279" marR="0" lvl="0" indent="-302279" algn="l" defTabSz="914034" rtl="0" eaLnBrk="1" fontAlgn="ctr" latinLnBrk="0" hangingPunct="1">
              <a:lnSpc>
                <a:spcPct val="140000"/>
              </a:lnSpc>
              <a:spcBef>
                <a:spcPts val="792"/>
              </a:spcBef>
              <a:spcAft>
                <a:spcPts val="0"/>
              </a:spcAft>
              <a:buClrTx/>
              <a:buSzPct val="50000"/>
              <a:buFont typeface="Wingdings" panose="05000000000000000000" pitchFamily="2" charset="2"/>
              <a:buChar char="l"/>
              <a:tabLst/>
              <a:defRPr/>
            </a:pPr>
            <a:r>
              <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WMM</a:t>
            </a:r>
            <a:r>
              <a:rPr kumimoji="0" lang="zh-CN" altLang="en-US"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示例</a:t>
            </a:r>
            <a:r>
              <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2</a:t>
            </a:r>
            <a:endParaRPr kumimoji="0" lang="zh-CN" altLang="en-US"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cxnSp>
        <p:nvCxnSpPr>
          <p:cNvPr id="15" name="直接箭头连接符 14"/>
          <p:cNvCxnSpPr/>
          <p:nvPr/>
        </p:nvCxnSpPr>
        <p:spPr>
          <a:xfrm>
            <a:off x="5465852" y="3479216"/>
            <a:ext cx="0" cy="908190"/>
          </a:xfrm>
          <a:prstGeom prst="straightConnector1">
            <a:avLst/>
          </a:prstGeom>
          <a:ln w="190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27897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sym typeface="Huawei Sans" panose="020C0503030203020204" pitchFamily="34" charset="0"/>
              </a:rPr>
              <a:t>操作系统的传统解决方案</a:t>
            </a:r>
          </a:p>
        </p:txBody>
      </p:sp>
      <p:sp>
        <p:nvSpPr>
          <p:cNvPr id="5" name="文本占位符 4"/>
          <p:cNvSpPr>
            <a:spLocks noGrp="1"/>
          </p:cNvSpPr>
          <p:nvPr>
            <p:ph type="body" sz="quarter" idx="10"/>
          </p:nvPr>
        </p:nvSpPr>
        <p:spPr/>
        <p:txBody>
          <a:bodyPr/>
          <a:lstStyle/>
          <a:p>
            <a:r>
              <a:rPr lang="zh-CN" altLang="en-US">
                <a:sym typeface="Huawei Sans" panose="020C0503030203020204" pitchFamily="34" charset="0"/>
              </a:rPr>
              <a:t>传统解决方案</a:t>
            </a:r>
            <a:r>
              <a:rPr lang="en-US" altLang="zh-CN">
                <a:sym typeface="Huawei Sans" panose="020C0503030203020204" pitchFamily="34" charset="0"/>
              </a:rPr>
              <a:t>-</a:t>
            </a:r>
            <a:r>
              <a:rPr lang="zh-CN" altLang="en-US">
                <a:sym typeface="Huawei Sans" panose="020C0503030203020204" pitchFamily="34" charset="0"/>
              </a:rPr>
              <a:t>加锁</a:t>
            </a:r>
            <a:endParaRPr lang="en-US" altLang="zh-CN">
              <a:sym typeface="Huawei Sans" panose="020C0503030203020204" pitchFamily="34" charset="0"/>
            </a:endParaRPr>
          </a:p>
          <a:p>
            <a:endParaRPr lang="zh-CN" altLang="en-US" dirty="0">
              <a:sym typeface="Huawei Sans" panose="020C0503030203020204" pitchFamily="34" charset="0"/>
            </a:endParaRPr>
          </a:p>
        </p:txBody>
      </p:sp>
      <p:sp>
        <p:nvSpPr>
          <p:cNvPr id="7" name="云形标注 6"/>
          <p:cNvSpPr/>
          <p:nvPr/>
        </p:nvSpPr>
        <p:spPr>
          <a:xfrm>
            <a:off x="731838" y="2158410"/>
            <a:ext cx="3607266" cy="1267611"/>
          </a:xfrm>
          <a:prstGeom prst="cloudCallout">
            <a:avLst/>
          </a:prstGeom>
          <a:solidFill>
            <a:srgbClr val="92D050"/>
          </a:solidFill>
          <a:ln>
            <a:solidFill>
              <a:srgbClr val="92D050"/>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资源竞争</a:t>
            </a:r>
          </a:p>
        </p:txBody>
      </p:sp>
      <p:sp>
        <p:nvSpPr>
          <p:cNvPr id="10" name="文本框 9"/>
          <p:cNvSpPr txBox="1"/>
          <p:nvPr/>
        </p:nvSpPr>
        <p:spPr>
          <a:xfrm>
            <a:off x="5279835" y="1114185"/>
            <a:ext cx="5405382" cy="2339102"/>
          </a:xfrm>
          <a:prstGeom prst="rect">
            <a:avLst/>
          </a:prstGeom>
          <a:noFill/>
        </p:spPr>
        <p:txBody>
          <a:bodyPr wrap="squar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锁的缺点</a:t>
            </a:r>
            <a:endParaRPr kumimoji="0" lang="en-US" altLang="zh-CN" sz="18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锁定意味着被迫交出时间片。</a:t>
            </a:r>
            <a:endPar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锁定意味着阻塞，多个进程排队获取资源，无法充分发挥系统性能。</a:t>
            </a:r>
            <a:endPar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锁定的阻塞无法通过</a:t>
            </a:r>
            <a:r>
              <a:rPr kumimoji="0" lang="en-US" altLang="zh-CN" sz="16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fd</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进行通知，对性能有进一步的影响。</a:t>
            </a:r>
            <a:endPar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一些锁限制了必须使用线程的方式进行开发。而线程无法充分利用系统的内存。</a:t>
            </a:r>
            <a:endPar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en-US" altLang="zh-CN" sz="16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pthread</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库在特殊情况下可能产生饥饿的情况。</a:t>
            </a:r>
          </a:p>
        </p:txBody>
      </p:sp>
      <p:sp>
        <p:nvSpPr>
          <p:cNvPr id="11" name="文本框 10"/>
          <p:cNvSpPr txBox="1"/>
          <p:nvPr/>
        </p:nvSpPr>
        <p:spPr>
          <a:xfrm>
            <a:off x="1025540" y="3736462"/>
            <a:ext cx="3038011" cy="1354217"/>
          </a:xfrm>
          <a:prstGeom prst="rect">
            <a:avLst/>
          </a:prstGeom>
          <a:noFill/>
        </p:spPr>
        <p:txBody>
          <a:bodyPr wrap="non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纷繁复杂的锁</a:t>
            </a:r>
            <a:endParaRPr kumimoji="0" lang="en-US" altLang="zh-CN" sz="18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互斥量 </a:t>
            </a:r>
            <a:r>
              <a:rPr kumimoji="0" lang="en-US" altLang="zh-CN" sz="16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mutex</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读写锁 </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reader-writer lock</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自旋锁 </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spinlock</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，阻塞。</a:t>
            </a:r>
            <a:endPar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p>
        </p:txBody>
      </p:sp>
      <p:sp>
        <p:nvSpPr>
          <p:cNvPr id="12" name="文本框 11"/>
          <p:cNvSpPr txBox="1"/>
          <p:nvPr/>
        </p:nvSpPr>
        <p:spPr>
          <a:xfrm>
            <a:off x="5279835" y="4172715"/>
            <a:ext cx="5662569" cy="1846659"/>
          </a:xfrm>
          <a:prstGeom prst="rect">
            <a:avLst/>
          </a:prstGeom>
          <a:noFill/>
        </p:spPr>
        <p:txBody>
          <a:bodyPr wrap="squar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加锁引起的错误</a:t>
            </a:r>
            <a:endParaRPr kumimoji="0" lang="en-US" altLang="zh-CN" sz="18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死锁</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(dead lock)</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：两个以上线程互相等待。</a:t>
            </a: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锁护送</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(lock convoy)</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：多个同优先级的线程反复竞争同一个锁，抢占锁失败后强制上下文切换，引起性能下降。</a:t>
            </a:r>
          </a:p>
          <a:p>
            <a:pPr marL="285750" marR="0" lvl="0" indent="-285750" algn="l" defTabSz="914478"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优先级反转</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(priority inversion)</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：低优先级线程拥有锁时被中优先级的线程抢占，而高优先级的线程因为申请不到锁被阻塞。</a:t>
            </a:r>
          </a:p>
        </p:txBody>
      </p:sp>
    </p:spTree>
    <p:extLst>
      <p:ext uri="{BB962C8B-B14F-4D97-AF65-F5344CB8AC3E}">
        <p14:creationId xmlns:p14="http://schemas.microsoft.com/office/powerpoint/2010/main" val="291163575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内存屏障</a:t>
            </a:r>
          </a:p>
        </p:txBody>
      </p:sp>
      <p:sp>
        <p:nvSpPr>
          <p:cNvPr id="3" name="文本占位符 2"/>
          <p:cNvSpPr txBox="1">
            <a:spLocks/>
          </p:cNvSpPr>
          <p:nvPr/>
        </p:nvSpPr>
        <p:spPr>
          <a:xfrm>
            <a:off x="793042" y="1212616"/>
            <a:ext cx="10606017" cy="467554"/>
          </a:xfrm>
          <a:prstGeom prst="rect">
            <a:avLst/>
          </a:prstGeom>
        </p:spPr>
        <p:txBody>
          <a:bodyPr/>
          <a:lst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marR="0" lvl="0" indent="0" algn="l" defTabSz="801688" rtl="0" eaLnBrk="1" fontAlgn="base" latinLnBrk="0" hangingPunct="1">
              <a:lnSpc>
                <a:spcPct val="140000"/>
              </a:lnSpc>
              <a:spcBef>
                <a:spcPct val="30000"/>
              </a:spcBef>
              <a:spcAft>
                <a:spcPct val="0"/>
              </a:spcAft>
              <a:buClr>
                <a:prstClr val="white">
                  <a:lumMod val="50000"/>
                </a:prstClr>
              </a:buClr>
              <a:buSzPct val="60000"/>
              <a:buFont typeface="Wingdings" pitchFamily="2" charset="2"/>
              <a:buNone/>
              <a:tabLst/>
              <a:defRPr/>
            </a:pPr>
            <a:r>
              <a:rPr kumimoji="0" lang="en-US" altLang="zh-CN" sz="1800" b="0" i="0" u="none" strike="noStrike" kern="0" cap="none" spc="0" normalizeH="0" baseline="0" noProof="0" dirty="0">
                <a:ln>
                  <a:noFill/>
                </a:ln>
                <a:solidFill>
                  <a:prstClr val="black"/>
                </a:solidFill>
                <a:effectLst/>
                <a:uLnTx/>
                <a:uFillTx/>
                <a:latin typeface="Huawei Sans"/>
                <a:ea typeface="方正兰亭黑简体"/>
                <a:cs typeface="+mn-cs"/>
                <a:sym typeface="Huawei Sans" panose="020C0503030203020204" pitchFamily="34" charset="0"/>
              </a:rPr>
              <a:t>CPU</a:t>
            </a:r>
            <a:r>
              <a:rPr kumimoji="0" lang="zh-CN" altLang="en-US"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rPr>
              <a:t>制造商提供内存屏障指令集（</a:t>
            </a:r>
            <a:r>
              <a:rPr kumimoji="0" lang="en-US" altLang="zh-CN" sz="1800" b="0" i="0" u="none" strike="noStrike" kern="0" cap="none" spc="0" normalizeH="0" baseline="0" noProof="0" dirty="0">
                <a:ln>
                  <a:noFill/>
                </a:ln>
                <a:solidFill>
                  <a:prstClr val="black"/>
                </a:solidFill>
                <a:effectLst/>
                <a:uLnTx/>
                <a:uFillTx/>
                <a:latin typeface="Huawei Sans"/>
                <a:ea typeface="方正兰亭黑简体"/>
                <a:cs typeface="+mn-cs"/>
                <a:sym typeface="Huawei Sans" panose="020C0503030203020204" pitchFamily="34" charset="0"/>
              </a:rPr>
              <a:t>Memory Barrier</a:t>
            </a:r>
            <a:r>
              <a:rPr kumimoji="0" lang="en-US" altLang="zh-CN"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rPr>
              <a:t> </a:t>
            </a:r>
            <a:r>
              <a:rPr kumimoji="0" lang="zh-CN" altLang="en-US"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rPr>
              <a:t>或 </a:t>
            </a:r>
            <a:r>
              <a:rPr kumimoji="0" lang="en-US" altLang="zh-CN" sz="1800" b="0" i="0" u="none" strike="noStrike" kern="0" cap="none" spc="0" normalizeH="0" baseline="0" noProof="0" dirty="0">
                <a:ln>
                  <a:noFill/>
                </a:ln>
                <a:solidFill>
                  <a:prstClr val="black"/>
                </a:solidFill>
                <a:effectLst/>
                <a:uLnTx/>
                <a:uFillTx/>
                <a:latin typeface="Huawei Sans"/>
                <a:ea typeface="方正兰亭黑简体"/>
                <a:cs typeface="+mn-cs"/>
                <a:sym typeface="Huawei Sans" panose="020C0503030203020204" pitchFamily="34" charset="0"/>
              </a:rPr>
              <a:t>Memory Fence</a:t>
            </a:r>
            <a:r>
              <a:rPr kumimoji="0" lang="zh-CN" altLang="en-US"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rPr>
              <a:t>）应对</a:t>
            </a:r>
            <a:r>
              <a:rPr kumimoji="0" lang="en-US" altLang="zh-CN" sz="1800" b="0" i="0" u="none" strike="noStrike" kern="0" cap="none" spc="0" normalizeH="0" baseline="0" noProof="0" dirty="0">
                <a:ln>
                  <a:noFill/>
                </a:ln>
                <a:solidFill>
                  <a:prstClr val="black"/>
                </a:solidFill>
                <a:effectLst/>
                <a:uLnTx/>
                <a:uFillTx/>
                <a:latin typeface="Huawei Sans"/>
                <a:ea typeface="方正兰亭黑简体"/>
                <a:cs typeface="+mn-cs"/>
                <a:sym typeface="Huawei Sans" panose="020C0503030203020204" pitchFamily="34" charset="0"/>
              </a:rPr>
              <a:t>CPU</a:t>
            </a:r>
            <a:r>
              <a:rPr kumimoji="0" lang="zh-CN" altLang="en-US"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rPr>
              <a:t>乱序执行带来的问题。</a:t>
            </a:r>
            <a:endParaRPr kumimoji="0" lang="en-US" altLang="zh-CN"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endParaRPr>
          </a:p>
          <a:p>
            <a:pPr marL="0" marR="0" lvl="0" indent="0" algn="l" defTabSz="801688" rtl="0" eaLnBrk="1" fontAlgn="base" latinLnBrk="0" hangingPunct="1">
              <a:lnSpc>
                <a:spcPct val="140000"/>
              </a:lnSpc>
              <a:spcBef>
                <a:spcPct val="30000"/>
              </a:spcBef>
              <a:spcAft>
                <a:spcPct val="0"/>
              </a:spcAft>
              <a:buClr>
                <a:prstClr val="white">
                  <a:lumMod val="50000"/>
                </a:prstClr>
              </a:buClr>
              <a:buSzPct val="60000"/>
              <a:buFont typeface="Wingdings" pitchFamily="2" charset="2"/>
              <a:buNone/>
              <a:tabLst/>
              <a:defRPr/>
            </a:pPr>
            <a:endParaRPr kumimoji="0" lang="en-US" altLang="zh-CN"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endParaRPr>
          </a:p>
          <a:p>
            <a:pPr marL="301625" marR="0" lvl="0" indent="-301625" algn="l" defTabSz="801688" rtl="0" eaLnBrk="1" fontAlgn="base" latinLnBrk="0" hangingPunct="1">
              <a:lnSpc>
                <a:spcPct val="140000"/>
              </a:lnSpc>
              <a:spcBef>
                <a:spcPct val="30000"/>
              </a:spcBef>
              <a:spcAft>
                <a:spcPct val="0"/>
              </a:spcAft>
              <a:buClr>
                <a:prstClr val="white">
                  <a:lumMod val="50000"/>
                </a:prstClr>
              </a:buClr>
              <a:buSzPct val="60000"/>
              <a:buFont typeface="Wingdings" pitchFamily="2" charset="2"/>
              <a:buChar char="l"/>
              <a:tabLst/>
              <a:defRPr/>
            </a:pPr>
            <a:endParaRPr kumimoji="0" lang="en-US" altLang="zh-CN"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endParaRPr>
          </a:p>
          <a:p>
            <a:pPr marL="301625" marR="0" lvl="0" indent="-301625" algn="l" defTabSz="801688" rtl="0" eaLnBrk="1" fontAlgn="base" latinLnBrk="0" hangingPunct="1">
              <a:lnSpc>
                <a:spcPct val="140000"/>
              </a:lnSpc>
              <a:spcBef>
                <a:spcPct val="30000"/>
              </a:spcBef>
              <a:spcAft>
                <a:spcPct val="0"/>
              </a:spcAft>
              <a:buClr>
                <a:prstClr val="white">
                  <a:lumMod val="50000"/>
                </a:prstClr>
              </a:buClr>
              <a:buSzPct val="60000"/>
              <a:buFont typeface="Wingdings" pitchFamily="2" charset="2"/>
              <a:buChar char="l"/>
              <a:tabLst/>
              <a:defRPr/>
            </a:pPr>
            <a:endParaRPr kumimoji="0" lang="zh-CN" altLang="en-US" sz="1800" b="0" i="0" u="none" strike="noStrike" kern="0" cap="none" spc="0" normalizeH="0" baseline="0" noProof="0" dirty="0">
              <a:ln>
                <a:noFill/>
              </a:ln>
              <a:solidFill>
                <a:prstClr val="black"/>
              </a:solidFill>
              <a:effectLst/>
              <a:uLnTx/>
              <a:uFillTx/>
              <a:latin typeface="方正兰亭黑简体"/>
              <a:ea typeface="方正兰亭黑简体"/>
              <a:cs typeface="+mn-cs"/>
              <a:sym typeface="Huawei Sans" panose="020C0503030203020204" pitchFamily="34" charset="0"/>
            </a:endParaRPr>
          </a:p>
        </p:txBody>
      </p:sp>
      <p:sp>
        <p:nvSpPr>
          <p:cNvPr id="4" name="TextBox 3"/>
          <p:cNvSpPr txBox="1"/>
          <p:nvPr/>
        </p:nvSpPr>
        <p:spPr>
          <a:xfrm>
            <a:off x="793043" y="5829722"/>
            <a:ext cx="6141400" cy="338554"/>
          </a:xfrm>
          <a:prstGeom prst="rect">
            <a:avLst/>
          </a:prstGeom>
          <a:noFill/>
        </p:spPr>
        <p:txBody>
          <a:bodyPr wrap="squar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zh-CN" sz="1600" b="0" i="0" u="none" strike="noStrike" kern="1200" cap="none" spc="0" normalizeH="0" baseline="0" noProof="0" dirty="0">
                <a:ln>
                  <a:noFill/>
                </a:ln>
                <a:solidFill>
                  <a:prstClr val="black"/>
                </a:solidFill>
                <a:effectLst/>
                <a:uLnTx/>
                <a:uFillTx/>
                <a:latin typeface="Huawei Sans"/>
                <a:ea typeface="方正兰亭黑简体"/>
                <a:cs typeface="+mn-cs"/>
              </a:rPr>
              <a:t>内存屏障指令的作用在于：禁止内存屏障指令前后指令的乱序执行</a:t>
            </a:r>
            <a:endParaRPr kumimoji="0" lang="zh-CN" altLang="en-US" sz="1600" b="0" i="0" u="none" strike="noStrike" kern="1200" cap="none" spc="0" normalizeH="0" baseline="0" noProof="0" dirty="0">
              <a:ln>
                <a:noFill/>
              </a:ln>
              <a:solidFill>
                <a:prstClr val="black"/>
              </a:solidFill>
              <a:effectLst/>
              <a:uLnTx/>
              <a:uFillTx/>
              <a:latin typeface="Huawei Sans"/>
              <a:ea typeface="方正兰亭黑简体"/>
              <a:cs typeface="+mn-cs"/>
            </a:endParaRPr>
          </a:p>
        </p:txBody>
      </p:sp>
      <p:grpSp>
        <p:nvGrpSpPr>
          <p:cNvPr id="5" name="画布 61"/>
          <p:cNvGrpSpPr/>
          <p:nvPr/>
        </p:nvGrpSpPr>
        <p:grpSpPr>
          <a:xfrm>
            <a:off x="811812" y="2089217"/>
            <a:ext cx="5162176" cy="3629195"/>
            <a:chOff x="597715" y="204203"/>
            <a:chExt cx="3370934" cy="2157072"/>
          </a:xfrm>
        </p:grpSpPr>
        <p:sp>
          <p:nvSpPr>
            <p:cNvPr id="6" name="矩形 62"/>
            <p:cNvSpPr/>
            <p:nvPr/>
          </p:nvSpPr>
          <p:spPr>
            <a:xfrm>
              <a:off x="1984044" y="204203"/>
              <a:ext cx="866692" cy="300355"/>
            </a:xfrm>
            <a:prstGeom prst="rect">
              <a:avLst/>
            </a:prstGeom>
            <a:solidFill>
              <a:schemeClr val="bg1"/>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uawei Sans"/>
                <a:ea typeface="方正兰亭黑简体"/>
                <a:cs typeface="+mn-cs"/>
              </a:endParaRPr>
            </a:p>
          </p:txBody>
        </p:sp>
        <p:sp>
          <p:nvSpPr>
            <p:cNvPr id="7" name="矩形 65"/>
            <p:cNvSpPr/>
            <p:nvPr/>
          </p:nvSpPr>
          <p:spPr>
            <a:xfrm>
              <a:off x="1984643" y="617671"/>
              <a:ext cx="866140" cy="300355"/>
            </a:xfrm>
            <a:prstGeom prst="rect">
              <a:avLst/>
            </a:prstGeom>
            <a:solidFill>
              <a:schemeClr val="bg1"/>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uawei Sans"/>
                <a:ea typeface="方正兰亭黑简体"/>
                <a:cs typeface="+mn-cs"/>
              </a:endParaRPr>
            </a:p>
          </p:txBody>
        </p:sp>
        <p:sp>
          <p:nvSpPr>
            <p:cNvPr id="8" name="文本框 64"/>
            <p:cNvSpPr txBox="1"/>
            <p:nvPr/>
          </p:nvSpPr>
          <p:spPr>
            <a:xfrm>
              <a:off x="2185303" y="636721"/>
              <a:ext cx="608965" cy="246380"/>
            </a:xfrm>
            <a:prstGeom prst="rect">
              <a:avLst/>
            </a:prstGeom>
            <a:solidFill>
              <a:schemeClr val="bg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
                    <a:solidFill>
                      <a:srgbClr val="000000"/>
                    </a:solidFill>
                  </a:uFill>
                  <a:latin typeface="Huawei Sans"/>
                  <a:ea typeface="Arial Unicode MS" panose="020B0604020202020204" pitchFamily="34" charset="-128"/>
                  <a:cs typeface="Arial Unicode MS" panose="020B0604020202020204" pitchFamily="34" charset="-128"/>
                </a:rPr>
                <a:t>b = 2 </a:t>
              </a:r>
              <a:endParaRPr kumimoji="0" lang="zh-CN" altLang="en-US" sz="1600" b="0" i="0" u="none" strike="noStrike" kern="1200" cap="none" spc="0" normalizeH="0" baseline="0" noProof="0" dirty="0">
                <a:ln>
                  <a:noFill/>
                </a:ln>
                <a:solidFill>
                  <a:srgbClr val="000000"/>
                </a:solidFill>
                <a:effectLst/>
                <a:uLnTx/>
                <a:uFill>
                  <a:solidFill>
                    <a:srgbClr val="000000"/>
                  </a:solidFill>
                </a:uFill>
                <a:latin typeface="Huawei Sans"/>
                <a:ea typeface="Arial Unicode MS" panose="020B0604020202020204" pitchFamily="34" charset="-128"/>
                <a:cs typeface="Arial Unicode MS" panose="020B0604020202020204" pitchFamily="34" charset="-128"/>
              </a:endParaRPr>
            </a:p>
          </p:txBody>
        </p:sp>
        <p:sp>
          <p:nvSpPr>
            <p:cNvPr id="9" name="矩形 67"/>
            <p:cNvSpPr/>
            <p:nvPr/>
          </p:nvSpPr>
          <p:spPr>
            <a:xfrm>
              <a:off x="1984946" y="1031138"/>
              <a:ext cx="866140" cy="300355"/>
            </a:xfrm>
            <a:prstGeom prst="rect">
              <a:avLst/>
            </a:prstGeom>
            <a:solidFill>
              <a:schemeClr val="bg1"/>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uawei Sans"/>
                <a:ea typeface="方正兰亭黑简体"/>
                <a:cs typeface="+mn-cs"/>
              </a:endParaRPr>
            </a:p>
          </p:txBody>
        </p:sp>
        <p:sp>
          <p:nvSpPr>
            <p:cNvPr id="10" name="文本框 64"/>
            <p:cNvSpPr txBox="1"/>
            <p:nvPr/>
          </p:nvSpPr>
          <p:spPr>
            <a:xfrm>
              <a:off x="2189416" y="1050188"/>
              <a:ext cx="457200" cy="246380"/>
            </a:xfrm>
            <a:prstGeom prst="rect">
              <a:avLst/>
            </a:prstGeom>
            <a:solidFill>
              <a:schemeClr val="bg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
                    <a:solidFill>
                      <a:srgbClr val="000000"/>
                    </a:solidFill>
                  </a:uFill>
                  <a:latin typeface="Huawei Sans"/>
                  <a:ea typeface="Arial Unicode MS" panose="020B0604020202020204" pitchFamily="34" charset="-128"/>
                  <a:cs typeface="Arial Unicode MS" panose="020B0604020202020204" pitchFamily="34" charset="-128"/>
                </a:rPr>
                <a:t>c = 3</a:t>
              </a:r>
              <a:endParaRPr kumimoji="0" lang="zh-CN" altLang="en-US" sz="1600" b="0" i="0" u="none" strike="noStrike" kern="1200" cap="none" spc="0" normalizeH="0" baseline="0" noProof="0" dirty="0">
                <a:ln>
                  <a:noFill/>
                </a:ln>
                <a:solidFill>
                  <a:srgbClr val="000000"/>
                </a:solidFill>
                <a:effectLst/>
                <a:uLnTx/>
                <a:uFill>
                  <a:solidFill>
                    <a:srgbClr val="000000"/>
                  </a:solidFill>
                </a:uFill>
                <a:latin typeface="Huawei Sans"/>
                <a:ea typeface="Arial Unicode MS" panose="020B0604020202020204" pitchFamily="34" charset="-128"/>
                <a:cs typeface="Arial Unicode MS" panose="020B0604020202020204" pitchFamily="34" charset="-128"/>
              </a:endParaRPr>
            </a:p>
          </p:txBody>
        </p:sp>
        <p:sp>
          <p:nvSpPr>
            <p:cNvPr id="11" name="矩形 69"/>
            <p:cNvSpPr/>
            <p:nvPr/>
          </p:nvSpPr>
          <p:spPr>
            <a:xfrm>
              <a:off x="1983980" y="1834772"/>
              <a:ext cx="866140" cy="300355"/>
            </a:xfrm>
            <a:prstGeom prst="rect">
              <a:avLst/>
            </a:prstGeom>
            <a:solidFill>
              <a:schemeClr val="bg1"/>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uawei Sans"/>
                <a:ea typeface="方正兰亭黑简体"/>
                <a:cs typeface="+mn-cs"/>
              </a:endParaRPr>
            </a:p>
          </p:txBody>
        </p:sp>
        <p:sp>
          <p:nvSpPr>
            <p:cNvPr id="12" name="文本框 64"/>
            <p:cNvSpPr txBox="1"/>
            <p:nvPr/>
          </p:nvSpPr>
          <p:spPr>
            <a:xfrm>
              <a:off x="2114763" y="1845870"/>
              <a:ext cx="605155" cy="269875"/>
            </a:xfrm>
            <a:prstGeom prst="rect">
              <a:avLst/>
            </a:prstGeom>
            <a:solidFill>
              <a:schemeClr val="bg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
                    <a:solidFill>
                      <a:srgbClr val="000000"/>
                    </a:solidFill>
                  </a:uFill>
                  <a:latin typeface="Huawei Sans"/>
                  <a:ea typeface="Arial Unicode MS" panose="020B0604020202020204" pitchFamily="34" charset="-128"/>
                  <a:cs typeface="Arial Unicode MS" panose="020B0604020202020204" pitchFamily="34" charset="-128"/>
                </a:rPr>
                <a:t>flag = 1</a:t>
              </a:r>
              <a:endParaRPr kumimoji="0" lang="zh-CN" altLang="en-US" sz="1600" b="0" i="0" u="none" strike="noStrike" kern="1200" cap="none" spc="0" normalizeH="0" baseline="0" noProof="0" dirty="0">
                <a:ln>
                  <a:noFill/>
                </a:ln>
                <a:solidFill>
                  <a:srgbClr val="000000"/>
                </a:solidFill>
                <a:effectLst/>
                <a:uLnTx/>
                <a:uFill>
                  <a:solidFill>
                    <a:srgbClr val="000000"/>
                  </a:solidFill>
                </a:uFill>
                <a:latin typeface="Huawei Sans"/>
                <a:ea typeface="Arial Unicode MS" panose="020B0604020202020204" pitchFamily="34" charset="-128"/>
                <a:cs typeface="Arial Unicode MS" panose="020B0604020202020204" pitchFamily="34" charset="-128"/>
              </a:endParaRPr>
            </a:p>
          </p:txBody>
        </p:sp>
        <p:sp>
          <p:nvSpPr>
            <p:cNvPr id="13" name="矩形 71"/>
            <p:cNvSpPr/>
            <p:nvPr/>
          </p:nvSpPr>
          <p:spPr>
            <a:xfrm>
              <a:off x="1781092" y="1428704"/>
              <a:ext cx="1304013" cy="300355"/>
            </a:xfrm>
            <a:prstGeom prst="rect">
              <a:avLst/>
            </a:prstGeom>
            <a:solidFill>
              <a:schemeClr val="bg1"/>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uawei Sans"/>
                <a:ea typeface="方正兰亭黑简体"/>
                <a:cs typeface="+mn-cs"/>
              </a:endParaRPr>
            </a:p>
          </p:txBody>
        </p:sp>
        <p:sp>
          <p:nvSpPr>
            <p:cNvPr id="14" name="文本框 80"/>
            <p:cNvSpPr txBox="1"/>
            <p:nvPr/>
          </p:nvSpPr>
          <p:spPr>
            <a:xfrm>
              <a:off x="1037311" y="400304"/>
              <a:ext cx="453542" cy="1080000"/>
            </a:xfrm>
            <a:prstGeom prst="rect">
              <a:avLst/>
            </a:prstGeom>
            <a:solidFill>
              <a:schemeClr val="bg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eaVert" wrap="square" lIns="91440" tIns="45720" rIns="91440" bIns="45720" numCol="1" spcCol="0" rtlCol="0" fromWordArt="0" anchor="t" anchorCtr="0" forceAA="0" compatLnSpc="1">
              <a:prstTxWarp prst="textNoShape">
                <a:avLst/>
              </a:prstTxWarp>
              <a:noAutofit/>
            </a:bodyPr>
            <a:lstStyle/>
            <a:p>
              <a:pPr marL="0" marR="0" lvl="0" indent="356870" algn="just" defTabSz="914478" rtl="0" eaLnBrk="1" fontAlgn="auto" latinLnBrk="0" hangingPunct="1">
                <a:lnSpc>
                  <a:spcPts val="2200"/>
                </a:lnSpc>
                <a:spcBef>
                  <a:spcPts val="0"/>
                </a:spcBef>
                <a:spcAft>
                  <a:spcPts val="0"/>
                </a:spcAft>
                <a:buClrTx/>
                <a:buSzTx/>
                <a:buFontTx/>
                <a:buNone/>
                <a:tabLst/>
                <a:defRPr/>
              </a:pPr>
              <a:r>
                <a:rPr kumimoji="0" lang="zh-CN" altLang="en-US" sz="1600" b="0" i="0" u="none" strike="noStrike" kern="100" cap="none" spc="0" normalizeH="0" baseline="0" noProof="0" dirty="0">
                  <a:ln>
                    <a:noFill/>
                  </a:ln>
                  <a:solidFill>
                    <a:srgbClr val="000000"/>
                  </a:solidFill>
                  <a:effectLst/>
                  <a:uLnTx/>
                  <a:uFill>
                    <a:solidFill>
                      <a:srgbClr val="000000"/>
                    </a:solidFill>
                  </a:uFill>
                  <a:latin typeface="方正兰亭黑简体"/>
                  <a:ea typeface="方正兰亭黑简体"/>
                  <a:cs typeface="Times New Roman" panose="02020603050405020304" pitchFamily="18" charset="0"/>
                </a:rPr>
                <a:t>允许乱序执行</a:t>
              </a:r>
            </a:p>
          </p:txBody>
        </p:sp>
        <p:sp>
          <p:nvSpPr>
            <p:cNvPr id="15" name="文本框 80"/>
            <p:cNvSpPr txBox="1"/>
            <p:nvPr/>
          </p:nvSpPr>
          <p:spPr>
            <a:xfrm>
              <a:off x="3325870" y="490118"/>
              <a:ext cx="642779" cy="1871157"/>
            </a:xfrm>
            <a:prstGeom prst="rect">
              <a:avLst/>
            </a:prstGeom>
            <a:solidFill>
              <a:schemeClr val="bg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eaVert" wrap="square" lIns="91440" tIns="45720" rIns="91440" bIns="45720" numCol="1" spcCol="0" rtlCol="0" fromWordArt="0" anchor="t" anchorCtr="0" forceAA="0" compatLnSpc="1">
              <a:prstTxWarp prst="textNoShape">
                <a:avLst/>
              </a:prstTxWarp>
              <a:noAutofit/>
            </a:bodyPr>
            <a:lstStyle/>
            <a:p>
              <a:pPr marL="0" marR="0" lvl="0" indent="266700" algn="just" defTabSz="914478"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000000"/>
                  </a:solidFill>
                  <a:effectLst/>
                  <a:uLnTx/>
                  <a:uFill>
                    <a:solidFill>
                      <a:srgbClr val="000000"/>
                    </a:solidFill>
                  </a:uFill>
                  <a:latin typeface="方正兰亭黑简体"/>
                  <a:ea typeface="方正兰亭黑简体"/>
                  <a:cs typeface="Arial Unicode MS" panose="020B0604020202020204" pitchFamily="34" charset="-128"/>
                </a:rPr>
                <a:t>禁止乱序执行（内存屏障）</a:t>
              </a:r>
            </a:p>
          </p:txBody>
        </p:sp>
        <p:sp>
          <p:nvSpPr>
            <p:cNvPr id="16" name="文本框 80"/>
            <p:cNvSpPr txBox="1"/>
            <p:nvPr/>
          </p:nvSpPr>
          <p:spPr>
            <a:xfrm>
              <a:off x="597715" y="481384"/>
              <a:ext cx="243204" cy="1485494"/>
            </a:xfrm>
            <a:prstGeom prst="rect">
              <a:avLst/>
            </a:prstGeom>
            <a:solidFill>
              <a:schemeClr val="bg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eaVert" wrap="square" lIns="91440" tIns="45720" rIns="91440" bIns="45720" numCol="1" spcCol="0" rtlCol="0" fromWordArt="0" anchor="t" anchorCtr="0" forceAA="0" compatLnSpc="1">
              <a:prstTxWarp prst="textNoShape">
                <a:avLst/>
              </a:prstTxWarp>
              <a:noAutofit/>
            </a:bodyPr>
            <a:lstStyle/>
            <a:p>
              <a:pPr marL="0" marR="0" lvl="0" indent="266700" algn="just" defTabSz="914478"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000000"/>
                  </a:solidFill>
                  <a:effectLst/>
                  <a:uLnTx/>
                  <a:uFill>
                    <a:solidFill>
                      <a:srgbClr val="000000"/>
                    </a:solidFill>
                  </a:uFill>
                  <a:latin typeface="方正兰亭黑简体"/>
                  <a:ea typeface="方正兰亭黑简体"/>
                  <a:cs typeface="Times New Roman" panose="02020603050405020304" pitchFamily="18" charset="0"/>
                </a:rPr>
                <a:t>程序执行顺序</a:t>
              </a:r>
              <a:endParaRPr kumimoji="0" lang="zh-CN" altLang="en-US" sz="1600" b="0" i="0" u="none" strike="noStrike" kern="1200" cap="none" spc="0" normalizeH="0" baseline="0" noProof="0" dirty="0">
                <a:ln>
                  <a:noFill/>
                </a:ln>
                <a:solidFill>
                  <a:srgbClr val="000000"/>
                </a:solidFill>
                <a:effectLst/>
                <a:uLnTx/>
                <a:uFill>
                  <a:solidFill>
                    <a:srgbClr val="000000"/>
                  </a:solidFill>
                </a:uFill>
                <a:latin typeface="方正兰亭黑简体"/>
                <a:ea typeface="方正兰亭黑简体"/>
                <a:cs typeface="Arial Unicode MS" panose="020B0604020202020204" pitchFamily="34" charset="-128"/>
              </a:endParaRPr>
            </a:p>
          </p:txBody>
        </p:sp>
        <p:sp>
          <p:nvSpPr>
            <p:cNvPr id="17" name="文本框 64"/>
            <p:cNvSpPr txBox="1"/>
            <p:nvPr/>
          </p:nvSpPr>
          <p:spPr>
            <a:xfrm>
              <a:off x="2191680" y="216418"/>
              <a:ext cx="525780" cy="246380"/>
            </a:xfrm>
            <a:prstGeom prst="rect">
              <a:avLst/>
            </a:prstGeom>
            <a:solidFill>
              <a:schemeClr val="bg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
                    <a:solidFill>
                      <a:srgbClr val="000000"/>
                    </a:solidFill>
                  </a:uFill>
                  <a:latin typeface="Huawei Sans"/>
                  <a:ea typeface="Arial Unicode MS" panose="020B0604020202020204" pitchFamily="34" charset="-128"/>
                  <a:cs typeface="Arial Unicode MS" panose="020B0604020202020204" pitchFamily="34" charset="-128"/>
                </a:rPr>
                <a:t>a = 1</a:t>
              </a:r>
              <a:endParaRPr kumimoji="0" lang="zh-CN" altLang="en-US" sz="1600" b="0" i="0" u="none" strike="noStrike" kern="1200" cap="none" spc="0" normalizeH="0" baseline="0" noProof="0" dirty="0">
                <a:ln>
                  <a:noFill/>
                </a:ln>
                <a:solidFill>
                  <a:srgbClr val="000000"/>
                </a:solidFill>
                <a:effectLst/>
                <a:uLnTx/>
                <a:uFill>
                  <a:solidFill>
                    <a:srgbClr val="000000"/>
                  </a:solidFill>
                </a:uFill>
                <a:latin typeface="Huawei Sans"/>
                <a:ea typeface="Arial Unicode MS" panose="020B0604020202020204" pitchFamily="34" charset="-128"/>
                <a:cs typeface="Arial Unicode MS" panose="020B0604020202020204" pitchFamily="34" charset="-128"/>
              </a:endParaRPr>
            </a:p>
            <a:p>
              <a:pPr marL="0" marR="0" lvl="0" indent="301625" algn="ctr" defTabSz="914478"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
                    <a:solidFill>
                      <a:srgbClr val="000000"/>
                    </a:solidFill>
                  </a:uFill>
                  <a:latin typeface="Huawei Sans"/>
                  <a:ea typeface="Arial Unicode MS" panose="020B0604020202020204" pitchFamily="34" charset="-128"/>
                  <a:cs typeface="Arial Unicode MS" panose="020B0604020202020204" pitchFamily="34" charset="-128"/>
                </a:rPr>
                <a:t> </a:t>
              </a:r>
              <a:endParaRPr kumimoji="0" lang="zh-CN" altLang="en-US" sz="1600" b="0" i="0" u="none" strike="noStrike" kern="1200" cap="none" spc="0" normalizeH="0" baseline="0" noProof="0" dirty="0">
                <a:ln>
                  <a:noFill/>
                </a:ln>
                <a:solidFill>
                  <a:srgbClr val="000000"/>
                </a:solidFill>
                <a:effectLst/>
                <a:uLnTx/>
                <a:uFill>
                  <a:solidFill>
                    <a:srgbClr val="000000"/>
                  </a:solidFill>
                </a:uFill>
                <a:latin typeface="Huawei Sans"/>
                <a:ea typeface="Arial Unicode MS" panose="020B0604020202020204" pitchFamily="34" charset="-128"/>
                <a:cs typeface="Arial Unicode MS" panose="020B0604020202020204" pitchFamily="34" charset="-128"/>
              </a:endParaRPr>
            </a:p>
          </p:txBody>
        </p:sp>
        <p:sp>
          <p:nvSpPr>
            <p:cNvPr id="18" name="左弧形箭头 78"/>
            <p:cNvSpPr/>
            <p:nvPr/>
          </p:nvSpPr>
          <p:spPr>
            <a:xfrm>
              <a:off x="1455089" y="708014"/>
              <a:ext cx="453224" cy="532894"/>
            </a:xfrm>
            <a:prstGeom prst="curved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uawei Sans"/>
                <a:ea typeface="方正兰亭黑简体"/>
                <a:cs typeface="+mn-cs"/>
              </a:endParaRPr>
            </a:p>
          </p:txBody>
        </p:sp>
        <p:sp>
          <p:nvSpPr>
            <p:cNvPr id="19" name="左弧形箭头 79"/>
            <p:cNvSpPr/>
            <p:nvPr/>
          </p:nvSpPr>
          <p:spPr>
            <a:xfrm flipH="1">
              <a:off x="2923197" y="1089965"/>
              <a:ext cx="519715" cy="1057235"/>
            </a:xfrm>
            <a:prstGeom prst="curved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uawei Sans"/>
                <a:ea typeface="方正兰亭黑简体"/>
                <a:cs typeface="+mn-cs"/>
              </a:endParaRPr>
            </a:p>
          </p:txBody>
        </p:sp>
        <p:sp>
          <p:nvSpPr>
            <p:cNvPr id="20" name="乘号 81"/>
            <p:cNvSpPr/>
            <p:nvPr/>
          </p:nvSpPr>
          <p:spPr>
            <a:xfrm>
              <a:off x="3046621" y="966285"/>
              <a:ext cx="707666" cy="1168842"/>
            </a:xfrm>
            <a:prstGeom prst="mathMultipl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uawei Sans"/>
                <a:ea typeface="方正兰亭黑简体"/>
                <a:cs typeface="+mn-cs"/>
              </a:endParaRPr>
            </a:p>
          </p:txBody>
        </p:sp>
        <p:cxnSp>
          <p:nvCxnSpPr>
            <p:cNvPr id="21" name="直接箭头连接符 85"/>
            <p:cNvCxnSpPr/>
            <p:nvPr/>
          </p:nvCxnSpPr>
          <p:spPr>
            <a:xfrm flipH="1">
              <a:off x="894703" y="254816"/>
              <a:ext cx="7848" cy="1800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64"/>
            <p:cNvSpPr txBox="1"/>
            <p:nvPr/>
          </p:nvSpPr>
          <p:spPr>
            <a:xfrm>
              <a:off x="2060007" y="1445530"/>
              <a:ext cx="723265" cy="269875"/>
            </a:xfrm>
            <a:prstGeom prst="rect">
              <a:avLst/>
            </a:prstGeom>
            <a:solidFill>
              <a:schemeClr val="bg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000000"/>
                  </a:solidFill>
                  <a:effectLst/>
                  <a:uLnTx/>
                  <a:uFill>
                    <a:solidFill>
                      <a:srgbClr val="000000"/>
                    </a:solidFill>
                  </a:uFill>
                  <a:latin typeface="方正兰亭黑简体"/>
                  <a:ea typeface="方正兰亭黑简体"/>
                  <a:cs typeface="Arial Unicode MS" panose="020B0604020202020204" pitchFamily="34" charset="-128"/>
                </a:rPr>
                <a:t>内存屏障</a:t>
              </a:r>
            </a:p>
          </p:txBody>
        </p:sp>
      </p:grpSp>
      <p:graphicFrame>
        <p:nvGraphicFramePr>
          <p:cNvPr id="23" name="Table 22"/>
          <p:cNvGraphicFramePr>
            <a:graphicFrameLocks noGrp="1"/>
          </p:cNvGraphicFramePr>
          <p:nvPr/>
        </p:nvGraphicFramePr>
        <p:xfrm>
          <a:off x="6216875" y="1815953"/>
          <a:ext cx="5206220" cy="3888618"/>
        </p:xfrm>
        <a:graphic>
          <a:graphicData uri="http://schemas.openxmlformats.org/drawingml/2006/table">
            <a:tbl>
              <a:tblPr firstRow="1" firstCol="1" bandRow="1">
                <a:tableStyleId>{72833802-FEF1-4C79-8D5D-14CF1EAF98D9}</a:tableStyleId>
              </a:tblPr>
              <a:tblGrid>
                <a:gridCol w="5206220">
                  <a:extLst>
                    <a:ext uri="{9D8B030D-6E8A-4147-A177-3AD203B41FA5}">
                      <a16:colId xmlns:a16="http://schemas.microsoft.com/office/drawing/2014/main" val="20000"/>
                    </a:ext>
                  </a:extLst>
                </a:gridCol>
              </a:tblGrid>
              <a:tr h="476265">
                <a:tc>
                  <a:txBody>
                    <a:bodyPr/>
                    <a:lstStyle/>
                    <a:p>
                      <a:pPr indent="356870" algn="just">
                        <a:lnSpc>
                          <a:spcPts val="2200"/>
                        </a:lnSpc>
                        <a:spcAft>
                          <a:spcPts val="0"/>
                        </a:spcAft>
                      </a:pPr>
                      <a:r>
                        <a:rPr lang="en-US" sz="1600" kern="0" dirty="0">
                          <a:effectLst/>
                        </a:rPr>
                        <a:t>CPU0                        CPU1</a:t>
                      </a:r>
                      <a:endParaRPr lang="zh-CN"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solidFill>
                      <a:srgbClr val="C00000"/>
                    </a:solidFill>
                  </a:tcPr>
                </a:tc>
                <a:extLst>
                  <a:ext uri="{0D108BD9-81ED-4DB2-BD59-A6C34878D82A}">
                    <a16:rowId xmlns:a16="http://schemas.microsoft.com/office/drawing/2014/main" val="10000"/>
                  </a:ext>
                </a:extLst>
              </a:tr>
              <a:tr h="476265">
                <a:tc>
                  <a:txBody>
                    <a:bodyPr/>
                    <a:lstStyle/>
                    <a:p>
                      <a:pPr indent="356870" algn="just">
                        <a:lnSpc>
                          <a:spcPts val="2200"/>
                        </a:lnSpc>
                        <a:spcAft>
                          <a:spcPts val="0"/>
                        </a:spcAft>
                      </a:pPr>
                      <a:r>
                        <a:rPr lang="en-US" sz="1600" b="0" kern="0" dirty="0">
                          <a:effectLst/>
                        </a:rPr>
                        <a:t>a = 1;                        while (true) {</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991779">
                <a:tc>
                  <a:txBody>
                    <a:bodyPr/>
                    <a:lstStyle/>
                    <a:p>
                      <a:pPr indent="356870" algn="just">
                        <a:lnSpc>
                          <a:spcPts val="2200"/>
                        </a:lnSpc>
                        <a:spcAft>
                          <a:spcPts val="0"/>
                        </a:spcAft>
                      </a:pPr>
                      <a:r>
                        <a:rPr lang="en-US" sz="1600" b="0" kern="0" dirty="0">
                          <a:effectLst/>
                        </a:rPr>
                        <a:t>b = 2;                        </a:t>
                      </a:r>
                      <a:r>
                        <a:rPr lang="en-US" sz="1600" b="0" kern="0" baseline="0" dirty="0">
                          <a:effectLst/>
                        </a:rPr>
                        <a:t>    if (flag) {</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476265">
                <a:tc>
                  <a:txBody>
                    <a:bodyPr/>
                    <a:lstStyle/>
                    <a:p>
                      <a:pPr indent="356870" algn="just">
                        <a:lnSpc>
                          <a:spcPts val="2200"/>
                        </a:lnSpc>
                        <a:spcAft>
                          <a:spcPts val="0"/>
                        </a:spcAft>
                      </a:pPr>
                      <a:r>
                        <a:rPr lang="en-US" sz="1600" b="0" kern="0" dirty="0">
                          <a:effectLst/>
                        </a:rPr>
                        <a:t>c = 3;                                </a:t>
                      </a:r>
                      <a:r>
                        <a:rPr lang="en-US" altLang="zh-CN" sz="1600" b="0" kern="0" dirty="0" err="1">
                          <a:effectLst/>
                        </a:rPr>
                        <a:t>do_something</a:t>
                      </a:r>
                      <a:r>
                        <a:rPr lang="en-US" altLang="zh-CN" sz="1600" b="0" kern="0" dirty="0">
                          <a:effectLst/>
                        </a:rPr>
                        <a:t>(a, b, </a:t>
                      </a:r>
                      <a:r>
                        <a:rPr lang="en-US" altLang="zh-CN" sz="1600" b="0" kern="0">
                          <a:effectLst/>
                        </a:rPr>
                        <a:t>c);</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991779">
                <a:tc>
                  <a:txBody>
                    <a:bodyPr/>
                    <a:lstStyle/>
                    <a:p>
                      <a:pPr indent="356870" algn="just">
                        <a:lnSpc>
                          <a:spcPts val="2200"/>
                        </a:lnSpc>
                        <a:spcAft>
                          <a:spcPts val="0"/>
                        </a:spcAft>
                      </a:pPr>
                      <a:r>
                        <a:rPr lang="en-US" sz="1600" b="0" kern="0" dirty="0" err="1">
                          <a:effectLst/>
                        </a:rPr>
                        <a:t>memory_barrier</a:t>
                      </a:r>
                      <a:r>
                        <a:rPr lang="en-US" sz="1600" b="0" kern="0" dirty="0">
                          <a:effectLst/>
                        </a:rPr>
                        <a:t>();         }</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476265">
                <a:tc>
                  <a:txBody>
                    <a:bodyPr/>
                    <a:lstStyle/>
                    <a:p>
                      <a:pPr indent="356870" algn="just">
                        <a:lnSpc>
                          <a:spcPts val="2200"/>
                        </a:lnSpc>
                        <a:spcAft>
                          <a:spcPts val="0"/>
                        </a:spcAft>
                      </a:pPr>
                      <a:r>
                        <a:rPr lang="en-US" sz="1600" b="0" kern="0" dirty="0">
                          <a:effectLst/>
                        </a:rPr>
                        <a:t>flag = true;                }</a:t>
                      </a:r>
                      <a:endParaRPr lang="zh-CN" sz="1600" b="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38710239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鲲鹏处理器提供的屏障指令</a:t>
            </a:r>
          </a:p>
        </p:txBody>
      </p:sp>
      <p:sp>
        <p:nvSpPr>
          <p:cNvPr id="3" name="Text Placeholder 2"/>
          <p:cNvSpPr>
            <a:spLocks noGrp="1"/>
          </p:cNvSpPr>
          <p:nvPr>
            <p:ph type="body" sz="quarter" idx="10"/>
          </p:nvPr>
        </p:nvSpPr>
        <p:spPr/>
        <p:txBody>
          <a:bodyPr/>
          <a:lstStyle/>
          <a:p>
            <a:r>
              <a:rPr lang="en-US" altLang="zh-CN" dirty="0"/>
              <a:t>DMB</a:t>
            </a:r>
            <a:r>
              <a:rPr lang="zh-CN" altLang="en-US" dirty="0"/>
              <a:t>（</a:t>
            </a:r>
            <a:r>
              <a:rPr lang="en-US" altLang="zh-CN" dirty="0"/>
              <a:t>Data Memory Barrier</a:t>
            </a:r>
            <a:r>
              <a:rPr lang="zh-CN" altLang="en-US" dirty="0"/>
              <a:t>）：保证该指令之前的内存访问结束，指令之后的内存访问必须在此之后执行，其他非内存访问指令依然可以乱序执行。</a:t>
            </a:r>
          </a:p>
          <a:p>
            <a:r>
              <a:rPr lang="en-US" altLang="zh-CN" dirty="0"/>
              <a:t>DSB</a:t>
            </a:r>
            <a:r>
              <a:rPr lang="zh-CN" altLang="en-US" dirty="0"/>
              <a:t>（</a:t>
            </a:r>
            <a:r>
              <a:rPr lang="en-US" altLang="zh-CN" dirty="0"/>
              <a:t>Data Synchronization Barrier</a:t>
            </a:r>
            <a:r>
              <a:rPr lang="zh-CN" altLang="en-US" dirty="0"/>
              <a:t>）：比</a:t>
            </a:r>
            <a:r>
              <a:rPr lang="en-US" altLang="zh-CN" dirty="0"/>
              <a:t>DMB</a:t>
            </a:r>
            <a:r>
              <a:rPr lang="zh-CN" altLang="en-US" dirty="0"/>
              <a:t>严格，保证</a:t>
            </a:r>
            <a:r>
              <a:rPr lang="en-US" altLang="zh-CN" dirty="0"/>
              <a:t>DSB</a:t>
            </a:r>
            <a:r>
              <a:rPr lang="zh-CN" altLang="en-US" dirty="0"/>
              <a:t>之前的所有指令执行完成，但是性能牺牲会比</a:t>
            </a:r>
            <a:r>
              <a:rPr lang="en-US" altLang="zh-CN" dirty="0"/>
              <a:t>DMB</a:t>
            </a:r>
            <a:r>
              <a:rPr lang="zh-CN" altLang="en-US" dirty="0"/>
              <a:t>更大。</a:t>
            </a:r>
          </a:p>
          <a:p>
            <a:r>
              <a:rPr lang="en-US" altLang="zh-CN" dirty="0"/>
              <a:t>ISB</a:t>
            </a:r>
            <a:r>
              <a:rPr lang="zh-CN" altLang="en-US" dirty="0"/>
              <a:t>（</a:t>
            </a:r>
            <a:r>
              <a:rPr lang="en-US" altLang="zh-CN" dirty="0"/>
              <a:t>Instruction Synchronization Barrier</a:t>
            </a:r>
            <a:r>
              <a:rPr lang="zh-CN" altLang="en-US" dirty="0"/>
              <a:t>）：保证之前的命令执行完成，</a:t>
            </a:r>
            <a:r>
              <a:rPr lang="en-US" altLang="zh-CN" dirty="0"/>
              <a:t>ISB</a:t>
            </a:r>
            <a:r>
              <a:rPr lang="zh-CN" altLang="en-US" dirty="0"/>
              <a:t>之后的命令需要重新从</a:t>
            </a:r>
            <a:r>
              <a:rPr lang="en-US" altLang="zh-CN" dirty="0"/>
              <a:t>cache</a:t>
            </a:r>
            <a:r>
              <a:rPr lang="zh-CN" altLang="en-US" dirty="0"/>
              <a:t>或</a:t>
            </a:r>
            <a:r>
              <a:rPr lang="en-US" altLang="zh-CN" dirty="0"/>
              <a:t>memory</a:t>
            </a:r>
            <a:r>
              <a:rPr lang="zh-CN" altLang="en-US" dirty="0"/>
              <a:t>取指。常用于发生异常，异常返回，更改系统配置寄存器的场景下。</a:t>
            </a:r>
          </a:p>
        </p:txBody>
      </p:sp>
    </p:spTree>
    <p:extLst>
      <p:ext uri="{BB962C8B-B14F-4D97-AF65-F5344CB8AC3E}">
        <p14:creationId xmlns:p14="http://schemas.microsoft.com/office/powerpoint/2010/main" val="244536520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openEuler</a:t>
            </a:r>
            <a:r>
              <a:rPr lang="zh-CN" altLang="en-US" dirty="0"/>
              <a:t>对内存屏障指令的封装</a:t>
            </a:r>
          </a:p>
        </p:txBody>
      </p:sp>
      <p:sp>
        <p:nvSpPr>
          <p:cNvPr id="3" name="Text Placeholder 1"/>
          <p:cNvSpPr txBox="1">
            <a:spLocks/>
          </p:cNvSpPr>
          <p:nvPr/>
        </p:nvSpPr>
        <p:spPr>
          <a:xfrm>
            <a:off x="719668" y="1130907"/>
            <a:ext cx="10740495" cy="5069867"/>
          </a:xfrm>
          <a:prstGeom prst="rect">
            <a:avLst/>
          </a:prstGeom>
        </p:spPr>
        <p:txBody>
          <a:bodyPr/>
          <a:lst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r>
              <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openEuler</a:t>
            </a:r>
            <a:r>
              <a:rPr kumimoji="0" lang="zh-CN" altLang="en-US"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内核对这些</a:t>
            </a:r>
            <a:r>
              <a:rPr kumimoji="0" lang="zh-CN" altLang="en-US" sz="2199"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cs"/>
              </a:rPr>
              <a:t>指令进</a:t>
            </a:r>
            <a:r>
              <a:rPr kumimoji="0" lang="zh-CN" altLang="en-US"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行了如下封装：</a:t>
            </a: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endParaRPr>
          </a:p>
          <a:p>
            <a:pPr marL="0"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/arch/arm64/include/</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asm</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barrier.h</a:t>
            </a:r>
            <a:endPar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endParaRPr>
          </a:p>
          <a:p>
            <a:pPr marL="0"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#define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dmb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(opt)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asm</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volatile("</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dmb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#opt : : : "memory")</a:t>
            </a:r>
          </a:p>
          <a:p>
            <a:pPr marL="0"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#define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dsb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(opt)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asm</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volatile("</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dsb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#opt : : : "memory")</a:t>
            </a:r>
          </a:p>
          <a:p>
            <a:pPr marL="0"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#define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mb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dsb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sy</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任意</a:t>
            </a:r>
          </a:p>
          <a:p>
            <a:pPr marL="0"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#define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rmb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dsb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ld</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读</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读  读</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写</a:t>
            </a:r>
          </a:p>
          <a:p>
            <a:pPr marL="0"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#define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wmb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dsb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st</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写</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写</a:t>
            </a:r>
          </a:p>
          <a:p>
            <a:pPr marL="0"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#define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dma_rmb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dmb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oshld</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读</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读   读</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写</a:t>
            </a:r>
          </a:p>
          <a:p>
            <a:pPr marL="0"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#define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dma_wmb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dmb</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a:t>
            </a:r>
            <a:r>
              <a:rPr kumimoji="0" lang="en-US" altLang="zh-CN" sz="18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rPr>
              <a:t>oshst</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            //</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rPr>
              <a:t>任意</a:t>
            </a:r>
          </a:p>
          <a:p>
            <a:pPr marL="0"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endParaRPr>
          </a:p>
        </p:txBody>
      </p:sp>
    </p:spTree>
    <p:extLst>
      <p:ext uri="{BB962C8B-B14F-4D97-AF65-F5344CB8AC3E}">
        <p14:creationId xmlns:p14="http://schemas.microsoft.com/office/powerpoint/2010/main" val="255130921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sym typeface="Huawei Sans" panose="020C0503030203020204" pitchFamily="34" charset="0"/>
              </a:rPr>
              <a:t>操作系统中的无锁解决方案</a:t>
            </a:r>
          </a:p>
        </p:txBody>
      </p:sp>
      <p:sp>
        <p:nvSpPr>
          <p:cNvPr id="5" name="文本占位符 4"/>
          <p:cNvSpPr>
            <a:spLocks noGrp="1"/>
          </p:cNvSpPr>
          <p:nvPr>
            <p:ph type="body" sz="quarter" idx="10"/>
          </p:nvPr>
        </p:nvSpPr>
        <p:spPr/>
        <p:txBody>
          <a:bodyPr/>
          <a:lstStyle/>
          <a:p>
            <a:r>
              <a:rPr lang="zh-CN" altLang="en-US" sz="1800" dirty="0">
                <a:sym typeface="Huawei Sans" panose="020C0503030203020204" pitchFamily="34" charset="0"/>
              </a:rPr>
              <a:t>不使用锁的情况下实现多线程之间对变量同步访问的一种程序设计实现方案。</a:t>
            </a:r>
          </a:p>
        </p:txBody>
      </p:sp>
      <p:sp>
        <p:nvSpPr>
          <p:cNvPr id="38" name="内容占位符 2"/>
          <p:cNvSpPr txBox="1">
            <a:spLocks/>
          </p:cNvSpPr>
          <p:nvPr/>
        </p:nvSpPr>
        <p:spPr>
          <a:xfrm>
            <a:off x="981485" y="1842660"/>
            <a:ext cx="4329953" cy="2976899"/>
          </a:xfrm>
          <a:prstGeom prst="rect">
            <a:avLst/>
          </a:prstGeom>
        </p:spPr>
        <p:txBody>
          <a:bodyPr/>
          <a:lst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302279" marR="0" lvl="0" indent="-302279" algn="l" defTabSz="914034" rtl="0" eaLnBrk="1" fontAlgn="ctr" latinLnBrk="0" hangingPunct="1">
              <a:lnSpc>
                <a:spcPct val="120000"/>
              </a:lnSpc>
              <a:spcBef>
                <a:spcPts val="0"/>
              </a:spcBef>
              <a:spcAft>
                <a:spcPts val="0"/>
              </a:spcAft>
              <a:buClrTx/>
              <a:buSzPct val="50000"/>
              <a:buFont typeface="Wingdings" panose="05000000000000000000" pitchFamily="2" charset="2"/>
              <a:buChar char="l"/>
              <a:tabLst/>
              <a:defRPr/>
            </a:pP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内存乱序访问：</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WMM</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的处理器允许对没有依赖关系的指令可以做乱序执行。指令执行级别的乱序优化，如流水线、乱序执行、分支预测硬件级别</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Cache</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一致性（</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Cache Coherence</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）优化引入的</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Store Buffer</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和</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Invalidate Queue</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等组件造成的乱序。</a:t>
            </a:r>
          </a:p>
          <a:p>
            <a:pPr marL="302279" marR="0" lvl="0" indent="-302279" algn="l" defTabSz="914034" rtl="0" eaLnBrk="1" fontAlgn="ctr" latinLnBrk="0" hangingPunct="1">
              <a:lnSpc>
                <a:spcPct val="120000"/>
              </a:lnSpc>
              <a:spcBef>
                <a:spcPts val="0"/>
              </a:spcBef>
              <a:spcAft>
                <a:spcPts val="0"/>
              </a:spcAft>
              <a:buClrTx/>
              <a:buSzPct val="50000"/>
              <a:buFont typeface="Wingdings" panose="05000000000000000000" pitchFamily="2" charset="2"/>
              <a:buChar char="l"/>
              <a:tabLst/>
              <a:defRPr/>
            </a:pP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Memory barrier</a:t>
            </a:r>
            <a:r>
              <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：禁止处理器对内存访问乱序执行。</a:t>
            </a:r>
          </a:p>
        </p:txBody>
      </p:sp>
      <p:sp>
        <p:nvSpPr>
          <p:cNvPr id="2" name="文本框 1"/>
          <p:cNvSpPr txBox="1"/>
          <p:nvPr/>
        </p:nvSpPr>
        <p:spPr>
          <a:xfrm>
            <a:off x="6096000" y="1989416"/>
            <a:ext cx="4185761" cy="3539430"/>
          </a:xfrm>
          <a:prstGeom prst="rect">
            <a:avLst/>
          </a:prstGeom>
          <a:solidFill>
            <a:schemeClr val="bg1">
              <a:lumMod val="85000"/>
            </a:schemeClr>
          </a:solidFill>
        </p:spPr>
        <p:txBody>
          <a:bodyPr wrap="non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int</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x;</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int</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r1, r2;</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err="1">
                <a:ln>
                  <a:noFill/>
                </a:ln>
                <a:solidFill>
                  <a:srgbClr val="C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std</a:t>
            </a:r>
            <a:r>
              <a:rPr kumimoji="0" lang="en-US" altLang="zh-CN" sz="1600" b="0" i="0" u="none" strike="noStrike" kern="1200" cap="none" spc="0" normalizeH="0" baseline="0" noProof="0" dirty="0">
                <a:ln>
                  <a:noFill/>
                </a:ln>
                <a:solidFill>
                  <a:srgbClr val="C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::atomic&lt;</a:t>
            </a:r>
            <a:r>
              <a:rPr kumimoji="0" lang="en-US" altLang="zh-CN" sz="1600" b="0" i="0" u="none" strike="noStrike" kern="1200" cap="none" spc="0" normalizeH="0" baseline="0" noProof="0" dirty="0" err="1">
                <a:ln>
                  <a:noFill/>
                </a:ln>
                <a:solidFill>
                  <a:srgbClr val="C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int</a:t>
            </a:r>
            <a:r>
              <a:rPr kumimoji="0" lang="en-US" altLang="zh-CN" sz="1600" b="0" i="0" u="none" strike="noStrike" kern="1200" cap="none" spc="0" normalizeH="0" baseline="0" noProof="0" dirty="0">
                <a:ln>
                  <a:noFill/>
                </a:ln>
                <a:solidFill>
                  <a:srgbClr val="C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&gt; y;</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void* thread0(void*)</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r2 = x;</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r1 = </a:t>
            </a:r>
            <a:r>
              <a:rPr kumimoji="0" lang="en-US" altLang="zh-CN" sz="16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y.load</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r>
              <a:rPr kumimoji="0" lang="en-US" altLang="zh-CN" sz="1600" b="0" i="0" u="none" strike="noStrike" kern="1200" cap="none" spc="0" normalizeH="0" baseline="0" noProof="0" dirty="0" err="1">
                <a:ln>
                  <a:noFill/>
                </a:ln>
                <a:solidFill>
                  <a:srgbClr val="C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std</a:t>
            </a:r>
            <a:r>
              <a:rPr kumimoji="0" lang="en-US" altLang="zh-CN" sz="1600" b="0" i="0" u="none" strike="noStrike" kern="1200" cap="none" spc="0" normalizeH="0" baseline="0" noProof="0" dirty="0">
                <a:ln>
                  <a:noFill/>
                </a:ln>
                <a:solidFill>
                  <a:srgbClr val="C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r>
              <a:rPr kumimoji="0" lang="en-US" altLang="zh-CN" sz="1600" b="0" i="0" u="none" strike="noStrike" kern="1200" cap="none" spc="0" normalizeH="0" baseline="0" noProof="0" dirty="0" err="1">
                <a:ln>
                  <a:noFill/>
                </a:ln>
                <a:solidFill>
                  <a:srgbClr val="C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memory_order_acquire</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a:t>
            </a:r>
          </a:p>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void* thread1(void*)</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a:t>
            </a:r>
            <a:r>
              <a:rPr kumimoji="0" lang="en-US" altLang="zh-CN" sz="1600" b="0" i="0" u="none" strike="noStrike" kern="120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y.store</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(1, </a:t>
            </a:r>
            <a:r>
              <a:rPr kumimoji="0" lang="en-US" altLang="zh-CN" sz="1600" b="0" i="0" u="none" strike="noStrike" kern="1200" cap="none" spc="0" normalizeH="0" baseline="0" noProof="0" dirty="0" err="1">
                <a:ln>
                  <a:noFill/>
                </a:ln>
                <a:solidFill>
                  <a:srgbClr val="C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std</a:t>
            </a:r>
            <a:r>
              <a:rPr kumimoji="0" lang="en-US" altLang="zh-CN" sz="1600" b="0" i="0" u="none" strike="noStrike" kern="1200" cap="none" spc="0" normalizeH="0" baseline="0" noProof="0" dirty="0">
                <a:ln>
                  <a:noFill/>
                </a:ln>
                <a:solidFill>
                  <a:srgbClr val="C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r>
              <a:rPr kumimoji="0" lang="en-US" altLang="zh-CN" sz="1600" b="0" i="0" u="none" strike="noStrike" kern="1200" cap="none" spc="0" normalizeH="0" baseline="0" noProof="0" dirty="0" err="1">
                <a:ln>
                  <a:noFill/>
                </a:ln>
                <a:solidFill>
                  <a:srgbClr val="C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memory_order_release</a:t>
            </a: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x = 1;</a:t>
            </a:r>
          </a:p>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kumimoji="0" lang="zh-CN" altLang="en-US" sz="16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sp>
        <p:nvSpPr>
          <p:cNvPr id="6" name="文本框 5"/>
          <p:cNvSpPr txBox="1"/>
          <p:nvPr/>
        </p:nvSpPr>
        <p:spPr>
          <a:xfrm>
            <a:off x="1104775" y="4389071"/>
            <a:ext cx="3627676" cy="1477328"/>
          </a:xfrm>
          <a:prstGeom prst="rect">
            <a:avLst/>
          </a:prstGeom>
          <a:noFill/>
        </p:spPr>
        <p:txBody>
          <a:bodyPr wrap="square" lIns="0" tIns="0" rIns="0" bIns="0" rtlCol="0">
            <a:spAutoFit/>
          </a:bodyPr>
          <a:lstStyle/>
          <a:p>
            <a:pPr marL="0" marR="0" lvl="0" indent="0" algn="l" defTabSz="914478" rtl="0" eaLnBrk="1" fontAlgn="auto" latinLnBrk="0" hangingPunct="1">
              <a:lnSpc>
                <a:spcPct val="150000"/>
              </a:lnSpc>
              <a:spcBef>
                <a:spcPts val="0"/>
              </a:spcBef>
              <a:spcAft>
                <a:spcPts val="0"/>
              </a:spcAft>
              <a:buClrTx/>
              <a:buSzTx/>
              <a:buFontTx/>
              <a:buNone/>
              <a:tabLst/>
              <a:defRPr/>
            </a:pPr>
            <a:r>
              <a:rPr kumimoji="1" lang="zh-CN" altLang="en-US" sz="16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修复内存一致性问题的方法：</a:t>
            </a:r>
            <a:endParaRPr kumimoji="1" lang="en-US" altLang="zh-CN" sz="16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1" lang="zh-CN" altLang="en-US" sz="1600" b="1"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使用内存屏障指令（</a:t>
            </a:r>
            <a:r>
              <a:rPr kumimoji="1" lang="en-US" altLang="zh-CN" sz="1600" b="1" i="0" u="none" strike="noStrike" kern="1200" cap="none" spc="0" normalizeH="0" baseline="0" noProof="0" dirty="0" err="1">
                <a:ln>
                  <a:noFill/>
                </a:ln>
                <a:solidFill>
                  <a:srgbClr val="C7000B"/>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dmb</a:t>
            </a:r>
            <a:r>
              <a:rPr kumimoji="1" lang="zh-CN" altLang="en-US" sz="1600" b="1"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r>
              <a:rPr kumimoji="1" lang="en-US" altLang="zh-CN" sz="1600" b="1" i="0" u="none" strike="noStrike" kern="1200" cap="none" spc="0" normalizeH="0" baseline="0" noProof="0" dirty="0" err="1">
                <a:ln>
                  <a:noFill/>
                </a:ln>
                <a:solidFill>
                  <a:srgbClr val="C7000B"/>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dsb</a:t>
            </a:r>
            <a:r>
              <a:rPr kumimoji="1" lang="zh-CN" altLang="en-US" sz="1600" b="1"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kumimoji="1" lang="en-US" altLang="zh-CN" sz="1600" b="1"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使用同步机制（</a:t>
            </a:r>
            <a:r>
              <a:rPr kumimoji="1" lang="en-US" altLang="zh-CN" sz="16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lock</a:t>
            </a:r>
            <a:r>
              <a:rPr kumimoji="1" lang="zh-CN" altLang="en-US" sz="16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 。</a:t>
            </a:r>
            <a:endParaRPr kumimoji="1" lang="en-US" altLang="zh-CN" sz="16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285750" marR="0" lvl="0" indent="-285750" algn="l" defTabSz="914478"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使用高级语言原子类（</a:t>
            </a:r>
            <a:r>
              <a:rPr kumimoji="1" lang="en-US" altLang="zh-CN" sz="16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C++ atomic</a:t>
            </a:r>
            <a:r>
              <a:rPr kumimoji="1" lang="zh-CN" altLang="en-US" sz="16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kumimoji="1" lang="en-US" altLang="zh-CN" sz="16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spTree>
    <p:extLst>
      <p:ext uri="{BB962C8B-B14F-4D97-AF65-F5344CB8AC3E}">
        <p14:creationId xmlns:p14="http://schemas.microsoft.com/office/powerpoint/2010/main" val="16835698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sym typeface="Huawei Sans" panose="020C0503030203020204" pitchFamily="34" charset="0"/>
              </a:rPr>
              <a:t>指令</a:t>
            </a:r>
          </a:p>
        </p:txBody>
      </p:sp>
      <p:graphicFrame>
        <p:nvGraphicFramePr>
          <p:cNvPr id="42" name="表格 41"/>
          <p:cNvGraphicFramePr>
            <a:graphicFrameLocks noGrp="1"/>
          </p:cNvGraphicFramePr>
          <p:nvPr/>
        </p:nvGraphicFramePr>
        <p:xfrm>
          <a:off x="811100" y="1176300"/>
          <a:ext cx="5312297" cy="4173900"/>
        </p:xfrm>
        <a:graphic>
          <a:graphicData uri="http://schemas.openxmlformats.org/drawingml/2006/table">
            <a:tbl>
              <a:tblPr/>
              <a:tblGrid>
                <a:gridCol w="688927">
                  <a:extLst>
                    <a:ext uri="{9D8B030D-6E8A-4147-A177-3AD203B41FA5}">
                      <a16:colId xmlns:a16="http://schemas.microsoft.com/office/drawing/2014/main" val="20000"/>
                    </a:ext>
                  </a:extLst>
                </a:gridCol>
                <a:gridCol w="4623370">
                  <a:extLst>
                    <a:ext uri="{9D8B030D-6E8A-4147-A177-3AD203B41FA5}">
                      <a16:colId xmlns:a16="http://schemas.microsoft.com/office/drawing/2014/main" val="20001"/>
                    </a:ext>
                  </a:extLst>
                </a:gridCol>
              </a:tblGrid>
              <a:tr h="281096">
                <a:tc>
                  <a:txBody>
                    <a:bodyPr/>
                    <a:lstStyle/>
                    <a:p>
                      <a:pPr algn="ctr">
                        <a:lnSpc>
                          <a:spcPct val="130000"/>
                        </a:lnSpc>
                        <a:spcAft>
                          <a:spcPts val="0"/>
                        </a:spcAft>
                      </a:pPr>
                      <a:r>
                        <a:rPr lang="zh-CN" altLang="en-US" sz="1200" b="1"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指令</a:t>
                      </a:r>
                      <a:endPar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endParaRPr>
                    </a:p>
                  </a:txBody>
                  <a:tcPr marL="59607" marR="5960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30000"/>
                        </a:lnSpc>
                        <a:spcAft>
                          <a:spcPts val="0"/>
                        </a:spcAft>
                      </a:pPr>
                      <a:r>
                        <a:rPr lang="zh-CN" altLang="en-US" sz="1200" b="1"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描述</a:t>
                      </a:r>
                      <a:endPar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endParaRPr>
                    </a:p>
                  </a:txBody>
                  <a:tcPr marL="59607" marR="5960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818479">
                <a:tc>
                  <a:txBody>
                    <a:bodyPr/>
                    <a:lstStyle/>
                    <a:p>
                      <a:pPr algn="ctr">
                        <a:lnSpc>
                          <a:spcPct val="120000"/>
                        </a:lnSpc>
                        <a:spcAft>
                          <a:spcPts val="0"/>
                        </a:spcAft>
                      </a:pP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DMB</a:t>
                      </a:r>
                    </a:p>
                  </a:txBody>
                  <a:tcPr marL="59607" marR="5960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20000"/>
                        </a:lnSpc>
                        <a:spcAft>
                          <a:spcPts val="0"/>
                        </a:spcAft>
                      </a:pPr>
                      <a:r>
                        <a:rPr lang="en-US" altLang="zh-CN"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Data Memory Barrier - </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内存保序。作用： </a:t>
                      </a:r>
                    </a:p>
                    <a:p>
                      <a:pPr marL="216000" indent="-216000">
                        <a:lnSpc>
                          <a:spcPct val="120000"/>
                        </a:lnSpc>
                        <a:spcAft>
                          <a:spcPts val="0"/>
                        </a:spcAft>
                        <a:buFont typeface="Arial" panose="020B0604020202020204" pitchFamily="34" charset="0"/>
                        <a:buChar char="•"/>
                      </a:pP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保证该指令之前的内存访问结束；指令之后的</a:t>
                      </a:r>
                      <a:r>
                        <a:rPr lang="zh-CN" altLang="en-US" sz="1200" b="1" dirty="0">
                          <a:solidFill>
                            <a:schemeClr val="tx1"/>
                          </a:solidFill>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内存访问</a:t>
                      </a:r>
                      <a:r>
                        <a:rPr lang="zh-CN" altLang="en-US" sz="1200" dirty="0">
                          <a:solidFill>
                            <a:schemeClr val="tx1"/>
                          </a:solidFill>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必须</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在此之后执行。</a:t>
                      </a:r>
                    </a:p>
                    <a:p>
                      <a:pPr marL="216000" indent="-216000">
                        <a:lnSpc>
                          <a:spcPct val="120000"/>
                        </a:lnSpc>
                        <a:spcAft>
                          <a:spcPts val="0"/>
                        </a:spcAft>
                        <a:buFont typeface="Arial" panose="020B0604020202020204" pitchFamily="34" charset="0"/>
                        <a:buChar char="•"/>
                      </a:pP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其它非内存访问指令依然可以乱序执行</a:t>
                      </a:r>
                    </a:p>
                  </a:txBody>
                  <a:tcPr marL="59607" marR="5960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02438">
                <a:tc>
                  <a:txBody>
                    <a:bodyPr/>
                    <a:lstStyle/>
                    <a:p>
                      <a:pPr algn="ctr">
                        <a:lnSpc>
                          <a:spcPct val="120000"/>
                        </a:lnSpc>
                        <a:spcAft>
                          <a:spcPts val="0"/>
                        </a:spcAft>
                      </a:pP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DSB</a:t>
                      </a:r>
                    </a:p>
                  </a:txBody>
                  <a:tcPr marL="59607" marR="5960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20000"/>
                        </a:lnSpc>
                        <a:spcAft>
                          <a:spcPts val="0"/>
                        </a:spcAft>
                      </a:pP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Data Synchronization Barrier - </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指令保序。作用：</a:t>
                      </a:r>
                      <a:endParaRPr lang="en-US" altLang="zh-CN"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endParaRPr>
                    </a:p>
                    <a:p>
                      <a:pPr>
                        <a:lnSpc>
                          <a:spcPct val="120000"/>
                        </a:lnSpc>
                        <a:spcAft>
                          <a:spcPts val="0"/>
                        </a:spcAft>
                      </a:pP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比</a:t>
                      </a: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DMB</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严格，保证</a:t>
                      </a: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DSB</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之前的</a:t>
                      </a:r>
                      <a:r>
                        <a:rPr lang="zh-CN" altLang="en-US" sz="1200" b="1"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所有指令</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执行结束</a:t>
                      </a:r>
                    </a:p>
                  </a:txBody>
                  <a:tcPr marL="59607" marR="5960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234520">
                <a:tc>
                  <a:txBody>
                    <a:bodyPr/>
                    <a:lstStyle/>
                    <a:p>
                      <a:pPr algn="ctr">
                        <a:lnSpc>
                          <a:spcPct val="120000"/>
                        </a:lnSpc>
                        <a:spcAft>
                          <a:spcPts val="0"/>
                        </a:spcAft>
                      </a:pP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ISB</a:t>
                      </a:r>
                    </a:p>
                  </a:txBody>
                  <a:tcPr marL="59607" marR="5960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20000"/>
                        </a:lnSpc>
                        <a:spcAft>
                          <a:spcPts val="0"/>
                        </a:spcAft>
                      </a:pP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Instruction Synchronization Barrier -</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指令保序，清指令流水线。作用： </a:t>
                      </a:r>
                    </a:p>
                    <a:p>
                      <a:pPr marL="216000" indent="-216000">
                        <a:lnSpc>
                          <a:spcPct val="120000"/>
                        </a:lnSpc>
                        <a:spcAft>
                          <a:spcPts val="0"/>
                        </a:spcAft>
                        <a:buFont typeface="Arial" panose="020B0604020202020204" pitchFamily="34" charset="0"/>
                        <a:buChar char="•"/>
                      </a:pP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保证之前的指令执行完成</a:t>
                      </a:r>
                    </a:p>
                    <a:p>
                      <a:pPr marL="216000" indent="-216000">
                        <a:lnSpc>
                          <a:spcPct val="120000"/>
                        </a:lnSpc>
                        <a:spcAft>
                          <a:spcPts val="0"/>
                        </a:spcAft>
                        <a:buFont typeface="Arial" panose="020B0604020202020204" pitchFamily="34" charset="0"/>
                        <a:buChar char="•"/>
                      </a:pP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刷新</a:t>
                      </a: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CPU pipeline</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和</a:t>
                      </a:r>
                      <a:r>
                        <a:rPr lang="en-US" sz="1200" dirty="0" err="1">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prefetch</a:t>
                      </a: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 buffer</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a:t>
                      </a: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ISB</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之后的指令需要</a:t>
                      </a:r>
                      <a:r>
                        <a:rPr lang="zh-CN" altLang="en-US" sz="1200" b="1" dirty="0">
                          <a:solidFill>
                            <a:srgbClr val="C00000"/>
                          </a:solidFill>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重新从</a:t>
                      </a:r>
                      <a:r>
                        <a:rPr lang="en-US" sz="1200" b="1" dirty="0">
                          <a:solidFill>
                            <a:srgbClr val="C00000"/>
                          </a:solidFill>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cache</a:t>
                      </a:r>
                      <a:r>
                        <a:rPr lang="zh-CN" altLang="en-US" sz="1200" b="1" dirty="0">
                          <a:solidFill>
                            <a:srgbClr val="C00000"/>
                          </a:solidFill>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或</a:t>
                      </a:r>
                      <a:r>
                        <a:rPr lang="en-US" sz="1200" b="1" dirty="0">
                          <a:solidFill>
                            <a:srgbClr val="C00000"/>
                          </a:solidFill>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memory</a:t>
                      </a:r>
                      <a:r>
                        <a:rPr lang="zh-CN" altLang="en-US" sz="1200" b="1" dirty="0">
                          <a:solidFill>
                            <a:srgbClr val="C00000"/>
                          </a:solidFill>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取指</a:t>
                      </a:r>
                      <a:endParaRPr lang="zh-CN" altLang="en-US" sz="1200" dirty="0">
                        <a:solidFill>
                          <a:srgbClr val="C00000"/>
                        </a:solidFill>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endParaRPr>
                    </a:p>
                    <a:p>
                      <a:pPr marL="216000" indent="-216000">
                        <a:lnSpc>
                          <a:spcPct val="120000"/>
                        </a:lnSpc>
                        <a:spcAft>
                          <a:spcPts val="0"/>
                        </a:spcAft>
                        <a:buFont typeface="Arial" panose="020B0604020202020204" pitchFamily="34" charset="0"/>
                        <a:buChar char="•"/>
                      </a:pP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应用场景：发生异常、异常返回、更改系统配置寄存器。</a:t>
                      </a:r>
                    </a:p>
                  </a:txBody>
                  <a:tcPr marL="59607" marR="5960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234520">
                <a:tc>
                  <a:txBody>
                    <a:bodyPr/>
                    <a:lstStyle/>
                    <a:p>
                      <a:pPr algn="ctr">
                        <a:lnSpc>
                          <a:spcPct val="120000"/>
                        </a:lnSpc>
                        <a:spcAft>
                          <a:spcPts val="0"/>
                        </a:spcAft>
                      </a:pP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单向屏障</a:t>
                      </a:r>
                    </a:p>
                  </a:txBody>
                  <a:tcPr marL="59607" marR="5960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nSpc>
                          <a:spcPct val="120000"/>
                        </a:lnSpc>
                        <a:spcAft>
                          <a:spcPts val="0"/>
                        </a:spcAft>
                      </a:pP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相当于半个</a:t>
                      </a: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DMB，</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使用</a:t>
                      </a: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LDAR&amp;STLR</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组合可代替</a:t>
                      </a: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DMB，</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有助于优化代码。</a:t>
                      </a:r>
                    </a:p>
                    <a:p>
                      <a:pPr marL="171450" indent="-171450">
                        <a:lnSpc>
                          <a:spcPct val="120000"/>
                        </a:lnSpc>
                        <a:spcAft>
                          <a:spcPts val="0"/>
                        </a:spcAft>
                        <a:buFont typeface="Arial" panose="020B0604020202020204" pitchFamily="34" charset="0"/>
                        <a:buChar char="•"/>
                      </a:pPr>
                      <a:r>
                        <a:rPr lang="en-US" sz="1200" b="1" dirty="0">
                          <a:solidFill>
                            <a:srgbClr val="C00000"/>
                          </a:solidFill>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Load-Acquire (LDAR) </a:t>
                      </a:r>
                      <a:r>
                        <a:rPr lang="en-US" sz="1200" b="1"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后屏障，保证</a:t>
                      </a: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LDAR</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之后的内存访问，必须在该指令执行之后发生。</a:t>
                      </a:r>
                    </a:p>
                    <a:p>
                      <a:pPr marL="171450" indent="-171450">
                        <a:lnSpc>
                          <a:spcPct val="120000"/>
                        </a:lnSpc>
                        <a:spcAft>
                          <a:spcPts val="0"/>
                        </a:spcAft>
                        <a:buFont typeface="Arial" panose="020B0604020202020204" pitchFamily="34" charset="0"/>
                        <a:buChar char="•"/>
                      </a:pPr>
                      <a:r>
                        <a:rPr lang="en-US" sz="1200" b="1" dirty="0">
                          <a:solidFill>
                            <a:srgbClr val="C00000"/>
                          </a:solidFill>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Store-Release (STLR)</a:t>
                      </a:r>
                      <a:r>
                        <a:rPr lang="en-US" sz="1200" b="1"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前屏蔽，保证</a:t>
                      </a: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STLR</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之前的内存访问结束后，</a:t>
                      </a:r>
                      <a:r>
                        <a:rPr 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STLR</a:t>
                      </a:r>
                      <a:r>
                        <a:rPr lang="zh-CN" altLang="en-US" sz="1200" dirty="0">
                          <a:effectLst/>
                          <a:latin typeface="Huawei Sans" panose="020C0503030203020204" pitchFamily="34" charset="0"/>
                          <a:ea typeface="方正兰亭黑简体" panose="02000000000000000000" pitchFamily="2" charset="-122"/>
                          <a:cs typeface="Segoe UI" panose="020B0502040204020203" pitchFamily="34" charset="0"/>
                          <a:sym typeface="Huawei Sans" panose="020C0503030203020204" pitchFamily="34" charset="0"/>
                        </a:rPr>
                        <a:t>才执行。</a:t>
                      </a:r>
                    </a:p>
                  </a:txBody>
                  <a:tcPr marL="59607" marR="5960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 name="文本框 1"/>
          <p:cNvSpPr txBox="1"/>
          <p:nvPr/>
        </p:nvSpPr>
        <p:spPr>
          <a:xfrm>
            <a:off x="731838" y="853133"/>
            <a:ext cx="4046350" cy="646331"/>
          </a:xfrm>
          <a:prstGeom prst="rect">
            <a:avLst/>
          </a:prstGeom>
          <a:noFill/>
        </p:spPr>
        <p:txBody>
          <a:bodyPr wrap="squar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ARM Memory barrier</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指令</a:t>
            </a:r>
            <a:endPar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graphicFrame>
        <p:nvGraphicFramePr>
          <p:cNvPr id="6" name="内容占位符 3"/>
          <p:cNvGraphicFramePr>
            <a:graphicFrameLocks/>
          </p:cNvGraphicFramePr>
          <p:nvPr/>
        </p:nvGraphicFramePr>
        <p:xfrm>
          <a:off x="6215865" y="1176297"/>
          <a:ext cx="5244297" cy="4132830"/>
        </p:xfrm>
        <a:graphic>
          <a:graphicData uri="http://schemas.openxmlformats.org/drawingml/2006/table">
            <a:tbl>
              <a:tblPr/>
              <a:tblGrid>
                <a:gridCol w="990182">
                  <a:extLst>
                    <a:ext uri="{9D8B030D-6E8A-4147-A177-3AD203B41FA5}">
                      <a16:colId xmlns:a16="http://schemas.microsoft.com/office/drawing/2014/main" val="20000"/>
                    </a:ext>
                  </a:extLst>
                </a:gridCol>
                <a:gridCol w="2933872">
                  <a:extLst>
                    <a:ext uri="{9D8B030D-6E8A-4147-A177-3AD203B41FA5}">
                      <a16:colId xmlns:a16="http://schemas.microsoft.com/office/drawing/2014/main" val="20001"/>
                    </a:ext>
                  </a:extLst>
                </a:gridCol>
                <a:gridCol w="1320243">
                  <a:extLst>
                    <a:ext uri="{9D8B030D-6E8A-4147-A177-3AD203B41FA5}">
                      <a16:colId xmlns:a16="http://schemas.microsoft.com/office/drawing/2014/main" val="20002"/>
                    </a:ext>
                  </a:extLst>
                </a:gridCol>
              </a:tblGrid>
              <a:tr h="284641">
                <a:tc>
                  <a:txBody>
                    <a:bodyPr/>
                    <a:lstStyle/>
                    <a:p>
                      <a:pPr algn="ctr">
                        <a:lnSpc>
                          <a:spcPct val="130000"/>
                        </a:lnSpc>
                        <a:spcAft>
                          <a:spcPts val="0"/>
                        </a:spcAft>
                      </a:pPr>
                      <a:r>
                        <a:rPr lang="zh-CN" altLang="en-US" sz="1200" b="1" dirty="0">
                          <a:effectLst/>
                          <a:latin typeface="Huawei Sans" panose="020C0503030203020204" pitchFamily="34" charset="0"/>
                          <a:ea typeface="方正兰亭黑简体" panose="02000000000000000000" pitchFamily="2" charset="-122"/>
                          <a:sym typeface="Huawei Sans" panose="020C0503030203020204" pitchFamily="34" charset="0"/>
                        </a:rPr>
                        <a:t>参数</a:t>
                      </a:r>
                      <a:endPar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30000"/>
                        </a:lnSpc>
                        <a:spcAft>
                          <a:spcPts val="0"/>
                        </a:spcAft>
                      </a:pPr>
                      <a:r>
                        <a:rPr lang="zh-CN" altLang="en-US" sz="1200" b="1" dirty="0">
                          <a:effectLst/>
                          <a:latin typeface="Huawei Sans" panose="020C0503030203020204" pitchFamily="34" charset="0"/>
                          <a:ea typeface="方正兰亭黑简体" panose="02000000000000000000" pitchFamily="2" charset="-122"/>
                          <a:sym typeface="Huawei Sans" panose="020C0503030203020204" pitchFamily="34" charset="0"/>
                        </a:rPr>
                        <a:t>访问控制</a:t>
                      </a:r>
                      <a:r>
                        <a:rPr lang="en-US" altLang="zh-CN" sz="1200" b="1"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en-US" sz="1200" b="1" dirty="0">
                          <a:effectLst/>
                          <a:latin typeface="Huawei Sans" panose="020C0503030203020204" pitchFamily="34" charset="0"/>
                          <a:ea typeface="方正兰亭黑简体" panose="02000000000000000000" pitchFamily="2" charset="-122"/>
                          <a:sym typeface="Huawei Sans" panose="020C0503030203020204" pitchFamily="34" charset="0"/>
                        </a:rPr>
                        <a:t>before-after)</a:t>
                      </a:r>
                      <a:endParaRPr lang="en-US" sz="12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30000"/>
                        </a:lnSpc>
                        <a:spcAft>
                          <a:spcPts val="0"/>
                        </a:spcAft>
                      </a:pPr>
                      <a:r>
                        <a:rPr lang="zh-CN" altLang="en-US" sz="1200" b="1" dirty="0">
                          <a:effectLst/>
                          <a:latin typeface="Huawei Sans" panose="020C0503030203020204" pitchFamily="34" charset="0"/>
                          <a:ea typeface="方正兰亭黑简体" panose="02000000000000000000" pitchFamily="2" charset="-122"/>
                          <a:sym typeface="Huawei Sans" panose="020C0503030203020204" pitchFamily="34" charset="0"/>
                        </a:rPr>
                        <a:t>共享域</a:t>
                      </a:r>
                      <a:endPar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06231">
                <a:tc>
                  <a:txBody>
                    <a:bodyPr/>
                    <a:lstStyle/>
                    <a:p>
                      <a:pPr algn="ctr">
                        <a:lnSpc>
                          <a:spcPct val="130000"/>
                        </a:lnSpc>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NS</a:t>
                      </a: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HLD</a:t>
                      </a: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Load - Load, Load - Store</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ctr">
                        <a:lnSpc>
                          <a:spcPct val="130000"/>
                        </a:lnSpc>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Non-shareable</a:t>
                      </a:r>
                    </a:p>
                    <a:p>
                      <a:pPr algn="ctr">
                        <a:lnSpc>
                          <a:spcPct val="130000"/>
                        </a:lnSpc>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单核不共享区域）</a:t>
                      </a:r>
                    </a:p>
                  </a:txBody>
                  <a:tcPr marL="36000" marR="3600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6231">
                <a:tc>
                  <a:txBody>
                    <a:bodyPr/>
                    <a:lstStyle/>
                    <a:p>
                      <a:pPr algn="ctr">
                        <a:lnSpc>
                          <a:spcPct val="130000"/>
                        </a:lnSpc>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NS</a:t>
                      </a: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HST</a:t>
                      </a: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Store - Store</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extLst>
                  <a:ext uri="{0D108BD9-81ED-4DB2-BD59-A6C34878D82A}">
                    <a16:rowId xmlns:a16="http://schemas.microsoft.com/office/drawing/2014/main" val="10002"/>
                  </a:ext>
                </a:extLst>
              </a:tr>
              <a:tr h="473468">
                <a:tc>
                  <a:txBody>
                    <a:bodyPr/>
                    <a:lstStyle/>
                    <a:p>
                      <a:pPr algn="ctr">
                        <a:lnSpc>
                          <a:spcPct val="130000"/>
                        </a:lnSpc>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N</a:t>
                      </a: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SH</a:t>
                      </a: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Any - Any</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extLst>
                  <a:ext uri="{0D108BD9-81ED-4DB2-BD59-A6C34878D82A}">
                    <a16:rowId xmlns:a16="http://schemas.microsoft.com/office/drawing/2014/main" val="10003"/>
                  </a:ext>
                </a:extLst>
              </a:tr>
              <a:tr h="306231">
                <a:tc>
                  <a:txBody>
                    <a:bodyPr/>
                    <a:lstStyle/>
                    <a:p>
                      <a:pPr algn="ctr">
                        <a:lnSpc>
                          <a:spcPct val="130000"/>
                        </a:lnSpc>
                        <a:spcAft>
                          <a:spcPts val="0"/>
                        </a:spcAft>
                      </a:pPr>
                      <a:r>
                        <a:rPr lang="en-US" altLang="zh-CN" sz="12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a:t>
                      </a:r>
                      <a:r>
                        <a:rPr lang="en-US" sz="12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SHLD</a:t>
                      </a: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30000"/>
                        </a:lnSpc>
                        <a:spcAft>
                          <a:spcPts val="0"/>
                        </a:spcAft>
                      </a:pPr>
                      <a:r>
                        <a:rPr lang="en-US" sz="12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Load - Load, Load - Store</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ctr" defTabSz="1187798" rtl="0" eaLnBrk="1" fontAlgn="auto" latinLnBrk="0" hangingPunct="1">
                        <a:lnSpc>
                          <a:spcPct val="130000"/>
                        </a:lnSpc>
                        <a:spcBef>
                          <a:spcPts val="0"/>
                        </a:spcBef>
                        <a:spcAft>
                          <a:spcPts val="0"/>
                        </a:spcAft>
                        <a:buClrTx/>
                        <a:buSzTx/>
                        <a:buFontTx/>
                        <a:buNone/>
                        <a:tabLst/>
                        <a:defRPr/>
                      </a:pPr>
                      <a:r>
                        <a:rPr lang="en-US" altLang="zh-CN" sz="12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Inner shareable</a:t>
                      </a:r>
                      <a:endParaRPr lang="zh-CN" altLang="en-US" sz="12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6231">
                <a:tc>
                  <a:txBody>
                    <a:bodyPr/>
                    <a:lstStyle/>
                    <a:p>
                      <a:pPr algn="ctr">
                        <a:lnSpc>
                          <a:spcPct val="130000"/>
                        </a:lnSpc>
                        <a:spcAft>
                          <a:spcPts val="0"/>
                        </a:spcAft>
                      </a:pPr>
                      <a:r>
                        <a:rPr lang="en-US" altLang="zh-CN" sz="12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a:t>
                      </a:r>
                      <a:r>
                        <a:rPr lang="en-US" sz="12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SHST</a:t>
                      </a: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30000"/>
                        </a:lnSpc>
                        <a:spcAft>
                          <a:spcPts val="0"/>
                        </a:spcAft>
                      </a:pPr>
                      <a:r>
                        <a:rPr lang="en-US" sz="12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Store - Store</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extLst>
                  <a:ext uri="{0D108BD9-81ED-4DB2-BD59-A6C34878D82A}">
                    <a16:rowId xmlns:a16="http://schemas.microsoft.com/office/drawing/2014/main" val="10005"/>
                  </a:ext>
                </a:extLst>
              </a:tr>
              <a:tr h="306231">
                <a:tc>
                  <a:txBody>
                    <a:bodyPr/>
                    <a:lstStyle/>
                    <a:p>
                      <a:pPr algn="ctr">
                        <a:lnSpc>
                          <a:spcPct val="130000"/>
                        </a:lnSpc>
                        <a:spcAft>
                          <a:spcPts val="0"/>
                        </a:spcAft>
                      </a:pPr>
                      <a:r>
                        <a:rPr lang="en-US" altLang="zh-CN" sz="12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a:t>
                      </a:r>
                      <a:r>
                        <a:rPr lang="en-US" sz="12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SH</a:t>
                      </a: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30000"/>
                        </a:lnSpc>
                        <a:spcAft>
                          <a:spcPts val="0"/>
                        </a:spcAft>
                      </a:pPr>
                      <a:r>
                        <a:rPr lang="en-US" sz="12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Any - Any</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dirty="0"/>
                    </a:p>
                  </a:txBody>
                  <a:tcPr/>
                </a:tc>
                <a:extLst>
                  <a:ext uri="{0D108BD9-81ED-4DB2-BD59-A6C34878D82A}">
                    <a16:rowId xmlns:a16="http://schemas.microsoft.com/office/drawing/2014/main" val="10006"/>
                  </a:ext>
                </a:extLst>
              </a:tr>
              <a:tr h="306231">
                <a:tc>
                  <a:txBody>
                    <a:bodyPr/>
                    <a:lstStyle/>
                    <a:p>
                      <a:pPr algn="ctr">
                        <a:lnSpc>
                          <a:spcPct val="130000"/>
                        </a:lnSpc>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O</a:t>
                      </a: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SHLD</a:t>
                      </a: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Load -Load, Load - Store</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ctr">
                        <a:lnSpc>
                          <a:spcPct val="130000"/>
                        </a:lnSpc>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Outer shareable</a:t>
                      </a:r>
                    </a:p>
                    <a:p>
                      <a:pPr algn="ctr">
                        <a:lnSpc>
                          <a:spcPct val="130000"/>
                        </a:lnSpc>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与内存</a:t>
                      </a: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a:t>
                      </a:r>
                    </a:p>
                  </a:txBody>
                  <a:tcPr marL="36000" marR="3600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06231">
                <a:tc>
                  <a:txBody>
                    <a:bodyPr/>
                    <a:lstStyle/>
                    <a:p>
                      <a:pPr algn="ctr">
                        <a:lnSpc>
                          <a:spcPct val="130000"/>
                        </a:lnSpc>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O</a:t>
                      </a: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SHST</a:t>
                      </a: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Store - Store</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extLst>
                  <a:ext uri="{0D108BD9-81ED-4DB2-BD59-A6C34878D82A}">
                    <a16:rowId xmlns:a16="http://schemas.microsoft.com/office/drawing/2014/main" val="10008"/>
                  </a:ext>
                </a:extLst>
              </a:tr>
              <a:tr h="306231">
                <a:tc>
                  <a:txBody>
                    <a:bodyPr/>
                    <a:lstStyle/>
                    <a:p>
                      <a:pPr algn="ctr">
                        <a:lnSpc>
                          <a:spcPct val="130000"/>
                        </a:lnSpc>
                        <a:spcAft>
                          <a:spcPts val="0"/>
                        </a:spcAft>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O</a:t>
                      </a: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SH</a:t>
                      </a: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Any - Any</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extLst>
                  <a:ext uri="{0D108BD9-81ED-4DB2-BD59-A6C34878D82A}">
                    <a16:rowId xmlns:a16="http://schemas.microsoft.com/office/drawing/2014/main" val="10009"/>
                  </a:ext>
                </a:extLst>
              </a:tr>
              <a:tr h="306231">
                <a:tc>
                  <a:txBody>
                    <a:bodyPr/>
                    <a:lstStyle/>
                    <a:p>
                      <a:pPr algn="ct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LD</a:t>
                      </a: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Load -Load, Load - Store</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pPr algn="ct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Full system</a:t>
                      </a:r>
                    </a:p>
                  </a:txBody>
                  <a:tcPr marL="36000" marR="3600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306231">
                <a:tc>
                  <a:txBody>
                    <a:bodyPr/>
                    <a:lstStyle/>
                    <a:p>
                      <a:pPr algn="ct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ST</a:t>
                      </a: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Store - Store</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extLst>
                  <a:ext uri="{0D108BD9-81ED-4DB2-BD59-A6C34878D82A}">
                    <a16:rowId xmlns:a16="http://schemas.microsoft.com/office/drawing/2014/main" val="10011"/>
                  </a:ext>
                </a:extLst>
              </a:tr>
              <a:tr h="306231">
                <a:tc>
                  <a:txBody>
                    <a:bodyPr/>
                    <a:lstStyle/>
                    <a:p>
                      <a:pPr algn="ct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SY</a:t>
                      </a:r>
                    </a:p>
                  </a:txBody>
                  <a:tcPr marL="36000" marR="3600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nSpc>
                          <a:spcPct val="130000"/>
                        </a:lnSpc>
                        <a:spcAft>
                          <a:spcPts val="0"/>
                        </a:spcAft>
                      </a:pPr>
                      <a:r>
                        <a:rPr lang="en-US" sz="1200" dirty="0">
                          <a:effectLst/>
                          <a:latin typeface="Huawei Sans" panose="020C0503030203020204" pitchFamily="34" charset="0"/>
                          <a:ea typeface="方正兰亭黑简体" panose="02000000000000000000" pitchFamily="2" charset="-122"/>
                          <a:sym typeface="Huawei Sans" panose="020C0503030203020204" pitchFamily="34" charset="0"/>
                        </a:rPr>
                        <a:t>Any - Any</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a:p>
                  </a:txBody>
                  <a:tcPr/>
                </a:tc>
                <a:extLst>
                  <a:ext uri="{0D108BD9-81ED-4DB2-BD59-A6C34878D82A}">
                    <a16:rowId xmlns:a16="http://schemas.microsoft.com/office/drawing/2014/main" val="10012"/>
                  </a:ext>
                </a:extLst>
              </a:tr>
            </a:tbl>
          </a:graphicData>
        </a:graphic>
      </p:graphicFrame>
      <p:sp>
        <p:nvSpPr>
          <p:cNvPr id="4" name="文本框 3"/>
          <p:cNvSpPr txBox="1"/>
          <p:nvPr/>
        </p:nvSpPr>
        <p:spPr>
          <a:xfrm>
            <a:off x="731838" y="5639439"/>
            <a:ext cx="5038559" cy="276999"/>
          </a:xfrm>
          <a:prstGeom prst="rect">
            <a:avLst/>
          </a:prstGeom>
          <a:noFill/>
        </p:spPr>
        <p:txBody>
          <a:bodyPr wrap="non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参考</a:t>
            </a: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https://developer.arm.com/documentation/100941/0100/Barriers</a:t>
            </a:r>
            <a:endPar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sp>
        <p:nvSpPr>
          <p:cNvPr id="5" name="文本框 4"/>
          <p:cNvSpPr txBox="1"/>
          <p:nvPr/>
        </p:nvSpPr>
        <p:spPr>
          <a:xfrm>
            <a:off x="6123397" y="794468"/>
            <a:ext cx="2981907" cy="369332"/>
          </a:xfrm>
          <a:prstGeom prst="rect">
            <a:avLst/>
          </a:prstGeom>
          <a:noFill/>
        </p:spPr>
        <p:txBody>
          <a:bodyPr wrap="none"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DMB</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和</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DSB</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指令的可选参数</a:t>
            </a:r>
          </a:p>
        </p:txBody>
      </p:sp>
    </p:spTree>
    <p:extLst>
      <p:ext uri="{BB962C8B-B14F-4D97-AF65-F5344CB8AC3E}">
        <p14:creationId xmlns:p14="http://schemas.microsoft.com/office/powerpoint/2010/main" val="229449609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sym typeface="Huawei Sans" panose="020C0503030203020204" pitchFamily="34" charset="0"/>
              </a:rPr>
              <a:t>语义 </a:t>
            </a:r>
            <a:r>
              <a:rPr lang="en-US" altLang="zh-CN" dirty="0">
                <a:sym typeface="Huawei Sans" panose="020C0503030203020204" pitchFamily="34" charset="0"/>
              </a:rPr>
              <a:t>(1)</a:t>
            </a:r>
            <a:endParaRPr lang="zh-CN" altLang="en-US" dirty="0">
              <a:sym typeface="Huawei Sans" panose="020C0503030203020204" pitchFamily="34" charset="0"/>
            </a:endParaRPr>
          </a:p>
        </p:txBody>
      </p:sp>
      <p:sp>
        <p:nvSpPr>
          <p:cNvPr id="43" name="内容占位符 2"/>
          <p:cNvSpPr txBox="1">
            <a:spLocks/>
          </p:cNvSpPr>
          <p:nvPr/>
        </p:nvSpPr>
        <p:spPr bwMode="auto">
          <a:xfrm>
            <a:off x="731838" y="1208897"/>
            <a:ext cx="9488487" cy="2564591"/>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r>
              <a:rPr kumimoji="0" lang="zh-CN" altLang="en-US"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处理器提供的内存屏障语义：</a:t>
            </a: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zh-CN" altLang="en-US"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11113"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endParaRPr kumimoji="0" lang="en-US" altLang="zh-CN" sz="2199"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aphicFrame>
        <p:nvGraphicFramePr>
          <p:cNvPr id="44" name="表格 43"/>
          <p:cNvGraphicFramePr>
            <a:graphicFrameLocks noGrp="1"/>
          </p:cNvGraphicFramePr>
          <p:nvPr/>
        </p:nvGraphicFramePr>
        <p:xfrm>
          <a:off x="792353" y="1740514"/>
          <a:ext cx="9564779" cy="1952941"/>
        </p:xfrm>
        <a:graphic>
          <a:graphicData uri="http://schemas.openxmlformats.org/drawingml/2006/table">
            <a:tbl>
              <a:tblPr/>
              <a:tblGrid>
                <a:gridCol w="1971629">
                  <a:extLst>
                    <a:ext uri="{9D8B030D-6E8A-4147-A177-3AD203B41FA5}">
                      <a16:colId xmlns:a16="http://schemas.microsoft.com/office/drawing/2014/main" val="20000"/>
                    </a:ext>
                  </a:extLst>
                </a:gridCol>
                <a:gridCol w="7593150">
                  <a:extLst>
                    <a:ext uri="{9D8B030D-6E8A-4147-A177-3AD203B41FA5}">
                      <a16:colId xmlns:a16="http://schemas.microsoft.com/office/drawing/2014/main" val="20001"/>
                    </a:ext>
                  </a:extLst>
                </a:gridCol>
              </a:tblGrid>
              <a:tr h="761321">
                <a:tc>
                  <a:txBody>
                    <a:bodyPr/>
                    <a:lstStyle/>
                    <a:p>
                      <a:pPr algn="ctr"/>
                      <a:r>
                        <a:rPr lang="en-US"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Load - Load/Store</a:t>
                      </a:r>
                    </a:p>
                    <a:p>
                      <a:pPr algn="ctr"/>
                      <a:r>
                        <a:rPr lang="zh-CN" altLang="en-US"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ISHLD</a:t>
                      </a:r>
                      <a:r>
                        <a:rPr lang="zh-CN" altLang="en-US"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87449" marR="87449" marT="43725" marB="43725"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zh-CN" alt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屏障之前的读指令必须先完成，但是写指令无须完成。屏障之后的读</a:t>
                      </a:r>
                      <a:r>
                        <a:rPr lang="en-US" altLang="zh-CN"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写指令都必须等待屏障完成。</a:t>
                      </a:r>
                      <a:endParaRPr 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87449" marR="87449" marT="43725" marB="43725"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71661">
                <a:tc>
                  <a:txBody>
                    <a:bodyPr/>
                    <a:lstStyle/>
                    <a:p>
                      <a:pPr algn="ctr"/>
                      <a:r>
                        <a:rPr lang="en-US"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Store – Store</a:t>
                      </a:r>
                    </a:p>
                    <a:p>
                      <a:pPr algn="ctr"/>
                      <a:r>
                        <a:rPr lang="zh-CN" altLang="en-US"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ISHST</a:t>
                      </a:r>
                      <a:r>
                        <a:rPr lang="zh-CN" altLang="en-US"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87449" marR="87449" marT="43725" marB="43725"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187798" rtl="0" eaLnBrk="1" fontAlgn="auto" latinLnBrk="0" hangingPunct="1">
                        <a:lnSpc>
                          <a:spcPct val="100000"/>
                        </a:lnSpc>
                        <a:spcBef>
                          <a:spcPts val="0"/>
                        </a:spcBef>
                        <a:spcAft>
                          <a:spcPts val="0"/>
                        </a:spcAft>
                        <a:buClrTx/>
                        <a:buSzTx/>
                        <a:buFontTx/>
                        <a:buNone/>
                        <a:tabLst/>
                        <a:defRPr/>
                      </a:pPr>
                      <a:r>
                        <a:rPr lang="zh-CN" alt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区别于上一点，屏障只作用于写指令，但是读指令仍然可以在屏障前后随意乱序。</a:t>
                      </a:r>
                      <a:endParaRPr lang="en-US" altLang="zh-CN"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87449" marR="87449" marT="43725" marB="43725"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16490">
                <a:tc>
                  <a:txBody>
                    <a:bodyPr/>
                    <a:lstStyle/>
                    <a:p>
                      <a:pPr algn="ctr"/>
                      <a:r>
                        <a:rPr lang="en-US"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Any – Any</a:t>
                      </a:r>
                    </a:p>
                    <a:p>
                      <a:pPr algn="ctr"/>
                      <a:r>
                        <a:rPr lang="zh-CN" altLang="en-US"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ISH</a:t>
                      </a:r>
                      <a:r>
                        <a:rPr lang="zh-CN" altLang="en-US"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87449" marR="87449" marT="43725" marB="43725"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l"/>
                      <a:r>
                        <a:rPr lang="zh-CN" alt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屏障之前的所有指令都必须完成。屏障之后的所有指令都必须等待屏障完成。</a:t>
                      </a:r>
                      <a:endParaRPr 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87449" marR="87449" marT="43725" marB="43725"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45" name="矩形 44"/>
          <p:cNvSpPr/>
          <p:nvPr/>
        </p:nvSpPr>
        <p:spPr>
          <a:xfrm>
            <a:off x="792353" y="3919077"/>
            <a:ext cx="3021008" cy="185805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6" name="圆角矩形 45"/>
          <p:cNvSpPr/>
          <p:nvPr/>
        </p:nvSpPr>
        <p:spPr>
          <a:xfrm>
            <a:off x="1180925" y="4018140"/>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LDR</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47" name="圆角矩形 46"/>
          <p:cNvSpPr/>
          <p:nvPr/>
        </p:nvSpPr>
        <p:spPr>
          <a:xfrm>
            <a:off x="1610543" y="4348178"/>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48" name="直接连接符 47"/>
          <p:cNvCxnSpPr/>
          <p:nvPr/>
        </p:nvCxnSpPr>
        <p:spPr>
          <a:xfrm>
            <a:off x="792353" y="4835451"/>
            <a:ext cx="688246" cy="450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9" name="圆角矩形 48"/>
          <p:cNvSpPr/>
          <p:nvPr/>
        </p:nvSpPr>
        <p:spPr>
          <a:xfrm>
            <a:off x="1480599" y="4670179"/>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DMB ISHLD</a:t>
            </a:r>
            <a:endPar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50" name="直接连接符 49"/>
          <p:cNvCxnSpPr/>
          <p:nvPr/>
        </p:nvCxnSpPr>
        <p:spPr>
          <a:xfrm flipV="1">
            <a:off x="2512181" y="4823067"/>
            <a:ext cx="130118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1" name="圆角矩形 50"/>
          <p:cNvSpPr/>
          <p:nvPr/>
        </p:nvSpPr>
        <p:spPr>
          <a:xfrm>
            <a:off x="1361273" y="5254769"/>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LDR/STR</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52" name="圆角右箭头 51"/>
          <p:cNvSpPr/>
          <p:nvPr/>
        </p:nvSpPr>
        <p:spPr>
          <a:xfrm rot="5400000">
            <a:off x="2440752" y="3991703"/>
            <a:ext cx="665030" cy="997696"/>
          </a:xfrm>
          <a:prstGeom prst="bentArrow">
            <a:avLst>
              <a:gd name="adj1" fmla="val 7152"/>
              <a:gd name="adj2" fmla="val 18256"/>
              <a:gd name="adj3" fmla="val 25000"/>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3" name="圆角右箭头 52"/>
          <p:cNvSpPr/>
          <p:nvPr/>
        </p:nvSpPr>
        <p:spPr>
          <a:xfrm rot="5400000" flipH="1">
            <a:off x="2774890" y="4724050"/>
            <a:ext cx="616082" cy="838880"/>
          </a:xfrm>
          <a:prstGeom prst="bentArrow">
            <a:avLst>
              <a:gd name="adj1" fmla="val 7576"/>
              <a:gd name="adj2" fmla="val 17876"/>
              <a:gd name="adj3" fmla="val 22057"/>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4" name="圆角矩形 53"/>
          <p:cNvSpPr/>
          <p:nvPr/>
        </p:nvSpPr>
        <p:spPr>
          <a:xfrm>
            <a:off x="1180925" y="4281086"/>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STR</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55" name="圆角右箭头 54"/>
          <p:cNvSpPr/>
          <p:nvPr/>
        </p:nvSpPr>
        <p:spPr>
          <a:xfrm rot="5400000">
            <a:off x="2315962" y="4427415"/>
            <a:ext cx="665030" cy="748117"/>
          </a:xfrm>
          <a:prstGeom prst="bentArrow">
            <a:avLst>
              <a:gd name="adj1" fmla="val 7152"/>
              <a:gd name="adj2" fmla="val 18256"/>
              <a:gd name="adj3" fmla="val 25000"/>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6" name="矩形 55"/>
          <p:cNvSpPr/>
          <p:nvPr/>
        </p:nvSpPr>
        <p:spPr>
          <a:xfrm>
            <a:off x="4022469" y="3919077"/>
            <a:ext cx="3021008" cy="185805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7" name="圆角矩形 56"/>
          <p:cNvSpPr/>
          <p:nvPr/>
        </p:nvSpPr>
        <p:spPr>
          <a:xfrm>
            <a:off x="4439479" y="4018140"/>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LDR</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58" name="圆角矩形 57"/>
          <p:cNvSpPr/>
          <p:nvPr/>
        </p:nvSpPr>
        <p:spPr>
          <a:xfrm>
            <a:off x="4869097" y="4348178"/>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59" name="直接连接符 58"/>
          <p:cNvCxnSpPr/>
          <p:nvPr/>
        </p:nvCxnSpPr>
        <p:spPr>
          <a:xfrm>
            <a:off x="4022469" y="4848103"/>
            <a:ext cx="653784"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0" name="圆角矩形 59"/>
          <p:cNvSpPr/>
          <p:nvPr/>
        </p:nvSpPr>
        <p:spPr>
          <a:xfrm>
            <a:off x="4741593" y="4664658"/>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DMB ISHST</a:t>
            </a:r>
            <a:endPar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61" name="直接连接符 60"/>
          <p:cNvCxnSpPr>
            <a:endCxn id="56" idx="3"/>
          </p:cNvCxnSpPr>
          <p:nvPr/>
        </p:nvCxnSpPr>
        <p:spPr>
          <a:xfrm>
            <a:off x="5758791" y="4823068"/>
            <a:ext cx="1284686"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2" name="圆角矩形 61"/>
          <p:cNvSpPr/>
          <p:nvPr/>
        </p:nvSpPr>
        <p:spPr>
          <a:xfrm>
            <a:off x="4750550" y="5273887"/>
            <a:ext cx="913145"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LDR</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63" name="圆角右箭头 62"/>
          <p:cNvSpPr/>
          <p:nvPr/>
        </p:nvSpPr>
        <p:spPr>
          <a:xfrm rot="5400000">
            <a:off x="5543845" y="4147166"/>
            <a:ext cx="975953" cy="997696"/>
          </a:xfrm>
          <a:prstGeom prst="bentArrow">
            <a:avLst>
              <a:gd name="adj1" fmla="val 5179"/>
              <a:gd name="adj2" fmla="val 9870"/>
              <a:gd name="adj3" fmla="val 17107"/>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4" name="圆角右箭头 63"/>
          <p:cNvSpPr/>
          <p:nvPr/>
        </p:nvSpPr>
        <p:spPr>
          <a:xfrm rot="5400000" flipH="1">
            <a:off x="5655663" y="4346269"/>
            <a:ext cx="982573" cy="1227952"/>
          </a:xfrm>
          <a:prstGeom prst="bentArrow">
            <a:avLst>
              <a:gd name="adj1" fmla="val 5616"/>
              <a:gd name="adj2" fmla="val 9547"/>
              <a:gd name="adj3" fmla="val 16178"/>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5" name="圆角矩形 64"/>
          <p:cNvSpPr/>
          <p:nvPr/>
        </p:nvSpPr>
        <p:spPr>
          <a:xfrm>
            <a:off x="4734956" y="4311885"/>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STR</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66" name="圆角右箭头 65"/>
          <p:cNvSpPr/>
          <p:nvPr/>
        </p:nvSpPr>
        <p:spPr>
          <a:xfrm rot="5400000">
            <a:off x="5729977" y="4260453"/>
            <a:ext cx="354108" cy="748117"/>
          </a:xfrm>
          <a:prstGeom prst="bentArrow">
            <a:avLst>
              <a:gd name="adj1" fmla="val 15309"/>
              <a:gd name="adj2" fmla="val 31852"/>
              <a:gd name="adj3" fmla="val 38595"/>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7" name="圆角矩形 66"/>
          <p:cNvSpPr/>
          <p:nvPr/>
        </p:nvSpPr>
        <p:spPr>
          <a:xfrm>
            <a:off x="4750550" y="4976298"/>
            <a:ext cx="884708"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STR</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68" name="圆角右箭头 67"/>
          <p:cNvSpPr/>
          <p:nvPr/>
        </p:nvSpPr>
        <p:spPr>
          <a:xfrm rot="5400000" flipH="1">
            <a:off x="5739322" y="4642179"/>
            <a:ext cx="338676" cy="734224"/>
          </a:xfrm>
          <a:prstGeom prst="bentArrow">
            <a:avLst>
              <a:gd name="adj1" fmla="val 14368"/>
              <a:gd name="adj2" fmla="val 30610"/>
              <a:gd name="adj3" fmla="val 33942"/>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9" name="矩形 68"/>
          <p:cNvSpPr/>
          <p:nvPr/>
        </p:nvSpPr>
        <p:spPr>
          <a:xfrm>
            <a:off x="7227715" y="3919077"/>
            <a:ext cx="3021008" cy="185805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0" name="圆角矩形 69"/>
          <p:cNvSpPr/>
          <p:nvPr/>
        </p:nvSpPr>
        <p:spPr>
          <a:xfrm>
            <a:off x="7644725" y="4018140"/>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LDR</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71" name="圆角矩形 70"/>
          <p:cNvSpPr/>
          <p:nvPr/>
        </p:nvSpPr>
        <p:spPr>
          <a:xfrm>
            <a:off x="8074343" y="4348178"/>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72" name="直接连接符 71"/>
          <p:cNvCxnSpPr/>
          <p:nvPr/>
        </p:nvCxnSpPr>
        <p:spPr>
          <a:xfrm>
            <a:off x="7224403" y="4835451"/>
            <a:ext cx="731393"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3" name="圆角矩形 72"/>
          <p:cNvSpPr/>
          <p:nvPr/>
        </p:nvSpPr>
        <p:spPr>
          <a:xfrm>
            <a:off x="7941797" y="4670179"/>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DMB ISH</a:t>
            </a:r>
            <a:endPar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74" name="直接连接符 73"/>
          <p:cNvCxnSpPr/>
          <p:nvPr/>
        </p:nvCxnSpPr>
        <p:spPr>
          <a:xfrm>
            <a:off x="8746794" y="4824266"/>
            <a:ext cx="1530367"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5" name="圆角矩形 74"/>
          <p:cNvSpPr/>
          <p:nvPr/>
        </p:nvSpPr>
        <p:spPr>
          <a:xfrm>
            <a:off x="7955796" y="5273887"/>
            <a:ext cx="913145"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LDR</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76" name="圆角右箭头 75"/>
          <p:cNvSpPr/>
          <p:nvPr/>
        </p:nvSpPr>
        <p:spPr>
          <a:xfrm rot="5400000">
            <a:off x="8910303" y="3985953"/>
            <a:ext cx="653528" cy="997696"/>
          </a:xfrm>
          <a:prstGeom prst="bentArrow">
            <a:avLst>
              <a:gd name="adj1" fmla="val 7386"/>
              <a:gd name="adj2" fmla="val 14819"/>
              <a:gd name="adj3" fmla="val 21067"/>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7" name="圆角右箭头 76"/>
          <p:cNvSpPr/>
          <p:nvPr/>
        </p:nvSpPr>
        <p:spPr>
          <a:xfrm rot="5400000" flipH="1">
            <a:off x="8931277" y="4646893"/>
            <a:ext cx="611578" cy="997696"/>
          </a:xfrm>
          <a:prstGeom prst="bentArrow">
            <a:avLst>
              <a:gd name="adj1" fmla="val 8437"/>
              <a:gd name="adj2" fmla="val 15894"/>
              <a:gd name="adj3" fmla="val 18294"/>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8" name="圆角矩形 77"/>
          <p:cNvSpPr/>
          <p:nvPr/>
        </p:nvSpPr>
        <p:spPr>
          <a:xfrm>
            <a:off x="7644725" y="4281086"/>
            <a:ext cx="1411993"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STR</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79" name="圆角右箭头 78"/>
          <p:cNvSpPr/>
          <p:nvPr/>
        </p:nvSpPr>
        <p:spPr>
          <a:xfrm rot="5400000">
            <a:off x="8935223" y="4260453"/>
            <a:ext cx="354108" cy="748117"/>
          </a:xfrm>
          <a:prstGeom prst="bentArrow">
            <a:avLst>
              <a:gd name="adj1" fmla="val 15309"/>
              <a:gd name="adj2" fmla="val 31852"/>
              <a:gd name="adj3" fmla="val 38595"/>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0" name="圆角矩形 79"/>
          <p:cNvSpPr/>
          <p:nvPr/>
        </p:nvSpPr>
        <p:spPr>
          <a:xfrm>
            <a:off x="7955796" y="4976298"/>
            <a:ext cx="884708" cy="327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STR</a:t>
            </a:r>
            <a:r>
              <a:rPr kumimoji="0" lang="zh-CN" altLang="en-US" sz="12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81" name="圆角右箭头 80"/>
          <p:cNvSpPr/>
          <p:nvPr/>
        </p:nvSpPr>
        <p:spPr>
          <a:xfrm rot="5400000" flipH="1">
            <a:off x="8944568" y="4642179"/>
            <a:ext cx="338676" cy="734224"/>
          </a:xfrm>
          <a:prstGeom prst="bentArrow">
            <a:avLst>
              <a:gd name="adj1" fmla="val 14368"/>
              <a:gd name="adj2" fmla="val 30610"/>
              <a:gd name="adj3" fmla="val 33942"/>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235144785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sym typeface="Huawei Sans" panose="020C0503030203020204" pitchFamily="34" charset="0"/>
              </a:rPr>
              <a:t>语义 </a:t>
            </a:r>
            <a:r>
              <a:rPr lang="en-US" altLang="zh-CN" dirty="0">
                <a:sym typeface="Huawei Sans" panose="020C0503030203020204" pitchFamily="34" charset="0"/>
              </a:rPr>
              <a:t>(2)</a:t>
            </a:r>
            <a:endParaRPr lang="zh-CN" altLang="en-US" dirty="0">
              <a:sym typeface="Huawei Sans" panose="020C0503030203020204" pitchFamily="34" charset="0"/>
            </a:endParaRPr>
          </a:p>
        </p:txBody>
      </p:sp>
      <p:sp>
        <p:nvSpPr>
          <p:cNvPr id="99" name="文本占位符 4"/>
          <p:cNvSpPr txBox="1">
            <a:spLocks/>
          </p:cNvSpPr>
          <p:nvPr/>
        </p:nvSpPr>
        <p:spPr>
          <a:xfrm>
            <a:off x="731838" y="1047750"/>
            <a:ext cx="10728326" cy="4900044"/>
          </a:xfrm>
          <a:prstGeom prst="rect">
            <a:avLst/>
          </a:prstGeom>
        </p:spPr>
        <p:txBody>
          <a:bodyPr/>
          <a:lst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marR="0" lvl="0" indent="0" algn="l" defTabSz="914034" rtl="0" eaLnBrk="1" fontAlgn="ctr" latinLnBrk="0" hangingPunct="1">
              <a:lnSpc>
                <a:spcPct val="140000"/>
              </a:lnSpc>
              <a:spcBef>
                <a:spcPts val="792"/>
              </a:spcBef>
              <a:spcAft>
                <a:spcPts val="0"/>
              </a:spcAft>
              <a:buClrTx/>
              <a:buSzPct val="50000"/>
              <a:buFont typeface="Wingdings" panose="05000000000000000000" pitchFamily="2" charset="2"/>
              <a:buNone/>
              <a:tabLst/>
              <a:defRPr/>
            </a:pPr>
            <a:r>
              <a:rPr kumimoji="0" lang="zh-CN" altLang="en-US" sz="22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cs"/>
                <a:sym typeface="Huawei Sans" panose="020C0503030203020204" pitchFamily="34" charset="0"/>
              </a:rPr>
              <a:t>存储器提供的内存屏障语义：</a:t>
            </a:r>
          </a:p>
        </p:txBody>
      </p:sp>
      <p:graphicFrame>
        <p:nvGraphicFramePr>
          <p:cNvPr id="100" name="表格 99"/>
          <p:cNvGraphicFramePr>
            <a:graphicFrameLocks noGrp="1"/>
          </p:cNvGraphicFramePr>
          <p:nvPr/>
        </p:nvGraphicFramePr>
        <p:xfrm>
          <a:off x="920528" y="1960442"/>
          <a:ext cx="9263221" cy="884290"/>
        </p:xfrm>
        <a:graphic>
          <a:graphicData uri="http://schemas.openxmlformats.org/drawingml/2006/table">
            <a:tbl>
              <a:tblPr/>
              <a:tblGrid>
                <a:gridCol w="2735103">
                  <a:extLst>
                    <a:ext uri="{9D8B030D-6E8A-4147-A177-3AD203B41FA5}">
                      <a16:colId xmlns:a16="http://schemas.microsoft.com/office/drawing/2014/main" val="20000"/>
                    </a:ext>
                  </a:extLst>
                </a:gridCol>
                <a:gridCol w="6528118">
                  <a:extLst>
                    <a:ext uri="{9D8B030D-6E8A-4147-A177-3AD203B41FA5}">
                      <a16:colId xmlns:a16="http://schemas.microsoft.com/office/drawing/2014/main" val="20001"/>
                    </a:ext>
                  </a:extLst>
                </a:gridCol>
              </a:tblGrid>
              <a:tr h="442145">
                <a:tc>
                  <a:txBody>
                    <a:bodyPr/>
                    <a:lstStyle/>
                    <a:p>
                      <a:pPr algn="l"/>
                      <a:r>
                        <a:rPr lang="en-US"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Load-Acquire (LDAR)</a:t>
                      </a:r>
                      <a:endParaRPr 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zh-CN" alt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所有在</a:t>
                      </a:r>
                      <a:r>
                        <a:rPr lang="en-US" altLang="zh-CN"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LDAR</a:t>
                      </a:r>
                      <a:r>
                        <a:rPr lang="zh-CN" alt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之后的读写指令，必然在</a:t>
                      </a:r>
                      <a:r>
                        <a:rPr lang="en-US" altLang="zh-CN"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LDAR</a:t>
                      </a:r>
                      <a:r>
                        <a:rPr lang="zh-CN" alt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之后才可被其他</a:t>
                      </a:r>
                      <a:r>
                        <a:rPr lang="en-US" altLang="zh-CN"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CPU</a:t>
                      </a:r>
                      <a:r>
                        <a:rPr lang="zh-CN" alt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感知。</a:t>
                      </a:r>
                      <a:endParaRPr 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42145">
                <a:tc>
                  <a:txBody>
                    <a:bodyPr/>
                    <a:lstStyle/>
                    <a:p>
                      <a:pPr algn="l"/>
                      <a:r>
                        <a:rPr lang="en-US" sz="1600" b="1"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Store-Release (STLR)</a:t>
                      </a:r>
                      <a:endParaRPr 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l"/>
                      <a:r>
                        <a:rPr lang="zh-CN" alt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所有在</a:t>
                      </a:r>
                      <a:r>
                        <a:rPr lang="en-US" altLang="zh-CN"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STLR</a:t>
                      </a:r>
                      <a:r>
                        <a:rPr lang="zh-CN" alt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之前的读写指令，必然在</a:t>
                      </a:r>
                      <a:r>
                        <a:rPr lang="en-US" altLang="zh-CN"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STLR</a:t>
                      </a:r>
                      <a:r>
                        <a:rPr lang="zh-CN" alt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之前就能被其他</a:t>
                      </a:r>
                      <a:r>
                        <a:rPr lang="en-US" altLang="zh-CN"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CPU</a:t>
                      </a:r>
                      <a:r>
                        <a:rPr lang="zh-CN" altLang="en-US"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感知。</a:t>
                      </a:r>
                      <a:endParaRPr lang="en-US" altLang="zh-CN" sz="1600" b="0" i="0" dirty="0">
                        <a:solidFill>
                          <a:schemeClr val="tx1"/>
                        </a:solidFill>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101" name="矩形 100"/>
          <p:cNvSpPr/>
          <p:nvPr/>
        </p:nvSpPr>
        <p:spPr>
          <a:xfrm>
            <a:off x="904653" y="3117425"/>
            <a:ext cx="3505200" cy="2051826"/>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02" name="直接连接符 101"/>
          <p:cNvCxnSpPr/>
          <p:nvPr/>
        </p:nvCxnSpPr>
        <p:spPr>
          <a:xfrm>
            <a:off x="920528" y="3772251"/>
            <a:ext cx="1317625"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03" name="圆角矩形 102"/>
          <p:cNvSpPr/>
          <p:nvPr/>
        </p:nvSpPr>
        <p:spPr>
          <a:xfrm>
            <a:off x="1355503" y="3267426"/>
            <a:ext cx="1638300" cy="3619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LDR/STR</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104" name="圆角矩形 103"/>
          <p:cNvSpPr/>
          <p:nvPr/>
        </p:nvSpPr>
        <p:spPr>
          <a:xfrm>
            <a:off x="1853978" y="3591276"/>
            <a:ext cx="1638300" cy="3619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LDAR X</a:t>
            </a:r>
            <a:endPar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05" name="直接连接符 104"/>
          <p:cNvCxnSpPr/>
          <p:nvPr/>
        </p:nvCxnSpPr>
        <p:spPr>
          <a:xfrm>
            <a:off x="3075692" y="3782552"/>
            <a:ext cx="1334161"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06" name="圆角矩形 105"/>
          <p:cNvSpPr/>
          <p:nvPr/>
        </p:nvSpPr>
        <p:spPr>
          <a:xfrm>
            <a:off x="1355503" y="3896077"/>
            <a:ext cx="1638300" cy="3619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LDR/STR</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cxnSp>
        <p:nvCxnSpPr>
          <p:cNvPr id="107" name="直接连接符 106"/>
          <p:cNvCxnSpPr/>
          <p:nvPr/>
        </p:nvCxnSpPr>
        <p:spPr>
          <a:xfrm>
            <a:off x="920528" y="4446127"/>
            <a:ext cx="1317625"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08" name="圆角矩形 107"/>
          <p:cNvSpPr/>
          <p:nvPr/>
        </p:nvSpPr>
        <p:spPr>
          <a:xfrm>
            <a:off x="1853978" y="4265152"/>
            <a:ext cx="1638300" cy="3619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STLR X</a:t>
            </a:r>
            <a:endPar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09" name="直接连接符 108"/>
          <p:cNvCxnSpPr/>
          <p:nvPr/>
        </p:nvCxnSpPr>
        <p:spPr>
          <a:xfrm>
            <a:off x="3075689" y="4427077"/>
            <a:ext cx="1334164"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0" name="圆角矩形 109"/>
          <p:cNvSpPr/>
          <p:nvPr/>
        </p:nvSpPr>
        <p:spPr>
          <a:xfrm>
            <a:off x="1355503" y="4583040"/>
            <a:ext cx="1638300" cy="3619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LDR/STR</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指令</a:t>
            </a:r>
          </a:p>
        </p:txBody>
      </p:sp>
      <p:sp>
        <p:nvSpPr>
          <p:cNvPr id="111" name="右大括号 110"/>
          <p:cNvSpPr/>
          <p:nvPr/>
        </p:nvSpPr>
        <p:spPr>
          <a:xfrm>
            <a:off x="4444777" y="3753201"/>
            <a:ext cx="174623" cy="69292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2" name="文本框 111"/>
          <p:cNvSpPr txBox="1"/>
          <p:nvPr/>
        </p:nvSpPr>
        <p:spPr>
          <a:xfrm>
            <a:off x="904653" y="5566127"/>
            <a:ext cx="10017125" cy="553998"/>
          </a:xfrm>
          <a:prstGeom prst="rect">
            <a:avLst/>
          </a:prstGeom>
          <a:noFill/>
        </p:spPr>
        <p:txBody>
          <a:bodyPr wrap="square" lIns="0" tIns="0" rIns="0" bIns="0"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ARMv8</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中的指令是：非独占操作</a:t>
            </a:r>
            <a:r>
              <a:rPr kumimoji="0" lang="en-US" altLang="zh-CN" sz="18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LDAR </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x/</a:t>
            </a:r>
            <a:r>
              <a:rPr kumimoji="0" lang="en-US" altLang="zh-CN" sz="18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STLR </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x</a:t>
            </a:r>
            <a:r>
              <a:rPr kumimoji="0" lang="zh-CN" altLang="en-US"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，独占操作</a:t>
            </a:r>
            <a:r>
              <a:rPr kumimoji="0" lang="en-US" altLang="zh-CN" sz="18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LDAXR</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 x/</a:t>
            </a:r>
            <a:r>
              <a:rPr kumimoji="0" lang="en-US" altLang="zh-CN" sz="1800" b="1"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STXR</a:t>
            </a:r>
            <a:r>
              <a:rPr kumimoji="0" lang="en-US" altLang="zh-CN" sz="18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 x</a:t>
            </a:r>
          </a:p>
          <a:p>
            <a:pPr marL="0" marR="0" lvl="0" indent="0" algn="l" defTabSz="914478"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3" name="文本框 112"/>
          <p:cNvSpPr txBox="1"/>
          <p:nvPr/>
        </p:nvSpPr>
        <p:spPr>
          <a:xfrm>
            <a:off x="6099494" y="3401298"/>
            <a:ext cx="4713817" cy="1292662"/>
          </a:xfrm>
          <a:prstGeom prst="rect">
            <a:avLst/>
          </a:prstGeom>
          <a:noFill/>
        </p:spPr>
        <p:txBody>
          <a:bodyPr wrap="square" lIns="0" tIns="0" rIns="0" bIns="0" rtlCol="0">
            <a:spAutoFit/>
          </a:bodyPr>
          <a:lstStyle/>
          <a:p>
            <a:pPr marL="296863" marR="0" lvl="0" indent="-285750" algn="l" defTabSz="914478"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而</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STLR</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可以</a:t>
            </a:r>
            <a:r>
              <a:rPr kumimoji="0" lang="zh-CN" altLang="en-US" sz="1400" b="0"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保证</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在</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STLR</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执行成功时，所有之前的内存访问都是对其他</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Processor</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可见的，且同一时刻对所有的</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Cache</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生效。</a:t>
            </a:r>
            <a:endPar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marR="0" lvl="0" indent="0" algn="l" defTabSz="914478" rtl="0" eaLnBrk="1" fontAlgn="auto" latinLnBrk="0" hangingPunct="1">
              <a:lnSpc>
                <a:spcPct val="150000"/>
              </a:lnSpc>
              <a:spcBef>
                <a:spcPts val="0"/>
              </a:spcBef>
              <a:spcAft>
                <a:spcPts val="0"/>
              </a:spcAft>
              <a:buClrTx/>
              <a:buSzTx/>
              <a:buFontTx/>
              <a:buNone/>
              <a:tabLst/>
              <a:defRPr/>
            </a:pPr>
            <a:endParaRPr kumimoji="1" lang="zh-CN" altLang="en-US" sz="14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4" name="文本框 113"/>
          <p:cNvSpPr txBox="1"/>
          <p:nvPr/>
        </p:nvSpPr>
        <p:spPr>
          <a:xfrm>
            <a:off x="4681429" y="3961164"/>
            <a:ext cx="1141299" cy="276999"/>
          </a:xfrm>
          <a:prstGeom prst="rect">
            <a:avLst/>
          </a:prstGeom>
          <a:noFill/>
        </p:spPr>
        <p:txBody>
          <a:bodyPr wrap="square" lIns="0" tIns="0" rIns="0" bIns="0" rtlCol="0">
            <a:spAutoFit/>
          </a:bodyPr>
          <a:lstStyle/>
          <a:p>
            <a:pPr marL="0" marR="0" lvl="0" indent="0" algn="l" defTabSz="914478"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临界区</a:t>
            </a:r>
          </a:p>
        </p:txBody>
      </p:sp>
      <p:sp>
        <p:nvSpPr>
          <p:cNvPr id="115" name="圆角右箭头 114"/>
          <p:cNvSpPr/>
          <p:nvPr/>
        </p:nvSpPr>
        <p:spPr>
          <a:xfrm rot="5400000">
            <a:off x="2905890" y="3551106"/>
            <a:ext cx="1045773" cy="706169"/>
          </a:xfrm>
          <a:prstGeom prst="bentArrow">
            <a:avLst>
              <a:gd name="adj1" fmla="val 8814"/>
              <a:gd name="adj2" fmla="val 18256"/>
              <a:gd name="adj3" fmla="val 25000"/>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6" name="圆角右箭头 115"/>
          <p:cNvSpPr/>
          <p:nvPr/>
        </p:nvSpPr>
        <p:spPr>
          <a:xfrm rot="5400000" flipH="1">
            <a:off x="3181573" y="3676667"/>
            <a:ext cx="1027148" cy="1238915"/>
          </a:xfrm>
          <a:prstGeom prst="bentArrow">
            <a:avLst>
              <a:gd name="adj1" fmla="val 5721"/>
              <a:gd name="adj2" fmla="val 11625"/>
              <a:gd name="adj3" fmla="val 15805"/>
              <a:gd name="adj4" fmla="val 39913"/>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83683515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prstGeom prst="rect">
            <a:avLst/>
          </a:prstGeom>
        </p:spPr>
        <p:txBody>
          <a:bodyPr/>
          <a:lstStyle/>
          <a:p>
            <a:pPr>
              <a:defRPr/>
            </a:pPr>
            <a:fld id="{735FD82A-B7E6-45EF-A6AD-CFE05C0DE389}" type="slidenum">
              <a:rPr lang="en-US" altLang="ko-KR" smtClean="0"/>
              <a:pPr>
                <a:defRPr/>
              </a:pPr>
              <a:t>91</a:t>
            </a:fld>
            <a:endParaRPr lang="en-US" altLang="ko-KR"/>
          </a:p>
        </p:txBody>
      </p:sp>
      <p:sp>
        <p:nvSpPr>
          <p:cNvPr id="2" name="标题 1"/>
          <p:cNvSpPr>
            <a:spLocks noGrp="1"/>
          </p:cNvSpPr>
          <p:nvPr>
            <p:ph type="title"/>
          </p:nvPr>
        </p:nvSpPr>
        <p:spPr>
          <a:prstGeom prst="rect">
            <a:avLst/>
          </a:prstGeom>
        </p:spPr>
        <p:txBody>
          <a:bodyPr/>
          <a:lstStyle/>
          <a:p>
            <a:r>
              <a:rPr lang="en-US" altLang="zh-CN" dirty="0" err="1"/>
              <a:t>pLock</a:t>
            </a:r>
            <a:r>
              <a:rPr lang="zh-CN" altLang="en-US" dirty="0"/>
              <a:t>：神威太湖之光上的锁机制</a:t>
            </a:r>
          </a:p>
        </p:txBody>
      </p:sp>
      <p:pic>
        <p:nvPicPr>
          <p:cNvPr id="7" name="内容占位符 6"/>
          <p:cNvPicPr>
            <a:picLocks noGrp="1" noChangeAspect="1"/>
          </p:cNvPicPr>
          <p:nvPr>
            <p:ph idx="1"/>
          </p:nvPr>
        </p:nvPicPr>
        <p:blipFill>
          <a:blip r:embed="rId2"/>
          <a:stretch>
            <a:fillRect/>
          </a:stretch>
        </p:blipFill>
        <p:spPr>
          <a:xfrm>
            <a:off x="2006015" y="1570038"/>
            <a:ext cx="8179970" cy="4351337"/>
          </a:xfrm>
          <a:prstGeom prst="rect">
            <a:avLst/>
          </a:prstGeom>
        </p:spPr>
      </p:pic>
      <p:sp>
        <p:nvSpPr>
          <p:cNvPr id="3" name="矩形 2"/>
          <p:cNvSpPr/>
          <p:nvPr/>
        </p:nvSpPr>
        <p:spPr>
          <a:xfrm>
            <a:off x="2203450" y="5786204"/>
            <a:ext cx="8058150" cy="738664"/>
          </a:xfrm>
          <a:prstGeom prst="rect">
            <a:avLst/>
          </a:prstGeom>
        </p:spPr>
        <p:txBody>
          <a:bodyPr wrap="square">
            <a:spAutoFit/>
          </a:bodyPr>
          <a:lstStyle/>
          <a:p>
            <a:r>
              <a:rPr lang="en-US" altLang="zh-CN" sz="1400" i="1" dirty="0" err="1">
                <a:solidFill>
                  <a:srgbClr val="333333"/>
                </a:solidFill>
                <a:latin typeface="Courier New" panose="02070309020205020404" pitchFamily="49" charset="0"/>
              </a:rPr>
              <a:t>Xiongchao</a:t>
            </a:r>
            <a:r>
              <a:rPr lang="en-US" altLang="zh-CN" sz="1400" i="1" dirty="0">
                <a:solidFill>
                  <a:srgbClr val="333333"/>
                </a:solidFill>
                <a:latin typeface="Courier New" panose="02070309020205020404" pitchFamily="49" charset="0"/>
              </a:rPr>
              <a:t> Tang, </a:t>
            </a:r>
            <a:r>
              <a:rPr lang="en-US" altLang="zh-CN" sz="1400" i="1" dirty="0" err="1">
                <a:solidFill>
                  <a:srgbClr val="333333"/>
                </a:solidFill>
                <a:latin typeface="Courier New" panose="02070309020205020404" pitchFamily="49" charset="0"/>
              </a:rPr>
              <a:t>Jidong</a:t>
            </a:r>
            <a:r>
              <a:rPr lang="en-US" altLang="zh-CN" sz="1400" i="1" dirty="0">
                <a:solidFill>
                  <a:srgbClr val="333333"/>
                </a:solidFill>
                <a:latin typeface="Courier New" panose="02070309020205020404" pitchFamily="49" charset="0"/>
              </a:rPr>
              <a:t> </a:t>
            </a:r>
            <a:r>
              <a:rPr lang="en-US" altLang="zh-CN" sz="1400" i="1" dirty="0" err="1">
                <a:solidFill>
                  <a:srgbClr val="333333"/>
                </a:solidFill>
                <a:latin typeface="Courier New" panose="02070309020205020404" pitchFamily="49" charset="0"/>
              </a:rPr>
              <a:t>Zhai</a:t>
            </a:r>
            <a:r>
              <a:rPr lang="en-US" altLang="zh-CN" sz="1400" i="1" dirty="0">
                <a:solidFill>
                  <a:srgbClr val="333333"/>
                </a:solidFill>
                <a:latin typeface="Courier New" panose="02070309020205020404" pitchFamily="49" charset="0"/>
              </a:rPr>
              <a:t>, </a:t>
            </a:r>
            <a:r>
              <a:rPr lang="en-US" altLang="zh-CN" sz="1400" i="1" dirty="0" err="1">
                <a:solidFill>
                  <a:srgbClr val="333333"/>
                </a:solidFill>
                <a:latin typeface="Courier New" panose="02070309020205020404" pitchFamily="49" charset="0"/>
              </a:rPr>
              <a:t>Xuehai</a:t>
            </a:r>
            <a:r>
              <a:rPr lang="en-US" altLang="zh-CN" sz="1400" i="1" dirty="0">
                <a:solidFill>
                  <a:srgbClr val="333333"/>
                </a:solidFill>
                <a:latin typeface="Courier New" panose="02070309020205020404" pitchFamily="49" charset="0"/>
              </a:rPr>
              <a:t> Qian, and </a:t>
            </a:r>
            <a:r>
              <a:rPr lang="en-US" altLang="zh-CN" sz="1400" i="1" dirty="0" err="1">
                <a:solidFill>
                  <a:srgbClr val="333333"/>
                </a:solidFill>
                <a:latin typeface="Courier New" panose="02070309020205020404" pitchFamily="49" charset="0"/>
              </a:rPr>
              <a:t>Wenguang</a:t>
            </a:r>
            <a:r>
              <a:rPr lang="en-US" altLang="zh-CN" sz="1400" i="1" dirty="0">
                <a:solidFill>
                  <a:srgbClr val="333333"/>
                </a:solidFill>
                <a:latin typeface="Courier New" panose="02070309020205020404" pitchFamily="49" charset="0"/>
              </a:rPr>
              <a:t> Chen. 2019. </a:t>
            </a:r>
            <a:r>
              <a:rPr lang="en-US" altLang="zh-CN" sz="1400" i="1" dirty="0" err="1">
                <a:solidFill>
                  <a:srgbClr val="333333"/>
                </a:solidFill>
                <a:latin typeface="Courier New" panose="02070309020205020404" pitchFamily="49" charset="0"/>
              </a:rPr>
              <a:t>PLock</a:t>
            </a:r>
            <a:r>
              <a:rPr lang="en-US" altLang="zh-CN" sz="1400" i="1" dirty="0">
                <a:solidFill>
                  <a:srgbClr val="333333"/>
                </a:solidFill>
                <a:latin typeface="Courier New" panose="02070309020205020404" pitchFamily="49" charset="0"/>
              </a:rPr>
              <a:t>: A Fast Lock for Architectures with Explicit Inter-core Message Passing. (ASPLOS '19).</a:t>
            </a:r>
            <a:endParaRPr lang="zh-CN" altLang="en-US" sz="1400" dirty="0"/>
          </a:p>
        </p:txBody>
      </p:sp>
    </p:spTree>
    <p:extLst>
      <p:ext uri="{BB962C8B-B14F-4D97-AF65-F5344CB8AC3E}">
        <p14:creationId xmlns:p14="http://schemas.microsoft.com/office/powerpoint/2010/main" val="171980515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prstGeom prst="rect">
            <a:avLst/>
          </a:prstGeom>
        </p:spPr>
        <p:txBody>
          <a:bodyPr/>
          <a:lstStyle/>
          <a:p>
            <a:pPr>
              <a:defRPr/>
            </a:pPr>
            <a:fld id="{735FD82A-B7E6-45EF-A6AD-CFE05C0DE389}" type="slidenum">
              <a:rPr lang="en-US" altLang="ko-KR" smtClean="0"/>
              <a:pPr>
                <a:defRPr/>
              </a:pPr>
              <a:t>92</a:t>
            </a:fld>
            <a:endParaRPr lang="en-US" altLang="ko-KR"/>
          </a:p>
        </p:txBody>
      </p:sp>
      <p:sp>
        <p:nvSpPr>
          <p:cNvPr id="2" name="标题 1"/>
          <p:cNvSpPr>
            <a:spLocks noGrp="1"/>
          </p:cNvSpPr>
          <p:nvPr>
            <p:ph type="title"/>
          </p:nvPr>
        </p:nvSpPr>
        <p:spPr>
          <a:prstGeom prst="rect">
            <a:avLst/>
          </a:prstGeom>
        </p:spPr>
        <p:txBody>
          <a:bodyPr/>
          <a:lstStyle/>
          <a:p>
            <a:r>
              <a:rPr lang="en-US" altLang="zh-CN" dirty="0" err="1"/>
              <a:t>pLock</a:t>
            </a:r>
            <a:r>
              <a:rPr lang="zh-CN" altLang="en-US" dirty="0"/>
              <a:t>：神威太湖之光上的锁机制</a:t>
            </a:r>
          </a:p>
        </p:txBody>
      </p:sp>
      <p:pic>
        <p:nvPicPr>
          <p:cNvPr id="8" name="内容占位符 7"/>
          <p:cNvPicPr>
            <a:picLocks noGrp="1" noChangeAspect="1"/>
          </p:cNvPicPr>
          <p:nvPr>
            <p:ph idx="1"/>
          </p:nvPr>
        </p:nvPicPr>
        <p:blipFill>
          <a:blip r:embed="rId2"/>
          <a:stretch>
            <a:fillRect/>
          </a:stretch>
        </p:blipFill>
        <p:spPr>
          <a:xfrm>
            <a:off x="2644650" y="1570038"/>
            <a:ext cx="6902700" cy="4351337"/>
          </a:xfrm>
          <a:prstGeom prst="rect">
            <a:avLst/>
          </a:prstGeom>
        </p:spPr>
      </p:pic>
    </p:spTree>
    <p:extLst>
      <p:ext uri="{BB962C8B-B14F-4D97-AF65-F5344CB8AC3E}">
        <p14:creationId xmlns:p14="http://schemas.microsoft.com/office/powerpoint/2010/main" val="292226326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prstGeom prst="rect">
            <a:avLst/>
          </a:prstGeom>
        </p:spPr>
        <p:txBody>
          <a:bodyPr/>
          <a:lstStyle/>
          <a:p>
            <a:pPr>
              <a:defRPr/>
            </a:pPr>
            <a:fld id="{735FD82A-B7E6-45EF-A6AD-CFE05C0DE389}" type="slidenum">
              <a:rPr lang="en-US" altLang="ko-KR" smtClean="0"/>
              <a:pPr>
                <a:defRPr/>
              </a:pPr>
              <a:t>93</a:t>
            </a:fld>
            <a:endParaRPr lang="en-US" altLang="ko-KR"/>
          </a:p>
        </p:txBody>
      </p:sp>
      <p:sp>
        <p:nvSpPr>
          <p:cNvPr id="2" name="标题 1"/>
          <p:cNvSpPr>
            <a:spLocks noGrp="1"/>
          </p:cNvSpPr>
          <p:nvPr>
            <p:ph type="title"/>
          </p:nvPr>
        </p:nvSpPr>
        <p:spPr>
          <a:prstGeom prst="rect">
            <a:avLst/>
          </a:prstGeom>
        </p:spPr>
        <p:txBody>
          <a:bodyPr/>
          <a:lstStyle/>
          <a:p>
            <a:r>
              <a:rPr lang="en-US" altLang="zh-CN" dirty="0" err="1"/>
              <a:t>pLock</a:t>
            </a:r>
            <a:r>
              <a:rPr lang="zh-CN" altLang="en-US" dirty="0"/>
              <a:t>：神威太湖之光上的锁机制</a:t>
            </a:r>
          </a:p>
        </p:txBody>
      </p:sp>
      <p:pic>
        <p:nvPicPr>
          <p:cNvPr id="8" name="内容占位符 7"/>
          <p:cNvPicPr>
            <a:picLocks noGrp="1" noChangeAspect="1"/>
          </p:cNvPicPr>
          <p:nvPr>
            <p:ph idx="1"/>
          </p:nvPr>
        </p:nvPicPr>
        <p:blipFill>
          <a:blip r:embed="rId2"/>
          <a:stretch>
            <a:fillRect/>
          </a:stretch>
        </p:blipFill>
        <p:spPr>
          <a:xfrm>
            <a:off x="2677461" y="1570038"/>
            <a:ext cx="6837077" cy="4351337"/>
          </a:xfrm>
          <a:prstGeom prst="rect">
            <a:avLst/>
          </a:prstGeom>
        </p:spPr>
      </p:pic>
    </p:spTree>
    <p:extLst>
      <p:ext uri="{BB962C8B-B14F-4D97-AF65-F5344CB8AC3E}">
        <p14:creationId xmlns:p14="http://schemas.microsoft.com/office/powerpoint/2010/main" val="142891657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prstGeom prst="rect">
            <a:avLst/>
          </a:prstGeom>
        </p:spPr>
        <p:txBody>
          <a:bodyPr/>
          <a:lstStyle/>
          <a:p>
            <a:pPr>
              <a:defRPr/>
            </a:pPr>
            <a:fld id="{735FD82A-B7E6-45EF-A6AD-CFE05C0DE389}" type="slidenum">
              <a:rPr lang="en-US" altLang="ko-KR" smtClean="0"/>
              <a:pPr>
                <a:defRPr/>
              </a:pPr>
              <a:t>94</a:t>
            </a:fld>
            <a:endParaRPr lang="en-US" altLang="ko-KR"/>
          </a:p>
        </p:txBody>
      </p:sp>
      <p:sp>
        <p:nvSpPr>
          <p:cNvPr id="2" name="标题 1"/>
          <p:cNvSpPr>
            <a:spLocks noGrp="1"/>
          </p:cNvSpPr>
          <p:nvPr>
            <p:ph type="title"/>
          </p:nvPr>
        </p:nvSpPr>
        <p:spPr>
          <a:prstGeom prst="rect">
            <a:avLst/>
          </a:prstGeom>
        </p:spPr>
        <p:txBody>
          <a:bodyPr/>
          <a:lstStyle/>
          <a:p>
            <a:r>
              <a:rPr lang="en-US" altLang="zh-CN" dirty="0" err="1"/>
              <a:t>pLock</a:t>
            </a:r>
            <a:r>
              <a:rPr lang="zh-CN" altLang="en-US" dirty="0"/>
              <a:t>：神威太湖之光上的锁机制</a:t>
            </a:r>
          </a:p>
        </p:txBody>
      </p:sp>
      <p:pic>
        <p:nvPicPr>
          <p:cNvPr id="7" name="内容占位符 6"/>
          <p:cNvPicPr>
            <a:picLocks noGrp="1" noChangeAspect="1"/>
          </p:cNvPicPr>
          <p:nvPr>
            <p:ph idx="1"/>
          </p:nvPr>
        </p:nvPicPr>
        <p:blipFill>
          <a:blip r:embed="rId2"/>
          <a:stretch>
            <a:fillRect/>
          </a:stretch>
        </p:blipFill>
        <p:spPr>
          <a:xfrm>
            <a:off x="3213559" y="1570038"/>
            <a:ext cx="5764882" cy="4351337"/>
          </a:xfrm>
          <a:prstGeom prst="rect">
            <a:avLst/>
          </a:prstGeom>
        </p:spPr>
      </p:pic>
    </p:spTree>
    <p:extLst>
      <p:ext uri="{BB962C8B-B14F-4D97-AF65-F5344CB8AC3E}">
        <p14:creationId xmlns:p14="http://schemas.microsoft.com/office/powerpoint/2010/main" val="386976305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p:cNvGrpSpPr/>
          <p:nvPr/>
        </p:nvGrpSpPr>
        <p:grpSpPr>
          <a:xfrm>
            <a:off x="1068011" y="2540595"/>
            <a:ext cx="4193370" cy="354902"/>
            <a:chOff x="698381" y="5830253"/>
            <a:chExt cx="5040000" cy="266466"/>
          </a:xfrm>
        </p:grpSpPr>
        <p:sp>
          <p:nvSpPr>
            <p:cNvPr id="34" name="梯形 33"/>
            <p:cNvSpPr/>
            <p:nvPr/>
          </p:nvSpPr>
          <p:spPr>
            <a:xfrm>
              <a:off x="734381" y="5844719"/>
              <a:ext cx="4968000" cy="252000"/>
            </a:xfrm>
            <a:prstGeom prst="trapezoid">
              <a:avLst>
                <a:gd name="adj" fmla="val 234568"/>
              </a:avLst>
            </a:prstGeom>
            <a:gradFill>
              <a:gsLst>
                <a:gs pos="100000">
                  <a:srgbClr val="666666">
                    <a:lumMod val="60000"/>
                    <a:lumOff val="40000"/>
                    <a:alpha val="10000"/>
                  </a:srgbClr>
                </a:gs>
                <a:gs pos="0">
                  <a:srgbClr val="666666">
                    <a:lumMod val="60000"/>
                    <a:lumOff val="40000"/>
                    <a:alpha val="0"/>
                  </a:srgbClr>
                </a:gs>
              </a:gsLst>
              <a:lin ang="5400000" scaled="0"/>
            </a:gradFill>
            <a:ln w="12700">
              <a:gradFill>
                <a:gsLst>
                  <a:gs pos="100000">
                    <a:srgbClr val="666666">
                      <a:lumMod val="60000"/>
                      <a:lumOff val="40000"/>
                      <a:alpha val="15000"/>
                    </a:srgbClr>
                  </a:gs>
                  <a:gs pos="0">
                    <a:srgbClr val="666666">
                      <a:lumMod val="60000"/>
                      <a:lumOff val="40000"/>
                      <a:alpha val="0"/>
                    </a:srgbClr>
                  </a:gs>
                </a:gsLst>
                <a:lin ang="5400000" scaled="0"/>
              </a:gradFill>
            </a:ln>
          </p:spPr>
          <p:txBody>
            <a:bodyPr vert="horz" wrap="square" lIns="24181" tIns="12090" rIns="24181" bIns="12090" numCol="1" anchor="t" anchorCtr="0" compatLnSpc="1"/>
            <a:lstStyle/>
            <a:p>
              <a:pPr defTabSz="241832" eaLnBrk="1" fontAlgn="auto" hangingPunct="1">
                <a:spcBef>
                  <a:spcPts val="0"/>
                </a:spcBef>
                <a:spcAft>
                  <a:spcPts val="0"/>
                </a:spcAft>
                <a:defRPr/>
              </a:pPr>
              <a:endParaRPr lang="zh-CN" altLang="en-US" sz="1599" kern="0" dirty="0">
                <a:solidFill>
                  <a:srgbClr val="C7000B"/>
                </a:solidFill>
                <a:latin typeface="方正兰亭黑简体" panose="02000000000000000000" pitchFamily="2" charset="-122"/>
                <a:ea typeface="方正兰亭黑简体" panose="02000000000000000000" pitchFamily="2" charset="-122"/>
                <a:cs typeface="Arial" panose="020B0604020202020204" pitchFamily="34" charset="0"/>
                <a:sym typeface="方正兰亭黑简体" panose="02000000000000000000" pitchFamily="2" charset="-122"/>
              </a:endParaRPr>
            </a:p>
          </p:txBody>
        </p:sp>
        <p:sp>
          <p:nvSpPr>
            <p:cNvPr id="35" name="梯形 34"/>
            <p:cNvSpPr/>
            <p:nvPr/>
          </p:nvSpPr>
          <p:spPr>
            <a:xfrm>
              <a:off x="698381" y="5830253"/>
              <a:ext cx="5040000" cy="216000"/>
            </a:xfrm>
            <a:prstGeom prst="trapezoid">
              <a:avLst>
                <a:gd name="adj" fmla="val 233391"/>
              </a:avLst>
            </a:prstGeom>
            <a:gradFill>
              <a:gsLst>
                <a:gs pos="100000">
                  <a:srgbClr val="666666">
                    <a:lumMod val="60000"/>
                    <a:lumOff val="40000"/>
                    <a:alpha val="20000"/>
                  </a:srgbClr>
                </a:gs>
                <a:gs pos="0">
                  <a:srgbClr val="666666">
                    <a:lumMod val="60000"/>
                    <a:lumOff val="40000"/>
                    <a:alpha val="0"/>
                  </a:srgbClr>
                </a:gs>
              </a:gsLst>
              <a:lin ang="5400000" scaled="0"/>
            </a:gradFill>
            <a:ln w="12700">
              <a:gradFill>
                <a:gsLst>
                  <a:gs pos="100000">
                    <a:srgbClr val="666666">
                      <a:lumMod val="60000"/>
                      <a:lumOff val="40000"/>
                      <a:alpha val="30000"/>
                    </a:srgbClr>
                  </a:gs>
                  <a:gs pos="0">
                    <a:srgbClr val="666666">
                      <a:lumMod val="60000"/>
                      <a:lumOff val="40000"/>
                      <a:alpha val="0"/>
                    </a:srgbClr>
                  </a:gs>
                </a:gsLst>
                <a:lin ang="5400000" scaled="0"/>
              </a:gradFill>
            </a:ln>
          </p:spPr>
          <p:txBody>
            <a:bodyPr vert="horz" wrap="square" lIns="24181" tIns="12090" rIns="24181" bIns="12090" numCol="1" anchor="t" anchorCtr="0" compatLnSpc="1"/>
            <a:lstStyle/>
            <a:p>
              <a:pPr defTabSz="241832" eaLnBrk="1" fontAlgn="auto" hangingPunct="1">
                <a:spcBef>
                  <a:spcPts val="0"/>
                </a:spcBef>
                <a:spcAft>
                  <a:spcPts val="0"/>
                </a:spcAft>
                <a:defRPr/>
              </a:pPr>
              <a:endParaRPr lang="zh-CN" altLang="en-US" sz="1599" kern="0" dirty="0">
                <a:solidFill>
                  <a:srgbClr val="C7000B"/>
                </a:solidFill>
                <a:latin typeface="方正兰亭黑简体" panose="02000000000000000000" pitchFamily="2" charset="-122"/>
                <a:ea typeface="方正兰亭黑简体" panose="02000000000000000000" pitchFamily="2" charset="-122"/>
                <a:cs typeface="Arial" panose="020B0604020202020204" pitchFamily="34" charset="0"/>
                <a:sym typeface="方正兰亭黑简体" panose="02000000000000000000" pitchFamily="2" charset="-122"/>
              </a:endParaRPr>
            </a:p>
          </p:txBody>
        </p:sp>
      </p:grpSp>
      <p:sp>
        <p:nvSpPr>
          <p:cNvPr id="36" name="矩形 35"/>
          <p:cNvSpPr/>
          <p:nvPr/>
        </p:nvSpPr>
        <p:spPr>
          <a:xfrm>
            <a:off x="2272567" y="2319835"/>
            <a:ext cx="1792584" cy="338422"/>
          </a:xfrm>
          <a:prstGeom prst="rect">
            <a:avLst/>
          </a:prstGeom>
        </p:spPr>
        <p:txBody>
          <a:bodyPr wrap="square">
            <a:spAutoFit/>
          </a:bodyPr>
          <a:lstStyle/>
          <a:p>
            <a:pPr algn="ctr" defTabSz="609432" eaLnBrk="1" fontAlgn="auto" hangingPunct="1">
              <a:spcBef>
                <a:spcPts val="0"/>
              </a:spcBef>
              <a:spcAft>
                <a:spcPts val="0"/>
              </a:spcAft>
            </a:pPr>
            <a:r>
              <a:rPr lang="zh-CN" altLang="en-US" sz="15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硬件架构演进</a:t>
            </a:r>
          </a:p>
        </p:txBody>
      </p:sp>
      <p:sp>
        <p:nvSpPr>
          <p:cNvPr id="200" name="矩形 199">
            <a:extLst>
              <a:ext uri="{FF2B5EF4-FFF2-40B4-BE49-F238E27FC236}">
                <a16:creationId xmlns:a16="http://schemas.microsoft.com/office/drawing/2014/main" id="{3275D172-67D2-4477-A123-303FDB13E38E}"/>
              </a:ext>
            </a:extLst>
          </p:cNvPr>
          <p:cNvSpPr/>
          <p:nvPr/>
        </p:nvSpPr>
        <p:spPr>
          <a:xfrm>
            <a:off x="2515559" y="3051256"/>
            <a:ext cx="1024560" cy="1492989"/>
          </a:xfrm>
          <a:prstGeom prst="rect">
            <a:avLst/>
          </a:prstGeom>
          <a:solidFill>
            <a:schemeClr val="bg1">
              <a:alpha val="10000"/>
            </a:schemeClr>
          </a:solidFill>
          <a:ln w="25400" cap="flat" cmpd="sng" algn="ctr">
            <a:noFill/>
            <a:prstDash val="solid"/>
          </a:ln>
          <a:effectLst/>
        </p:spPr>
        <p:txBody>
          <a:bodyPr lIns="0" tIns="76160" rIns="0" rtlCol="0" anchor="t"/>
          <a:lstStyle/>
          <a:p>
            <a:pPr algn="ctr" defTabSz="609432" eaLnBrk="1" fontAlgn="auto" hangingPunct="1">
              <a:spcBef>
                <a:spcPts val="0"/>
              </a:spcBef>
              <a:spcAft>
                <a:spcPts val="0"/>
              </a:spcAft>
            </a:pPr>
            <a:r>
              <a:rPr lang="zh-CN" altLang="en-US" sz="1599" dirty="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rPr>
              <a:t>多核</a:t>
            </a:r>
            <a:endParaRPr lang="zh-CN" altLang="en-US" sz="1599" kern="0" dirty="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grpSp>
        <p:nvGrpSpPr>
          <p:cNvPr id="6" name="组合 5"/>
          <p:cNvGrpSpPr/>
          <p:nvPr/>
        </p:nvGrpSpPr>
        <p:grpSpPr>
          <a:xfrm>
            <a:off x="2639263" y="3577203"/>
            <a:ext cx="764271" cy="693060"/>
            <a:chOff x="5872930" y="3819131"/>
            <a:chExt cx="2683690" cy="1913661"/>
          </a:xfrm>
          <a:solidFill>
            <a:schemeClr val="bg1">
              <a:alpha val="20000"/>
            </a:schemeClr>
          </a:solidFill>
        </p:grpSpPr>
        <p:sp>
          <p:nvSpPr>
            <p:cNvPr id="201" name="矩形 200">
              <a:extLst>
                <a:ext uri="{FF2B5EF4-FFF2-40B4-BE49-F238E27FC236}">
                  <a16:creationId xmlns:a16="http://schemas.microsoft.com/office/drawing/2014/main" id="{F992A1BE-99A0-476A-801E-DAEC845240C6}"/>
                </a:ext>
              </a:extLst>
            </p:cNvPr>
            <p:cNvSpPr/>
            <p:nvPr/>
          </p:nvSpPr>
          <p:spPr>
            <a:xfrm>
              <a:off x="5872930" y="3819131"/>
              <a:ext cx="728381" cy="761296"/>
            </a:xfrm>
            <a:prstGeom prst="rect">
              <a:avLst/>
            </a:prstGeom>
            <a:grp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202" name="矩形 201">
              <a:extLst>
                <a:ext uri="{FF2B5EF4-FFF2-40B4-BE49-F238E27FC236}">
                  <a16:creationId xmlns:a16="http://schemas.microsoft.com/office/drawing/2014/main" id="{C2BE9293-D910-48D4-B16F-A0CD1BFC9114}"/>
                </a:ext>
              </a:extLst>
            </p:cNvPr>
            <p:cNvSpPr/>
            <p:nvPr/>
          </p:nvSpPr>
          <p:spPr>
            <a:xfrm>
              <a:off x="6850585" y="3819131"/>
              <a:ext cx="728381" cy="761296"/>
            </a:xfrm>
            <a:prstGeom prst="rect">
              <a:avLst/>
            </a:prstGeom>
            <a:grp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203" name="矩形 202">
              <a:extLst>
                <a:ext uri="{FF2B5EF4-FFF2-40B4-BE49-F238E27FC236}">
                  <a16:creationId xmlns:a16="http://schemas.microsoft.com/office/drawing/2014/main" id="{5F7EE5C0-436F-46C6-86F0-A6685ABE90A4}"/>
                </a:ext>
              </a:extLst>
            </p:cNvPr>
            <p:cNvSpPr/>
            <p:nvPr/>
          </p:nvSpPr>
          <p:spPr>
            <a:xfrm>
              <a:off x="7828239" y="3819131"/>
              <a:ext cx="728381" cy="761296"/>
            </a:xfrm>
            <a:prstGeom prst="rect">
              <a:avLst/>
            </a:prstGeom>
            <a:grp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204" name="矩形 203">
              <a:extLst>
                <a:ext uri="{FF2B5EF4-FFF2-40B4-BE49-F238E27FC236}">
                  <a16:creationId xmlns:a16="http://schemas.microsoft.com/office/drawing/2014/main" id="{A72BE281-6A83-4A09-8D35-EF6FD8731F0D}"/>
                </a:ext>
              </a:extLst>
            </p:cNvPr>
            <p:cNvSpPr/>
            <p:nvPr/>
          </p:nvSpPr>
          <p:spPr>
            <a:xfrm>
              <a:off x="5872930" y="4971496"/>
              <a:ext cx="728381" cy="761296"/>
            </a:xfrm>
            <a:prstGeom prst="rect">
              <a:avLst/>
            </a:prstGeom>
            <a:grp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205" name="矩形 204">
              <a:extLst>
                <a:ext uri="{FF2B5EF4-FFF2-40B4-BE49-F238E27FC236}">
                  <a16:creationId xmlns:a16="http://schemas.microsoft.com/office/drawing/2014/main" id="{C609D6A0-3C69-4F27-A5A6-1E6D51B81C02}"/>
                </a:ext>
              </a:extLst>
            </p:cNvPr>
            <p:cNvSpPr/>
            <p:nvPr/>
          </p:nvSpPr>
          <p:spPr>
            <a:xfrm>
              <a:off x="6850585" y="4971496"/>
              <a:ext cx="728381" cy="761296"/>
            </a:xfrm>
            <a:prstGeom prst="rect">
              <a:avLst/>
            </a:prstGeom>
            <a:grp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206" name="矩形 205">
              <a:extLst>
                <a:ext uri="{FF2B5EF4-FFF2-40B4-BE49-F238E27FC236}">
                  <a16:creationId xmlns:a16="http://schemas.microsoft.com/office/drawing/2014/main" id="{EA516A99-9820-4E60-A4A9-40C3584DB434}"/>
                </a:ext>
              </a:extLst>
            </p:cNvPr>
            <p:cNvSpPr/>
            <p:nvPr/>
          </p:nvSpPr>
          <p:spPr>
            <a:xfrm>
              <a:off x="7828239" y="4971496"/>
              <a:ext cx="728381" cy="761296"/>
            </a:xfrm>
            <a:prstGeom prst="rect">
              <a:avLst/>
            </a:prstGeom>
            <a:grp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grpSp>
      <p:sp>
        <p:nvSpPr>
          <p:cNvPr id="184" name="下箭头 53">
            <a:extLst>
              <a:ext uri="{FF2B5EF4-FFF2-40B4-BE49-F238E27FC236}">
                <a16:creationId xmlns:a16="http://schemas.microsoft.com/office/drawing/2014/main" id="{0105D53E-0FAA-435F-914A-7C91E5A3F2B1}"/>
              </a:ext>
            </a:extLst>
          </p:cNvPr>
          <p:cNvSpPr/>
          <p:nvPr/>
        </p:nvSpPr>
        <p:spPr>
          <a:xfrm rot="16200000">
            <a:off x="3584388" y="3691775"/>
            <a:ext cx="328526" cy="328114"/>
          </a:xfrm>
          <a:prstGeom prst="downArrow">
            <a:avLst/>
          </a:prstGeom>
          <a:gradFill flip="none" rotWithShape="1">
            <a:gsLst>
              <a:gs pos="0">
                <a:srgbClr val="FFFFFF">
                  <a:alpha val="20000"/>
                </a:srgbClr>
              </a:gs>
              <a:gs pos="100000">
                <a:srgbClr val="FFFFFF">
                  <a:shade val="100000"/>
                  <a:satMod val="115000"/>
                  <a:alpha val="0"/>
                </a:srgbClr>
              </a:gs>
            </a:gsLst>
            <a:lin ang="16200000" scaled="0"/>
            <a:tileRect/>
          </a:gradFill>
          <a:ln>
            <a:gradFill>
              <a:gsLst>
                <a:gs pos="0">
                  <a:schemeClr val="bg1">
                    <a:alpha val="0"/>
                  </a:schemeClr>
                </a:gs>
                <a:gs pos="100000">
                  <a:schemeClr val="bg1">
                    <a:alpha val="30000"/>
                  </a:schemeClr>
                </a:gs>
              </a:gsLst>
              <a:lin ang="5400000" scaled="0"/>
            </a:gradFill>
          </a:ln>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pPr>
            <a:endParaRPr lang="zh-CN" altLang="en-US" sz="1599" kern="0">
              <a:solidFill>
                <a:sysClr val="windowText" lastClr="000000"/>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90" name="流程图: 可选过程 48">
            <a:extLst>
              <a:ext uri="{FF2B5EF4-FFF2-40B4-BE49-F238E27FC236}">
                <a16:creationId xmlns:a16="http://schemas.microsoft.com/office/drawing/2014/main" id="{7B8FBCE3-57E4-497F-95F9-EAE3871762D2}"/>
              </a:ext>
            </a:extLst>
          </p:cNvPr>
          <p:cNvSpPr/>
          <p:nvPr/>
        </p:nvSpPr>
        <p:spPr>
          <a:xfrm>
            <a:off x="4003200" y="3048274"/>
            <a:ext cx="1258179" cy="1501159"/>
          </a:xfrm>
          <a:prstGeom prst="rect">
            <a:avLst/>
          </a:prstGeom>
          <a:solidFill>
            <a:schemeClr val="bg1">
              <a:alpha val="10000"/>
            </a:schemeClr>
          </a:solidFill>
          <a:ln w="25400" cap="flat" cmpd="sng" algn="ctr">
            <a:noFill/>
            <a:prstDash val="solid"/>
          </a:ln>
          <a:effectLst/>
        </p:spPr>
        <p:txBody>
          <a:bodyPr lIns="0" tIns="76160" rIns="0" rtlCol="0" anchor="t"/>
          <a:lstStyle/>
          <a:p>
            <a:pPr algn="ctr" defTabSz="609432" eaLnBrk="1" fontAlgn="auto" hangingPunct="1">
              <a:spcBef>
                <a:spcPts val="0"/>
              </a:spcBef>
              <a:spcAft>
                <a:spcPts val="0"/>
              </a:spcAft>
            </a:pPr>
            <a:r>
              <a:rPr lang="zh-CN" altLang="en-US" sz="1599" dirty="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rPr>
              <a:t>异构多核</a:t>
            </a:r>
            <a:endParaRPr lang="zh-CN" altLang="en-US" sz="1599" kern="0" dirty="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grpSp>
        <p:nvGrpSpPr>
          <p:cNvPr id="7" name="组合 6"/>
          <p:cNvGrpSpPr/>
          <p:nvPr/>
        </p:nvGrpSpPr>
        <p:grpSpPr>
          <a:xfrm>
            <a:off x="4186190" y="3577203"/>
            <a:ext cx="873148" cy="693060"/>
            <a:chOff x="11059805" y="3819131"/>
            <a:chExt cx="3066000" cy="1913661"/>
          </a:xfrm>
          <a:solidFill>
            <a:schemeClr val="bg1">
              <a:alpha val="20000"/>
            </a:schemeClr>
          </a:solidFill>
        </p:grpSpPr>
        <p:sp>
          <p:nvSpPr>
            <p:cNvPr id="191" name="矩形 190">
              <a:extLst>
                <a:ext uri="{FF2B5EF4-FFF2-40B4-BE49-F238E27FC236}">
                  <a16:creationId xmlns:a16="http://schemas.microsoft.com/office/drawing/2014/main" id="{FC5FF7BC-F218-4616-BB42-3ABD5F38E7AB}"/>
                </a:ext>
              </a:extLst>
            </p:cNvPr>
            <p:cNvSpPr/>
            <p:nvPr/>
          </p:nvSpPr>
          <p:spPr>
            <a:xfrm>
              <a:off x="11059805" y="3819131"/>
              <a:ext cx="728381" cy="761296"/>
            </a:xfrm>
            <a:prstGeom prst="rect">
              <a:avLst/>
            </a:prstGeom>
            <a:grp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192" name="矩形 191">
              <a:extLst>
                <a:ext uri="{FF2B5EF4-FFF2-40B4-BE49-F238E27FC236}">
                  <a16:creationId xmlns:a16="http://schemas.microsoft.com/office/drawing/2014/main" id="{23254BC0-E964-4B1D-B029-68C1E5DD0652}"/>
                </a:ext>
              </a:extLst>
            </p:cNvPr>
            <p:cNvSpPr/>
            <p:nvPr/>
          </p:nvSpPr>
          <p:spPr>
            <a:xfrm>
              <a:off x="12025303" y="3819131"/>
              <a:ext cx="372515" cy="761296"/>
            </a:xfrm>
            <a:prstGeom prst="rect">
              <a:avLst/>
            </a:prstGeom>
            <a:grp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193" name="矩形 192">
              <a:extLst>
                <a:ext uri="{FF2B5EF4-FFF2-40B4-BE49-F238E27FC236}">
                  <a16:creationId xmlns:a16="http://schemas.microsoft.com/office/drawing/2014/main" id="{DA4998AA-F52C-4A78-A927-B53DAB537B77}"/>
                </a:ext>
              </a:extLst>
            </p:cNvPr>
            <p:cNvSpPr/>
            <p:nvPr/>
          </p:nvSpPr>
          <p:spPr>
            <a:xfrm>
              <a:off x="12634935" y="3819131"/>
              <a:ext cx="372515" cy="761296"/>
            </a:xfrm>
            <a:prstGeom prst="rect">
              <a:avLst/>
            </a:prstGeom>
            <a:grp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194" name="矩形 193">
              <a:extLst>
                <a:ext uri="{FF2B5EF4-FFF2-40B4-BE49-F238E27FC236}">
                  <a16:creationId xmlns:a16="http://schemas.microsoft.com/office/drawing/2014/main" id="{F9AF4928-4BE1-4815-9BD1-BC98FC48F976}"/>
                </a:ext>
              </a:extLst>
            </p:cNvPr>
            <p:cNvSpPr/>
            <p:nvPr/>
          </p:nvSpPr>
          <p:spPr>
            <a:xfrm>
              <a:off x="11059805" y="4971496"/>
              <a:ext cx="728381" cy="761296"/>
            </a:xfrm>
            <a:prstGeom prst="rect">
              <a:avLst/>
            </a:prstGeom>
            <a:grp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195" name="矩形 194">
              <a:extLst>
                <a:ext uri="{FF2B5EF4-FFF2-40B4-BE49-F238E27FC236}">
                  <a16:creationId xmlns:a16="http://schemas.microsoft.com/office/drawing/2014/main" id="{E59E2D30-0F0D-438A-8FD4-1FA6AD87A22B}"/>
                </a:ext>
              </a:extLst>
            </p:cNvPr>
            <p:cNvSpPr/>
            <p:nvPr/>
          </p:nvSpPr>
          <p:spPr>
            <a:xfrm>
              <a:off x="12025303" y="4971496"/>
              <a:ext cx="372515" cy="761296"/>
            </a:xfrm>
            <a:prstGeom prst="rect">
              <a:avLst/>
            </a:prstGeom>
            <a:grp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196" name="矩形 195">
              <a:extLst>
                <a:ext uri="{FF2B5EF4-FFF2-40B4-BE49-F238E27FC236}">
                  <a16:creationId xmlns:a16="http://schemas.microsoft.com/office/drawing/2014/main" id="{9397BC68-97C7-453A-8F41-7DFE6C4B2D83}"/>
                </a:ext>
              </a:extLst>
            </p:cNvPr>
            <p:cNvSpPr/>
            <p:nvPr/>
          </p:nvSpPr>
          <p:spPr>
            <a:xfrm>
              <a:off x="12634935" y="4971496"/>
              <a:ext cx="372515" cy="761296"/>
            </a:xfrm>
            <a:prstGeom prst="rect">
              <a:avLst/>
            </a:prstGeom>
            <a:grp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197" name="椭圆 196">
              <a:extLst>
                <a:ext uri="{FF2B5EF4-FFF2-40B4-BE49-F238E27FC236}">
                  <a16:creationId xmlns:a16="http://schemas.microsoft.com/office/drawing/2014/main" id="{7C024E3E-0E1A-4386-8FB2-EE15AE6C9A23}"/>
                </a:ext>
              </a:extLst>
            </p:cNvPr>
            <p:cNvSpPr/>
            <p:nvPr/>
          </p:nvSpPr>
          <p:spPr>
            <a:xfrm>
              <a:off x="13244568" y="4055948"/>
              <a:ext cx="881237" cy="380649"/>
            </a:xfrm>
            <a:prstGeom prst="ellipse">
              <a:avLst/>
            </a:prstGeom>
            <a:grpFill/>
            <a:ln w="12700" cap="flat" cmpd="sng" algn="ctr">
              <a:noFill/>
              <a:prstDash val="solid"/>
              <a:miter lim="800000"/>
            </a:ln>
            <a:effectLst/>
          </p:spPr>
          <p:txBody>
            <a:bodyPr rtlCol="0" anchor="ctr"/>
            <a:lstStyle/>
            <a:p>
              <a:pPr algn="ctr" defTabSz="241830"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198" name="椭圆 197">
              <a:extLst>
                <a:ext uri="{FF2B5EF4-FFF2-40B4-BE49-F238E27FC236}">
                  <a16:creationId xmlns:a16="http://schemas.microsoft.com/office/drawing/2014/main" id="{4A3D9917-0F4E-46A4-A174-9D671E79476F}"/>
                </a:ext>
              </a:extLst>
            </p:cNvPr>
            <p:cNvSpPr/>
            <p:nvPr/>
          </p:nvSpPr>
          <p:spPr>
            <a:xfrm>
              <a:off x="13244568" y="4600168"/>
              <a:ext cx="881237" cy="380649"/>
            </a:xfrm>
            <a:prstGeom prst="ellipse">
              <a:avLst/>
            </a:prstGeom>
            <a:grpFill/>
            <a:ln w="12700" cap="flat" cmpd="sng" algn="ctr">
              <a:noFill/>
              <a:prstDash val="solid"/>
              <a:miter lim="800000"/>
            </a:ln>
            <a:effectLst/>
          </p:spPr>
          <p:txBody>
            <a:bodyPr rtlCol="0" anchor="ctr"/>
            <a:lstStyle/>
            <a:p>
              <a:pPr algn="ctr" defTabSz="241830"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199" name="椭圆 198">
              <a:extLst>
                <a:ext uri="{FF2B5EF4-FFF2-40B4-BE49-F238E27FC236}">
                  <a16:creationId xmlns:a16="http://schemas.microsoft.com/office/drawing/2014/main" id="{C7AAAAA4-26BE-4350-8584-EE95D7B69CDA}"/>
                </a:ext>
              </a:extLst>
            </p:cNvPr>
            <p:cNvSpPr/>
            <p:nvPr/>
          </p:nvSpPr>
          <p:spPr>
            <a:xfrm>
              <a:off x="13244568" y="5157155"/>
              <a:ext cx="881237" cy="380649"/>
            </a:xfrm>
            <a:prstGeom prst="ellipse">
              <a:avLst/>
            </a:prstGeom>
            <a:grpFill/>
            <a:ln w="12700" cap="flat" cmpd="sng" algn="ctr">
              <a:noFill/>
              <a:prstDash val="solid"/>
              <a:miter lim="800000"/>
            </a:ln>
            <a:effectLst/>
          </p:spPr>
          <p:txBody>
            <a:bodyPr rtlCol="0" anchor="ctr"/>
            <a:lstStyle/>
            <a:p>
              <a:pPr algn="ctr" defTabSz="241830"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grpSp>
      <p:sp>
        <p:nvSpPr>
          <p:cNvPr id="188" name="矩形 187">
            <a:extLst>
              <a:ext uri="{FF2B5EF4-FFF2-40B4-BE49-F238E27FC236}">
                <a16:creationId xmlns:a16="http://schemas.microsoft.com/office/drawing/2014/main" id="{8C8D1777-819A-4B30-9535-89D2D908F9D1}"/>
              </a:ext>
            </a:extLst>
          </p:cNvPr>
          <p:cNvSpPr/>
          <p:nvPr/>
        </p:nvSpPr>
        <p:spPr>
          <a:xfrm>
            <a:off x="1170840" y="3051256"/>
            <a:ext cx="893196" cy="1492989"/>
          </a:xfrm>
          <a:prstGeom prst="rect">
            <a:avLst/>
          </a:prstGeom>
          <a:solidFill>
            <a:schemeClr val="bg1">
              <a:alpha val="10000"/>
            </a:schemeClr>
          </a:solidFill>
          <a:ln w="25400" cap="flat" cmpd="sng" algn="ctr">
            <a:noFill/>
            <a:prstDash val="solid"/>
          </a:ln>
          <a:effectLst/>
        </p:spPr>
        <p:txBody>
          <a:bodyPr lIns="0" tIns="76160" rIns="0" rtlCol="0" anchor="t"/>
          <a:lstStyle/>
          <a:p>
            <a:pPr algn="ctr" defTabSz="609432" eaLnBrk="1" fontAlgn="auto" hangingPunct="1">
              <a:spcBef>
                <a:spcPts val="0"/>
              </a:spcBef>
              <a:spcAft>
                <a:spcPts val="0"/>
              </a:spcAft>
            </a:pPr>
            <a:r>
              <a:rPr lang="zh-CN" altLang="en-US" sz="1599" dirty="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rPr>
              <a:t>单核</a:t>
            </a:r>
            <a:endParaRPr lang="zh-CN" altLang="en-US" sz="1599" kern="0" dirty="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189" name="矩形 188">
            <a:extLst>
              <a:ext uri="{FF2B5EF4-FFF2-40B4-BE49-F238E27FC236}">
                <a16:creationId xmlns:a16="http://schemas.microsoft.com/office/drawing/2014/main" id="{0D6D66F8-7D43-468E-926E-D380F25548CD}"/>
              </a:ext>
            </a:extLst>
          </p:cNvPr>
          <p:cNvSpPr/>
          <p:nvPr/>
        </p:nvSpPr>
        <p:spPr>
          <a:xfrm>
            <a:off x="1496334" y="3729570"/>
            <a:ext cx="207431" cy="275714"/>
          </a:xfrm>
          <a:prstGeom prst="rect">
            <a:avLst/>
          </a:prstGeom>
          <a:solidFill>
            <a:schemeClr val="bg1">
              <a:alpha val="20000"/>
            </a:schemeClr>
          </a:solidFill>
          <a:ln w="12700" cap="flat" cmpd="sng" algn="ctr">
            <a:noFill/>
            <a:prstDash val="solid"/>
            <a:miter lim="800000"/>
          </a:ln>
          <a:effectLst/>
        </p:spPr>
        <p:txBody>
          <a:bodyPr rtlCol="0" anchor="ctr"/>
          <a:lstStyle/>
          <a:p>
            <a:pPr algn="ctr" defTabSz="609432" eaLnBrk="1" fontAlgn="auto" hangingPunct="1">
              <a:spcBef>
                <a:spcPts val="0"/>
              </a:spcBef>
              <a:spcAft>
                <a:spcPts val="0"/>
              </a:spcAft>
              <a:defRPr/>
            </a:pPr>
            <a:endParaRPr lang="zh-CN" altLang="en-US" sz="1599" kern="0">
              <a:solidFill>
                <a:prstClr val="white"/>
              </a:solidFill>
              <a:latin typeface="方正兰亭黑简体" panose="02000000000000000000" pitchFamily="2" charset="-122"/>
              <a:ea typeface="方正兰亭黑简体" panose="02000000000000000000" pitchFamily="2" charset="-122"/>
              <a:cs typeface="Huawei Sans" panose="020C0503030203020204" pitchFamily="34" charset="0"/>
              <a:sym typeface="方正兰亭黑简体" panose="02000000000000000000" pitchFamily="2" charset="-122"/>
            </a:endParaRPr>
          </a:p>
        </p:txBody>
      </p:sp>
      <p:sp>
        <p:nvSpPr>
          <p:cNvPr id="187" name="下箭头 111">
            <a:extLst>
              <a:ext uri="{FF2B5EF4-FFF2-40B4-BE49-F238E27FC236}">
                <a16:creationId xmlns:a16="http://schemas.microsoft.com/office/drawing/2014/main" id="{0725DC06-BFDA-460F-8FE5-BBEB5CAA7DF3}"/>
              </a:ext>
            </a:extLst>
          </p:cNvPr>
          <p:cNvSpPr/>
          <p:nvPr/>
        </p:nvSpPr>
        <p:spPr>
          <a:xfrm rot="16200000">
            <a:off x="2108305" y="3691775"/>
            <a:ext cx="328526" cy="328117"/>
          </a:xfrm>
          <a:prstGeom prst="downArrow">
            <a:avLst/>
          </a:prstGeom>
          <a:gradFill flip="none" rotWithShape="1">
            <a:gsLst>
              <a:gs pos="0">
                <a:srgbClr val="FFFFFF">
                  <a:alpha val="20000"/>
                </a:srgbClr>
              </a:gs>
              <a:gs pos="100000">
                <a:srgbClr val="FFFFFF">
                  <a:shade val="100000"/>
                  <a:satMod val="115000"/>
                  <a:alpha val="0"/>
                </a:srgbClr>
              </a:gs>
            </a:gsLst>
            <a:lin ang="16200000" scaled="0"/>
            <a:tileRect/>
          </a:gradFill>
          <a:ln>
            <a:gradFill>
              <a:gsLst>
                <a:gs pos="0">
                  <a:schemeClr val="bg1">
                    <a:alpha val="0"/>
                  </a:schemeClr>
                </a:gs>
                <a:gs pos="100000">
                  <a:schemeClr val="bg1">
                    <a:alpha val="30000"/>
                  </a:schemeClr>
                </a:gs>
              </a:gsLst>
              <a:lin ang="5400000" scaled="0"/>
            </a:gradFill>
          </a:ln>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pPr>
            <a:endParaRPr lang="zh-CN" altLang="en-US" sz="1599" kern="0">
              <a:solidFill>
                <a:sysClr val="windowText" lastClr="000000"/>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nvGrpSpPr>
          <p:cNvPr id="2" name="组合 1">
            <a:extLst>
              <a:ext uri="{FF2B5EF4-FFF2-40B4-BE49-F238E27FC236}">
                <a16:creationId xmlns:a16="http://schemas.microsoft.com/office/drawing/2014/main" id="{B128819B-AAAD-4DDE-8364-6E0FCEDA7A9E}"/>
              </a:ext>
            </a:extLst>
          </p:cNvPr>
          <p:cNvGrpSpPr/>
          <p:nvPr/>
        </p:nvGrpSpPr>
        <p:grpSpPr>
          <a:xfrm>
            <a:off x="6154208" y="2040272"/>
            <a:ext cx="5134222" cy="2700076"/>
            <a:chOff x="4621454" y="2250041"/>
            <a:chExt cx="4333379" cy="2599992"/>
          </a:xfrm>
        </p:grpSpPr>
        <p:sp>
          <p:nvSpPr>
            <p:cNvPr id="43" name="矩形 42"/>
            <p:cNvSpPr/>
            <p:nvPr/>
          </p:nvSpPr>
          <p:spPr>
            <a:xfrm>
              <a:off x="4621454" y="2250041"/>
              <a:ext cx="4318204" cy="2599989"/>
            </a:xfrm>
            <a:prstGeom prst="rect">
              <a:avLst/>
            </a:prstGeom>
            <a:gradFill>
              <a:gsLst>
                <a:gs pos="100000">
                  <a:sysClr val="window" lastClr="FFFFFF">
                    <a:alpha val="0"/>
                  </a:sysClr>
                </a:gs>
                <a:gs pos="0">
                  <a:sysClr val="window" lastClr="FFFFFF">
                    <a:alpha val="5000"/>
                  </a:sysClr>
                </a:gs>
              </a:gsLst>
              <a:lin ang="5400000" scaled="0"/>
            </a:gradFill>
            <a:ln w="9525">
              <a:solidFill>
                <a:sysClr val="window" lastClr="FFFFFF">
                  <a:alpha val="30000"/>
                </a:sysClr>
              </a:solidFill>
            </a:ln>
          </p:spPr>
          <p:txBody>
            <a:bodyPr vert="horz" lIns="57120" rIns="57120" rtlCol="0" anchor="ctr">
              <a:noAutofit/>
            </a:bodyPr>
            <a:lstStyle/>
            <a:p>
              <a:pPr algn="ctr" defTabSz="241832" eaLnBrk="1" fontAlgn="auto" hangingPunct="1">
                <a:lnSpc>
                  <a:spcPct val="130000"/>
                </a:lnSpc>
                <a:spcBef>
                  <a:spcPts val="0"/>
                </a:spcBef>
                <a:spcAft>
                  <a:spcPts val="0"/>
                </a:spcAft>
              </a:pPr>
              <a:endParaRPr lang="zh-CN" altLang="en-US" sz="635" kern="0"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45" name="半闭框 44"/>
            <p:cNvSpPr/>
            <p:nvPr/>
          </p:nvSpPr>
          <p:spPr>
            <a:xfrm>
              <a:off x="4621454" y="2262811"/>
              <a:ext cx="66972" cy="74014"/>
            </a:xfrm>
            <a:prstGeom prst="halfFrame">
              <a:avLst>
                <a:gd name="adj1" fmla="val 15332"/>
                <a:gd name="adj2" fmla="val 18049"/>
              </a:avLst>
            </a:prstGeom>
            <a:solidFill>
              <a:srgbClr val="CAA150"/>
            </a:soli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endParaRPr lang="zh-CN" altLang="en-US" sz="476"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46" name="半闭框 45"/>
            <p:cNvSpPr/>
            <p:nvPr/>
          </p:nvSpPr>
          <p:spPr>
            <a:xfrm rot="10800000">
              <a:off x="8887858" y="4776015"/>
              <a:ext cx="66972" cy="74014"/>
            </a:xfrm>
            <a:prstGeom prst="halfFrame">
              <a:avLst>
                <a:gd name="adj1" fmla="val 15332"/>
                <a:gd name="adj2" fmla="val 18049"/>
              </a:avLst>
            </a:prstGeom>
            <a:solidFill>
              <a:srgbClr val="CAA150"/>
            </a:soli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endParaRPr lang="zh-CN" altLang="en-US" sz="476"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47" name="半闭框 46"/>
            <p:cNvSpPr/>
            <p:nvPr/>
          </p:nvSpPr>
          <p:spPr>
            <a:xfrm flipV="1">
              <a:off x="4621454" y="4776019"/>
              <a:ext cx="66972" cy="74014"/>
            </a:xfrm>
            <a:prstGeom prst="halfFrame">
              <a:avLst>
                <a:gd name="adj1" fmla="val 15332"/>
                <a:gd name="adj2" fmla="val 18049"/>
              </a:avLst>
            </a:prstGeom>
            <a:solidFill>
              <a:srgbClr val="CAA150"/>
            </a:soli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r>
                <a:rPr lang="en-US" altLang="zh-CN" sz="476" kern="0" dirty="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rPr>
                <a:t> </a:t>
              </a:r>
              <a:endParaRPr lang="zh-CN" altLang="en-US" sz="476" kern="0" dirty="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48" name="半闭框 47"/>
            <p:cNvSpPr/>
            <p:nvPr/>
          </p:nvSpPr>
          <p:spPr>
            <a:xfrm rot="10800000" flipV="1">
              <a:off x="8887861" y="2262810"/>
              <a:ext cx="66972" cy="74014"/>
            </a:xfrm>
            <a:prstGeom prst="halfFrame">
              <a:avLst>
                <a:gd name="adj1" fmla="val 15332"/>
                <a:gd name="adj2" fmla="val 18049"/>
              </a:avLst>
            </a:prstGeom>
            <a:solidFill>
              <a:srgbClr val="CAA150"/>
            </a:soli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endParaRPr lang="zh-CN" altLang="en-US" sz="476" kern="0" dirty="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pic>
          <p:nvPicPr>
            <p:cNvPr id="178" name="图片 177"/>
            <p:cNvPicPr>
              <a:picLocks noChangeAspect="1"/>
            </p:cNvPicPr>
            <p:nvPr/>
          </p:nvPicPr>
          <p:blipFill rotWithShape="1">
            <a:blip r:embed="rId3"/>
            <a:srcRect l="-7085" t="-5249" r="-7606" b="-5249"/>
            <a:stretch/>
          </p:blipFill>
          <p:spPr>
            <a:xfrm>
              <a:off x="4927485" y="2467771"/>
              <a:ext cx="3762178" cy="2265357"/>
            </a:xfrm>
            <a:prstGeom prst="rect">
              <a:avLst/>
            </a:prstGeom>
            <a:solidFill>
              <a:schemeClr val="bg1"/>
            </a:solidFill>
          </p:spPr>
        </p:pic>
      </p:grpSp>
      <p:sp>
        <p:nvSpPr>
          <p:cNvPr id="37" name="标题 2">
            <a:extLst>
              <a:ext uri="{FF2B5EF4-FFF2-40B4-BE49-F238E27FC236}">
                <a16:creationId xmlns:a16="http://schemas.microsoft.com/office/drawing/2014/main" id="{526EADAA-4D4B-440B-9C7D-ACFBAB70B12F}"/>
              </a:ext>
            </a:extLst>
          </p:cNvPr>
          <p:cNvSpPr txBox="1">
            <a:spLocks/>
          </p:cNvSpPr>
          <p:nvPr/>
        </p:nvSpPr>
        <p:spPr>
          <a:xfrm>
            <a:off x="171859" y="614099"/>
            <a:ext cx="11848282" cy="493456"/>
          </a:xfrm>
          <a:prstGeom prst="rect">
            <a:avLst/>
          </a:prstGeom>
        </p:spPr>
        <p:txBody>
          <a:bodyPr vert="horz" lIns="32245" tIns="16123" rIns="32245" bIns="16123" rtlCol="0" anchor="ctr">
            <a:noAutofit/>
          </a:bodyPr>
          <a:lstStyle>
            <a:lvl1pPr algn="l" defTabSz="960240" rtl="0" eaLnBrk="1" latinLnBrk="0" hangingPunct="1">
              <a:lnSpc>
                <a:spcPct val="90000"/>
              </a:lnSpc>
              <a:spcBef>
                <a:spcPct val="0"/>
              </a:spcBef>
              <a:buNone/>
              <a:defRPr sz="4000" kern="1200">
                <a:solidFill>
                  <a:schemeClr val="tx1"/>
                </a:solidFill>
                <a:latin typeface="思源黑体 CN" panose="020B0600000000000000" charset="-122"/>
                <a:ea typeface="思源黑体 CN" panose="020B0600000000000000" charset="-122"/>
                <a:cs typeface="思源黑体 CN" panose="020B0600000000000000" charset="-122"/>
              </a:defRPr>
            </a:lvl1pPr>
          </a:lstStyle>
          <a:p>
            <a:pPr algn="ctr" defTabSz="959856" fontAlgn="auto">
              <a:lnSpc>
                <a:spcPct val="110000"/>
              </a:lnSpc>
              <a:spcAft>
                <a:spcPts val="0"/>
              </a:spcAft>
            </a:pPr>
            <a:r>
              <a:rPr kumimoji="1" lang="zh-CN" altLang="en-US" sz="3199" dirty="0">
                <a:solidFill>
                  <a:prstClr val="white"/>
                </a:solidFill>
                <a:latin typeface="方正兰亭黑简体" panose="02000000000000000000" pitchFamily="2" charset="-122"/>
                <a:ea typeface="方正兰亭黑简体" panose="02000000000000000000" pitchFamily="2" charset="-122"/>
                <a:cs typeface="Source Han Sans CN Medium" panose="020B0600000000000000" charset="-122"/>
                <a:sym typeface="方正兰亭黑简体" panose="02000000000000000000" pitchFamily="2" charset="-122"/>
              </a:rPr>
              <a:t>后摩尔时代，</a:t>
            </a:r>
            <a:r>
              <a:rPr kumimoji="1" lang="en-US" altLang="zh-CN" sz="3199" dirty="0">
                <a:solidFill>
                  <a:prstClr val="white"/>
                </a:solidFill>
                <a:latin typeface="方正兰亭黑简体" panose="02000000000000000000" pitchFamily="2" charset="-122"/>
                <a:ea typeface="方正兰亭黑简体" panose="02000000000000000000" pitchFamily="2" charset="-122"/>
                <a:cs typeface="Source Han Sans CN Medium" panose="020B0600000000000000" charset="-122"/>
                <a:sym typeface="方正兰亭黑简体" panose="02000000000000000000" pitchFamily="2" charset="-122"/>
              </a:rPr>
              <a:t>SoC</a:t>
            </a:r>
            <a:r>
              <a:rPr kumimoji="1" lang="zh-CN" altLang="en-US" sz="3199" dirty="0">
                <a:solidFill>
                  <a:prstClr val="white"/>
                </a:solidFill>
                <a:latin typeface="方正兰亭黑简体" panose="02000000000000000000" pitchFamily="2" charset="-122"/>
                <a:ea typeface="方正兰亭黑简体" panose="02000000000000000000" pitchFamily="2" charset="-122"/>
                <a:cs typeface="Source Han Sans CN Medium" panose="020B0600000000000000" charset="-122"/>
                <a:sym typeface="方正兰亭黑简体" panose="02000000000000000000" pitchFamily="2" charset="-122"/>
              </a:rPr>
              <a:t>向异构多核演进  操作系统成为提升性能的关键</a:t>
            </a:r>
          </a:p>
        </p:txBody>
      </p:sp>
    </p:spTree>
    <p:extLst>
      <p:ext uri="{BB962C8B-B14F-4D97-AF65-F5344CB8AC3E}">
        <p14:creationId xmlns:p14="http://schemas.microsoft.com/office/powerpoint/2010/main" val="426539418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CA72DA9C-91FA-4EE7-97A7-F5B237AC8729}"/>
              </a:ext>
            </a:extLst>
          </p:cNvPr>
          <p:cNvGrpSpPr/>
          <p:nvPr/>
        </p:nvGrpSpPr>
        <p:grpSpPr>
          <a:xfrm>
            <a:off x="6364597" y="2504756"/>
            <a:ext cx="4599571" cy="2192674"/>
            <a:chOff x="6508592" y="2618499"/>
            <a:chExt cx="3729761" cy="1858563"/>
          </a:xfrm>
        </p:grpSpPr>
        <p:sp>
          <p:nvSpPr>
            <p:cNvPr id="43" name="矩形 42"/>
            <p:cNvSpPr/>
            <p:nvPr/>
          </p:nvSpPr>
          <p:spPr>
            <a:xfrm>
              <a:off x="6508592" y="2618499"/>
              <a:ext cx="3711029" cy="1831006"/>
            </a:xfrm>
            <a:prstGeom prst="rect">
              <a:avLst/>
            </a:prstGeom>
            <a:gradFill>
              <a:gsLst>
                <a:gs pos="100000">
                  <a:sysClr val="window" lastClr="FFFFFF">
                    <a:alpha val="0"/>
                  </a:sysClr>
                </a:gs>
                <a:gs pos="0">
                  <a:sysClr val="window" lastClr="FFFFFF">
                    <a:alpha val="5000"/>
                  </a:sysClr>
                </a:gs>
              </a:gsLst>
              <a:lin ang="5400000" scaled="0"/>
            </a:gradFill>
            <a:ln w="9525">
              <a:solidFill>
                <a:sysClr val="window" lastClr="FFFFFF">
                  <a:alpha val="30000"/>
                </a:sysClr>
              </a:solidFill>
            </a:ln>
          </p:spPr>
          <p:txBody>
            <a:bodyPr vert="horz" lIns="57120" rIns="57120" rtlCol="0" anchor="ctr">
              <a:noAutofit/>
            </a:bodyPr>
            <a:lstStyle/>
            <a:p>
              <a:pPr algn="ctr" defTabSz="241832" eaLnBrk="1" fontAlgn="auto" hangingPunct="1">
                <a:lnSpc>
                  <a:spcPct val="130000"/>
                </a:lnSpc>
                <a:spcBef>
                  <a:spcPts val="0"/>
                </a:spcBef>
                <a:spcAft>
                  <a:spcPts val="0"/>
                </a:spcAft>
              </a:pPr>
              <a:endParaRPr lang="zh-CN" altLang="en-US" sz="635" kern="0"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pic>
          <p:nvPicPr>
            <p:cNvPr id="4" name="Picture 2" descr="C:\Users\q00440118\AppData\Roaming\eSpace_Desktop\UserData\q00440118\imagefiles\165652B5-4A08-44F4-AA27-33A09F87372D.png"/>
            <p:cNvPicPr>
              <a:picLocks noChangeAspect="1" noChangeArrowheads="1"/>
            </p:cNvPicPr>
            <p:nvPr/>
          </p:nvPicPr>
          <p:blipFill rotWithShape="1">
            <a:blip r:embed="rId3">
              <a:extLst>
                <a:ext uri="{28A0092B-C50C-407E-A947-70E740481C1C}">
                  <a14:useLocalDpi xmlns:a14="http://schemas.microsoft.com/office/drawing/2010/main" val="0"/>
                </a:ext>
              </a:extLst>
            </a:blip>
            <a:srcRect l="-6942" t="-5761" r="-8292" b="-5761"/>
            <a:stretch/>
          </p:blipFill>
          <p:spPr bwMode="auto">
            <a:xfrm>
              <a:off x="6627965" y="2731397"/>
              <a:ext cx="3444049" cy="1572746"/>
            </a:xfrm>
            <a:prstGeom prst="rect">
              <a:avLst/>
            </a:prstGeom>
            <a:solidFill>
              <a:schemeClr val="bg1"/>
            </a:solidFill>
            <a:ln>
              <a:noFill/>
            </a:ln>
            <a:extLst/>
          </p:spPr>
        </p:pic>
        <p:sp>
          <p:nvSpPr>
            <p:cNvPr id="44" name="半闭框 43"/>
            <p:cNvSpPr/>
            <p:nvPr/>
          </p:nvSpPr>
          <p:spPr>
            <a:xfrm>
              <a:off x="6524554" y="2644292"/>
              <a:ext cx="58461" cy="58461"/>
            </a:xfrm>
            <a:prstGeom prst="halfFrame">
              <a:avLst>
                <a:gd name="adj1" fmla="val 15332"/>
                <a:gd name="adj2" fmla="val 18049"/>
              </a:avLst>
            </a:prstGeom>
            <a:solidFill>
              <a:srgbClr val="CAA150"/>
            </a:soli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endParaRPr lang="zh-CN" altLang="en-US" sz="476"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45" name="半闭框 44"/>
            <p:cNvSpPr/>
            <p:nvPr/>
          </p:nvSpPr>
          <p:spPr>
            <a:xfrm rot="10800000">
              <a:off x="10175427" y="4418601"/>
              <a:ext cx="58461" cy="58461"/>
            </a:xfrm>
            <a:prstGeom prst="halfFrame">
              <a:avLst>
                <a:gd name="adj1" fmla="val 15332"/>
                <a:gd name="adj2" fmla="val 18049"/>
              </a:avLst>
            </a:prstGeom>
            <a:solidFill>
              <a:srgbClr val="CAA150"/>
            </a:soli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endParaRPr lang="zh-CN" altLang="en-US" sz="476"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46" name="半闭框 45"/>
            <p:cNvSpPr/>
            <p:nvPr/>
          </p:nvSpPr>
          <p:spPr>
            <a:xfrm flipV="1">
              <a:off x="6524554" y="4380382"/>
              <a:ext cx="58461" cy="58461"/>
            </a:xfrm>
            <a:prstGeom prst="halfFrame">
              <a:avLst>
                <a:gd name="adj1" fmla="val 15332"/>
                <a:gd name="adj2" fmla="val 18049"/>
              </a:avLst>
            </a:prstGeom>
            <a:solidFill>
              <a:srgbClr val="CAA150"/>
            </a:soli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r>
                <a:rPr lang="en-US" altLang="zh-CN" sz="476" kern="0" dirty="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rPr>
                <a:t> </a:t>
              </a:r>
              <a:endParaRPr lang="zh-CN" altLang="en-US" sz="476" kern="0" dirty="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47" name="半闭框 46"/>
            <p:cNvSpPr/>
            <p:nvPr/>
          </p:nvSpPr>
          <p:spPr>
            <a:xfrm rot="10800000" flipV="1">
              <a:off x="10179892" y="2624598"/>
              <a:ext cx="58461" cy="58461"/>
            </a:xfrm>
            <a:prstGeom prst="halfFrame">
              <a:avLst>
                <a:gd name="adj1" fmla="val 15332"/>
                <a:gd name="adj2" fmla="val 18049"/>
              </a:avLst>
            </a:prstGeom>
            <a:solidFill>
              <a:srgbClr val="CAA150"/>
            </a:soli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endParaRPr lang="zh-CN" altLang="en-US" sz="476"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nvGrpSpPr>
          <p:cNvPr id="57" name="组合 56"/>
          <p:cNvGrpSpPr/>
          <p:nvPr/>
        </p:nvGrpSpPr>
        <p:grpSpPr>
          <a:xfrm>
            <a:off x="1271056" y="3060796"/>
            <a:ext cx="4247497" cy="998732"/>
            <a:chOff x="6096001" y="4252201"/>
            <a:chExt cx="9557026" cy="1039905"/>
          </a:xfrm>
        </p:grpSpPr>
        <p:sp>
          <p:nvSpPr>
            <p:cNvPr id="56" name="椭圆 55">
              <a:extLst>
                <a:ext uri="{FF2B5EF4-FFF2-40B4-BE49-F238E27FC236}">
                  <a16:creationId xmlns:a16="http://schemas.microsoft.com/office/drawing/2014/main" id="{8FB7E968-B600-45A8-B2DE-C0A1483BA830}"/>
                </a:ext>
              </a:extLst>
            </p:cNvPr>
            <p:cNvSpPr/>
            <p:nvPr/>
          </p:nvSpPr>
          <p:spPr>
            <a:xfrm>
              <a:off x="6096001" y="4296729"/>
              <a:ext cx="9557026" cy="995377"/>
            </a:xfrm>
            <a:prstGeom prst="ellipse">
              <a:avLst/>
            </a:prstGeom>
            <a:gradFill>
              <a:gsLst>
                <a:gs pos="0">
                  <a:schemeClr val="bg1">
                    <a:alpha val="0"/>
                  </a:schemeClr>
                </a:gs>
                <a:gs pos="100000">
                  <a:schemeClr val="bg1">
                    <a:alpha val="15000"/>
                  </a:schemeClr>
                </a:gs>
              </a:gsLst>
              <a:lin ang="5400000" scaled="1"/>
            </a:gra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endParaRPr lang="zh-CN" altLang="en-US" sz="1048" kern="0">
                <a:solidFill>
                  <a:srgbClr val="666666"/>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7" name="椭圆 6">
              <a:extLst>
                <a:ext uri="{FF2B5EF4-FFF2-40B4-BE49-F238E27FC236}">
                  <a16:creationId xmlns:a16="http://schemas.microsoft.com/office/drawing/2014/main" id="{8FB7E968-B600-45A8-B2DE-C0A1483BA830}"/>
                </a:ext>
              </a:extLst>
            </p:cNvPr>
            <p:cNvSpPr/>
            <p:nvPr/>
          </p:nvSpPr>
          <p:spPr>
            <a:xfrm>
              <a:off x="6096001" y="4252201"/>
              <a:ext cx="9557026" cy="995377"/>
            </a:xfrm>
            <a:prstGeom prst="ellipse">
              <a:avLst/>
            </a:prstGeom>
            <a:gradFill>
              <a:gsLst>
                <a:gs pos="0">
                  <a:schemeClr val="bg1">
                    <a:alpha val="0"/>
                  </a:schemeClr>
                </a:gs>
                <a:gs pos="100000">
                  <a:schemeClr val="bg1">
                    <a:alpha val="15000"/>
                  </a:schemeClr>
                </a:gs>
              </a:gsLst>
              <a:lin ang="5400000" scaled="1"/>
            </a:gradFill>
            <a:ln w="12700" cap="flat" cmpd="sng" algn="ctr">
              <a:gradFill>
                <a:gsLst>
                  <a:gs pos="0">
                    <a:schemeClr val="bg1">
                      <a:alpha val="0"/>
                    </a:schemeClr>
                  </a:gs>
                  <a:gs pos="100000">
                    <a:schemeClr val="bg1">
                      <a:alpha val="30000"/>
                    </a:schemeClr>
                  </a:gs>
                </a:gsLst>
                <a:lin ang="5400000" scaled="1"/>
              </a:grad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endParaRPr lang="zh-CN" altLang="en-US" sz="1048" kern="0">
                <a:solidFill>
                  <a:srgbClr val="666666"/>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nvGrpSpPr>
          <p:cNvPr id="9" name="组合 8">
            <a:extLst>
              <a:ext uri="{FF2B5EF4-FFF2-40B4-BE49-F238E27FC236}">
                <a16:creationId xmlns:a16="http://schemas.microsoft.com/office/drawing/2014/main" id="{3E012F43-5143-4685-BF67-2860FFFE655D}"/>
              </a:ext>
            </a:extLst>
          </p:cNvPr>
          <p:cNvGrpSpPr/>
          <p:nvPr/>
        </p:nvGrpSpPr>
        <p:grpSpPr>
          <a:xfrm>
            <a:off x="3223063" y="2873354"/>
            <a:ext cx="389971" cy="452051"/>
            <a:chOff x="2133600" y="3221038"/>
            <a:chExt cx="422275" cy="446088"/>
          </a:xfrm>
          <a:solidFill>
            <a:srgbClr val="CAA150"/>
          </a:solidFill>
        </p:grpSpPr>
        <p:sp>
          <p:nvSpPr>
            <p:cNvPr id="39" name="Freeform 59">
              <a:extLst>
                <a:ext uri="{FF2B5EF4-FFF2-40B4-BE49-F238E27FC236}">
                  <a16:creationId xmlns:a16="http://schemas.microsoft.com/office/drawing/2014/main" id="{CC6E239D-D5BF-4D7E-999F-EC0DD657A296}"/>
                </a:ext>
              </a:extLst>
            </p:cNvPr>
            <p:cNvSpPr>
              <a:spLocks noEditPoints="1"/>
            </p:cNvSpPr>
            <p:nvPr/>
          </p:nvSpPr>
          <p:spPr bwMode="auto">
            <a:xfrm>
              <a:off x="2222500" y="3221038"/>
              <a:ext cx="166688" cy="193675"/>
            </a:xfrm>
            <a:custGeom>
              <a:avLst/>
              <a:gdLst>
                <a:gd name="T0" fmla="*/ 22 w 43"/>
                <a:gd name="T1" fmla="*/ 50 h 50"/>
                <a:gd name="T2" fmla="*/ 43 w 43"/>
                <a:gd name="T3" fmla="*/ 29 h 50"/>
                <a:gd name="T4" fmla="*/ 43 w 43"/>
                <a:gd name="T5" fmla="*/ 21 h 50"/>
                <a:gd name="T6" fmla="*/ 22 w 43"/>
                <a:gd name="T7" fmla="*/ 0 h 50"/>
                <a:gd name="T8" fmla="*/ 0 w 43"/>
                <a:gd name="T9" fmla="*/ 21 h 50"/>
                <a:gd name="T10" fmla="*/ 0 w 43"/>
                <a:gd name="T11" fmla="*/ 29 h 50"/>
                <a:gd name="T12" fmla="*/ 22 w 43"/>
                <a:gd name="T13" fmla="*/ 50 h 50"/>
                <a:gd name="T14" fmla="*/ 4 w 43"/>
                <a:gd name="T15" fmla="*/ 21 h 50"/>
                <a:gd name="T16" fmla="*/ 22 w 43"/>
                <a:gd name="T17" fmla="*/ 4 h 50"/>
                <a:gd name="T18" fmla="*/ 39 w 43"/>
                <a:gd name="T19" fmla="*/ 21 h 50"/>
                <a:gd name="T20" fmla="*/ 39 w 43"/>
                <a:gd name="T21" fmla="*/ 29 h 50"/>
                <a:gd name="T22" fmla="*/ 22 w 43"/>
                <a:gd name="T23" fmla="*/ 46 h 50"/>
                <a:gd name="T24" fmla="*/ 4 w 43"/>
                <a:gd name="T25" fmla="*/ 29 h 50"/>
                <a:gd name="T26" fmla="*/ 4 w 43"/>
                <a:gd name="T27" fmla="*/ 2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 h="50">
                  <a:moveTo>
                    <a:pt x="22" y="50"/>
                  </a:moveTo>
                  <a:cubicBezTo>
                    <a:pt x="34" y="50"/>
                    <a:pt x="43" y="41"/>
                    <a:pt x="43" y="29"/>
                  </a:cubicBezTo>
                  <a:cubicBezTo>
                    <a:pt x="43" y="21"/>
                    <a:pt x="43" y="21"/>
                    <a:pt x="43" y="21"/>
                  </a:cubicBezTo>
                  <a:cubicBezTo>
                    <a:pt x="43" y="9"/>
                    <a:pt x="34" y="0"/>
                    <a:pt x="22" y="0"/>
                  </a:cubicBezTo>
                  <a:cubicBezTo>
                    <a:pt x="10" y="0"/>
                    <a:pt x="0" y="9"/>
                    <a:pt x="0" y="21"/>
                  </a:cubicBezTo>
                  <a:cubicBezTo>
                    <a:pt x="0" y="29"/>
                    <a:pt x="0" y="29"/>
                    <a:pt x="0" y="29"/>
                  </a:cubicBezTo>
                  <a:cubicBezTo>
                    <a:pt x="0" y="41"/>
                    <a:pt x="10" y="50"/>
                    <a:pt x="22" y="50"/>
                  </a:cubicBezTo>
                  <a:close/>
                  <a:moveTo>
                    <a:pt x="4" y="21"/>
                  </a:moveTo>
                  <a:cubicBezTo>
                    <a:pt x="4" y="12"/>
                    <a:pt x="12" y="4"/>
                    <a:pt x="22" y="4"/>
                  </a:cubicBezTo>
                  <a:cubicBezTo>
                    <a:pt x="31" y="4"/>
                    <a:pt x="39" y="12"/>
                    <a:pt x="39" y="21"/>
                  </a:cubicBezTo>
                  <a:cubicBezTo>
                    <a:pt x="39" y="29"/>
                    <a:pt x="39" y="29"/>
                    <a:pt x="39" y="29"/>
                  </a:cubicBezTo>
                  <a:cubicBezTo>
                    <a:pt x="39" y="39"/>
                    <a:pt x="31" y="46"/>
                    <a:pt x="22" y="46"/>
                  </a:cubicBezTo>
                  <a:cubicBezTo>
                    <a:pt x="12" y="46"/>
                    <a:pt x="4" y="39"/>
                    <a:pt x="4" y="29"/>
                  </a:cubicBezTo>
                  <a:lnTo>
                    <a:pt x="4"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algn="ctr" defTabSz="241832" eaLnBrk="1" fontAlgn="auto" hangingPunct="1">
                <a:spcBef>
                  <a:spcPts val="0"/>
                </a:spcBef>
                <a:spcAft>
                  <a:spcPts val="0"/>
                </a:spcAft>
                <a:defRPr/>
              </a:pPr>
              <a:endParaRPr lang="zh-CN" altLang="en-US" sz="1048" b="1"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40" name="Freeform 60">
              <a:extLst>
                <a:ext uri="{FF2B5EF4-FFF2-40B4-BE49-F238E27FC236}">
                  <a16:creationId xmlns:a16="http://schemas.microsoft.com/office/drawing/2014/main" id="{87F5F913-F706-473E-8766-EB92B47A1305}"/>
                </a:ext>
              </a:extLst>
            </p:cNvPr>
            <p:cNvSpPr>
              <a:spLocks/>
            </p:cNvSpPr>
            <p:nvPr/>
          </p:nvSpPr>
          <p:spPr bwMode="auto">
            <a:xfrm>
              <a:off x="2209800" y="3562350"/>
              <a:ext cx="15875" cy="93663"/>
            </a:xfrm>
            <a:custGeom>
              <a:avLst/>
              <a:gdLst>
                <a:gd name="T0" fmla="*/ 2 w 4"/>
                <a:gd name="T1" fmla="*/ 0 h 24"/>
                <a:gd name="T2" fmla="*/ 0 w 4"/>
                <a:gd name="T3" fmla="*/ 2 h 24"/>
                <a:gd name="T4" fmla="*/ 0 w 4"/>
                <a:gd name="T5" fmla="*/ 22 h 24"/>
                <a:gd name="T6" fmla="*/ 2 w 4"/>
                <a:gd name="T7" fmla="*/ 24 h 24"/>
                <a:gd name="T8" fmla="*/ 4 w 4"/>
                <a:gd name="T9" fmla="*/ 22 h 24"/>
                <a:gd name="T10" fmla="*/ 4 w 4"/>
                <a:gd name="T11" fmla="*/ 2 h 24"/>
                <a:gd name="T12" fmla="*/ 2 w 4"/>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4" h="24">
                  <a:moveTo>
                    <a:pt x="2" y="0"/>
                  </a:moveTo>
                  <a:cubicBezTo>
                    <a:pt x="0" y="0"/>
                    <a:pt x="0" y="1"/>
                    <a:pt x="0" y="2"/>
                  </a:cubicBezTo>
                  <a:cubicBezTo>
                    <a:pt x="0" y="22"/>
                    <a:pt x="0" y="22"/>
                    <a:pt x="0" y="22"/>
                  </a:cubicBezTo>
                  <a:cubicBezTo>
                    <a:pt x="0" y="23"/>
                    <a:pt x="0" y="24"/>
                    <a:pt x="2" y="24"/>
                  </a:cubicBezTo>
                  <a:cubicBezTo>
                    <a:pt x="3" y="24"/>
                    <a:pt x="4" y="23"/>
                    <a:pt x="4" y="22"/>
                  </a:cubicBezTo>
                  <a:cubicBezTo>
                    <a:pt x="4" y="2"/>
                    <a:pt x="4" y="2"/>
                    <a:pt x="4" y="2"/>
                  </a:cubicBezTo>
                  <a:cubicBezTo>
                    <a:pt x="4" y="1"/>
                    <a:pt x="3"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algn="ctr" defTabSz="241832" eaLnBrk="1" fontAlgn="auto" hangingPunct="1">
                <a:spcBef>
                  <a:spcPts val="0"/>
                </a:spcBef>
                <a:spcAft>
                  <a:spcPts val="0"/>
                </a:spcAft>
                <a:defRPr/>
              </a:pPr>
              <a:endParaRPr lang="zh-CN" altLang="en-US" sz="1048" b="1"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41" name="Freeform 61">
              <a:extLst>
                <a:ext uri="{FF2B5EF4-FFF2-40B4-BE49-F238E27FC236}">
                  <a16:creationId xmlns:a16="http://schemas.microsoft.com/office/drawing/2014/main" id="{EC933E47-3DE2-4E9B-B14C-A6BA460140D6}"/>
                </a:ext>
              </a:extLst>
            </p:cNvPr>
            <p:cNvSpPr>
              <a:spLocks noEditPoints="1"/>
            </p:cNvSpPr>
            <p:nvPr/>
          </p:nvSpPr>
          <p:spPr bwMode="auto">
            <a:xfrm>
              <a:off x="2133600" y="3446463"/>
              <a:ext cx="422275" cy="220663"/>
            </a:xfrm>
            <a:custGeom>
              <a:avLst/>
              <a:gdLst>
                <a:gd name="T0" fmla="*/ 102 w 109"/>
                <a:gd name="T1" fmla="*/ 28 h 57"/>
                <a:gd name="T2" fmla="*/ 108 w 109"/>
                <a:gd name="T3" fmla="*/ 21 h 57"/>
                <a:gd name="T4" fmla="*/ 100 w 109"/>
                <a:gd name="T5" fmla="*/ 11 h 57"/>
                <a:gd name="T6" fmla="*/ 96 w 109"/>
                <a:gd name="T7" fmla="*/ 10 h 57"/>
                <a:gd name="T8" fmla="*/ 85 w 109"/>
                <a:gd name="T9" fmla="*/ 2 h 57"/>
                <a:gd name="T10" fmla="*/ 80 w 109"/>
                <a:gd name="T11" fmla="*/ 8 h 57"/>
                <a:gd name="T12" fmla="*/ 73 w 109"/>
                <a:gd name="T13" fmla="*/ 3 h 57"/>
                <a:gd name="T14" fmla="*/ 0 w 109"/>
                <a:gd name="T15" fmla="*/ 25 h 57"/>
                <a:gd name="T16" fmla="*/ 4 w 109"/>
                <a:gd name="T17" fmla="*/ 52 h 57"/>
                <a:gd name="T18" fmla="*/ 65 w 109"/>
                <a:gd name="T19" fmla="*/ 7 h 57"/>
                <a:gd name="T20" fmla="*/ 64 w 109"/>
                <a:gd name="T21" fmla="*/ 12 h 57"/>
                <a:gd name="T22" fmla="*/ 64 w 109"/>
                <a:gd name="T23" fmla="*/ 16 h 57"/>
                <a:gd name="T24" fmla="*/ 57 w 109"/>
                <a:gd name="T25" fmla="*/ 17 h 57"/>
                <a:gd name="T26" fmla="*/ 57 w 109"/>
                <a:gd name="T27" fmla="*/ 30 h 57"/>
                <a:gd name="T28" fmla="*/ 56 w 109"/>
                <a:gd name="T29" fmla="*/ 34 h 57"/>
                <a:gd name="T30" fmla="*/ 61 w 109"/>
                <a:gd name="T31" fmla="*/ 48 h 57"/>
                <a:gd name="T32" fmla="*/ 68 w 109"/>
                <a:gd name="T33" fmla="*/ 46 h 57"/>
                <a:gd name="T34" fmla="*/ 68 w 109"/>
                <a:gd name="T35" fmla="*/ 54 h 57"/>
                <a:gd name="T36" fmla="*/ 81 w 109"/>
                <a:gd name="T37" fmla="*/ 55 h 57"/>
                <a:gd name="T38" fmla="*/ 84 w 109"/>
                <a:gd name="T39" fmla="*/ 50 h 57"/>
                <a:gd name="T40" fmla="*/ 88 w 109"/>
                <a:gd name="T41" fmla="*/ 56 h 57"/>
                <a:gd name="T42" fmla="*/ 99 w 109"/>
                <a:gd name="T43" fmla="*/ 48 h 57"/>
                <a:gd name="T44" fmla="*/ 102 w 109"/>
                <a:gd name="T45" fmla="*/ 44 h 57"/>
                <a:gd name="T46" fmla="*/ 109 w 109"/>
                <a:gd name="T47" fmla="*/ 33 h 57"/>
                <a:gd name="T48" fmla="*/ 98 w 109"/>
                <a:gd name="T49" fmla="*/ 38 h 57"/>
                <a:gd name="T50" fmla="*/ 93 w 109"/>
                <a:gd name="T51" fmla="*/ 44 h 57"/>
                <a:gd name="T52" fmla="*/ 89 w 109"/>
                <a:gd name="T53" fmla="*/ 52 h 57"/>
                <a:gd name="T54" fmla="*/ 82 w 109"/>
                <a:gd name="T55" fmla="*/ 46 h 57"/>
                <a:gd name="T56" fmla="*/ 71 w 109"/>
                <a:gd name="T57" fmla="*/ 50 h 57"/>
                <a:gd name="T58" fmla="*/ 70 w 109"/>
                <a:gd name="T59" fmla="*/ 42 h 57"/>
                <a:gd name="T60" fmla="*/ 59 w 109"/>
                <a:gd name="T61" fmla="*/ 37 h 57"/>
                <a:gd name="T62" fmla="*/ 65 w 109"/>
                <a:gd name="T63" fmla="*/ 32 h 57"/>
                <a:gd name="T64" fmla="*/ 58 w 109"/>
                <a:gd name="T65" fmla="*/ 26 h 57"/>
                <a:gd name="T66" fmla="*/ 63 w 109"/>
                <a:gd name="T67" fmla="*/ 20 h 57"/>
                <a:gd name="T68" fmla="*/ 69 w 109"/>
                <a:gd name="T69" fmla="*/ 17 h 57"/>
                <a:gd name="T70" fmla="*/ 68 w 109"/>
                <a:gd name="T71" fmla="*/ 10 h 57"/>
                <a:gd name="T72" fmla="*/ 79 w 109"/>
                <a:gd name="T73" fmla="*/ 13 h 57"/>
                <a:gd name="T74" fmla="*/ 85 w 109"/>
                <a:gd name="T75" fmla="*/ 6 h 57"/>
                <a:gd name="T76" fmla="*/ 90 w 109"/>
                <a:gd name="T77" fmla="*/ 13 h 57"/>
                <a:gd name="T78" fmla="*/ 96 w 109"/>
                <a:gd name="T79" fmla="*/ 18 h 57"/>
                <a:gd name="T80" fmla="*/ 99 w 109"/>
                <a:gd name="T81" fmla="*/ 24 h 57"/>
                <a:gd name="T82" fmla="*/ 100 w 109"/>
                <a:gd name="T83" fmla="*/ 3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9" h="57">
                  <a:moveTo>
                    <a:pt x="107" y="30"/>
                  </a:moveTo>
                  <a:cubicBezTo>
                    <a:pt x="106" y="29"/>
                    <a:pt x="106" y="29"/>
                    <a:pt x="106" y="29"/>
                  </a:cubicBezTo>
                  <a:cubicBezTo>
                    <a:pt x="105" y="29"/>
                    <a:pt x="103" y="28"/>
                    <a:pt x="102" y="28"/>
                  </a:cubicBezTo>
                  <a:cubicBezTo>
                    <a:pt x="102" y="28"/>
                    <a:pt x="102" y="27"/>
                    <a:pt x="102" y="27"/>
                  </a:cubicBezTo>
                  <a:cubicBezTo>
                    <a:pt x="107" y="24"/>
                    <a:pt x="107" y="24"/>
                    <a:pt x="107" y="24"/>
                  </a:cubicBezTo>
                  <a:cubicBezTo>
                    <a:pt x="108" y="24"/>
                    <a:pt x="108" y="22"/>
                    <a:pt x="108" y="21"/>
                  </a:cubicBezTo>
                  <a:cubicBezTo>
                    <a:pt x="103" y="12"/>
                    <a:pt x="103" y="12"/>
                    <a:pt x="103" y="12"/>
                  </a:cubicBezTo>
                  <a:cubicBezTo>
                    <a:pt x="103" y="12"/>
                    <a:pt x="102" y="11"/>
                    <a:pt x="102" y="11"/>
                  </a:cubicBezTo>
                  <a:cubicBezTo>
                    <a:pt x="101" y="11"/>
                    <a:pt x="100" y="11"/>
                    <a:pt x="100" y="11"/>
                  </a:cubicBezTo>
                  <a:cubicBezTo>
                    <a:pt x="95" y="14"/>
                    <a:pt x="95" y="14"/>
                    <a:pt x="95" y="14"/>
                  </a:cubicBezTo>
                  <a:cubicBezTo>
                    <a:pt x="95" y="13"/>
                    <a:pt x="95" y="13"/>
                    <a:pt x="95" y="13"/>
                  </a:cubicBezTo>
                  <a:cubicBezTo>
                    <a:pt x="95" y="12"/>
                    <a:pt x="95" y="11"/>
                    <a:pt x="96" y="10"/>
                  </a:cubicBezTo>
                  <a:cubicBezTo>
                    <a:pt x="96" y="8"/>
                    <a:pt x="96" y="8"/>
                    <a:pt x="96" y="8"/>
                  </a:cubicBezTo>
                  <a:cubicBezTo>
                    <a:pt x="96" y="7"/>
                    <a:pt x="96" y="5"/>
                    <a:pt x="94" y="5"/>
                  </a:cubicBezTo>
                  <a:cubicBezTo>
                    <a:pt x="85" y="2"/>
                    <a:pt x="85" y="2"/>
                    <a:pt x="85" y="2"/>
                  </a:cubicBezTo>
                  <a:cubicBezTo>
                    <a:pt x="84" y="2"/>
                    <a:pt x="82" y="2"/>
                    <a:pt x="82" y="4"/>
                  </a:cubicBezTo>
                  <a:cubicBezTo>
                    <a:pt x="81" y="5"/>
                    <a:pt x="81" y="5"/>
                    <a:pt x="81" y="5"/>
                  </a:cubicBezTo>
                  <a:cubicBezTo>
                    <a:pt x="81" y="6"/>
                    <a:pt x="81" y="7"/>
                    <a:pt x="80" y="8"/>
                  </a:cubicBezTo>
                  <a:cubicBezTo>
                    <a:pt x="80" y="8"/>
                    <a:pt x="79" y="8"/>
                    <a:pt x="79" y="8"/>
                  </a:cubicBezTo>
                  <a:cubicBezTo>
                    <a:pt x="77" y="4"/>
                    <a:pt x="77" y="4"/>
                    <a:pt x="77" y="4"/>
                  </a:cubicBezTo>
                  <a:cubicBezTo>
                    <a:pt x="76" y="3"/>
                    <a:pt x="75" y="2"/>
                    <a:pt x="73" y="3"/>
                  </a:cubicBezTo>
                  <a:cubicBezTo>
                    <a:pt x="70" y="5"/>
                    <a:pt x="70" y="5"/>
                    <a:pt x="70" y="5"/>
                  </a:cubicBezTo>
                  <a:cubicBezTo>
                    <a:pt x="62" y="2"/>
                    <a:pt x="52" y="0"/>
                    <a:pt x="45" y="0"/>
                  </a:cubicBezTo>
                  <a:cubicBezTo>
                    <a:pt x="29" y="0"/>
                    <a:pt x="0" y="8"/>
                    <a:pt x="0" y="25"/>
                  </a:cubicBezTo>
                  <a:cubicBezTo>
                    <a:pt x="0" y="52"/>
                    <a:pt x="0" y="52"/>
                    <a:pt x="0" y="52"/>
                  </a:cubicBezTo>
                  <a:cubicBezTo>
                    <a:pt x="0" y="53"/>
                    <a:pt x="1" y="54"/>
                    <a:pt x="2" y="54"/>
                  </a:cubicBezTo>
                  <a:cubicBezTo>
                    <a:pt x="4" y="54"/>
                    <a:pt x="4" y="53"/>
                    <a:pt x="4" y="52"/>
                  </a:cubicBezTo>
                  <a:cubicBezTo>
                    <a:pt x="4" y="25"/>
                    <a:pt x="4" y="25"/>
                    <a:pt x="4" y="25"/>
                  </a:cubicBezTo>
                  <a:cubicBezTo>
                    <a:pt x="4" y="11"/>
                    <a:pt x="31" y="4"/>
                    <a:pt x="45" y="4"/>
                  </a:cubicBezTo>
                  <a:cubicBezTo>
                    <a:pt x="51" y="4"/>
                    <a:pt x="58" y="5"/>
                    <a:pt x="65" y="7"/>
                  </a:cubicBezTo>
                  <a:cubicBezTo>
                    <a:pt x="64" y="8"/>
                    <a:pt x="64" y="8"/>
                    <a:pt x="64" y="8"/>
                  </a:cubicBezTo>
                  <a:cubicBezTo>
                    <a:pt x="63" y="8"/>
                    <a:pt x="63" y="10"/>
                    <a:pt x="63" y="11"/>
                  </a:cubicBezTo>
                  <a:cubicBezTo>
                    <a:pt x="64" y="12"/>
                    <a:pt x="64" y="12"/>
                    <a:pt x="64" y="12"/>
                  </a:cubicBezTo>
                  <a:cubicBezTo>
                    <a:pt x="65" y="13"/>
                    <a:pt x="65" y="14"/>
                    <a:pt x="66" y="15"/>
                  </a:cubicBezTo>
                  <a:cubicBezTo>
                    <a:pt x="65" y="16"/>
                    <a:pt x="65" y="16"/>
                    <a:pt x="65" y="17"/>
                  </a:cubicBezTo>
                  <a:cubicBezTo>
                    <a:pt x="64" y="16"/>
                    <a:pt x="64" y="16"/>
                    <a:pt x="64" y="16"/>
                  </a:cubicBezTo>
                  <a:cubicBezTo>
                    <a:pt x="60" y="15"/>
                    <a:pt x="60" y="15"/>
                    <a:pt x="60" y="15"/>
                  </a:cubicBezTo>
                  <a:cubicBezTo>
                    <a:pt x="59" y="15"/>
                    <a:pt x="59" y="15"/>
                    <a:pt x="58" y="15"/>
                  </a:cubicBezTo>
                  <a:cubicBezTo>
                    <a:pt x="58" y="15"/>
                    <a:pt x="57" y="16"/>
                    <a:pt x="57" y="17"/>
                  </a:cubicBezTo>
                  <a:cubicBezTo>
                    <a:pt x="54" y="26"/>
                    <a:pt x="54" y="26"/>
                    <a:pt x="54" y="26"/>
                  </a:cubicBezTo>
                  <a:cubicBezTo>
                    <a:pt x="54" y="28"/>
                    <a:pt x="54" y="29"/>
                    <a:pt x="56" y="29"/>
                  </a:cubicBezTo>
                  <a:cubicBezTo>
                    <a:pt x="57" y="30"/>
                    <a:pt x="57" y="30"/>
                    <a:pt x="57" y="30"/>
                  </a:cubicBezTo>
                  <a:cubicBezTo>
                    <a:pt x="58" y="30"/>
                    <a:pt x="59" y="31"/>
                    <a:pt x="60" y="31"/>
                  </a:cubicBezTo>
                  <a:cubicBezTo>
                    <a:pt x="61" y="31"/>
                    <a:pt x="61" y="32"/>
                    <a:pt x="61" y="32"/>
                  </a:cubicBezTo>
                  <a:cubicBezTo>
                    <a:pt x="56" y="34"/>
                    <a:pt x="56" y="34"/>
                    <a:pt x="56" y="34"/>
                  </a:cubicBezTo>
                  <a:cubicBezTo>
                    <a:pt x="55" y="35"/>
                    <a:pt x="54" y="37"/>
                    <a:pt x="55" y="38"/>
                  </a:cubicBezTo>
                  <a:cubicBezTo>
                    <a:pt x="60" y="47"/>
                    <a:pt x="60" y="47"/>
                    <a:pt x="60" y="47"/>
                  </a:cubicBezTo>
                  <a:cubicBezTo>
                    <a:pt x="60" y="47"/>
                    <a:pt x="61" y="48"/>
                    <a:pt x="61" y="48"/>
                  </a:cubicBezTo>
                  <a:cubicBezTo>
                    <a:pt x="62" y="48"/>
                    <a:pt x="62" y="48"/>
                    <a:pt x="63" y="48"/>
                  </a:cubicBezTo>
                  <a:cubicBezTo>
                    <a:pt x="68" y="45"/>
                    <a:pt x="68" y="45"/>
                    <a:pt x="68" y="45"/>
                  </a:cubicBezTo>
                  <a:cubicBezTo>
                    <a:pt x="68" y="45"/>
                    <a:pt x="68" y="46"/>
                    <a:pt x="68" y="46"/>
                  </a:cubicBezTo>
                  <a:cubicBezTo>
                    <a:pt x="68" y="47"/>
                    <a:pt x="67" y="49"/>
                    <a:pt x="67" y="50"/>
                  </a:cubicBezTo>
                  <a:cubicBezTo>
                    <a:pt x="67" y="51"/>
                    <a:pt x="67" y="51"/>
                    <a:pt x="67" y="51"/>
                  </a:cubicBezTo>
                  <a:cubicBezTo>
                    <a:pt x="66" y="52"/>
                    <a:pt x="67" y="53"/>
                    <a:pt x="68" y="54"/>
                  </a:cubicBezTo>
                  <a:cubicBezTo>
                    <a:pt x="78" y="57"/>
                    <a:pt x="78" y="57"/>
                    <a:pt x="78" y="57"/>
                  </a:cubicBezTo>
                  <a:cubicBezTo>
                    <a:pt x="78" y="57"/>
                    <a:pt x="79" y="57"/>
                    <a:pt x="79" y="57"/>
                  </a:cubicBezTo>
                  <a:cubicBezTo>
                    <a:pt x="80" y="57"/>
                    <a:pt x="81" y="56"/>
                    <a:pt x="81" y="55"/>
                  </a:cubicBezTo>
                  <a:cubicBezTo>
                    <a:pt x="81" y="54"/>
                    <a:pt x="81" y="54"/>
                    <a:pt x="81" y="54"/>
                  </a:cubicBezTo>
                  <a:cubicBezTo>
                    <a:pt x="82" y="53"/>
                    <a:pt x="82" y="51"/>
                    <a:pt x="83" y="50"/>
                  </a:cubicBezTo>
                  <a:cubicBezTo>
                    <a:pt x="83" y="50"/>
                    <a:pt x="83" y="50"/>
                    <a:pt x="84" y="50"/>
                  </a:cubicBezTo>
                  <a:cubicBezTo>
                    <a:pt x="84" y="51"/>
                    <a:pt x="85" y="53"/>
                    <a:pt x="86" y="54"/>
                  </a:cubicBezTo>
                  <a:cubicBezTo>
                    <a:pt x="86" y="55"/>
                    <a:pt x="86" y="55"/>
                    <a:pt x="86" y="55"/>
                  </a:cubicBezTo>
                  <a:cubicBezTo>
                    <a:pt x="86" y="56"/>
                    <a:pt x="87" y="56"/>
                    <a:pt x="88" y="56"/>
                  </a:cubicBezTo>
                  <a:cubicBezTo>
                    <a:pt x="88" y="56"/>
                    <a:pt x="89" y="56"/>
                    <a:pt x="89" y="56"/>
                  </a:cubicBezTo>
                  <a:cubicBezTo>
                    <a:pt x="98" y="51"/>
                    <a:pt x="98" y="51"/>
                    <a:pt x="98" y="51"/>
                  </a:cubicBezTo>
                  <a:cubicBezTo>
                    <a:pt x="100" y="51"/>
                    <a:pt x="100" y="49"/>
                    <a:pt x="99" y="48"/>
                  </a:cubicBezTo>
                  <a:cubicBezTo>
                    <a:pt x="97" y="43"/>
                    <a:pt x="97" y="43"/>
                    <a:pt x="97" y="43"/>
                  </a:cubicBezTo>
                  <a:cubicBezTo>
                    <a:pt x="97" y="43"/>
                    <a:pt x="98" y="43"/>
                    <a:pt x="98" y="42"/>
                  </a:cubicBezTo>
                  <a:cubicBezTo>
                    <a:pt x="99" y="43"/>
                    <a:pt x="101" y="43"/>
                    <a:pt x="102" y="44"/>
                  </a:cubicBezTo>
                  <a:cubicBezTo>
                    <a:pt x="103" y="44"/>
                    <a:pt x="103" y="44"/>
                    <a:pt x="103" y="44"/>
                  </a:cubicBezTo>
                  <a:cubicBezTo>
                    <a:pt x="104" y="44"/>
                    <a:pt x="105" y="43"/>
                    <a:pt x="106" y="42"/>
                  </a:cubicBezTo>
                  <a:cubicBezTo>
                    <a:pt x="109" y="33"/>
                    <a:pt x="109" y="33"/>
                    <a:pt x="109" y="33"/>
                  </a:cubicBezTo>
                  <a:cubicBezTo>
                    <a:pt x="109" y="31"/>
                    <a:pt x="109" y="30"/>
                    <a:pt x="107" y="30"/>
                  </a:cubicBezTo>
                  <a:close/>
                  <a:moveTo>
                    <a:pt x="103" y="40"/>
                  </a:moveTo>
                  <a:cubicBezTo>
                    <a:pt x="101" y="39"/>
                    <a:pt x="100" y="39"/>
                    <a:pt x="98" y="38"/>
                  </a:cubicBezTo>
                  <a:cubicBezTo>
                    <a:pt x="97" y="38"/>
                    <a:pt x="96" y="38"/>
                    <a:pt x="95" y="39"/>
                  </a:cubicBezTo>
                  <a:cubicBezTo>
                    <a:pt x="95" y="40"/>
                    <a:pt x="94" y="41"/>
                    <a:pt x="93" y="41"/>
                  </a:cubicBezTo>
                  <a:cubicBezTo>
                    <a:pt x="92" y="42"/>
                    <a:pt x="93" y="44"/>
                    <a:pt x="93" y="44"/>
                  </a:cubicBezTo>
                  <a:cubicBezTo>
                    <a:pt x="95" y="48"/>
                    <a:pt x="95" y="48"/>
                    <a:pt x="95" y="48"/>
                  </a:cubicBezTo>
                  <a:cubicBezTo>
                    <a:pt x="95" y="48"/>
                    <a:pt x="95" y="48"/>
                    <a:pt x="95" y="48"/>
                  </a:cubicBezTo>
                  <a:cubicBezTo>
                    <a:pt x="89" y="52"/>
                    <a:pt x="89" y="52"/>
                    <a:pt x="89" y="52"/>
                  </a:cubicBezTo>
                  <a:cubicBezTo>
                    <a:pt x="88" y="50"/>
                    <a:pt x="88" y="49"/>
                    <a:pt x="87" y="47"/>
                  </a:cubicBezTo>
                  <a:cubicBezTo>
                    <a:pt x="86" y="47"/>
                    <a:pt x="85" y="46"/>
                    <a:pt x="84" y="46"/>
                  </a:cubicBezTo>
                  <a:cubicBezTo>
                    <a:pt x="83" y="46"/>
                    <a:pt x="83" y="46"/>
                    <a:pt x="82" y="46"/>
                  </a:cubicBezTo>
                  <a:cubicBezTo>
                    <a:pt x="82" y="46"/>
                    <a:pt x="80" y="46"/>
                    <a:pt x="79" y="48"/>
                  </a:cubicBezTo>
                  <a:cubicBezTo>
                    <a:pt x="79" y="50"/>
                    <a:pt x="78" y="51"/>
                    <a:pt x="78" y="53"/>
                  </a:cubicBezTo>
                  <a:cubicBezTo>
                    <a:pt x="71" y="50"/>
                    <a:pt x="71" y="50"/>
                    <a:pt x="71" y="50"/>
                  </a:cubicBezTo>
                  <a:cubicBezTo>
                    <a:pt x="72" y="49"/>
                    <a:pt x="72" y="48"/>
                    <a:pt x="72" y="46"/>
                  </a:cubicBezTo>
                  <a:cubicBezTo>
                    <a:pt x="73" y="45"/>
                    <a:pt x="73" y="44"/>
                    <a:pt x="71" y="43"/>
                  </a:cubicBezTo>
                  <a:cubicBezTo>
                    <a:pt x="71" y="43"/>
                    <a:pt x="70" y="42"/>
                    <a:pt x="70" y="42"/>
                  </a:cubicBezTo>
                  <a:cubicBezTo>
                    <a:pt x="69" y="41"/>
                    <a:pt x="68" y="41"/>
                    <a:pt x="67" y="41"/>
                  </a:cubicBezTo>
                  <a:cubicBezTo>
                    <a:pt x="63" y="43"/>
                    <a:pt x="63" y="43"/>
                    <a:pt x="63" y="43"/>
                  </a:cubicBezTo>
                  <a:cubicBezTo>
                    <a:pt x="59" y="37"/>
                    <a:pt x="59" y="37"/>
                    <a:pt x="59" y="37"/>
                  </a:cubicBezTo>
                  <a:cubicBezTo>
                    <a:pt x="64" y="35"/>
                    <a:pt x="64" y="35"/>
                    <a:pt x="64" y="35"/>
                  </a:cubicBezTo>
                  <a:cubicBezTo>
                    <a:pt x="64" y="35"/>
                    <a:pt x="65" y="34"/>
                    <a:pt x="65" y="33"/>
                  </a:cubicBezTo>
                  <a:cubicBezTo>
                    <a:pt x="65" y="32"/>
                    <a:pt x="65" y="32"/>
                    <a:pt x="65" y="32"/>
                  </a:cubicBezTo>
                  <a:cubicBezTo>
                    <a:pt x="65" y="31"/>
                    <a:pt x="64" y="30"/>
                    <a:pt x="64" y="29"/>
                  </a:cubicBezTo>
                  <a:cubicBezTo>
                    <a:pt x="64" y="28"/>
                    <a:pt x="63" y="28"/>
                    <a:pt x="63" y="27"/>
                  </a:cubicBezTo>
                  <a:cubicBezTo>
                    <a:pt x="61" y="27"/>
                    <a:pt x="60" y="26"/>
                    <a:pt x="58" y="26"/>
                  </a:cubicBezTo>
                  <a:cubicBezTo>
                    <a:pt x="58" y="26"/>
                    <a:pt x="58" y="26"/>
                    <a:pt x="58" y="26"/>
                  </a:cubicBezTo>
                  <a:cubicBezTo>
                    <a:pt x="60" y="19"/>
                    <a:pt x="60" y="19"/>
                    <a:pt x="60" y="19"/>
                  </a:cubicBezTo>
                  <a:cubicBezTo>
                    <a:pt x="63" y="20"/>
                    <a:pt x="63" y="20"/>
                    <a:pt x="63" y="20"/>
                  </a:cubicBezTo>
                  <a:cubicBezTo>
                    <a:pt x="63" y="20"/>
                    <a:pt x="64" y="20"/>
                    <a:pt x="64" y="21"/>
                  </a:cubicBezTo>
                  <a:cubicBezTo>
                    <a:pt x="66" y="21"/>
                    <a:pt x="67" y="21"/>
                    <a:pt x="67" y="20"/>
                  </a:cubicBezTo>
                  <a:cubicBezTo>
                    <a:pt x="68" y="19"/>
                    <a:pt x="69" y="18"/>
                    <a:pt x="69" y="17"/>
                  </a:cubicBezTo>
                  <a:cubicBezTo>
                    <a:pt x="70" y="16"/>
                    <a:pt x="70" y="15"/>
                    <a:pt x="70" y="14"/>
                  </a:cubicBezTo>
                  <a:cubicBezTo>
                    <a:pt x="69" y="13"/>
                    <a:pt x="68" y="12"/>
                    <a:pt x="68" y="10"/>
                  </a:cubicBezTo>
                  <a:cubicBezTo>
                    <a:pt x="68" y="10"/>
                    <a:pt x="68" y="10"/>
                    <a:pt x="68" y="10"/>
                  </a:cubicBezTo>
                  <a:cubicBezTo>
                    <a:pt x="74" y="7"/>
                    <a:pt x="74" y="7"/>
                    <a:pt x="74" y="7"/>
                  </a:cubicBezTo>
                  <a:cubicBezTo>
                    <a:pt x="76" y="11"/>
                    <a:pt x="76" y="11"/>
                    <a:pt x="76" y="11"/>
                  </a:cubicBezTo>
                  <a:cubicBezTo>
                    <a:pt x="76" y="12"/>
                    <a:pt x="77" y="13"/>
                    <a:pt x="79" y="13"/>
                  </a:cubicBezTo>
                  <a:cubicBezTo>
                    <a:pt x="79" y="12"/>
                    <a:pt x="80" y="12"/>
                    <a:pt x="81" y="12"/>
                  </a:cubicBezTo>
                  <a:cubicBezTo>
                    <a:pt x="83" y="12"/>
                    <a:pt x="84" y="11"/>
                    <a:pt x="84" y="10"/>
                  </a:cubicBezTo>
                  <a:cubicBezTo>
                    <a:pt x="84" y="9"/>
                    <a:pt x="85" y="8"/>
                    <a:pt x="85" y="6"/>
                  </a:cubicBezTo>
                  <a:cubicBezTo>
                    <a:pt x="92" y="8"/>
                    <a:pt x="92" y="8"/>
                    <a:pt x="92" y="8"/>
                  </a:cubicBezTo>
                  <a:cubicBezTo>
                    <a:pt x="92" y="8"/>
                    <a:pt x="92" y="8"/>
                    <a:pt x="92" y="8"/>
                  </a:cubicBezTo>
                  <a:cubicBezTo>
                    <a:pt x="91" y="10"/>
                    <a:pt x="91" y="11"/>
                    <a:pt x="90" y="13"/>
                  </a:cubicBezTo>
                  <a:cubicBezTo>
                    <a:pt x="90" y="13"/>
                    <a:pt x="90" y="15"/>
                    <a:pt x="92" y="16"/>
                  </a:cubicBezTo>
                  <a:cubicBezTo>
                    <a:pt x="92" y="16"/>
                    <a:pt x="93" y="17"/>
                    <a:pt x="93" y="17"/>
                  </a:cubicBezTo>
                  <a:cubicBezTo>
                    <a:pt x="94" y="18"/>
                    <a:pt x="96" y="18"/>
                    <a:pt x="96" y="18"/>
                  </a:cubicBezTo>
                  <a:cubicBezTo>
                    <a:pt x="100" y="15"/>
                    <a:pt x="100" y="15"/>
                    <a:pt x="100" y="15"/>
                  </a:cubicBezTo>
                  <a:cubicBezTo>
                    <a:pt x="103" y="22"/>
                    <a:pt x="103" y="22"/>
                    <a:pt x="103" y="22"/>
                  </a:cubicBezTo>
                  <a:cubicBezTo>
                    <a:pt x="99" y="24"/>
                    <a:pt x="99" y="24"/>
                    <a:pt x="99" y="24"/>
                  </a:cubicBezTo>
                  <a:cubicBezTo>
                    <a:pt x="99" y="24"/>
                    <a:pt x="98" y="25"/>
                    <a:pt x="98" y="27"/>
                  </a:cubicBezTo>
                  <a:cubicBezTo>
                    <a:pt x="98" y="27"/>
                    <a:pt x="98" y="28"/>
                    <a:pt x="98" y="29"/>
                  </a:cubicBezTo>
                  <a:cubicBezTo>
                    <a:pt x="98" y="29"/>
                    <a:pt x="98" y="31"/>
                    <a:pt x="100" y="32"/>
                  </a:cubicBezTo>
                  <a:cubicBezTo>
                    <a:pt x="102" y="32"/>
                    <a:pt x="103" y="32"/>
                    <a:pt x="105" y="33"/>
                  </a:cubicBezTo>
                  <a:lnTo>
                    <a:pt x="103"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algn="ctr" defTabSz="241832" eaLnBrk="1" fontAlgn="auto" hangingPunct="1">
                <a:spcBef>
                  <a:spcPts val="0"/>
                </a:spcBef>
                <a:spcAft>
                  <a:spcPts val="0"/>
                </a:spcAft>
                <a:defRPr/>
              </a:pPr>
              <a:endParaRPr lang="zh-CN" altLang="en-US" sz="1048" b="1"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42" name="Freeform 62">
              <a:extLst>
                <a:ext uri="{FF2B5EF4-FFF2-40B4-BE49-F238E27FC236}">
                  <a16:creationId xmlns:a16="http://schemas.microsoft.com/office/drawing/2014/main" id="{596CD54C-212E-40E3-893C-A870BC49AA58}"/>
                </a:ext>
              </a:extLst>
            </p:cNvPr>
            <p:cNvSpPr>
              <a:spLocks noEditPoints="1"/>
            </p:cNvSpPr>
            <p:nvPr/>
          </p:nvSpPr>
          <p:spPr bwMode="auto">
            <a:xfrm>
              <a:off x="2397125" y="3508375"/>
              <a:ext cx="104775" cy="104775"/>
            </a:xfrm>
            <a:custGeom>
              <a:avLst/>
              <a:gdLst>
                <a:gd name="T0" fmla="*/ 13 w 27"/>
                <a:gd name="T1" fmla="*/ 0 h 27"/>
                <a:gd name="T2" fmla="*/ 0 w 27"/>
                <a:gd name="T3" fmla="*/ 13 h 27"/>
                <a:gd name="T4" fmla="*/ 13 w 27"/>
                <a:gd name="T5" fmla="*/ 27 h 27"/>
                <a:gd name="T6" fmla="*/ 27 w 27"/>
                <a:gd name="T7" fmla="*/ 13 h 27"/>
                <a:gd name="T8" fmla="*/ 13 w 27"/>
                <a:gd name="T9" fmla="*/ 0 h 27"/>
                <a:gd name="T10" fmla="*/ 13 w 27"/>
                <a:gd name="T11" fmla="*/ 23 h 27"/>
                <a:gd name="T12" fmla="*/ 4 w 27"/>
                <a:gd name="T13" fmla="*/ 13 h 27"/>
                <a:gd name="T14" fmla="*/ 13 w 27"/>
                <a:gd name="T15" fmla="*/ 4 h 27"/>
                <a:gd name="T16" fmla="*/ 23 w 27"/>
                <a:gd name="T17" fmla="*/ 13 h 27"/>
                <a:gd name="T18" fmla="*/ 13 w 27"/>
                <a:gd name="T19"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 h="27">
                  <a:moveTo>
                    <a:pt x="13" y="0"/>
                  </a:moveTo>
                  <a:cubicBezTo>
                    <a:pt x="6" y="0"/>
                    <a:pt x="0" y="6"/>
                    <a:pt x="0" y="13"/>
                  </a:cubicBezTo>
                  <a:cubicBezTo>
                    <a:pt x="0" y="21"/>
                    <a:pt x="6" y="27"/>
                    <a:pt x="13" y="27"/>
                  </a:cubicBezTo>
                  <a:cubicBezTo>
                    <a:pt x="21" y="27"/>
                    <a:pt x="27" y="21"/>
                    <a:pt x="27" y="13"/>
                  </a:cubicBezTo>
                  <a:cubicBezTo>
                    <a:pt x="27" y="6"/>
                    <a:pt x="21" y="0"/>
                    <a:pt x="13" y="0"/>
                  </a:cubicBezTo>
                  <a:close/>
                  <a:moveTo>
                    <a:pt x="13" y="23"/>
                  </a:moveTo>
                  <a:cubicBezTo>
                    <a:pt x="8" y="23"/>
                    <a:pt x="4" y="19"/>
                    <a:pt x="4" y="13"/>
                  </a:cubicBezTo>
                  <a:cubicBezTo>
                    <a:pt x="4" y="8"/>
                    <a:pt x="8" y="4"/>
                    <a:pt x="13" y="4"/>
                  </a:cubicBezTo>
                  <a:cubicBezTo>
                    <a:pt x="19" y="4"/>
                    <a:pt x="23" y="8"/>
                    <a:pt x="23" y="13"/>
                  </a:cubicBezTo>
                  <a:cubicBezTo>
                    <a:pt x="23" y="19"/>
                    <a:pt x="19" y="23"/>
                    <a:pt x="1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algn="ctr" defTabSz="241832" eaLnBrk="1" fontAlgn="auto" hangingPunct="1">
                <a:spcBef>
                  <a:spcPts val="0"/>
                </a:spcBef>
                <a:spcAft>
                  <a:spcPts val="0"/>
                </a:spcAft>
                <a:defRPr/>
              </a:pPr>
              <a:endParaRPr lang="zh-CN" altLang="en-US" sz="1048" b="1"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sp>
        <p:nvSpPr>
          <p:cNvPr id="17" name="矩形 16"/>
          <p:cNvSpPr/>
          <p:nvPr/>
        </p:nvSpPr>
        <p:spPr>
          <a:xfrm>
            <a:off x="2836151" y="3380122"/>
            <a:ext cx="1235590" cy="253497"/>
          </a:xfrm>
          <a:prstGeom prst="rect">
            <a:avLst/>
          </a:prstGeom>
        </p:spPr>
        <p:txBody>
          <a:bodyPr wrap="square">
            <a:spAutoFit/>
          </a:bodyPr>
          <a:lstStyle/>
          <a:p>
            <a:pPr algn="ctr" defTabSz="609432" eaLnBrk="1" fontAlgn="auto" hangingPunct="1">
              <a:spcBef>
                <a:spcPts val="0"/>
              </a:spcBef>
              <a:spcAft>
                <a:spcPts val="0"/>
              </a:spcAft>
            </a:pPr>
            <a:r>
              <a:rPr lang="en-US" altLang="zh-CN" sz="1048" dirty="0">
                <a:solidFill>
                  <a:srgbClr val="CAA150"/>
                </a:solidFill>
                <a:latin typeface="方正兰亭黑简体" panose="02000000000000000000" pitchFamily="2" charset="-122"/>
                <a:ea typeface="方正兰亭黑简体" panose="02000000000000000000" pitchFamily="2" charset="-122"/>
                <a:sym typeface="方正兰亭黑简体" panose="02000000000000000000" pitchFamily="2" charset="-122"/>
              </a:rPr>
              <a:t>CPU 7</a:t>
            </a:r>
            <a:endParaRPr lang="zh-CN" altLang="en-US" sz="1048" dirty="0">
              <a:solidFill>
                <a:srgbClr val="CAA150"/>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nvGrpSpPr>
          <p:cNvPr id="23" name="组合 22"/>
          <p:cNvGrpSpPr/>
          <p:nvPr/>
        </p:nvGrpSpPr>
        <p:grpSpPr>
          <a:xfrm>
            <a:off x="1334479" y="3589021"/>
            <a:ext cx="628453" cy="634737"/>
            <a:chOff x="2099245" y="4413663"/>
            <a:chExt cx="2108225" cy="1893672"/>
          </a:xfrm>
        </p:grpSpPr>
        <p:sp>
          <p:nvSpPr>
            <p:cNvPr id="18" name="矩形 17"/>
            <p:cNvSpPr/>
            <p:nvPr/>
          </p:nvSpPr>
          <p:spPr>
            <a:xfrm>
              <a:off x="2099245" y="5551053"/>
              <a:ext cx="2108225" cy="756282"/>
            </a:xfrm>
            <a:prstGeom prst="rect">
              <a:avLst/>
            </a:prstGeom>
          </p:spPr>
          <p:txBody>
            <a:bodyPr wrap="none">
              <a:spAutoFit/>
            </a:bodyPr>
            <a:lstStyle/>
            <a:p>
              <a:pPr algn="ctr" defTabSz="609432" eaLnBrk="1" fontAlgn="auto" hangingPunct="1">
                <a:spcBef>
                  <a:spcPts val="0"/>
                </a:spcBef>
                <a:spcAft>
                  <a:spcPts val="0"/>
                </a:spcAft>
              </a:pPr>
              <a:r>
                <a:rPr lang="en-US" altLang="zh-CN" sz="1048"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CPU 0</a:t>
              </a:r>
              <a:endParaRPr lang="zh-CN" altLang="en-US" sz="1048" dirty="0">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 name="椭圆 1"/>
            <p:cNvSpPr/>
            <p:nvPr/>
          </p:nvSpPr>
          <p:spPr>
            <a:xfrm>
              <a:off x="2664011" y="4484789"/>
              <a:ext cx="978694" cy="965170"/>
            </a:xfrm>
            <a:prstGeom prst="ellipse">
              <a:avLst/>
            </a:prstGeom>
            <a:gradFill flip="none" rotWithShape="1">
              <a:gsLst>
                <a:gs pos="72000">
                  <a:srgbClr val="010A43"/>
                </a:gs>
                <a:gs pos="100000">
                  <a:srgbClr val="010A43">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048">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pic>
          <p:nvPicPr>
            <p:cNvPr id="59" name="图片 58" descr="图片包含 游戏机, 灯光&#10;&#10;描述已自动生成">
              <a:extLst>
                <a:ext uri="{FF2B5EF4-FFF2-40B4-BE49-F238E27FC236}">
                  <a16:creationId xmlns:a16="http://schemas.microsoft.com/office/drawing/2014/main" id="{A7517968-D900-45F2-AABF-067AE561809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3916" y="4413663"/>
              <a:ext cx="1118885" cy="1093899"/>
            </a:xfrm>
            <a:prstGeom prst="rect">
              <a:avLst/>
            </a:prstGeom>
          </p:spPr>
        </p:pic>
        <p:grpSp>
          <p:nvGrpSpPr>
            <p:cNvPr id="10" name="组合 9"/>
            <p:cNvGrpSpPr/>
            <p:nvPr/>
          </p:nvGrpSpPr>
          <p:grpSpPr>
            <a:xfrm>
              <a:off x="2925294" y="4654091"/>
              <a:ext cx="456129" cy="589193"/>
              <a:chOff x="11821384" y="2329926"/>
              <a:chExt cx="184581" cy="296176"/>
            </a:xfrm>
            <a:solidFill>
              <a:srgbClr val="969696"/>
            </a:solidFill>
          </p:grpSpPr>
          <p:sp>
            <p:nvSpPr>
              <p:cNvPr id="37" name="Freeform 5">
                <a:extLst>
                  <a:ext uri="{FF2B5EF4-FFF2-40B4-BE49-F238E27FC236}">
                    <a16:creationId xmlns:a16="http://schemas.microsoft.com/office/drawing/2014/main" id="{BB00C13E-CF85-4D62-864F-99B930469E8F}"/>
                  </a:ext>
                </a:extLst>
              </p:cNvPr>
              <p:cNvSpPr>
                <a:spLocks/>
              </p:cNvSpPr>
              <p:nvPr/>
            </p:nvSpPr>
            <p:spPr bwMode="auto">
              <a:xfrm>
                <a:off x="11821384" y="2411261"/>
                <a:ext cx="184581" cy="214841"/>
              </a:xfrm>
              <a:custGeom>
                <a:avLst/>
                <a:gdLst>
                  <a:gd name="T0" fmla="*/ 25 w 50"/>
                  <a:gd name="T1" fmla="*/ 0 h 58"/>
                  <a:gd name="T2" fmla="*/ 0 w 50"/>
                  <a:gd name="T3" fmla="*/ 13 h 58"/>
                  <a:gd name="T4" fmla="*/ 0 w 50"/>
                  <a:gd name="T5" fmla="*/ 34 h 58"/>
                  <a:gd name="T6" fmla="*/ 9 w 50"/>
                  <a:gd name="T7" fmla="*/ 44 h 58"/>
                  <a:gd name="T8" fmla="*/ 9 w 50"/>
                  <a:gd name="T9" fmla="*/ 56 h 58"/>
                  <a:gd name="T10" fmla="*/ 11 w 50"/>
                  <a:gd name="T11" fmla="*/ 58 h 58"/>
                  <a:gd name="T12" fmla="*/ 13 w 50"/>
                  <a:gd name="T13" fmla="*/ 56 h 58"/>
                  <a:gd name="T14" fmla="*/ 13 w 50"/>
                  <a:gd name="T15" fmla="*/ 18 h 58"/>
                  <a:gd name="T16" fmla="*/ 11 w 50"/>
                  <a:gd name="T17" fmla="*/ 16 h 58"/>
                  <a:gd name="T18" fmla="*/ 9 w 50"/>
                  <a:gd name="T19" fmla="*/ 18 h 58"/>
                  <a:gd name="T20" fmla="*/ 9 w 50"/>
                  <a:gd name="T21" fmla="*/ 40 h 58"/>
                  <a:gd name="T22" fmla="*/ 4 w 50"/>
                  <a:gd name="T23" fmla="*/ 34 h 58"/>
                  <a:gd name="T24" fmla="*/ 4 w 50"/>
                  <a:gd name="T25" fmla="*/ 13 h 58"/>
                  <a:gd name="T26" fmla="*/ 25 w 50"/>
                  <a:gd name="T27" fmla="*/ 4 h 58"/>
                  <a:gd name="T28" fmla="*/ 46 w 50"/>
                  <a:gd name="T29" fmla="*/ 13 h 58"/>
                  <a:gd name="T30" fmla="*/ 46 w 50"/>
                  <a:gd name="T31" fmla="*/ 34 h 58"/>
                  <a:gd name="T32" fmla="*/ 41 w 50"/>
                  <a:gd name="T33" fmla="*/ 40 h 58"/>
                  <a:gd name="T34" fmla="*/ 41 w 50"/>
                  <a:gd name="T35" fmla="*/ 18 h 58"/>
                  <a:gd name="T36" fmla="*/ 39 w 50"/>
                  <a:gd name="T37" fmla="*/ 16 h 58"/>
                  <a:gd name="T38" fmla="*/ 37 w 50"/>
                  <a:gd name="T39" fmla="*/ 18 h 58"/>
                  <a:gd name="T40" fmla="*/ 37 w 50"/>
                  <a:gd name="T41" fmla="*/ 56 h 58"/>
                  <a:gd name="T42" fmla="*/ 39 w 50"/>
                  <a:gd name="T43" fmla="*/ 58 h 58"/>
                  <a:gd name="T44" fmla="*/ 41 w 50"/>
                  <a:gd name="T45" fmla="*/ 56 h 58"/>
                  <a:gd name="T46" fmla="*/ 41 w 50"/>
                  <a:gd name="T47" fmla="*/ 44 h 58"/>
                  <a:gd name="T48" fmla="*/ 50 w 50"/>
                  <a:gd name="T49" fmla="*/ 34 h 58"/>
                  <a:gd name="T50" fmla="*/ 50 w 50"/>
                  <a:gd name="T51" fmla="*/ 13 h 58"/>
                  <a:gd name="T52" fmla="*/ 25 w 50"/>
                  <a:gd name="T53"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0" h="58">
                    <a:moveTo>
                      <a:pt x="25" y="0"/>
                    </a:moveTo>
                    <a:cubicBezTo>
                      <a:pt x="17" y="0"/>
                      <a:pt x="0" y="4"/>
                      <a:pt x="0" y="13"/>
                    </a:cubicBezTo>
                    <a:cubicBezTo>
                      <a:pt x="0" y="34"/>
                      <a:pt x="0" y="34"/>
                      <a:pt x="0" y="34"/>
                    </a:cubicBezTo>
                    <a:cubicBezTo>
                      <a:pt x="0" y="39"/>
                      <a:pt x="4" y="43"/>
                      <a:pt x="9" y="44"/>
                    </a:cubicBezTo>
                    <a:cubicBezTo>
                      <a:pt x="9" y="56"/>
                      <a:pt x="9" y="56"/>
                      <a:pt x="9" y="56"/>
                    </a:cubicBezTo>
                    <a:cubicBezTo>
                      <a:pt x="9" y="57"/>
                      <a:pt x="10" y="58"/>
                      <a:pt x="11" y="58"/>
                    </a:cubicBezTo>
                    <a:cubicBezTo>
                      <a:pt x="12" y="58"/>
                      <a:pt x="13" y="57"/>
                      <a:pt x="13" y="56"/>
                    </a:cubicBezTo>
                    <a:cubicBezTo>
                      <a:pt x="13" y="18"/>
                      <a:pt x="13" y="18"/>
                      <a:pt x="13" y="18"/>
                    </a:cubicBezTo>
                    <a:cubicBezTo>
                      <a:pt x="13" y="17"/>
                      <a:pt x="12" y="16"/>
                      <a:pt x="11" y="16"/>
                    </a:cubicBezTo>
                    <a:cubicBezTo>
                      <a:pt x="10" y="16"/>
                      <a:pt x="9" y="17"/>
                      <a:pt x="9" y="18"/>
                    </a:cubicBezTo>
                    <a:cubicBezTo>
                      <a:pt x="9" y="40"/>
                      <a:pt x="9" y="40"/>
                      <a:pt x="9" y="40"/>
                    </a:cubicBezTo>
                    <a:cubicBezTo>
                      <a:pt x="6" y="39"/>
                      <a:pt x="4" y="36"/>
                      <a:pt x="4" y="34"/>
                    </a:cubicBezTo>
                    <a:cubicBezTo>
                      <a:pt x="4" y="13"/>
                      <a:pt x="4" y="13"/>
                      <a:pt x="4" y="13"/>
                    </a:cubicBezTo>
                    <a:cubicBezTo>
                      <a:pt x="4" y="8"/>
                      <a:pt x="17" y="4"/>
                      <a:pt x="25" y="4"/>
                    </a:cubicBezTo>
                    <a:cubicBezTo>
                      <a:pt x="33" y="4"/>
                      <a:pt x="46" y="8"/>
                      <a:pt x="46" y="13"/>
                    </a:cubicBezTo>
                    <a:cubicBezTo>
                      <a:pt x="46" y="34"/>
                      <a:pt x="46" y="34"/>
                      <a:pt x="46" y="34"/>
                    </a:cubicBezTo>
                    <a:cubicBezTo>
                      <a:pt x="46" y="36"/>
                      <a:pt x="43" y="39"/>
                      <a:pt x="41" y="40"/>
                    </a:cubicBezTo>
                    <a:cubicBezTo>
                      <a:pt x="41" y="18"/>
                      <a:pt x="41" y="18"/>
                      <a:pt x="41" y="18"/>
                    </a:cubicBezTo>
                    <a:cubicBezTo>
                      <a:pt x="41" y="17"/>
                      <a:pt x="40" y="16"/>
                      <a:pt x="39" y="16"/>
                    </a:cubicBezTo>
                    <a:cubicBezTo>
                      <a:pt x="37" y="16"/>
                      <a:pt x="37" y="17"/>
                      <a:pt x="37" y="18"/>
                    </a:cubicBezTo>
                    <a:cubicBezTo>
                      <a:pt x="37" y="56"/>
                      <a:pt x="37" y="56"/>
                      <a:pt x="37" y="56"/>
                    </a:cubicBezTo>
                    <a:cubicBezTo>
                      <a:pt x="37" y="57"/>
                      <a:pt x="37" y="58"/>
                      <a:pt x="39" y="58"/>
                    </a:cubicBezTo>
                    <a:cubicBezTo>
                      <a:pt x="40" y="58"/>
                      <a:pt x="41" y="57"/>
                      <a:pt x="41" y="56"/>
                    </a:cubicBezTo>
                    <a:cubicBezTo>
                      <a:pt x="41" y="44"/>
                      <a:pt x="41" y="44"/>
                      <a:pt x="41" y="44"/>
                    </a:cubicBezTo>
                    <a:cubicBezTo>
                      <a:pt x="45" y="43"/>
                      <a:pt x="50" y="39"/>
                      <a:pt x="50" y="34"/>
                    </a:cubicBezTo>
                    <a:cubicBezTo>
                      <a:pt x="50" y="13"/>
                      <a:pt x="50" y="13"/>
                      <a:pt x="50" y="13"/>
                    </a:cubicBezTo>
                    <a:cubicBezTo>
                      <a:pt x="50" y="4"/>
                      <a:pt x="33"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8" name="Freeform 8">
                <a:extLst>
                  <a:ext uri="{FF2B5EF4-FFF2-40B4-BE49-F238E27FC236}">
                    <a16:creationId xmlns:a16="http://schemas.microsoft.com/office/drawing/2014/main" id="{90A735B1-AF07-4095-8BA7-210D651855FB}"/>
                  </a:ext>
                </a:extLst>
              </p:cNvPr>
              <p:cNvSpPr>
                <a:spLocks noEditPoints="1"/>
              </p:cNvSpPr>
              <p:nvPr/>
            </p:nvSpPr>
            <p:spPr bwMode="auto">
              <a:xfrm>
                <a:off x="11872824" y="2329926"/>
                <a:ext cx="81700" cy="92291"/>
              </a:xfrm>
              <a:custGeom>
                <a:avLst/>
                <a:gdLst>
                  <a:gd name="T0" fmla="*/ 0 w 22"/>
                  <a:gd name="T1" fmla="*/ 11 h 25"/>
                  <a:gd name="T2" fmla="*/ 0 w 22"/>
                  <a:gd name="T3" fmla="*/ 15 h 25"/>
                  <a:gd name="T4" fmla="*/ 11 w 22"/>
                  <a:gd name="T5" fmla="*/ 25 h 25"/>
                  <a:gd name="T6" fmla="*/ 22 w 22"/>
                  <a:gd name="T7" fmla="*/ 15 h 25"/>
                  <a:gd name="T8" fmla="*/ 22 w 22"/>
                  <a:gd name="T9" fmla="*/ 11 h 25"/>
                  <a:gd name="T10" fmla="*/ 11 w 22"/>
                  <a:gd name="T11" fmla="*/ 0 h 25"/>
                  <a:gd name="T12" fmla="*/ 0 w 22"/>
                  <a:gd name="T13" fmla="*/ 11 h 25"/>
                  <a:gd name="T14" fmla="*/ 4 w 22"/>
                  <a:gd name="T15" fmla="*/ 11 h 25"/>
                  <a:gd name="T16" fmla="*/ 11 w 22"/>
                  <a:gd name="T17" fmla="*/ 4 h 25"/>
                  <a:gd name="T18" fmla="*/ 18 w 22"/>
                  <a:gd name="T19" fmla="*/ 11 h 25"/>
                  <a:gd name="T20" fmla="*/ 18 w 22"/>
                  <a:gd name="T21" fmla="*/ 15 h 25"/>
                  <a:gd name="T22" fmla="*/ 11 w 22"/>
                  <a:gd name="T23" fmla="*/ 21 h 25"/>
                  <a:gd name="T24" fmla="*/ 4 w 22"/>
                  <a:gd name="T25" fmla="*/ 15 h 25"/>
                  <a:gd name="T26" fmla="*/ 4 w 22"/>
                  <a:gd name="T27" fmla="*/ 1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25">
                    <a:moveTo>
                      <a:pt x="0" y="11"/>
                    </a:moveTo>
                    <a:cubicBezTo>
                      <a:pt x="0" y="15"/>
                      <a:pt x="0" y="15"/>
                      <a:pt x="0" y="15"/>
                    </a:cubicBezTo>
                    <a:cubicBezTo>
                      <a:pt x="0" y="21"/>
                      <a:pt x="4" y="25"/>
                      <a:pt x="11" y="25"/>
                    </a:cubicBezTo>
                    <a:cubicBezTo>
                      <a:pt x="17" y="25"/>
                      <a:pt x="22" y="21"/>
                      <a:pt x="22" y="15"/>
                    </a:cubicBezTo>
                    <a:cubicBezTo>
                      <a:pt x="22" y="11"/>
                      <a:pt x="22" y="11"/>
                      <a:pt x="22" y="11"/>
                    </a:cubicBezTo>
                    <a:cubicBezTo>
                      <a:pt x="22" y="5"/>
                      <a:pt x="17" y="0"/>
                      <a:pt x="11" y="0"/>
                    </a:cubicBezTo>
                    <a:cubicBezTo>
                      <a:pt x="4" y="0"/>
                      <a:pt x="0" y="5"/>
                      <a:pt x="0" y="11"/>
                    </a:cubicBezTo>
                    <a:close/>
                    <a:moveTo>
                      <a:pt x="4" y="11"/>
                    </a:moveTo>
                    <a:cubicBezTo>
                      <a:pt x="4" y="7"/>
                      <a:pt x="6" y="4"/>
                      <a:pt x="11" y="4"/>
                    </a:cubicBezTo>
                    <a:cubicBezTo>
                      <a:pt x="15" y="4"/>
                      <a:pt x="18" y="7"/>
                      <a:pt x="18" y="11"/>
                    </a:cubicBezTo>
                    <a:cubicBezTo>
                      <a:pt x="18" y="15"/>
                      <a:pt x="18" y="15"/>
                      <a:pt x="18" y="15"/>
                    </a:cubicBezTo>
                    <a:cubicBezTo>
                      <a:pt x="18" y="18"/>
                      <a:pt x="15" y="21"/>
                      <a:pt x="11" y="21"/>
                    </a:cubicBezTo>
                    <a:cubicBezTo>
                      <a:pt x="6" y="21"/>
                      <a:pt x="4" y="18"/>
                      <a:pt x="4" y="15"/>
                    </a:cubicBezTo>
                    <a:lnTo>
                      <a:pt x="4"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nvGrpSpPr>
          <p:cNvPr id="22" name="组合 21"/>
          <p:cNvGrpSpPr/>
          <p:nvPr/>
        </p:nvGrpSpPr>
        <p:grpSpPr>
          <a:xfrm>
            <a:off x="2253409" y="3753064"/>
            <a:ext cx="609224" cy="636273"/>
            <a:chOff x="5128061" y="4861605"/>
            <a:chExt cx="2043720" cy="1898256"/>
          </a:xfrm>
        </p:grpSpPr>
        <p:sp>
          <p:nvSpPr>
            <p:cNvPr id="19" name="矩形 18"/>
            <p:cNvSpPr/>
            <p:nvPr/>
          </p:nvSpPr>
          <p:spPr>
            <a:xfrm>
              <a:off x="5128061" y="6003579"/>
              <a:ext cx="2043720" cy="756282"/>
            </a:xfrm>
            <a:prstGeom prst="rect">
              <a:avLst/>
            </a:prstGeom>
          </p:spPr>
          <p:txBody>
            <a:bodyPr wrap="none">
              <a:spAutoFit/>
            </a:bodyPr>
            <a:lstStyle/>
            <a:p>
              <a:pPr algn="ctr" defTabSz="609432" eaLnBrk="1" fontAlgn="auto" hangingPunct="1">
                <a:spcBef>
                  <a:spcPts val="0"/>
                </a:spcBef>
                <a:spcAft>
                  <a:spcPts val="0"/>
                </a:spcAft>
              </a:pPr>
              <a:r>
                <a:rPr lang="en-US" altLang="zh-CN" sz="1048"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CPU 1</a:t>
              </a:r>
              <a:endParaRPr lang="zh-CN" altLang="en-US" sz="1048" dirty="0">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81" name="椭圆 80"/>
            <p:cNvSpPr/>
            <p:nvPr/>
          </p:nvSpPr>
          <p:spPr>
            <a:xfrm>
              <a:off x="5660575" y="4932731"/>
              <a:ext cx="978694" cy="965170"/>
            </a:xfrm>
            <a:prstGeom prst="ellipse">
              <a:avLst/>
            </a:prstGeom>
            <a:gradFill flip="none" rotWithShape="1">
              <a:gsLst>
                <a:gs pos="72000">
                  <a:srgbClr val="010A43"/>
                </a:gs>
                <a:gs pos="100000">
                  <a:srgbClr val="010A43">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048">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pic>
          <p:nvPicPr>
            <p:cNvPr id="82" name="图片 81" descr="图片包含 游戏机, 灯光&#10;&#10;描述已自动生成">
              <a:extLst>
                <a:ext uri="{FF2B5EF4-FFF2-40B4-BE49-F238E27FC236}">
                  <a16:creationId xmlns:a16="http://schemas.microsoft.com/office/drawing/2014/main" id="{A7517968-D900-45F2-AABF-067AE561809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90480" y="4861605"/>
              <a:ext cx="1118885" cy="1093899"/>
            </a:xfrm>
            <a:prstGeom prst="rect">
              <a:avLst/>
            </a:prstGeom>
          </p:spPr>
        </p:pic>
        <p:grpSp>
          <p:nvGrpSpPr>
            <p:cNvPr id="83" name="组合 82"/>
            <p:cNvGrpSpPr/>
            <p:nvPr/>
          </p:nvGrpSpPr>
          <p:grpSpPr>
            <a:xfrm>
              <a:off x="5921858" y="5102033"/>
              <a:ext cx="456129" cy="589193"/>
              <a:chOff x="11821384" y="2329926"/>
              <a:chExt cx="184581" cy="296176"/>
            </a:xfrm>
            <a:solidFill>
              <a:srgbClr val="969696"/>
            </a:solidFill>
          </p:grpSpPr>
          <p:sp>
            <p:nvSpPr>
              <p:cNvPr id="84" name="Freeform 5">
                <a:extLst>
                  <a:ext uri="{FF2B5EF4-FFF2-40B4-BE49-F238E27FC236}">
                    <a16:creationId xmlns:a16="http://schemas.microsoft.com/office/drawing/2014/main" id="{BB00C13E-CF85-4D62-864F-99B930469E8F}"/>
                  </a:ext>
                </a:extLst>
              </p:cNvPr>
              <p:cNvSpPr>
                <a:spLocks/>
              </p:cNvSpPr>
              <p:nvPr/>
            </p:nvSpPr>
            <p:spPr bwMode="auto">
              <a:xfrm>
                <a:off x="11821384" y="2411261"/>
                <a:ext cx="184581" cy="214841"/>
              </a:xfrm>
              <a:custGeom>
                <a:avLst/>
                <a:gdLst>
                  <a:gd name="T0" fmla="*/ 25 w 50"/>
                  <a:gd name="T1" fmla="*/ 0 h 58"/>
                  <a:gd name="T2" fmla="*/ 0 w 50"/>
                  <a:gd name="T3" fmla="*/ 13 h 58"/>
                  <a:gd name="T4" fmla="*/ 0 w 50"/>
                  <a:gd name="T5" fmla="*/ 34 h 58"/>
                  <a:gd name="T6" fmla="*/ 9 w 50"/>
                  <a:gd name="T7" fmla="*/ 44 h 58"/>
                  <a:gd name="T8" fmla="*/ 9 w 50"/>
                  <a:gd name="T9" fmla="*/ 56 h 58"/>
                  <a:gd name="T10" fmla="*/ 11 w 50"/>
                  <a:gd name="T11" fmla="*/ 58 h 58"/>
                  <a:gd name="T12" fmla="*/ 13 w 50"/>
                  <a:gd name="T13" fmla="*/ 56 h 58"/>
                  <a:gd name="T14" fmla="*/ 13 w 50"/>
                  <a:gd name="T15" fmla="*/ 18 h 58"/>
                  <a:gd name="T16" fmla="*/ 11 w 50"/>
                  <a:gd name="T17" fmla="*/ 16 h 58"/>
                  <a:gd name="T18" fmla="*/ 9 w 50"/>
                  <a:gd name="T19" fmla="*/ 18 h 58"/>
                  <a:gd name="T20" fmla="*/ 9 w 50"/>
                  <a:gd name="T21" fmla="*/ 40 h 58"/>
                  <a:gd name="T22" fmla="*/ 4 w 50"/>
                  <a:gd name="T23" fmla="*/ 34 h 58"/>
                  <a:gd name="T24" fmla="*/ 4 w 50"/>
                  <a:gd name="T25" fmla="*/ 13 h 58"/>
                  <a:gd name="T26" fmla="*/ 25 w 50"/>
                  <a:gd name="T27" fmla="*/ 4 h 58"/>
                  <a:gd name="T28" fmla="*/ 46 w 50"/>
                  <a:gd name="T29" fmla="*/ 13 h 58"/>
                  <a:gd name="T30" fmla="*/ 46 w 50"/>
                  <a:gd name="T31" fmla="*/ 34 h 58"/>
                  <a:gd name="T32" fmla="*/ 41 w 50"/>
                  <a:gd name="T33" fmla="*/ 40 h 58"/>
                  <a:gd name="T34" fmla="*/ 41 w 50"/>
                  <a:gd name="T35" fmla="*/ 18 h 58"/>
                  <a:gd name="T36" fmla="*/ 39 w 50"/>
                  <a:gd name="T37" fmla="*/ 16 h 58"/>
                  <a:gd name="T38" fmla="*/ 37 w 50"/>
                  <a:gd name="T39" fmla="*/ 18 h 58"/>
                  <a:gd name="T40" fmla="*/ 37 w 50"/>
                  <a:gd name="T41" fmla="*/ 56 h 58"/>
                  <a:gd name="T42" fmla="*/ 39 w 50"/>
                  <a:gd name="T43" fmla="*/ 58 h 58"/>
                  <a:gd name="T44" fmla="*/ 41 w 50"/>
                  <a:gd name="T45" fmla="*/ 56 h 58"/>
                  <a:gd name="T46" fmla="*/ 41 w 50"/>
                  <a:gd name="T47" fmla="*/ 44 h 58"/>
                  <a:gd name="T48" fmla="*/ 50 w 50"/>
                  <a:gd name="T49" fmla="*/ 34 h 58"/>
                  <a:gd name="T50" fmla="*/ 50 w 50"/>
                  <a:gd name="T51" fmla="*/ 13 h 58"/>
                  <a:gd name="T52" fmla="*/ 25 w 50"/>
                  <a:gd name="T53"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0" h="58">
                    <a:moveTo>
                      <a:pt x="25" y="0"/>
                    </a:moveTo>
                    <a:cubicBezTo>
                      <a:pt x="17" y="0"/>
                      <a:pt x="0" y="4"/>
                      <a:pt x="0" y="13"/>
                    </a:cubicBezTo>
                    <a:cubicBezTo>
                      <a:pt x="0" y="34"/>
                      <a:pt x="0" y="34"/>
                      <a:pt x="0" y="34"/>
                    </a:cubicBezTo>
                    <a:cubicBezTo>
                      <a:pt x="0" y="39"/>
                      <a:pt x="4" y="43"/>
                      <a:pt x="9" y="44"/>
                    </a:cubicBezTo>
                    <a:cubicBezTo>
                      <a:pt x="9" y="56"/>
                      <a:pt x="9" y="56"/>
                      <a:pt x="9" y="56"/>
                    </a:cubicBezTo>
                    <a:cubicBezTo>
                      <a:pt x="9" y="57"/>
                      <a:pt x="10" y="58"/>
                      <a:pt x="11" y="58"/>
                    </a:cubicBezTo>
                    <a:cubicBezTo>
                      <a:pt x="12" y="58"/>
                      <a:pt x="13" y="57"/>
                      <a:pt x="13" y="56"/>
                    </a:cubicBezTo>
                    <a:cubicBezTo>
                      <a:pt x="13" y="18"/>
                      <a:pt x="13" y="18"/>
                      <a:pt x="13" y="18"/>
                    </a:cubicBezTo>
                    <a:cubicBezTo>
                      <a:pt x="13" y="17"/>
                      <a:pt x="12" y="16"/>
                      <a:pt x="11" y="16"/>
                    </a:cubicBezTo>
                    <a:cubicBezTo>
                      <a:pt x="10" y="16"/>
                      <a:pt x="9" y="17"/>
                      <a:pt x="9" y="18"/>
                    </a:cubicBezTo>
                    <a:cubicBezTo>
                      <a:pt x="9" y="40"/>
                      <a:pt x="9" y="40"/>
                      <a:pt x="9" y="40"/>
                    </a:cubicBezTo>
                    <a:cubicBezTo>
                      <a:pt x="6" y="39"/>
                      <a:pt x="4" y="36"/>
                      <a:pt x="4" y="34"/>
                    </a:cubicBezTo>
                    <a:cubicBezTo>
                      <a:pt x="4" y="13"/>
                      <a:pt x="4" y="13"/>
                      <a:pt x="4" y="13"/>
                    </a:cubicBezTo>
                    <a:cubicBezTo>
                      <a:pt x="4" y="8"/>
                      <a:pt x="17" y="4"/>
                      <a:pt x="25" y="4"/>
                    </a:cubicBezTo>
                    <a:cubicBezTo>
                      <a:pt x="33" y="4"/>
                      <a:pt x="46" y="8"/>
                      <a:pt x="46" y="13"/>
                    </a:cubicBezTo>
                    <a:cubicBezTo>
                      <a:pt x="46" y="34"/>
                      <a:pt x="46" y="34"/>
                      <a:pt x="46" y="34"/>
                    </a:cubicBezTo>
                    <a:cubicBezTo>
                      <a:pt x="46" y="36"/>
                      <a:pt x="43" y="39"/>
                      <a:pt x="41" y="40"/>
                    </a:cubicBezTo>
                    <a:cubicBezTo>
                      <a:pt x="41" y="18"/>
                      <a:pt x="41" y="18"/>
                      <a:pt x="41" y="18"/>
                    </a:cubicBezTo>
                    <a:cubicBezTo>
                      <a:pt x="41" y="17"/>
                      <a:pt x="40" y="16"/>
                      <a:pt x="39" y="16"/>
                    </a:cubicBezTo>
                    <a:cubicBezTo>
                      <a:pt x="37" y="16"/>
                      <a:pt x="37" y="17"/>
                      <a:pt x="37" y="18"/>
                    </a:cubicBezTo>
                    <a:cubicBezTo>
                      <a:pt x="37" y="56"/>
                      <a:pt x="37" y="56"/>
                      <a:pt x="37" y="56"/>
                    </a:cubicBezTo>
                    <a:cubicBezTo>
                      <a:pt x="37" y="57"/>
                      <a:pt x="37" y="58"/>
                      <a:pt x="39" y="58"/>
                    </a:cubicBezTo>
                    <a:cubicBezTo>
                      <a:pt x="40" y="58"/>
                      <a:pt x="41" y="57"/>
                      <a:pt x="41" y="56"/>
                    </a:cubicBezTo>
                    <a:cubicBezTo>
                      <a:pt x="41" y="44"/>
                      <a:pt x="41" y="44"/>
                      <a:pt x="41" y="44"/>
                    </a:cubicBezTo>
                    <a:cubicBezTo>
                      <a:pt x="45" y="43"/>
                      <a:pt x="50" y="39"/>
                      <a:pt x="50" y="34"/>
                    </a:cubicBezTo>
                    <a:cubicBezTo>
                      <a:pt x="50" y="13"/>
                      <a:pt x="50" y="13"/>
                      <a:pt x="50" y="13"/>
                    </a:cubicBezTo>
                    <a:cubicBezTo>
                      <a:pt x="50" y="4"/>
                      <a:pt x="33"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85" name="Freeform 8">
                <a:extLst>
                  <a:ext uri="{FF2B5EF4-FFF2-40B4-BE49-F238E27FC236}">
                    <a16:creationId xmlns:a16="http://schemas.microsoft.com/office/drawing/2014/main" id="{90A735B1-AF07-4095-8BA7-210D651855FB}"/>
                  </a:ext>
                </a:extLst>
              </p:cNvPr>
              <p:cNvSpPr>
                <a:spLocks noEditPoints="1"/>
              </p:cNvSpPr>
              <p:nvPr/>
            </p:nvSpPr>
            <p:spPr bwMode="auto">
              <a:xfrm>
                <a:off x="11872824" y="2329926"/>
                <a:ext cx="81700" cy="92291"/>
              </a:xfrm>
              <a:custGeom>
                <a:avLst/>
                <a:gdLst>
                  <a:gd name="T0" fmla="*/ 0 w 22"/>
                  <a:gd name="T1" fmla="*/ 11 h 25"/>
                  <a:gd name="T2" fmla="*/ 0 w 22"/>
                  <a:gd name="T3" fmla="*/ 15 h 25"/>
                  <a:gd name="T4" fmla="*/ 11 w 22"/>
                  <a:gd name="T5" fmla="*/ 25 h 25"/>
                  <a:gd name="T6" fmla="*/ 22 w 22"/>
                  <a:gd name="T7" fmla="*/ 15 h 25"/>
                  <a:gd name="T8" fmla="*/ 22 w 22"/>
                  <a:gd name="T9" fmla="*/ 11 h 25"/>
                  <a:gd name="T10" fmla="*/ 11 w 22"/>
                  <a:gd name="T11" fmla="*/ 0 h 25"/>
                  <a:gd name="T12" fmla="*/ 0 w 22"/>
                  <a:gd name="T13" fmla="*/ 11 h 25"/>
                  <a:gd name="T14" fmla="*/ 4 w 22"/>
                  <a:gd name="T15" fmla="*/ 11 h 25"/>
                  <a:gd name="T16" fmla="*/ 11 w 22"/>
                  <a:gd name="T17" fmla="*/ 4 h 25"/>
                  <a:gd name="T18" fmla="*/ 18 w 22"/>
                  <a:gd name="T19" fmla="*/ 11 h 25"/>
                  <a:gd name="T20" fmla="*/ 18 w 22"/>
                  <a:gd name="T21" fmla="*/ 15 h 25"/>
                  <a:gd name="T22" fmla="*/ 11 w 22"/>
                  <a:gd name="T23" fmla="*/ 21 h 25"/>
                  <a:gd name="T24" fmla="*/ 4 w 22"/>
                  <a:gd name="T25" fmla="*/ 15 h 25"/>
                  <a:gd name="T26" fmla="*/ 4 w 22"/>
                  <a:gd name="T27" fmla="*/ 1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25">
                    <a:moveTo>
                      <a:pt x="0" y="11"/>
                    </a:moveTo>
                    <a:cubicBezTo>
                      <a:pt x="0" y="15"/>
                      <a:pt x="0" y="15"/>
                      <a:pt x="0" y="15"/>
                    </a:cubicBezTo>
                    <a:cubicBezTo>
                      <a:pt x="0" y="21"/>
                      <a:pt x="4" y="25"/>
                      <a:pt x="11" y="25"/>
                    </a:cubicBezTo>
                    <a:cubicBezTo>
                      <a:pt x="17" y="25"/>
                      <a:pt x="22" y="21"/>
                      <a:pt x="22" y="15"/>
                    </a:cubicBezTo>
                    <a:cubicBezTo>
                      <a:pt x="22" y="11"/>
                      <a:pt x="22" y="11"/>
                      <a:pt x="22" y="11"/>
                    </a:cubicBezTo>
                    <a:cubicBezTo>
                      <a:pt x="22" y="5"/>
                      <a:pt x="17" y="0"/>
                      <a:pt x="11" y="0"/>
                    </a:cubicBezTo>
                    <a:cubicBezTo>
                      <a:pt x="4" y="0"/>
                      <a:pt x="0" y="5"/>
                      <a:pt x="0" y="11"/>
                    </a:cubicBezTo>
                    <a:close/>
                    <a:moveTo>
                      <a:pt x="4" y="11"/>
                    </a:moveTo>
                    <a:cubicBezTo>
                      <a:pt x="4" y="7"/>
                      <a:pt x="6" y="4"/>
                      <a:pt x="11" y="4"/>
                    </a:cubicBezTo>
                    <a:cubicBezTo>
                      <a:pt x="15" y="4"/>
                      <a:pt x="18" y="7"/>
                      <a:pt x="18" y="11"/>
                    </a:cubicBezTo>
                    <a:cubicBezTo>
                      <a:pt x="18" y="15"/>
                      <a:pt x="18" y="15"/>
                      <a:pt x="18" y="15"/>
                    </a:cubicBezTo>
                    <a:cubicBezTo>
                      <a:pt x="18" y="18"/>
                      <a:pt x="15" y="21"/>
                      <a:pt x="11" y="21"/>
                    </a:cubicBezTo>
                    <a:cubicBezTo>
                      <a:pt x="6" y="21"/>
                      <a:pt x="4" y="18"/>
                      <a:pt x="4" y="15"/>
                    </a:cubicBezTo>
                    <a:lnTo>
                      <a:pt x="4"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nvGrpSpPr>
          <p:cNvPr id="21" name="组合 20"/>
          <p:cNvGrpSpPr/>
          <p:nvPr/>
        </p:nvGrpSpPr>
        <p:grpSpPr>
          <a:xfrm>
            <a:off x="3100842" y="3788889"/>
            <a:ext cx="625248" cy="654063"/>
            <a:chOff x="8097748" y="5004103"/>
            <a:chExt cx="2097474" cy="1951328"/>
          </a:xfrm>
        </p:grpSpPr>
        <p:sp>
          <p:nvSpPr>
            <p:cNvPr id="95" name="矩形 94"/>
            <p:cNvSpPr/>
            <p:nvPr/>
          </p:nvSpPr>
          <p:spPr>
            <a:xfrm>
              <a:off x="8097748" y="6199149"/>
              <a:ext cx="2097474" cy="756282"/>
            </a:xfrm>
            <a:prstGeom prst="rect">
              <a:avLst/>
            </a:prstGeom>
          </p:spPr>
          <p:txBody>
            <a:bodyPr wrap="none">
              <a:spAutoFit/>
            </a:bodyPr>
            <a:lstStyle/>
            <a:p>
              <a:pPr algn="ctr" defTabSz="609432" eaLnBrk="1" fontAlgn="auto" hangingPunct="1">
                <a:spcBef>
                  <a:spcPts val="0"/>
                </a:spcBef>
                <a:spcAft>
                  <a:spcPts val="0"/>
                </a:spcAft>
              </a:pPr>
              <a:r>
                <a:rPr lang="en-US" altLang="zh-CN" sz="1048"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CPU 2</a:t>
              </a:r>
              <a:endParaRPr lang="zh-CN" altLang="en-US" sz="1048" dirty="0">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87" name="椭圆 86"/>
            <p:cNvSpPr/>
            <p:nvPr/>
          </p:nvSpPr>
          <p:spPr>
            <a:xfrm>
              <a:off x="8657139" y="5075229"/>
              <a:ext cx="978694" cy="965170"/>
            </a:xfrm>
            <a:prstGeom prst="ellipse">
              <a:avLst/>
            </a:prstGeom>
            <a:gradFill flip="none" rotWithShape="1">
              <a:gsLst>
                <a:gs pos="72000">
                  <a:srgbClr val="010A43"/>
                </a:gs>
                <a:gs pos="100000">
                  <a:srgbClr val="010A43">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048">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pic>
          <p:nvPicPr>
            <p:cNvPr id="88" name="图片 87" descr="图片包含 游戏机, 灯光&#10;&#10;描述已自动生成">
              <a:extLst>
                <a:ext uri="{FF2B5EF4-FFF2-40B4-BE49-F238E27FC236}">
                  <a16:creationId xmlns:a16="http://schemas.microsoft.com/office/drawing/2014/main" id="{A7517968-D900-45F2-AABF-067AE561809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87044" y="5004103"/>
              <a:ext cx="1118885" cy="1093899"/>
            </a:xfrm>
            <a:prstGeom prst="rect">
              <a:avLst/>
            </a:prstGeom>
          </p:spPr>
        </p:pic>
        <p:grpSp>
          <p:nvGrpSpPr>
            <p:cNvPr id="89" name="组合 88"/>
            <p:cNvGrpSpPr/>
            <p:nvPr/>
          </p:nvGrpSpPr>
          <p:grpSpPr>
            <a:xfrm>
              <a:off x="8918422" y="5244531"/>
              <a:ext cx="456129" cy="589193"/>
              <a:chOff x="11821384" y="2329926"/>
              <a:chExt cx="184581" cy="296176"/>
            </a:xfrm>
            <a:solidFill>
              <a:srgbClr val="969696"/>
            </a:solidFill>
          </p:grpSpPr>
          <p:sp>
            <p:nvSpPr>
              <p:cNvPr id="90" name="Freeform 5">
                <a:extLst>
                  <a:ext uri="{FF2B5EF4-FFF2-40B4-BE49-F238E27FC236}">
                    <a16:creationId xmlns:a16="http://schemas.microsoft.com/office/drawing/2014/main" id="{BB00C13E-CF85-4D62-864F-99B930469E8F}"/>
                  </a:ext>
                </a:extLst>
              </p:cNvPr>
              <p:cNvSpPr>
                <a:spLocks/>
              </p:cNvSpPr>
              <p:nvPr/>
            </p:nvSpPr>
            <p:spPr bwMode="auto">
              <a:xfrm>
                <a:off x="11821384" y="2411261"/>
                <a:ext cx="184581" cy="214841"/>
              </a:xfrm>
              <a:custGeom>
                <a:avLst/>
                <a:gdLst>
                  <a:gd name="T0" fmla="*/ 25 w 50"/>
                  <a:gd name="T1" fmla="*/ 0 h 58"/>
                  <a:gd name="T2" fmla="*/ 0 w 50"/>
                  <a:gd name="T3" fmla="*/ 13 h 58"/>
                  <a:gd name="T4" fmla="*/ 0 w 50"/>
                  <a:gd name="T5" fmla="*/ 34 h 58"/>
                  <a:gd name="T6" fmla="*/ 9 w 50"/>
                  <a:gd name="T7" fmla="*/ 44 h 58"/>
                  <a:gd name="T8" fmla="*/ 9 w 50"/>
                  <a:gd name="T9" fmla="*/ 56 h 58"/>
                  <a:gd name="T10" fmla="*/ 11 w 50"/>
                  <a:gd name="T11" fmla="*/ 58 h 58"/>
                  <a:gd name="T12" fmla="*/ 13 w 50"/>
                  <a:gd name="T13" fmla="*/ 56 h 58"/>
                  <a:gd name="T14" fmla="*/ 13 w 50"/>
                  <a:gd name="T15" fmla="*/ 18 h 58"/>
                  <a:gd name="T16" fmla="*/ 11 w 50"/>
                  <a:gd name="T17" fmla="*/ 16 h 58"/>
                  <a:gd name="T18" fmla="*/ 9 w 50"/>
                  <a:gd name="T19" fmla="*/ 18 h 58"/>
                  <a:gd name="T20" fmla="*/ 9 w 50"/>
                  <a:gd name="T21" fmla="*/ 40 h 58"/>
                  <a:gd name="T22" fmla="*/ 4 w 50"/>
                  <a:gd name="T23" fmla="*/ 34 h 58"/>
                  <a:gd name="T24" fmla="*/ 4 w 50"/>
                  <a:gd name="T25" fmla="*/ 13 h 58"/>
                  <a:gd name="T26" fmla="*/ 25 w 50"/>
                  <a:gd name="T27" fmla="*/ 4 h 58"/>
                  <a:gd name="T28" fmla="*/ 46 w 50"/>
                  <a:gd name="T29" fmla="*/ 13 h 58"/>
                  <a:gd name="T30" fmla="*/ 46 w 50"/>
                  <a:gd name="T31" fmla="*/ 34 h 58"/>
                  <a:gd name="T32" fmla="*/ 41 w 50"/>
                  <a:gd name="T33" fmla="*/ 40 h 58"/>
                  <a:gd name="T34" fmla="*/ 41 w 50"/>
                  <a:gd name="T35" fmla="*/ 18 h 58"/>
                  <a:gd name="T36" fmla="*/ 39 w 50"/>
                  <a:gd name="T37" fmla="*/ 16 h 58"/>
                  <a:gd name="T38" fmla="*/ 37 w 50"/>
                  <a:gd name="T39" fmla="*/ 18 h 58"/>
                  <a:gd name="T40" fmla="*/ 37 w 50"/>
                  <a:gd name="T41" fmla="*/ 56 h 58"/>
                  <a:gd name="T42" fmla="*/ 39 w 50"/>
                  <a:gd name="T43" fmla="*/ 58 h 58"/>
                  <a:gd name="T44" fmla="*/ 41 w 50"/>
                  <a:gd name="T45" fmla="*/ 56 h 58"/>
                  <a:gd name="T46" fmla="*/ 41 w 50"/>
                  <a:gd name="T47" fmla="*/ 44 h 58"/>
                  <a:gd name="T48" fmla="*/ 50 w 50"/>
                  <a:gd name="T49" fmla="*/ 34 h 58"/>
                  <a:gd name="T50" fmla="*/ 50 w 50"/>
                  <a:gd name="T51" fmla="*/ 13 h 58"/>
                  <a:gd name="T52" fmla="*/ 25 w 50"/>
                  <a:gd name="T53"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0" h="58">
                    <a:moveTo>
                      <a:pt x="25" y="0"/>
                    </a:moveTo>
                    <a:cubicBezTo>
                      <a:pt x="17" y="0"/>
                      <a:pt x="0" y="4"/>
                      <a:pt x="0" y="13"/>
                    </a:cubicBezTo>
                    <a:cubicBezTo>
                      <a:pt x="0" y="34"/>
                      <a:pt x="0" y="34"/>
                      <a:pt x="0" y="34"/>
                    </a:cubicBezTo>
                    <a:cubicBezTo>
                      <a:pt x="0" y="39"/>
                      <a:pt x="4" y="43"/>
                      <a:pt x="9" y="44"/>
                    </a:cubicBezTo>
                    <a:cubicBezTo>
                      <a:pt x="9" y="56"/>
                      <a:pt x="9" y="56"/>
                      <a:pt x="9" y="56"/>
                    </a:cubicBezTo>
                    <a:cubicBezTo>
                      <a:pt x="9" y="57"/>
                      <a:pt x="10" y="58"/>
                      <a:pt x="11" y="58"/>
                    </a:cubicBezTo>
                    <a:cubicBezTo>
                      <a:pt x="12" y="58"/>
                      <a:pt x="13" y="57"/>
                      <a:pt x="13" y="56"/>
                    </a:cubicBezTo>
                    <a:cubicBezTo>
                      <a:pt x="13" y="18"/>
                      <a:pt x="13" y="18"/>
                      <a:pt x="13" y="18"/>
                    </a:cubicBezTo>
                    <a:cubicBezTo>
                      <a:pt x="13" y="17"/>
                      <a:pt x="12" y="16"/>
                      <a:pt x="11" y="16"/>
                    </a:cubicBezTo>
                    <a:cubicBezTo>
                      <a:pt x="10" y="16"/>
                      <a:pt x="9" y="17"/>
                      <a:pt x="9" y="18"/>
                    </a:cubicBezTo>
                    <a:cubicBezTo>
                      <a:pt x="9" y="40"/>
                      <a:pt x="9" y="40"/>
                      <a:pt x="9" y="40"/>
                    </a:cubicBezTo>
                    <a:cubicBezTo>
                      <a:pt x="6" y="39"/>
                      <a:pt x="4" y="36"/>
                      <a:pt x="4" y="34"/>
                    </a:cubicBezTo>
                    <a:cubicBezTo>
                      <a:pt x="4" y="13"/>
                      <a:pt x="4" y="13"/>
                      <a:pt x="4" y="13"/>
                    </a:cubicBezTo>
                    <a:cubicBezTo>
                      <a:pt x="4" y="8"/>
                      <a:pt x="17" y="4"/>
                      <a:pt x="25" y="4"/>
                    </a:cubicBezTo>
                    <a:cubicBezTo>
                      <a:pt x="33" y="4"/>
                      <a:pt x="46" y="8"/>
                      <a:pt x="46" y="13"/>
                    </a:cubicBezTo>
                    <a:cubicBezTo>
                      <a:pt x="46" y="34"/>
                      <a:pt x="46" y="34"/>
                      <a:pt x="46" y="34"/>
                    </a:cubicBezTo>
                    <a:cubicBezTo>
                      <a:pt x="46" y="36"/>
                      <a:pt x="43" y="39"/>
                      <a:pt x="41" y="40"/>
                    </a:cubicBezTo>
                    <a:cubicBezTo>
                      <a:pt x="41" y="18"/>
                      <a:pt x="41" y="18"/>
                      <a:pt x="41" y="18"/>
                    </a:cubicBezTo>
                    <a:cubicBezTo>
                      <a:pt x="41" y="17"/>
                      <a:pt x="40" y="16"/>
                      <a:pt x="39" y="16"/>
                    </a:cubicBezTo>
                    <a:cubicBezTo>
                      <a:pt x="37" y="16"/>
                      <a:pt x="37" y="17"/>
                      <a:pt x="37" y="18"/>
                    </a:cubicBezTo>
                    <a:cubicBezTo>
                      <a:pt x="37" y="56"/>
                      <a:pt x="37" y="56"/>
                      <a:pt x="37" y="56"/>
                    </a:cubicBezTo>
                    <a:cubicBezTo>
                      <a:pt x="37" y="57"/>
                      <a:pt x="37" y="58"/>
                      <a:pt x="39" y="58"/>
                    </a:cubicBezTo>
                    <a:cubicBezTo>
                      <a:pt x="40" y="58"/>
                      <a:pt x="41" y="57"/>
                      <a:pt x="41" y="56"/>
                    </a:cubicBezTo>
                    <a:cubicBezTo>
                      <a:pt x="41" y="44"/>
                      <a:pt x="41" y="44"/>
                      <a:pt x="41" y="44"/>
                    </a:cubicBezTo>
                    <a:cubicBezTo>
                      <a:pt x="45" y="43"/>
                      <a:pt x="50" y="39"/>
                      <a:pt x="50" y="34"/>
                    </a:cubicBezTo>
                    <a:cubicBezTo>
                      <a:pt x="50" y="13"/>
                      <a:pt x="50" y="13"/>
                      <a:pt x="50" y="13"/>
                    </a:cubicBezTo>
                    <a:cubicBezTo>
                      <a:pt x="50" y="4"/>
                      <a:pt x="33"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91" name="Freeform 8">
                <a:extLst>
                  <a:ext uri="{FF2B5EF4-FFF2-40B4-BE49-F238E27FC236}">
                    <a16:creationId xmlns:a16="http://schemas.microsoft.com/office/drawing/2014/main" id="{90A735B1-AF07-4095-8BA7-210D651855FB}"/>
                  </a:ext>
                </a:extLst>
              </p:cNvPr>
              <p:cNvSpPr>
                <a:spLocks noEditPoints="1"/>
              </p:cNvSpPr>
              <p:nvPr/>
            </p:nvSpPr>
            <p:spPr bwMode="auto">
              <a:xfrm>
                <a:off x="11872824" y="2329926"/>
                <a:ext cx="81700" cy="92291"/>
              </a:xfrm>
              <a:custGeom>
                <a:avLst/>
                <a:gdLst>
                  <a:gd name="T0" fmla="*/ 0 w 22"/>
                  <a:gd name="T1" fmla="*/ 11 h 25"/>
                  <a:gd name="T2" fmla="*/ 0 w 22"/>
                  <a:gd name="T3" fmla="*/ 15 h 25"/>
                  <a:gd name="T4" fmla="*/ 11 w 22"/>
                  <a:gd name="T5" fmla="*/ 25 h 25"/>
                  <a:gd name="T6" fmla="*/ 22 w 22"/>
                  <a:gd name="T7" fmla="*/ 15 h 25"/>
                  <a:gd name="T8" fmla="*/ 22 w 22"/>
                  <a:gd name="T9" fmla="*/ 11 h 25"/>
                  <a:gd name="T10" fmla="*/ 11 w 22"/>
                  <a:gd name="T11" fmla="*/ 0 h 25"/>
                  <a:gd name="T12" fmla="*/ 0 w 22"/>
                  <a:gd name="T13" fmla="*/ 11 h 25"/>
                  <a:gd name="T14" fmla="*/ 4 w 22"/>
                  <a:gd name="T15" fmla="*/ 11 h 25"/>
                  <a:gd name="T16" fmla="*/ 11 w 22"/>
                  <a:gd name="T17" fmla="*/ 4 h 25"/>
                  <a:gd name="T18" fmla="*/ 18 w 22"/>
                  <a:gd name="T19" fmla="*/ 11 h 25"/>
                  <a:gd name="T20" fmla="*/ 18 w 22"/>
                  <a:gd name="T21" fmla="*/ 15 h 25"/>
                  <a:gd name="T22" fmla="*/ 11 w 22"/>
                  <a:gd name="T23" fmla="*/ 21 h 25"/>
                  <a:gd name="T24" fmla="*/ 4 w 22"/>
                  <a:gd name="T25" fmla="*/ 15 h 25"/>
                  <a:gd name="T26" fmla="*/ 4 w 22"/>
                  <a:gd name="T27" fmla="*/ 1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25">
                    <a:moveTo>
                      <a:pt x="0" y="11"/>
                    </a:moveTo>
                    <a:cubicBezTo>
                      <a:pt x="0" y="15"/>
                      <a:pt x="0" y="15"/>
                      <a:pt x="0" y="15"/>
                    </a:cubicBezTo>
                    <a:cubicBezTo>
                      <a:pt x="0" y="21"/>
                      <a:pt x="4" y="25"/>
                      <a:pt x="11" y="25"/>
                    </a:cubicBezTo>
                    <a:cubicBezTo>
                      <a:pt x="17" y="25"/>
                      <a:pt x="22" y="21"/>
                      <a:pt x="22" y="15"/>
                    </a:cubicBezTo>
                    <a:cubicBezTo>
                      <a:pt x="22" y="11"/>
                      <a:pt x="22" y="11"/>
                      <a:pt x="22" y="11"/>
                    </a:cubicBezTo>
                    <a:cubicBezTo>
                      <a:pt x="22" y="5"/>
                      <a:pt x="17" y="0"/>
                      <a:pt x="11" y="0"/>
                    </a:cubicBezTo>
                    <a:cubicBezTo>
                      <a:pt x="4" y="0"/>
                      <a:pt x="0" y="5"/>
                      <a:pt x="0" y="11"/>
                    </a:cubicBezTo>
                    <a:close/>
                    <a:moveTo>
                      <a:pt x="4" y="11"/>
                    </a:moveTo>
                    <a:cubicBezTo>
                      <a:pt x="4" y="7"/>
                      <a:pt x="6" y="4"/>
                      <a:pt x="11" y="4"/>
                    </a:cubicBezTo>
                    <a:cubicBezTo>
                      <a:pt x="15" y="4"/>
                      <a:pt x="18" y="7"/>
                      <a:pt x="18" y="11"/>
                    </a:cubicBezTo>
                    <a:cubicBezTo>
                      <a:pt x="18" y="15"/>
                      <a:pt x="18" y="15"/>
                      <a:pt x="18" y="15"/>
                    </a:cubicBezTo>
                    <a:cubicBezTo>
                      <a:pt x="18" y="18"/>
                      <a:pt x="15" y="21"/>
                      <a:pt x="11" y="21"/>
                    </a:cubicBezTo>
                    <a:cubicBezTo>
                      <a:pt x="6" y="21"/>
                      <a:pt x="4" y="18"/>
                      <a:pt x="4" y="15"/>
                    </a:cubicBezTo>
                    <a:lnTo>
                      <a:pt x="4"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nvGrpSpPr>
          <p:cNvPr id="20" name="组合 19"/>
          <p:cNvGrpSpPr/>
          <p:nvPr/>
        </p:nvGrpSpPr>
        <p:grpSpPr>
          <a:xfrm>
            <a:off x="3931422" y="3721590"/>
            <a:ext cx="626850" cy="667747"/>
            <a:chOff x="11091626" y="4861605"/>
            <a:chExt cx="2102849" cy="1992160"/>
          </a:xfrm>
        </p:grpSpPr>
        <p:sp>
          <p:nvSpPr>
            <p:cNvPr id="78" name="矩形 77"/>
            <p:cNvSpPr/>
            <p:nvPr/>
          </p:nvSpPr>
          <p:spPr>
            <a:xfrm>
              <a:off x="11091626" y="6097481"/>
              <a:ext cx="2102849" cy="756284"/>
            </a:xfrm>
            <a:prstGeom prst="rect">
              <a:avLst/>
            </a:prstGeom>
          </p:spPr>
          <p:txBody>
            <a:bodyPr wrap="none">
              <a:spAutoFit/>
            </a:bodyPr>
            <a:lstStyle/>
            <a:p>
              <a:pPr algn="ctr" defTabSz="609432" eaLnBrk="1" fontAlgn="auto" hangingPunct="1">
                <a:spcBef>
                  <a:spcPts val="0"/>
                </a:spcBef>
                <a:spcAft>
                  <a:spcPts val="0"/>
                </a:spcAft>
              </a:pPr>
              <a:r>
                <a:rPr lang="en-US" altLang="zh-CN" sz="1048"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CPU 3</a:t>
              </a:r>
              <a:endParaRPr lang="zh-CN" altLang="en-US" sz="1048" dirty="0">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98" name="椭圆 97"/>
            <p:cNvSpPr/>
            <p:nvPr/>
          </p:nvSpPr>
          <p:spPr>
            <a:xfrm>
              <a:off x="11653703" y="4932731"/>
              <a:ext cx="978694" cy="965170"/>
            </a:xfrm>
            <a:prstGeom prst="ellipse">
              <a:avLst/>
            </a:prstGeom>
            <a:gradFill flip="none" rotWithShape="1">
              <a:gsLst>
                <a:gs pos="72000">
                  <a:srgbClr val="010A43"/>
                </a:gs>
                <a:gs pos="100000">
                  <a:srgbClr val="010A43">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048">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pic>
          <p:nvPicPr>
            <p:cNvPr id="99" name="图片 98" descr="图片包含 游戏机, 灯光&#10;&#10;描述已自动生成">
              <a:extLst>
                <a:ext uri="{FF2B5EF4-FFF2-40B4-BE49-F238E27FC236}">
                  <a16:creationId xmlns:a16="http://schemas.microsoft.com/office/drawing/2014/main" id="{A7517968-D900-45F2-AABF-067AE561809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83608" y="4861605"/>
              <a:ext cx="1118885" cy="1093899"/>
            </a:xfrm>
            <a:prstGeom prst="rect">
              <a:avLst/>
            </a:prstGeom>
          </p:spPr>
        </p:pic>
        <p:grpSp>
          <p:nvGrpSpPr>
            <p:cNvPr id="100" name="组合 99"/>
            <p:cNvGrpSpPr/>
            <p:nvPr/>
          </p:nvGrpSpPr>
          <p:grpSpPr>
            <a:xfrm>
              <a:off x="11914986" y="5102033"/>
              <a:ext cx="456129" cy="589193"/>
              <a:chOff x="11821384" y="2329926"/>
              <a:chExt cx="184581" cy="296176"/>
            </a:xfrm>
            <a:solidFill>
              <a:srgbClr val="969696"/>
            </a:solidFill>
          </p:grpSpPr>
          <p:sp>
            <p:nvSpPr>
              <p:cNvPr id="101" name="Freeform 5">
                <a:extLst>
                  <a:ext uri="{FF2B5EF4-FFF2-40B4-BE49-F238E27FC236}">
                    <a16:creationId xmlns:a16="http://schemas.microsoft.com/office/drawing/2014/main" id="{BB00C13E-CF85-4D62-864F-99B930469E8F}"/>
                  </a:ext>
                </a:extLst>
              </p:cNvPr>
              <p:cNvSpPr>
                <a:spLocks/>
              </p:cNvSpPr>
              <p:nvPr/>
            </p:nvSpPr>
            <p:spPr bwMode="auto">
              <a:xfrm>
                <a:off x="11821384" y="2411261"/>
                <a:ext cx="184581" cy="214841"/>
              </a:xfrm>
              <a:custGeom>
                <a:avLst/>
                <a:gdLst>
                  <a:gd name="T0" fmla="*/ 25 w 50"/>
                  <a:gd name="T1" fmla="*/ 0 h 58"/>
                  <a:gd name="T2" fmla="*/ 0 w 50"/>
                  <a:gd name="T3" fmla="*/ 13 h 58"/>
                  <a:gd name="T4" fmla="*/ 0 w 50"/>
                  <a:gd name="T5" fmla="*/ 34 h 58"/>
                  <a:gd name="T6" fmla="*/ 9 w 50"/>
                  <a:gd name="T7" fmla="*/ 44 h 58"/>
                  <a:gd name="T8" fmla="*/ 9 w 50"/>
                  <a:gd name="T9" fmla="*/ 56 h 58"/>
                  <a:gd name="T10" fmla="*/ 11 w 50"/>
                  <a:gd name="T11" fmla="*/ 58 h 58"/>
                  <a:gd name="T12" fmla="*/ 13 w 50"/>
                  <a:gd name="T13" fmla="*/ 56 h 58"/>
                  <a:gd name="T14" fmla="*/ 13 w 50"/>
                  <a:gd name="T15" fmla="*/ 18 h 58"/>
                  <a:gd name="T16" fmla="*/ 11 w 50"/>
                  <a:gd name="T17" fmla="*/ 16 h 58"/>
                  <a:gd name="T18" fmla="*/ 9 w 50"/>
                  <a:gd name="T19" fmla="*/ 18 h 58"/>
                  <a:gd name="T20" fmla="*/ 9 w 50"/>
                  <a:gd name="T21" fmla="*/ 40 h 58"/>
                  <a:gd name="T22" fmla="*/ 4 w 50"/>
                  <a:gd name="T23" fmla="*/ 34 h 58"/>
                  <a:gd name="T24" fmla="*/ 4 w 50"/>
                  <a:gd name="T25" fmla="*/ 13 h 58"/>
                  <a:gd name="T26" fmla="*/ 25 w 50"/>
                  <a:gd name="T27" fmla="*/ 4 h 58"/>
                  <a:gd name="T28" fmla="*/ 46 w 50"/>
                  <a:gd name="T29" fmla="*/ 13 h 58"/>
                  <a:gd name="T30" fmla="*/ 46 w 50"/>
                  <a:gd name="T31" fmla="*/ 34 h 58"/>
                  <a:gd name="T32" fmla="*/ 41 w 50"/>
                  <a:gd name="T33" fmla="*/ 40 h 58"/>
                  <a:gd name="T34" fmla="*/ 41 w 50"/>
                  <a:gd name="T35" fmla="*/ 18 h 58"/>
                  <a:gd name="T36" fmla="*/ 39 w 50"/>
                  <a:gd name="T37" fmla="*/ 16 h 58"/>
                  <a:gd name="T38" fmla="*/ 37 w 50"/>
                  <a:gd name="T39" fmla="*/ 18 h 58"/>
                  <a:gd name="T40" fmla="*/ 37 w 50"/>
                  <a:gd name="T41" fmla="*/ 56 h 58"/>
                  <a:gd name="T42" fmla="*/ 39 w 50"/>
                  <a:gd name="T43" fmla="*/ 58 h 58"/>
                  <a:gd name="T44" fmla="*/ 41 w 50"/>
                  <a:gd name="T45" fmla="*/ 56 h 58"/>
                  <a:gd name="T46" fmla="*/ 41 w 50"/>
                  <a:gd name="T47" fmla="*/ 44 h 58"/>
                  <a:gd name="T48" fmla="*/ 50 w 50"/>
                  <a:gd name="T49" fmla="*/ 34 h 58"/>
                  <a:gd name="T50" fmla="*/ 50 w 50"/>
                  <a:gd name="T51" fmla="*/ 13 h 58"/>
                  <a:gd name="T52" fmla="*/ 25 w 50"/>
                  <a:gd name="T53"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0" h="58">
                    <a:moveTo>
                      <a:pt x="25" y="0"/>
                    </a:moveTo>
                    <a:cubicBezTo>
                      <a:pt x="17" y="0"/>
                      <a:pt x="0" y="4"/>
                      <a:pt x="0" y="13"/>
                    </a:cubicBezTo>
                    <a:cubicBezTo>
                      <a:pt x="0" y="34"/>
                      <a:pt x="0" y="34"/>
                      <a:pt x="0" y="34"/>
                    </a:cubicBezTo>
                    <a:cubicBezTo>
                      <a:pt x="0" y="39"/>
                      <a:pt x="4" y="43"/>
                      <a:pt x="9" y="44"/>
                    </a:cubicBezTo>
                    <a:cubicBezTo>
                      <a:pt x="9" y="56"/>
                      <a:pt x="9" y="56"/>
                      <a:pt x="9" y="56"/>
                    </a:cubicBezTo>
                    <a:cubicBezTo>
                      <a:pt x="9" y="57"/>
                      <a:pt x="10" y="58"/>
                      <a:pt x="11" y="58"/>
                    </a:cubicBezTo>
                    <a:cubicBezTo>
                      <a:pt x="12" y="58"/>
                      <a:pt x="13" y="57"/>
                      <a:pt x="13" y="56"/>
                    </a:cubicBezTo>
                    <a:cubicBezTo>
                      <a:pt x="13" y="18"/>
                      <a:pt x="13" y="18"/>
                      <a:pt x="13" y="18"/>
                    </a:cubicBezTo>
                    <a:cubicBezTo>
                      <a:pt x="13" y="17"/>
                      <a:pt x="12" y="16"/>
                      <a:pt x="11" y="16"/>
                    </a:cubicBezTo>
                    <a:cubicBezTo>
                      <a:pt x="10" y="16"/>
                      <a:pt x="9" y="17"/>
                      <a:pt x="9" y="18"/>
                    </a:cubicBezTo>
                    <a:cubicBezTo>
                      <a:pt x="9" y="40"/>
                      <a:pt x="9" y="40"/>
                      <a:pt x="9" y="40"/>
                    </a:cubicBezTo>
                    <a:cubicBezTo>
                      <a:pt x="6" y="39"/>
                      <a:pt x="4" y="36"/>
                      <a:pt x="4" y="34"/>
                    </a:cubicBezTo>
                    <a:cubicBezTo>
                      <a:pt x="4" y="13"/>
                      <a:pt x="4" y="13"/>
                      <a:pt x="4" y="13"/>
                    </a:cubicBezTo>
                    <a:cubicBezTo>
                      <a:pt x="4" y="8"/>
                      <a:pt x="17" y="4"/>
                      <a:pt x="25" y="4"/>
                    </a:cubicBezTo>
                    <a:cubicBezTo>
                      <a:pt x="33" y="4"/>
                      <a:pt x="46" y="8"/>
                      <a:pt x="46" y="13"/>
                    </a:cubicBezTo>
                    <a:cubicBezTo>
                      <a:pt x="46" y="34"/>
                      <a:pt x="46" y="34"/>
                      <a:pt x="46" y="34"/>
                    </a:cubicBezTo>
                    <a:cubicBezTo>
                      <a:pt x="46" y="36"/>
                      <a:pt x="43" y="39"/>
                      <a:pt x="41" y="40"/>
                    </a:cubicBezTo>
                    <a:cubicBezTo>
                      <a:pt x="41" y="18"/>
                      <a:pt x="41" y="18"/>
                      <a:pt x="41" y="18"/>
                    </a:cubicBezTo>
                    <a:cubicBezTo>
                      <a:pt x="41" y="17"/>
                      <a:pt x="40" y="16"/>
                      <a:pt x="39" y="16"/>
                    </a:cubicBezTo>
                    <a:cubicBezTo>
                      <a:pt x="37" y="16"/>
                      <a:pt x="37" y="17"/>
                      <a:pt x="37" y="18"/>
                    </a:cubicBezTo>
                    <a:cubicBezTo>
                      <a:pt x="37" y="56"/>
                      <a:pt x="37" y="56"/>
                      <a:pt x="37" y="56"/>
                    </a:cubicBezTo>
                    <a:cubicBezTo>
                      <a:pt x="37" y="57"/>
                      <a:pt x="37" y="58"/>
                      <a:pt x="39" y="58"/>
                    </a:cubicBezTo>
                    <a:cubicBezTo>
                      <a:pt x="40" y="58"/>
                      <a:pt x="41" y="57"/>
                      <a:pt x="41" y="56"/>
                    </a:cubicBezTo>
                    <a:cubicBezTo>
                      <a:pt x="41" y="44"/>
                      <a:pt x="41" y="44"/>
                      <a:pt x="41" y="44"/>
                    </a:cubicBezTo>
                    <a:cubicBezTo>
                      <a:pt x="45" y="43"/>
                      <a:pt x="50" y="39"/>
                      <a:pt x="50" y="34"/>
                    </a:cubicBezTo>
                    <a:cubicBezTo>
                      <a:pt x="50" y="13"/>
                      <a:pt x="50" y="13"/>
                      <a:pt x="50" y="13"/>
                    </a:cubicBezTo>
                    <a:cubicBezTo>
                      <a:pt x="50" y="4"/>
                      <a:pt x="33"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02" name="Freeform 8">
                <a:extLst>
                  <a:ext uri="{FF2B5EF4-FFF2-40B4-BE49-F238E27FC236}">
                    <a16:creationId xmlns:a16="http://schemas.microsoft.com/office/drawing/2014/main" id="{90A735B1-AF07-4095-8BA7-210D651855FB}"/>
                  </a:ext>
                </a:extLst>
              </p:cNvPr>
              <p:cNvSpPr>
                <a:spLocks noEditPoints="1"/>
              </p:cNvSpPr>
              <p:nvPr/>
            </p:nvSpPr>
            <p:spPr bwMode="auto">
              <a:xfrm>
                <a:off x="11872824" y="2329926"/>
                <a:ext cx="81700" cy="92291"/>
              </a:xfrm>
              <a:custGeom>
                <a:avLst/>
                <a:gdLst>
                  <a:gd name="T0" fmla="*/ 0 w 22"/>
                  <a:gd name="T1" fmla="*/ 11 h 25"/>
                  <a:gd name="T2" fmla="*/ 0 w 22"/>
                  <a:gd name="T3" fmla="*/ 15 h 25"/>
                  <a:gd name="T4" fmla="*/ 11 w 22"/>
                  <a:gd name="T5" fmla="*/ 25 h 25"/>
                  <a:gd name="T6" fmla="*/ 22 w 22"/>
                  <a:gd name="T7" fmla="*/ 15 h 25"/>
                  <a:gd name="T8" fmla="*/ 22 w 22"/>
                  <a:gd name="T9" fmla="*/ 11 h 25"/>
                  <a:gd name="T10" fmla="*/ 11 w 22"/>
                  <a:gd name="T11" fmla="*/ 0 h 25"/>
                  <a:gd name="T12" fmla="*/ 0 w 22"/>
                  <a:gd name="T13" fmla="*/ 11 h 25"/>
                  <a:gd name="T14" fmla="*/ 4 w 22"/>
                  <a:gd name="T15" fmla="*/ 11 h 25"/>
                  <a:gd name="T16" fmla="*/ 11 w 22"/>
                  <a:gd name="T17" fmla="*/ 4 h 25"/>
                  <a:gd name="T18" fmla="*/ 18 w 22"/>
                  <a:gd name="T19" fmla="*/ 11 h 25"/>
                  <a:gd name="T20" fmla="*/ 18 w 22"/>
                  <a:gd name="T21" fmla="*/ 15 h 25"/>
                  <a:gd name="T22" fmla="*/ 11 w 22"/>
                  <a:gd name="T23" fmla="*/ 21 h 25"/>
                  <a:gd name="T24" fmla="*/ 4 w 22"/>
                  <a:gd name="T25" fmla="*/ 15 h 25"/>
                  <a:gd name="T26" fmla="*/ 4 w 22"/>
                  <a:gd name="T27" fmla="*/ 1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25">
                    <a:moveTo>
                      <a:pt x="0" y="11"/>
                    </a:moveTo>
                    <a:cubicBezTo>
                      <a:pt x="0" y="15"/>
                      <a:pt x="0" y="15"/>
                      <a:pt x="0" y="15"/>
                    </a:cubicBezTo>
                    <a:cubicBezTo>
                      <a:pt x="0" y="21"/>
                      <a:pt x="4" y="25"/>
                      <a:pt x="11" y="25"/>
                    </a:cubicBezTo>
                    <a:cubicBezTo>
                      <a:pt x="17" y="25"/>
                      <a:pt x="22" y="21"/>
                      <a:pt x="22" y="15"/>
                    </a:cubicBezTo>
                    <a:cubicBezTo>
                      <a:pt x="22" y="11"/>
                      <a:pt x="22" y="11"/>
                      <a:pt x="22" y="11"/>
                    </a:cubicBezTo>
                    <a:cubicBezTo>
                      <a:pt x="22" y="5"/>
                      <a:pt x="17" y="0"/>
                      <a:pt x="11" y="0"/>
                    </a:cubicBezTo>
                    <a:cubicBezTo>
                      <a:pt x="4" y="0"/>
                      <a:pt x="0" y="5"/>
                      <a:pt x="0" y="11"/>
                    </a:cubicBezTo>
                    <a:close/>
                    <a:moveTo>
                      <a:pt x="4" y="11"/>
                    </a:moveTo>
                    <a:cubicBezTo>
                      <a:pt x="4" y="7"/>
                      <a:pt x="6" y="4"/>
                      <a:pt x="11" y="4"/>
                    </a:cubicBezTo>
                    <a:cubicBezTo>
                      <a:pt x="15" y="4"/>
                      <a:pt x="18" y="7"/>
                      <a:pt x="18" y="11"/>
                    </a:cubicBezTo>
                    <a:cubicBezTo>
                      <a:pt x="18" y="15"/>
                      <a:pt x="18" y="15"/>
                      <a:pt x="18" y="15"/>
                    </a:cubicBezTo>
                    <a:cubicBezTo>
                      <a:pt x="18" y="18"/>
                      <a:pt x="15" y="21"/>
                      <a:pt x="11" y="21"/>
                    </a:cubicBezTo>
                    <a:cubicBezTo>
                      <a:pt x="6" y="21"/>
                      <a:pt x="4" y="18"/>
                      <a:pt x="4" y="15"/>
                    </a:cubicBezTo>
                    <a:lnTo>
                      <a:pt x="4"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nvGrpSpPr>
          <p:cNvPr id="16" name="组合 15"/>
          <p:cNvGrpSpPr/>
          <p:nvPr/>
        </p:nvGrpSpPr>
        <p:grpSpPr>
          <a:xfrm>
            <a:off x="4813844" y="3563281"/>
            <a:ext cx="628453" cy="733466"/>
            <a:chOff x="14085501" y="4413663"/>
            <a:chExt cx="2108225" cy="2044324"/>
          </a:xfrm>
        </p:grpSpPr>
        <p:sp>
          <p:nvSpPr>
            <p:cNvPr id="79" name="矩形 78"/>
            <p:cNvSpPr/>
            <p:nvPr/>
          </p:nvSpPr>
          <p:spPr>
            <a:xfrm>
              <a:off x="14085501" y="5751438"/>
              <a:ext cx="2108225" cy="706549"/>
            </a:xfrm>
            <a:prstGeom prst="rect">
              <a:avLst/>
            </a:prstGeom>
          </p:spPr>
          <p:txBody>
            <a:bodyPr wrap="none">
              <a:spAutoFit/>
            </a:bodyPr>
            <a:lstStyle/>
            <a:p>
              <a:pPr algn="ctr" defTabSz="609432" eaLnBrk="1" fontAlgn="auto" hangingPunct="1">
                <a:spcBef>
                  <a:spcPts val="0"/>
                </a:spcBef>
                <a:spcAft>
                  <a:spcPts val="0"/>
                </a:spcAft>
              </a:pPr>
              <a:r>
                <a:rPr lang="en-US" altLang="zh-CN" sz="1048"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CPU 4</a:t>
              </a:r>
              <a:endParaRPr lang="zh-CN" altLang="en-US" sz="1048" dirty="0">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04" name="椭圆 103"/>
            <p:cNvSpPr/>
            <p:nvPr/>
          </p:nvSpPr>
          <p:spPr>
            <a:xfrm>
              <a:off x="14650267" y="4484789"/>
              <a:ext cx="978694" cy="965170"/>
            </a:xfrm>
            <a:prstGeom prst="ellipse">
              <a:avLst/>
            </a:prstGeom>
            <a:gradFill flip="none" rotWithShape="1">
              <a:gsLst>
                <a:gs pos="72000">
                  <a:srgbClr val="010A43"/>
                </a:gs>
                <a:gs pos="100000">
                  <a:srgbClr val="010A43">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048">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pic>
          <p:nvPicPr>
            <p:cNvPr id="113" name="图片 112" descr="图片包含 游戏机, 灯光&#10;&#10;描述已自动生成">
              <a:extLst>
                <a:ext uri="{FF2B5EF4-FFF2-40B4-BE49-F238E27FC236}">
                  <a16:creationId xmlns:a16="http://schemas.microsoft.com/office/drawing/2014/main" id="{A7517968-D900-45F2-AABF-067AE561809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580172" y="4413663"/>
              <a:ext cx="1118885" cy="1093899"/>
            </a:xfrm>
            <a:prstGeom prst="rect">
              <a:avLst/>
            </a:prstGeom>
          </p:spPr>
        </p:pic>
        <p:grpSp>
          <p:nvGrpSpPr>
            <p:cNvPr id="114" name="组合 113"/>
            <p:cNvGrpSpPr/>
            <p:nvPr/>
          </p:nvGrpSpPr>
          <p:grpSpPr>
            <a:xfrm>
              <a:off x="14911550" y="4654091"/>
              <a:ext cx="456129" cy="589193"/>
              <a:chOff x="11821384" y="2329926"/>
              <a:chExt cx="184581" cy="296176"/>
            </a:xfrm>
            <a:solidFill>
              <a:srgbClr val="969696"/>
            </a:solidFill>
          </p:grpSpPr>
          <p:sp>
            <p:nvSpPr>
              <p:cNvPr id="115" name="Freeform 5">
                <a:extLst>
                  <a:ext uri="{FF2B5EF4-FFF2-40B4-BE49-F238E27FC236}">
                    <a16:creationId xmlns:a16="http://schemas.microsoft.com/office/drawing/2014/main" id="{BB00C13E-CF85-4D62-864F-99B930469E8F}"/>
                  </a:ext>
                </a:extLst>
              </p:cNvPr>
              <p:cNvSpPr>
                <a:spLocks/>
              </p:cNvSpPr>
              <p:nvPr/>
            </p:nvSpPr>
            <p:spPr bwMode="auto">
              <a:xfrm>
                <a:off x="11821384" y="2411261"/>
                <a:ext cx="184581" cy="214841"/>
              </a:xfrm>
              <a:custGeom>
                <a:avLst/>
                <a:gdLst>
                  <a:gd name="T0" fmla="*/ 25 w 50"/>
                  <a:gd name="T1" fmla="*/ 0 h 58"/>
                  <a:gd name="T2" fmla="*/ 0 w 50"/>
                  <a:gd name="T3" fmla="*/ 13 h 58"/>
                  <a:gd name="T4" fmla="*/ 0 w 50"/>
                  <a:gd name="T5" fmla="*/ 34 h 58"/>
                  <a:gd name="T6" fmla="*/ 9 w 50"/>
                  <a:gd name="T7" fmla="*/ 44 h 58"/>
                  <a:gd name="T8" fmla="*/ 9 w 50"/>
                  <a:gd name="T9" fmla="*/ 56 h 58"/>
                  <a:gd name="T10" fmla="*/ 11 w 50"/>
                  <a:gd name="T11" fmla="*/ 58 h 58"/>
                  <a:gd name="T12" fmla="*/ 13 w 50"/>
                  <a:gd name="T13" fmla="*/ 56 h 58"/>
                  <a:gd name="T14" fmla="*/ 13 w 50"/>
                  <a:gd name="T15" fmla="*/ 18 h 58"/>
                  <a:gd name="T16" fmla="*/ 11 w 50"/>
                  <a:gd name="T17" fmla="*/ 16 h 58"/>
                  <a:gd name="T18" fmla="*/ 9 w 50"/>
                  <a:gd name="T19" fmla="*/ 18 h 58"/>
                  <a:gd name="T20" fmla="*/ 9 w 50"/>
                  <a:gd name="T21" fmla="*/ 40 h 58"/>
                  <a:gd name="T22" fmla="*/ 4 w 50"/>
                  <a:gd name="T23" fmla="*/ 34 h 58"/>
                  <a:gd name="T24" fmla="*/ 4 w 50"/>
                  <a:gd name="T25" fmla="*/ 13 h 58"/>
                  <a:gd name="T26" fmla="*/ 25 w 50"/>
                  <a:gd name="T27" fmla="*/ 4 h 58"/>
                  <a:gd name="T28" fmla="*/ 46 w 50"/>
                  <a:gd name="T29" fmla="*/ 13 h 58"/>
                  <a:gd name="T30" fmla="*/ 46 w 50"/>
                  <a:gd name="T31" fmla="*/ 34 h 58"/>
                  <a:gd name="T32" fmla="*/ 41 w 50"/>
                  <a:gd name="T33" fmla="*/ 40 h 58"/>
                  <a:gd name="T34" fmla="*/ 41 w 50"/>
                  <a:gd name="T35" fmla="*/ 18 h 58"/>
                  <a:gd name="T36" fmla="*/ 39 w 50"/>
                  <a:gd name="T37" fmla="*/ 16 h 58"/>
                  <a:gd name="T38" fmla="*/ 37 w 50"/>
                  <a:gd name="T39" fmla="*/ 18 h 58"/>
                  <a:gd name="T40" fmla="*/ 37 w 50"/>
                  <a:gd name="T41" fmla="*/ 56 h 58"/>
                  <a:gd name="T42" fmla="*/ 39 w 50"/>
                  <a:gd name="T43" fmla="*/ 58 h 58"/>
                  <a:gd name="T44" fmla="*/ 41 w 50"/>
                  <a:gd name="T45" fmla="*/ 56 h 58"/>
                  <a:gd name="T46" fmla="*/ 41 w 50"/>
                  <a:gd name="T47" fmla="*/ 44 h 58"/>
                  <a:gd name="T48" fmla="*/ 50 w 50"/>
                  <a:gd name="T49" fmla="*/ 34 h 58"/>
                  <a:gd name="T50" fmla="*/ 50 w 50"/>
                  <a:gd name="T51" fmla="*/ 13 h 58"/>
                  <a:gd name="T52" fmla="*/ 25 w 50"/>
                  <a:gd name="T53"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0" h="58">
                    <a:moveTo>
                      <a:pt x="25" y="0"/>
                    </a:moveTo>
                    <a:cubicBezTo>
                      <a:pt x="17" y="0"/>
                      <a:pt x="0" y="4"/>
                      <a:pt x="0" y="13"/>
                    </a:cubicBezTo>
                    <a:cubicBezTo>
                      <a:pt x="0" y="34"/>
                      <a:pt x="0" y="34"/>
                      <a:pt x="0" y="34"/>
                    </a:cubicBezTo>
                    <a:cubicBezTo>
                      <a:pt x="0" y="39"/>
                      <a:pt x="4" y="43"/>
                      <a:pt x="9" y="44"/>
                    </a:cubicBezTo>
                    <a:cubicBezTo>
                      <a:pt x="9" y="56"/>
                      <a:pt x="9" y="56"/>
                      <a:pt x="9" y="56"/>
                    </a:cubicBezTo>
                    <a:cubicBezTo>
                      <a:pt x="9" y="57"/>
                      <a:pt x="10" y="58"/>
                      <a:pt x="11" y="58"/>
                    </a:cubicBezTo>
                    <a:cubicBezTo>
                      <a:pt x="12" y="58"/>
                      <a:pt x="13" y="57"/>
                      <a:pt x="13" y="56"/>
                    </a:cubicBezTo>
                    <a:cubicBezTo>
                      <a:pt x="13" y="18"/>
                      <a:pt x="13" y="18"/>
                      <a:pt x="13" y="18"/>
                    </a:cubicBezTo>
                    <a:cubicBezTo>
                      <a:pt x="13" y="17"/>
                      <a:pt x="12" y="16"/>
                      <a:pt x="11" y="16"/>
                    </a:cubicBezTo>
                    <a:cubicBezTo>
                      <a:pt x="10" y="16"/>
                      <a:pt x="9" y="17"/>
                      <a:pt x="9" y="18"/>
                    </a:cubicBezTo>
                    <a:cubicBezTo>
                      <a:pt x="9" y="40"/>
                      <a:pt x="9" y="40"/>
                      <a:pt x="9" y="40"/>
                    </a:cubicBezTo>
                    <a:cubicBezTo>
                      <a:pt x="6" y="39"/>
                      <a:pt x="4" y="36"/>
                      <a:pt x="4" y="34"/>
                    </a:cubicBezTo>
                    <a:cubicBezTo>
                      <a:pt x="4" y="13"/>
                      <a:pt x="4" y="13"/>
                      <a:pt x="4" y="13"/>
                    </a:cubicBezTo>
                    <a:cubicBezTo>
                      <a:pt x="4" y="8"/>
                      <a:pt x="17" y="4"/>
                      <a:pt x="25" y="4"/>
                    </a:cubicBezTo>
                    <a:cubicBezTo>
                      <a:pt x="33" y="4"/>
                      <a:pt x="46" y="8"/>
                      <a:pt x="46" y="13"/>
                    </a:cubicBezTo>
                    <a:cubicBezTo>
                      <a:pt x="46" y="34"/>
                      <a:pt x="46" y="34"/>
                      <a:pt x="46" y="34"/>
                    </a:cubicBezTo>
                    <a:cubicBezTo>
                      <a:pt x="46" y="36"/>
                      <a:pt x="43" y="39"/>
                      <a:pt x="41" y="40"/>
                    </a:cubicBezTo>
                    <a:cubicBezTo>
                      <a:pt x="41" y="18"/>
                      <a:pt x="41" y="18"/>
                      <a:pt x="41" y="18"/>
                    </a:cubicBezTo>
                    <a:cubicBezTo>
                      <a:pt x="41" y="17"/>
                      <a:pt x="40" y="16"/>
                      <a:pt x="39" y="16"/>
                    </a:cubicBezTo>
                    <a:cubicBezTo>
                      <a:pt x="37" y="16"/>
                      <a:pt x="37" y="17"/>
                      <a:pt x="37" y="18"/>
                    </a:cubicBezTo>
                    <a:cubicBezTo>
                      <a:pt x="37" y="56"/>
                      <a:pt x="37" y="56"/>
                      <a:pt x="37" y="56"/>
                    </a:cubicBezTo>
                    <a:cubicBezTo>
                      <a:pt x="37" y="57"/>
                      <a:pt x="37" y="58"/>
                      <a:pt x="39" y="58"/>
                    </a:cubicBezTo>
                    <a:cubicBezTo>
                      <a:pt x="40" y="58"/>
                      <a:pt x="41" y="57"/>
                      <a:pt x="41" y="56"/>
                    </a:cubicBezTo>
                    <a:cubicBezTo>
                      <a:pt x="41" y="44"/>
                      <a:pt x="41" y="44"/>
                      <a:pt x="41" y="44"/>
                    </a:cubicBezTo>
                    <a:cubicBezTo>
                      <a:pt x="45" y="43"/>
                      <a:pt x="50" y="39"/>
                      <a:pt x="50" y="34"/>
                    </a:cubicBezTo>
                    <a:cubicBezTo>
                      <a:pt x="50" y="13"/>
                      <a:pt x="50" y="13"/>
                      <a:pt x="50" y="13"/>
                    </a:cubicBezTo>
                    <a:cubicBezTo>
                      <a:pt x="50" y="4"/>
                      <a:pt x="33"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16" name="Freeform 8">
                <a:extLst>
                  <a:ext uri="{FF2B5EF4-FFF2-40B4-BE49-F238E27FC236}">
                    <a16:creationId xmlns:a16="http://schemas.microsoft.com/office/drawing/2014/main" id="{90A735B1-AF07-4095-8BA7-210D651855FB}"/>
                  </a:ext>
                </a:extLst>
              </p:cNvPr>
              <p:cNvSpPr>
                <a:spLocks noEditPoints="1"/>
              </p:cNvSpPr>
              <p:nvPr/>
            </p:nvSpPr>
            <p:spPr bwMode="auto">
              <a:xfrm>
                <a:off x="11872824" y="2329926"/>
                <a:ext cx="81700" cy="92291"/>
              </a:xfrm>
              <a:custGeom>
                <a:avLst/>
                <a:gdLst>
                  <a:gd name="T0" fmla="*/ 0 w 22"/>
                  <a:gd name="T1" fmla="*/ 11 h 25"/>
                  <a:gd name="T2" fmla="*/ 0 w 22"/>
                  <a:gd name="T3" fmla="*/ 15 h 25"/>
                  <a:gd name="T4" fmla="*/ 11 w 22"/>
                  <a:gd name="T5" fmla="*/ 25 h 25"/>
                  <a:gd name="T6" fmla="*/ 22 w 22"/>
                  <a:gd name="T7" fmla="*/ 15 h 25"/>
                  <a:gd name="T8" fmla="*/ 22 w 22"/>
                  <a:gd name="T9" fmla="*/ 11 h 25"/>
                  <a:gd name="T10" fmla="*/ 11 w 22"/>
                  <a:gd name="T11" fmla="*/ 0 h 25"/>
                  <a:gd name="T12" fmla="*/ 0 w 22"/>
                  <a:gd name="T13" fmla="*/ 11 h 25"/>
                  <a:gd name="T14" fmla="*/ 4 w 22"/>
                  <a:gd name="T15" fmla="*/ 11 h 25"/>
                  <a:gd name="T16" fmla="*/ 11 w 22"/>
                  <a:gd name="T17" fmla="*/ 4 h 25"/>
                  <a:gd name="T18" fmla="*/ 18 w 22"/>
                  <a:gd name="T19" fmla="*/ 11 h 25"/>
                  <a:gd name="T20" fmla="*/ 18 w 22"/>
                  <a:gd name="T21" fmla="*/ 15 h 25"/>
                  <a:gd name="T22" fmla="*/ 11 w 22"/>
                  <a:gd name="T23" fmla="*/ 21 h 25"/>
                  <a:gd name="T24" fmla="*/ 4 w 22"/>
                  <a:gd name="T25" fmla="*/ 15 h 25"/>
                  <a:gd name="T26" fmla="*/ 4 w 22"/>
                  <a:gd name="T27" fmla="*/ 1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25">
                    <a:moveTo>
                      <a:pt x="0" y="11"/>
                    </a:moveTo>
                    <a:cubicBezTo>
                      <a:pt x="0" y="15"/>
                      <a:pt x="0" y="15"/>
                      <a:pt x="0" y="15"/>
                    </a:cubicBezTo>
                    <a:cubicBezTo>
                      <a:pt x="0" y="21"/>
                      <a:pt x="4" y="25"/>
                      <a:pt x="11" y="25"/>
                    </a:cubicBezTo>
                    <a:cubicBezTo>
                      <a:pt x="17" y="25"/>
                      <a:pt x="22" y="21"/>
                      <a:pt x="22" y="15"/>
                    </a:cubicBezTo>
                    <a:cubicBezTo>
                      <a:pt x="22" y="11"/>
                      <a:pt x="22" y="11"/>
                      <a:pt x="22" y="11"/>
                    </a:cubicBezTo>
                    <a:cubicBezTo>
                      <a:pt x="22" y="5"/>
                      <a:pt x="17" y="0"/>
                      <a:pt x="11" y="0"/>
                    </a:cubicBezTo>
                    <a:cubicBezTo>
                      <a:pt x="4" y="0"/>
                      <a:pt x="0" y="5"/>
                      <a:pt x="0" y="11"/>
                    </a:cubicBezTo>
                    <a:close/>
                    <a:moveTo>
                      <a:pt x="4" y="11"/>
                    </a:moveTo>
                    <a:cubicBezTo>
                      <a:pt x="4" y="7"/>
                      <a:pt x="6" y="4"/>
                      <a:pt x="11" y="4"/>
                    </a:cubicBezTo>
                    <a:cubicBezTo>
                      <a:pt x="15" y="4"/>
                      <a:pt x="18" y="7"/>
                      <a:pt x="18" y="11"/>
                    </a:cubicBezTo>
                    <a:cubicBezTo>
                      <a:pt x="18" y="15"/>
                      <a:pt x="18" y="15"/>
                      <a:pt x="18" y="15"/>
                    </a:cubicBezTo>
                    <a:cubicBezTo>
                      <a:pt x="18" y="18"/>
                      <a:pt x="15" y="21"/>
                      <a:pt x="11" y="21"/>
                    </a:cubicBezTo>
                    <a:cubicBezTo>
                      <a:pt x="6" y="21"/>
                      <a:pt x="4" y="18"/>
                      <a:pt x="4" y="15"/>
                    </a:cubicBezTo>
                    <a:lnTo>
                      <a:pt x="4"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nvGrpSpPr>
          <p:cNvPr id="8" name="组合 7"/>
          <p:cNvGrpSpPr/>
          <p:nvPr/>
        </p:nvGrpSpPr>
        <p:grpSpPr>
          <a:xfrm>
            <a:off x="1488656" y="2884149"/>
            <a:ext cx="3855082" cy="636273"/>
            <a:chOff x="3603454" y="2251011"/>
            <a:chExt cx="12932394" cy="1898256"/>
          </a:xfrm>
        </p:grpSpPr>
        <p:grpSp>
          <p:nvGrpSpPr>
            <p:cNvPr id="24" name="组合 23"/>
            <p:cNvGrpSpPr/>
            <p:nvPr/>
          </p:nvGrpSpPr>
          <p:grpSpPr>
            <a:xfrm>
              <a:off x="14432995" y="2251011"/>
              <a:ext cx="2102853" cy="1898256"/>
              <a:chOff x="3988614" y="2787633"/>
              <a:chExt cx="2102853" cy="1898256"/>
            </a:xfrm>
          </p:grpSpPr>
          <p:sp>
            <p:nvSpPr>
              <p:cNvPr id="118" name="矩形 117"/>
              <p:cNvSpPr/>
              <p:nvPr/>
            </p:nvSpPr>
            <p:spPr>
              <a:xfrm>
                <a:off x="3988614" y="3929607"/>
                <a:ext cx="2102853" cy="756282"/>
              </a:xfrm>
              <a:prstGeom prst="rect">
                <a:avLst/>
              </a:prstGeom>
            </p:spPr>
            <p:txBody>
              <a:bodyPr wrap="none">
                <a:spAutoFit/>
              </a:bodyPr>
              <a:lstStyle/>
              <a:p>
                <a:pPr algn="ctr" defTabSz="609432" eaLnBrk="1" fontAlgn="auto" hangingPunct="1">
                  <a:spcBef>
                    <a:spcPts val="0"/>
                  </a:spcBef>
                  <a:spcAft>
                    <a:spcPts val="0"/>
                  </a:spcAft>
                </a:pPr>
                <a:r>
                  <a:rPr lang="en-US" altLang="zh-CN" sz="1048"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CPU 5</a:t>
                </a:r>
                <a:endParaRPr lang="zh-CN" altLang="en-US" sz="1048" dirty="0">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20" name="椭圆 119"/>
              <p:cNvSpPr/>
              <p:nvPr/>
            </p:nvSpPr>
            <p:spPr>
              <a:xfrm>
                <a:off x="4550692" y="2858759"/>
                <a:ext cx="978694" cy="965170"/>
              </a:xfrm>
              <a:prstGeom prst="ellipse">
                <a:avLst/>
              </a:prstGeom>
              <a:gradFill flip="none" rotWithShape="1">
                <a:gsLst>
                  <a:gs pos="72000">
                    <a:srgbClr val="010A43"/>
                  </a:gs>
                  <a:gs pos="100000">
                    <a:srgbClr val="010A43">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048">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pic>
            <p:nvPicPr>
              <p:cNvPr id="121" name="图片 120" descr="图片包含 游戏机, 灯光&#10;&#10;描述已自动生成">
                <a:extLst>
                  <a:ext uri="{FF2B5EF4-FFF2-40B4-BE49-F238E27FC236}">
                    <a16:creationId xmlns:a16="http://schemas.microsoft.com/office/drawing/2014/main" id="{A7517968-D900-45F2-AABF-067AE561809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80597" y="2787633"/>
                <a:ext cx="1118885" cy="1093899"/>
              </a:xfrm>
              <a:prstGeom prst="rect">
                <a:avLst/>
              </a:prstGeom>
            </p:spPr>
          </p:pic>
          <p:grpSp>
            <p:nvGrpSpPr>
              <p:cNvPr id="122" name="组合 121"/>
              <p:cNvGrpSpPr/>
              <p:nvPr/>
            </p:nvGrpSpPr>
            <p:grpSpPr>
              <a:xfrm>
                <a:off x="4811975" y="3028061"/>
                <a:ext cx="456129" cy="589193"/>
                <a:chOff x="11821384" y="2329926"/>
                <a:chExt cx="184581" cy="296176"/>
              </a:xfrm>
              <a:solidFill>
                <a:srgbClr val="969696"/>
              </a:solidFill>
            </p:grpSpPr>
            <p:sp>
              <p:nvSpPr>
                <p:cNvPr id="123" name="Freeform 5">
                  <a:extLst>
                    <a:ext uri="{FF2B5EF4-FFF2-40B4-BE49-F238E27FC236}">
                      <a16:creationId xmlns:a16="http://schemas.microsoft.com/office/drawing/2014/main" id="{BB00C13E-CF85-4D62-864F-99B930469E8F}"/>
                    </a:ext>
                  </a:extLst>
                </p:cNvPr>
                <p:cNvSpPr>
                  <a:spLocks/>
                </p:cNvSpPr>
                <p:nvPr/>
              </p:nvSpPr>
              <p:spPr bwMode="auto">
                <a:xfrm>
                  <a:off x="11821384" y="2411261"/>
                  <a:ext cx="184581" cy="214841"/>
                </a:xfrm>
                <a:custGeom>
                  <a:avLst/>
                  <a:gdLst>
                    <a:gd name="T0" fmla="*/ 25 w 50"/>
                    <a:gd name="T1" fmla="*/ 0 h 58"/>
                    <a:gd name="T2" fmla="*/ 0 w 50"/>
                    <a:gd name="T3" fmla="*/ 13 h 58"/>
                    <a:gd name="T4" fmla="*/ 0 w 50"/>
                    <a:gd name="T5" fmla="*/ 34 h 58"/>
                    <a:gd name="T6" fmla="*/ 9 w 50"/>
                    <a:gd name="T7" fmla="*/ 44 h 58"/>
                    <a:gd name="T8" fmla="*/ 9 w 50"/>
                    <a:gd name="T9" fmla="*/ 56 h 58"/>
                    <a:gd name="T10" fmla="*/ 11 w 50"/>
                    <a:gd name="T11" fmla="*/ 58 h 58"/>
                    <a:gd name="T12" fmla="*/ 13 w 50"/>
                    <a:gd name="T13" fmla="*/ 56 h 58"/>
                    <a:gd name="T14" fmla="*/ 13 w 50"/>
                    <a:gd name="T15" fmla="*/ 18 h 58"/>
                    <a:gd name="T16" fmla="*/ 11 w 50"/>
                    <a:gd name="T17" fmla="*/ 16 h 58"/>
                    <a:gd name="T18" fmla="*/ 9 w 50"/>
                    <a:gd name="T19" fmla="*/ 18 h 58"/>
                    <a:gd name="T20" fmla="*/ 9 w 50"/>
                    <a:gd name="T21" fmla="*/ 40 h 58"/>
                    <a:gd name="T22" fmla="*/ 4 w 50"/>
                    <a:gd name="T23" fmla="*/ 34 h 58"/>
                    <a:gd name="T24" fmla="*/ 4 w 50"/>
                    <a:gd name="T25" fmla="*/ 13 h 58"/>
                    <a:gd name="T26" fmla="*/ 25 w 50"/>
                    <a:gd name="T27" fmla="*/ 4 h 58"/>
                    <a:gd name="T28" fmla="*/ 46 w 50"/>
                    <a:gd name="T29" fmla="*/ 13 h 58"/>
                    <a:gd name="T30" fmla="*/ 46 w 50"/>
                    <a:gd name="T31" fmla="*/ 34 h 58"/>
                    <a:gd name="T32" fmla="*/ 41 w 50"/>
                    <a:gd name="T33" fmla="*/ 40 h 58"/>
                    <a:gd name="T34" fmla="*/ 41 w 50"/>
                    <a:gd name="T35" fmla="*/ 18 h 58"/>
                    <a:gd name="T36" fmla="*/ 39 w 50"/>
                    <a:gd name="T37" fmla="*/ 16 h 58"/>
                    <a:gd name="T38" fmla="*/ 37 w 50"/>
                    <a:gd name="T39" fmla="*/ 18 h 58"/>
                    <a:gd name="T40" fmla="*/ 37 w 50"/>
                    <a:gd name="T41" fmla="*/ 56 h 58"/>
                    <a:gd name="T42" fmla="*/ 39 w 50"/>
                    <a:gd name="T43" fmla="*/ 58 h 58"/>
                    <a:gd name="T44" fmla="*/ 41 w 50"/>
                    <a:gd name="T45" fmla="*/ 56 h 58"/>
                    <a:gd name="T46" fmla="*/ 41 w 50"/>
                    <a:gd name="T47" fmla="*/ 44 h 58"/>
                    <a:gd name="T48" fmla="*/ 50 w 50"/>
                    <a:gd name="T49" fmla="*/ 34 h 58"/>
                    <a:gd name="T50" fmla="*/ 50 w 50"/>
                    <a:gd name="T51" fmla="*/ 13 h 58"/>
                    <a:gd name="T52" fmla="*/ 25 w 50"/>
                    <a:gd name="T53"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0" h="58">
                      <a:moveTo>
                        <a:pt x="25" y="0"/>
                      </a:moveTo>
                      <a:cubicBezTo>
                        <a:pt x="17" y="0"/>
                        <a:pt x="0" y="4"/>
                        <a:pt x="0" y="13"/>
                      </a:cubicBezTo>
                      <a:cubicBezTo>
                        <a:pt x="0" y="34"/>
                        <a:pt x="0" y="34"/>
                        <a:pt x="0" y="34"/>
                      </a:cubicBezTo>
                      <a:cubicBezTo>
                        <a:pt x="0" y="39"/>
                        <a:pt x="4" y="43"/>
                        <a:pt x="9" y="44"/>
                      </a:cubicBezTo>
                      <a:cubicBezTo>
                        <a:pt x="9" y="56"/>
                        <a:pt x="9" y="56"/>
                        <a:pt x="9" y="56"/>
                      </a:cubicBezTo>
                      <a:cubicBezTo>
                        <a:pt x="9" y="57"/>
                        <a:pt x="10" y="58"/>
                        <a:pt x="11" y="58"/>
                      </a:cubicBezTo>
                      <a:cubicBezTo>
                        <a:pt x="12" y="58"/>
                        <a:pt x="13" y="57"/>
                        <a:pt x="13" y="56"/>
                      </a:cubicBezTo>
                      <a:cubicBezTo>
                        <a:pt x="13" y="18"/>
                        <a:pt x="13" y="18"/>
                        <a:pt x="13" y="18"/>
                      </a:cubicBezTo>
                      <a:cubicBezTo>
                        <a:pt x="13" y="17"/>
                        <a:pt x="12" y="16"/>
                        <a:pt x="11" y="16"/>
                      </a:cubicBezTo>
                      <a:cubicBezTo>
                        <a:pt x="10" y="16"/>
                        <a:pt x="9" y="17"/>
                        <a:pt x="9" y="18"/>
                      </a:cubicBezTo>
                      <a:cubicBezTo>
                        <a:pt x="9" y="40"/>
                        <a:pt x="9" y="40"/>
                        <a:pt x="9" y="40"/>
                      </a:cubicBezTo>
                      <a:cubicBezTo>
                        <a:pt x="6" y="39"/>
                        <a:pt x="4" y="36"/>
                        <a:pt x="4" y="34"/>
                      </a:cubicBezTo>
                      <a:cubicBezTo>
                        <a:pt x="4" y="13"/>
                        <a:pt x="4" y="13"/>
                        <a:pt x="4" y="13"/>
                      </a:cubicBezTo>
                      <a:cubicBezTo>
                        <a:pt x="4" y="8"/>
                        <a:pt x="17" y="4"/>
                        <a:pt x="25" y="4"/>
                      </a:cubicBezTo>
                      <a:cubicBezTo>
                        <a:pt x="33" y="4"/>
                        <a:pt x="46" y="8"/>
                        <a:pt x="46" y="13"/>
                      </a:cubicBezTo>
                      <a:cubicBezTo>
                        <a:pt x="46" y="34"/>
                        <a:pt x="46" y="34"/>
                        <a:pt x="46" y="34"/>
                      </a:cubicBezTo>
                      <a:cubicBezTo>
                        <a:pt x="46" y="36"/>
                        <a:pt x="43" y="39"/>
                        <a:pt x="41" y="40"/>
                      </a:cubicBezTo>
                      <a:cubicBezTo>
                        <a:pt x="41" y="18"/>
                        <a:pt x="41" y="18"/>
                        <a:pt x="41" y="18"/>
                      </a:cubicBezTo>
                      <a:cubicBezTo>
                        <a:pt x="41" y="17"/>
                        <a:pt x="40" y="16"/>
                        <a:pt x="39" y="16"/>
                      </a:cubicBezTo>
                      <a:cubicBezTo>
                        <a:pt x="37" y="16"/>
                        <a:pt x="37" y="17"/>
                        <a:pt x="37" y="18"/>
                      </a:cubicBezTo>
                      <a:cubicBezTo>
                        <a:pt x="37" y="56"/>
                        <a:pt x="37" y="56"/>
                        <a:pt x="37" y="56"/>
                      </a:cubicBezTo>
                      <a:cubicBezTo>
                        <a:pt x="37" y="57"/>
                        <a:pt x="37" y="58"/>
                        <a:pt x="39" y="58"/>
                      </a:cubicBezTo>
                      <a:cubicBezTo>
                        <a:pt x="40" y="58"/>
                        <a:pt x="41" y="57"/>
                        <a:pt x="41" y="56"/>
                      </a:cubicBezTo>
                      <a:cubicBezTo>
                        <a:pt x="41" y="44"/>
                        <a:pt x="41" y="44"/>
                        <a:pt x="41" y="44"/>
                      </a:cubicBezTo>
                      <a:cubicBezTo>
                        <a:pt x="45" y="43"/>
                        <a:pt x="50" y="39"/>
                        <a:pt x="50" y="34"/>
                      </a:cubicBezTo>
                      <a:cubicBezTo>
                        <a:pt x="50" y="13"/>
                        <a:pt x="50" y="13"/>
                        <a:pt x="50" y="13"/>
                      </a:cubicBezTo>
                      <a:cubicBezTo>
                        <a:pt x="50" y="4"/>
                        <a:pt x="33"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24" name="Freeform 8">
                  <a:extLst>
                    <a:ext uri="{FF2B5EF4-FFF2-40B4-BE49-F238E27FC236}">
                      <a16:creationId xmlns:a16="http://schemas.microsoft.com/office/drawing/2014/main" id="{90A735B1-AF07-4095-8BA7-210D651855FB}"/>
                    </a:ext>
                  </a:extLst>
                </p:cNvPr>
                <p:cNvSpPr>
                  <a:spLocks noEditPoints="1"/>
                </p:cNvSpPr>
                <p:nvPr/>
              </p:nvSpPr>
              <p:spPr bwMode="auto">
                <a:xfrm>
                  <a:off x="11872824" y="2329926"/>
                  <a:ext cx="81700" cy="92291"/>
                </a:xfrm>
                <a:custGeom>
                  <a:avLst/>
                  <a:gdLst>
                    <a:gd name="T0" fmla="*/ 0 w 22"/>
                    <a:gd name="T1" fmla="*/ 11 h 25"/>
                    <a:gd name="T2" fmla="*/ 0 w 22"/>
                    <a:gd name="T3" fmla="*/ 15 h 25"/>
                    <a:gd name="T4" fmla="*/ 11 w 22"/>
                    <a:gd name="T5" fmla="*/ 25 h 25"/>
                    <a:gd name="T6" fmla="*/ 22 w 22"/>
                    <a:gd name="T7" fmla="*/ 15 h 25"/>
                    <a:gd name="T8" fmla="*/ 22 w 22"/>
                    <a:gd name="T9" fmla="*/ 11 h 25"/>
                    <a:gd name="T10" fmla="*/ 11 w 22"/>
                    <a:gd name="T11" fmla="*/ 0 h 25"/>
                    <a:gd name="T12" fmla="*/ 0 w 22"/>
                    <a:gd name="T13" fmla="*/ 11 h 25"/>
                    <a:gd name="T14" fmla="*/ 4 w 22"/>
                    <a:gd name="T15" fmla="*/ 11 h 25"/>
                    <a:gd name="T16" fmla="*/ 11 w 22"/>
                    <a:gd name="T17" fmla="*/ 4 h 25"/>
                    <a:gd name="T18" fmla="*/ 18 w 22"/>
                    <a:gd name="T19" fmla="*/ 11 h 25"/>
                    <a:gd name="T20" fmla="*/ 18 w 22"/>
                    <a:gd name="T21" fmla="*/ 15 h 25"/>
                    <a:gd name="T22" fmla="*/ 11 w 22"/>
                    <a:gd name="T23" fmla="*/ 21 h 25"/>
                    <a:gd name="T24" fmla="*/ 4 w 22"/>
                    <a:gd name="T25" fmla="*/ 15 h 25"/>
                    <a:gd name="T26" fmla="*/ 4 w 22"/>
                    <a:gd name="T27" fmla="*/ 1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25">
                      <a:moveTo>
                        <a:pt x="0" y="11"/>
                      </a:moveTo>
                      <a:cubicBezTo>
                        <a:pt x="0" y="15"/>
                        <a:pt x="0" y="15"/>
                        <a:pt x="0" y="15"/>
                      </a:cubicBezTo>
                      <a:cubicBezTo>
                        <a:pt x="0" y="21"/>
                        <a:pt x="4" y="25"/>
                        <a:pt x="11" y="25"/>
                      </a:cubicBezTo>
                      <a:cubicBezTo>
                        <a:pt x="17" y="25"/>
                        <a:pt x="22" y="21"/>
                        <a:pt x="22" y="15"/>
                      </a:cubicBezTo>
                      <a:cubicBezTo>
                        <a:pt x="22" y="11"/>
                        <a:pt x="22" y="11"/>
                        <a:pt x="22" y="11"/>
                      </a:cubicBezTo>
                      <a:cubicBezTo>
                        <a:pt x="22" y="5"/>
                        <a:pt x="17" y="0"/>
                        <a:pt x="11" y="0"/>
                      </a:cubicBezTo>
                      <a:cubicBezTo>
                        <a:pt x="4" y="0"/>
                        <a:pt x="0" y="5"/>
                        <a:pt x="0" y="11"/>
                      </a:cubicBezTo>
                      <a:close/>
                      <a:moveTo>
                        <a:pt x="4" y="11"/>
                      </a:moveTo>
                      <a:cubicBezTo>
                        <a:pt x="4" y="7"/>
                        <a:pt x="6" y="4"/>
                        <a:pt x="11" y="4"/>
                      </a:cubicBezTo>
                      <a:cubicBezTo>
                        <a:pt x="15" y="4"/>
                        <a:pt x="18" y="7"/>
                        <a:pt x="18" y="11"/>
                      </a:cubicBezTo>
                      <a:cubicBezTo>
                        <a:pt x="18" y="15"/>
                        <a:pt x="18" y="15"/>
                        <a:pt x="18" y="15"/>
                      </a:cubicBezTo>
                      <a:cubicBezTo>
                        <a:pt x="18" y="18"/>
                        <a:pt x="15" y="21"/>
                        <a:pt x="11" y="21"/>
                      </a:cubicBezTo>
                      <a:cubicBezTo>
                        <a:pt x="6" y="21"/>
                        <a:pt x="4" y="18"/>
                        <a:pt x="4" y="15"/>
                      </a:cubicBezTo>
                      <a:lnTo>
                        <a:pt x="4"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nvGrpSpPr>
            <p:cNvPr id="25" name="组合 24"/>
            <p:cNvGrpSpPr/>
            <p:nvPr/>
          </p:nvGrpSpPr>
          <p:grpSpPr>
            <a:xfrm>
              <a:off x="3603454" y="2251011"/>
              <a:ext cx="2102853" cy="1898256"/>
              <a:chOff x="12547838" y="2787633"/>
              <a:chExt cx="2102853" cy="1898256"/>
            </a:xfrm>
          </p:grpSpPr>
          <p:sp>
            <p:nvSpPr>
              <p:cNvPr id="126" name="矩形 125"/>
              <p:cNvSpPr/>
              <p:nvPr/>
            </p:nvSpPr>
            <p:spPr>
              <a:xfrm>
                <a:off x="12547838" y="3929607"/>
                <a:ext cx="2102853" cy="756282"/>
              </a:xfrm>
              <a:prstGeom prst="rect">
                <a:avLst/>
              </a:prstGeom>
            </p:spPr>
            <p:txBody>
              <a:bodyPr wrap="none">
                <a:spAutoFit/>
              </a:bodyPr>
              <a:lstStyle/>
              <a:p>
                <a:pPr algn="ctr" defTabSz="609432" eaLnBrk="1" fontAlgn="auto" hangingPunct="1">
                  <a:spcBef>
                    <a:spcPts val="0"/>
                  </a:spcBef>
                  <a:spcAft>
                    <a:spcPts val="0"/>
                  </a:spcAft>
                </a:pPr>
                <a:r>
                  <a:rPr lang="en-US" altLang="zh-CN" sz="1048"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CPU 6</a:t>
                </a:r>
                <a:endParaRPr lang="zh-CN" altLang="en-US" sz="1048" dirty="0">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28" name="椭圆 127"/>
              <p:cNvSpPr/>
              <p:nvPr/>
            </p:nvSpPr>
            <p:spPr>
              <a:xfrm>
                <a:off x="13109916" y="2858759"/>
                <a:ext cx="978694" cy="965170"/>
              </a:xfrm>
              <a:prstGeom prst="ellipse">
                <a:avLst/>
              </a:prstGeom>
              <a:gradFill flip="none" rotWithShape="1">
                <a:gsLst>
                  <a:gs pos="72000">
                    <a:srgbClr val="010A43"/>
                  </a:gs>
                  <a:gs pos="100000">
                    <a:srgbClr val="010A43">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048">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pic>
            <p:nvPicPr>
              <p:cNvPr id="129" name="图片 128" descr="图片包含 游戏机, 灯光&#10;&#10;描述已自动生成">
                <a:extLst>
                  <a:ext uri="{FF2B5EF4-FFF2-40B4-BE49-F238E27FC236}">
                    <a16:creationId xmlns:a16="http://schemas.microsoft.com/office/drawing/2014/main" id="{A7517968-D900-45F2-AABF-067AE561809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039821" y="2787633"/>
                <a:ext cx="1118885" cy="1093899"/>
              </a:xfrm>
              <a:prstGeom prst="rect">
                <a:avLst/>
              </a:prstGeom>
            </p:spPr>
          </p:pic>
          <p:grpSp>
            <p:nvGrpSpPr>
              <p:cNvPr id="130" name="组合 129"/>
              <p:cNvGrpSpPr/>
              <p:nvPr/>
            </p:nvGrpSpPr>
            <p:grpSpPr>
              <a:xfrm>
                <a:off x="13371199" y="3028061"/>
                <a:ext cx="456129" cy="589193"/>
                <a:chOff x="11821384" y="2329926"/>
                <a:chExt cx="184581" cy="296176"/>
              </a:xfrm>
              <a:solidFill>
                <a:srgbClr val="969696"/>
              </a:solidFill>
            </p:grpSpPr>
            <p:sp>
              <p:nvSpPr>
                <p:cNvPr id="131" name="Freeform 5">
                  <a:extLst>
                    <a:ext uri="{FF2B5EF4-FFF2-40B4-BE49-F238E27FC236}">
                      <a16:creationId xmlns:a16="http://schemas.microsoft.com/office/drawing/2014/main" id="{BB00C13E-CF85-4D62-864F-99B930469E8F}"/>
                    </a:ext>
                  </a:extLst>
                </p:cNvPr>
                <p:cNvSpPr>
                  <a:spLocks/>
                </p:cNvSpPr>
                <p:nvPr/>
              </p:nvSpPr>
              <p:spPr bwMode="auto">
                <a:xfrm>
                  <a:off x="11821384" y="2411261"/>
                  <a:ext cx="184581" cy="214841"/>
                </a:xfrm>
                <a:custGeom>
                  <a:avLst/>
                  <a:gdLst>
                    <a:gd name="T0" fmla="*/ 25 w 50"/>
                    <a:gd name="T1" fmla="*/ 0 h 58"/>
                    <a:gd name="T2" fmla="*/ 0 w 50"/>
                    <a:gd name="T3" fmla="*/ 13 h 58"/>
                    <a:gd name="T4" fmla="*/ 0 w 50"/>
                    <a:gd name="T5" fmla="*/ 34 h 58"/>
                    <a:gd name="T6" fmla="*/ 9 w 50"/>
                    <a:gd name="T7" fmla="*/ 44 h 58"/>
                    <a:gd name="T8" fmla="*/ 9 w 50"/>
                    <a:gd name="T9" fmla="*/ 56 h 58"/>
                    <a:gd name="T10" fmla="*/ 11 w 50"/>
                    <a:gd name="T11" fmla="*/ 58 h 58"/>
                    <a:gd name="T12" fmla="*/ 13 w 50"/>
                    <a:gd name="T13" fmla="*/ 56 h 58"/>
                    <a:gd name="T14" fmla="*/ 13 w 50"/>
                    <a:gd name="T15" fmla="*/ 18 h 58"/>
                    <a:gd name="T16" fmla="*/ 11 w 50"/>
                    <a:gd name="T17" fmla="*/ 16 h 58"/>
                    <a:gd name="T18" fmla="*/ 9 w 50"/>
                    <a:gd name="T19" fmla="*/ 18 h 58"/>
                    <a:gd name="T20" fmla="*/ 9 w 50"/>
                    <a:gd name="T21" fmla="*/ 40 h 58"/>
                    <a:gd name="T22" fmla="*/ 4 w 50"/>
                    <a:gd name="T23" fmla="*/ 34 h 58"/>
                    <a:gd name="T24" fmla="*/ 4 w 50"/>
                    <a:gd name="T25" fmla="*/ 13 h 58"/>
                    <a:gd name="T26" fmla="*/ 25 w 50"/>
                    <a:gd name="T27" fmla="*/ 4 h 58"/>
                    <a:gd name="T28" fmla="*/ 46 w 50"/>
                    <a:gd name="T29" fmla="*/ 13 h 58"/>
                    <a:gd name="T30" fmla="*/ 46 w 50"/>
                    <a:gd name="T31" fmla="*/ 34 h 58"/>
                    <a:gd name="T32" fmla="*/ 41 w 50"/>
                    <a:gd name="T33" fmla="*/ 40 h 58"/>
                    <a:gd name="T34" fmla="*/ 41 w 50"/>
                    <a:gd name="T35" fmla="*/ 18 h 58"/>
                    <a:gd name="T36" fmla="*/ 39 w 50"/>
                    <a:gd name="T37" fmla="*/ 16 h 58"/>
                    <a:gd name="T38" fmla="*/ 37 w 50"/>
                    <a:gd name="T39" fmla="*/ 18 h 58"/>
                    <a:gd name="T40" fmla="*/ 37 w 50"/>
                    <a:gd name="T41" fmla="*/ 56 h 58"/>
                    <a:gd name="T42" fmla="*/ 39 w 50"/>
                    <a:gd name="T43" fmla="*/ 58 h 58"/>
                    <a:gd name="T44" fmla="*/ 41 w 50"/>
                    <a:gd name="T45" fmla="*/ 56 h 58"/>
                    <a:gd name="T46" fmla="*/ 41 w 50"/>
                    <a:gd name="T47" fmla="*/ 44 h 58"/>
                    <a:gd name="T48" fmla="*/ 50 w 50"/>
                    <a:gd name="T49" fmla="*/ 34 h 58"/>
                    <a:gd name="T50" fmla="*/ 50 w 50"/>
                    <a:gd name="T51" fmla="*/ 13 h 58"/>
                    <a:gd name="T52" fmla="*/ 25 w 50"/>
                    <a:gd name="T53"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0" h="58">
                      <a:moveTo>
                        <a:pt x="25" y="0"/>
                      </a:moveTo>
                      <a:cubicBezTo>
                        <a:pt x="17" y="0"/>
                        <a:pt x="0" y="4"/>
                        <a:pt x="0" y="13"/>
                      </a:cubicBezTo>
                      <a:cubicBezTo>
                        <a:pt x="0" y="34"/>
                        <a:pt x="0" y="34"/>
                        <a:pt x="0" y="34"/>
                      </a:cubicBezTo>
                      <a:cubicBezTo>
                        <a:pt x="0" y="39"/>
                        <a:pt x="4" y="43"/>
                        <a:pt x="9" y="44"/>
                      </a:cubicBezTo>
                      <a:cubicBezTo>
                        <a:pt x="9" y="56"/>
                        <a:pt x="9" y="56"/>
                        <a:pt x="9" y="56"/>
                      </a:cubicBezTo>
                      <a:cubicBezTo>
                        <a:pt x="9" y="57"/>
                        <a:pt x="10" y="58"/>
                        <a:pt x="11" y="58"/>
                      </a:cubicBezTo>
                      <a:cubicBezTo>
                        <a:pt x="12" y="58"/>
                        <a:pt x="13" y="57"/>
                        <a:pt x="13" y="56"/>
                      </a:cubicBezTo>
                      <a:cubicBezTo>
                        <a:pt x="13" y="18"/>
                        <a:pt x="13" y="18"/>
                        <a:pt x="13" y="18"/>
                      </a:cubicBezTo>
                      <a:cubicBezTo>
                        <a:pt x="13" y="17"/>
                        <a:pt x="12" y="16"/>
                        <a:pt x="11" y="16"/>
                      </a:cubicBezTo>
                      <a:cubicBezTo>
                        <a:pt x="10" y="16"/>
                        <a:pt x="9" y="17"/>
                        <a:pt x="9" y="18"/>
                      </a:cubicBezTo>
                      <a:cubicBezTo>
                        <a:pt x="9" y="40"/>
                        <a:pt x="9" y="40"/>
                        <a:pt x="9" y="40"/>
                      </a:cubicBezTo>
                      <a:cubicBezTo>
                        <a:pt x="6" y="39"/>
                        <a:pt x="4" y="36"/>
                        <a:pt x="4" y="34"/>
                      </a:cubicBezTo>
                      <a:cubicBezTo>
                        <a:pt x="4" y="13"/>
                        <a:pt x="4" y="13"/>
                        <a:pt x="4" y="13"/>
                      </a:cubicBezTo>
                      <a:cubicBezTo>
                        <a:pt x="4" y="8"/>
                        <a:pt x="17" y="4"/>
                        <a:pt x="25" y="4"/>
                      </a:cubicBezTo>
                      <a:cubicBezTo>
                        <a:pt x="33" y="4"/>
                        <a:pt x="46" y="8"/>
                        <a:pt x="46" y="13"/>
                      </a:cubicBezTo>
                      <a:cubicBezTo>
                        <a:pt x="46" y="34"/>
                        <a:pt x="46" y="34"/>
                        <a:pt x="46" y="34"/>
                      </a:cubicBezTo>
                      <a:cubicBezTo>
                        <a:pt x="46" y="36"/>
                        <a:pt x="43" y="39"/>
                        <a:pt x="41" y="40"/>
                      </a:cubicBezTo>
                      <a:cubicBezTo>
                        <a:pt x="41" y="18"/>
                        <a:pt x="41" y="18"/>
                        <a:pt x="41" y="18"/>
                      </a:cubicBezTo>
                      <a:cubicBezTo>
                        <a:pt x="41" y="17"/>
                        <a:pt x="40" y="16"/>
                        <a:pt x="39" y="16"/>
                      </a:cubicBezTo>
                      <a:cubicBezTo>
                        <a:pt x="37" y="16"/>
                        <a:pt x="37" y="17"/>
                        <a:pt x="37" y="18"/>
                      </a:cubicBezTo>
                      <a:cubicBezTo>
                        <a:pt x="37" y="56"/>
                        <a:pt x="37" y="56"/>
                        <a:pt x="37" y="56"/>
                      </a:cubicBezTo>
                      <a:cubicBezTo>
                        <a:pt x="37" y="57"/>
                        <a:pt x="37" y="58"/>
                        <a:pt x="39" y="58"/>
                      </a:cubicBezTo>
                      <a:cubicBezTo>
                        <a:pt x="40" y="58"/>
                        <a:pt x="41" y="57"/>
                        <a:pt x="41" y="56"/>
                      </a:cubicBezTo>
                      <a:cubicBezTo>
                        <a:pt x="41" y="44"/>
                        <a:pt x="41" y="44"/>
                        <a:pt x="41" y="44"/>
                      </a:cubicBezTo>
                      <a:cubicBezTo>
                        <a:pt x="45" y="43"/>
                        <a:pt x="50" y="39"/>
                        <a:pt x="50" y="34"/>
                      </a:cubicBezTo>
                      <a:cubicBezTo>
                        <a:pt x="50" y="13"/>
                        <a:pt x="50" y="13"/>
                        <a:pt x="50" y="13"/>
                      </a:cubicBezTo>
                      <a:cubicBezTo>
                        <a:pt x="50" y="4"/>
                        <a:pt x="33"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32" name="Freeform 8">
                  <a:extLst>
                    <a:ext uri="{FF2B5EF4-FFF2-40B4-BE49-F238E27FC236}">
                      <a16:creationId xmlns:a16="http://schemas.microsoft.com/office/drawing/2014/main" id="{90A735B1-AF07-4095-8BA7-210D651855FB}"/>
                    </a:ext>
                  </a:extLst>
                </p:cNvPr>
                <p:cNvSpPr>
                  <a:spLocks noEditPoints="1"/>
                </p:cNvSpPr>
                <p:nvPr/>
              </p:nvSpPr>
              <p:spPr bwMode="auto">
                <a:xfrm>
                  <a:off x="11872824" y="2329926"/>
                  <a:ext cx="81700" cy="92291"/>
                </a:xfrm>
                <a:custGeom>
                  <a:avLst/>
                  <a:gdLst>
                    <a:gd name="T0" fmla="*/ 0 w 22"/>
                    <a:gd name="T1" fmla="*/ 11 h 25"/>
                    <a:gd name="T2" fmla="*/ 0 w 22"/>
                    <a:gd name="T3" fmla="*/ 15 h 25"/>
                    <a:gd name="T4" fmla="*/ 11 w 22"/>
                    <a:gd name="T5" fmla="*/ 25 h 25"/>
                    <a:gd name="T6" fmla="*/ 22 w 22"/>
                    <a:gd name="T7" fmla="*/ 15 h 25"/>
                    <a:gd name="T8" fmla="*/ 22 w 22"/>
                    <a:gd name="T9" fmla="*/ 11 h 25"/>
                    <a:gd name="T10" fmla="*/ 11 w 22"/>
                    <a:gd name="T11" fmla="*/ 0 h 25"/>
                    <a:gd name="T12" fmla="*/ 0 w 22"/>
                    <a:gd name="T13" fmla="*/ 11 h 25"/>
                    <a:gd name="T14" fmla="*/ 4 w 22"/>
                    <a:gd name="T15" fmla="*/ 11 h 25"/>
                    <a:gd name="T16" fmla="*/ 11 w 22"/>
                    <a:gd name="T17" fmla="*/ 4 h 25"/>
                    <a:gd name="T18" fmla="*/ 18 w 22"/>
                    <a:gd name="T19" fmla="*/ 11 h 25"/>
                    <a:gd name="T20" fmla="*/ 18 w 22"/>
                    <a:gd name="T21" fmla="*/ 15 h 25"/>
                    <a:gd name="T22" fmla="*/ 11 w 22"/>
                    <a:gd name="T23" fmla="*/ 21 h 25"/>
                    <a:gd name="T24" fmla="*/ 4 w 22"/>
                    <a:gd name="T25" fmla="*/ 15 h 25"/>
                    <a:gd name="T26" fmla="*/ 4 w 22"/>
                    <a:gd name="T27" fmla="*/ 1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25">
                      <a:moveTo>
                        <a:pt x="0" y="11"/>
                      </a:moveTo>
                      <a:cubicBezTo>
                        <a:pt x="0" y="15"/>
                        <a:pt x="0" y="15"/>
                        <a:pt x="0" y="15"/>
                      </a:cubicBezTo>
                      <a:cubicBezTo>
                        <a:pt x="0" y="21"/>
                        <a:pt x="4" y="25"/>
                        <a:pt x="11" y="25"/>
                      </a:cubicBezTo>
                      <a:cubicBezTo>
                        <a:pt x="17" y="25"/>
                        <a:pt x="22" y="21"/>
                        <a:pt x="22" y="15"/>
                      </a:cubicBezTo>
                      <a:cubicBezTo>
                        <a:pt x="22" y="11"/>
                        <a:pt x="22" y="11"/>
                        <a:pt x="22" y="11"/>
                      </a:cubicBezTo>
                      <a:cubicBezTo>
                        <a:pt x="22" y="5"/>
                        <a:pt x="17" y="0"/>
                        <a:pt x="11" y="0"/>
                      </a:cubicBezTo>
                      <a:cubicBezTo>
                        <a:pt x="4" y="0"/>
                        <a:pt x="0" y="5"/>
                        <a:pt x="0" y="11"/>
                      </a:cubicBezTo>
                      <a:close/>
                      <a:moveTo>
                        <a:pt x="4" y="11"/>
                      </a:moveTo>
                      <a:cubicBezTo>
                        <a:pt x="4" y="7"/>
                        <a:pt x="6" y="4"/>
                        <a:pt x="11" y="4"/>
                      </a:cubicBezTo>
                      <a:cubicBezTo>
                        <a:pt x="15" y="4"/>
                        <a:pt x="18" y="7"/>
                        <a:pt x="18" y="11"/>
                      </a:cubicBezTo>
                      <a:cubicBezTo>
                        <a:pt x="18" y="15"/>
                        <a:pt x="18" y="15"/>
                        <a:pt x="18" y="15"/>
                      </a:cubicBezTo>
                      <a:cubicBezTo>
                        <a:pt x="18" y="18"/>
                        <a:pt x="15" y="21"/>
                        <a:pt x="11" y="21"/>
                      </a:cubicBezTo>
                      <a:cubicBezTo>
                        <a:pt x="6" y="21"/>
                        <a:pt x="4" y="18"/>
                        <a:pt x="4" y="15"/>
                      </a:cubicBezTo>
                      <a:lnTo>
                        <a:pt x="4"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24181" tIns="12090" rIns="24181" bIns="12090" numCol="1" anchor="t" anchorCtr="0" compatLnSpc="1">
                  <a:prstTxWarp prst="textNoShape">
                    <a:avLst/>
                  </a:prstTxWarp>
                </a:bodyPr>
                <a:lstStyle/>
                <a:p>
                  <a:pPr defTabSz="241832" eaLnBrk="1" fontAlgn="auto" hangingPunct="1">
                    <a:spcBef>
                      <a:spcPts val="0"/>
                    </a:spcBef>
                    <a:spcAft>
                      <a:spcPts val="0"/>
                    </a:spcAft>
                    <a:defRPr/>
                  </a:pPr>
                  <a:endParaRPr lang="zh-CN" altLang="en-US" sz="1048"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sp>
        <p:nvSpPr>
          <p:cNvPr id="69" name="标题 2">
            <a:extLst>
              <a:ext uri="{FF2B5EF4-FFF2-40B4-BE49-F238E27FC236}">
                <a16:creationId xmlns:a16="http://schemas.microsoft.com/office/drawing/2014/main" id="{5409F11C-32EA-481A-AD21-17EF2EEAC62E}"/>
              </a:ext>
            </a:extLst>
          </p:cNvPr>
          <p:cNvSpPr txBox="1">
            <a:spLocks/>
          </p:cNvSpPr>
          <p:nvPr/>
        </p:nvSpPr>
        <p:spPr>
          <a:xfrm>
            <a:off x="1907250" y="679293"/>
            <a:ext cx="8626423" cy="493456"/>
          </a:xfrm>
          <a:prstGeom prst="rect">
            <a:avLst/>
          </a:prstGeom>
        </p:spPr>
        <p:txBody>
          <a:bodyPr vert="horz" lIns="32245" tIns="16123" rIns="32245" bIns="16123" rtlCol="0" anchor="ctr">
            <a:noAutofit/>
          </a:bodyPr>
          <a:lstStyle>
            <a:lvl1pPr algn="l" defTabSz="960240" rtl="0" eaLnBrk="1" latinLnBrk="0" hangingPunct="1">
              <a:lnSpc>
                <a:spcPct val="90000"/>
              </a:lnSpc>
              <a:spcBef>
                <a:spcPct val="0"/>
              </a:spcBef>
              <a:buNone/>
              <a:defRPr sz="4000" kern="1200">
                <a:solidFill>
                  <a:schemeClr val="tx1"/>
                </a:solidFill>
                <a:latin typeface="思源黑体 CN" panose="020B0600000000000000" charset="-122"/>
                <a:ea typeface="思源黑体 CN" panose="020B0600000000000000" charset="-122"/>
                <a:cs typeface="思源黑体 CN" panose="020B0600000000000000" charset="-122"/>
              </a:defRPr>
            </a:lvl1pPr>
          </a:lstStyle>
          <a:p>
            <a:pPr algn="ctr" defTabSz="959856" fontAlgn="auto">
              <a:lnSpc>
                <a:spcPct val="110000"/>
              </a:lnSpc>
              <a:spcAft>
                <a:spcPts val="0"/>
              </a:spcAft>
            </a:pPr>
            <a:r>
              <a:rPr kumimoji="1" lang="zh-CN" altLang="en-US" sz="3199" dirty="0">
                <a:solidFill>
                  <a:prstClr val="white"/>
                </a:solidFill>
                <a:latin typeface="方正兰亭黑简体" panose="02000000000000000000" pitchFamily="2" charset="-122"/>
                <a:ea typeface="方正兰亭黑简体" panose="02000000000000000000" pitchFamily="2" charset="-122"/>
                <a:cs typeface="Source Han Sans CN Medium" panose="020B0600000000000000" charset="-122"/>
                <a:sym typeface="方正兰亭黑简体" panose="02000000000000000000" pitchFamily="2" charset="-122"/>
              </a:rPr>
              <a:t>提升异构并行能力，成为提升终端性能的关键</a:t>
            </a:r>
          </a:p>
        </p:txBody>
      </p:sp>
      <p:sp>
        <p:nvSpPr>
          <p:cNvPr id="70" name="圆角矩形 62">
            <a:extLst>
              <a:ext uri="{FF2B5EF4-FFF2-40B4-BE49-F238E27FC236}">
                <a16:creationId xmlns:a16="http://schemas.microsoft.com/office/drawing/2014/main" id="{865C465E-2603-446C-93CF-FEB426C5E77C}"/>
              </a:ext>
            </a:extLst>
          </p:cNvPr>
          <p:cNvSpPr/>
          <p:nvPr/>
        </p:nvSpPr>
        <p:spPr>
          <a:xfrm>
            <a:off x="3388937" y="1658291"/>
            <a:ext cx="5606025" cy="307657"/>
          </a:xfrm>
          <a:prstGeom prst="rect">
            <a:avLst/>
          </a:prstGeom>
          <a:noFill/>
          <a:ln w="9525">
            <a:noFill/>
          </a:ln>
        </p:spPr>
        <p:txBody>
          <a:bodyPr vert="horz" wrap="square" lIns="0" tIns="0" rIns="0" bIns="0" numCol="1" anchor="ctr" anchorCtr="0" compatLnSpc="1">
            <a:prstTxWarp prst="textNoShape">
              <a:avLst/>
            </a:prstTxWarp>
            <a:spAutoFit/>
          </a:bodyPr>
          <a:lstStyle/>
          <a:p>
            <a:pPr algn="ctr" defTabSz="241832" eaLnBrk="1" fontAlgn="auto" hangingPunct="1">
              <a:spcBef>
                <a:spcPts val="0"/>
              </a:spcBef>
              <a:spcAft>
                <a:spcPts val="0"/>
              </a:spcAft>
            </a:pPr>
            <a:r>
              <a:rPr lang="zh-CN" altLang="en-US" sz="1999" kern="0" dirty="0">
                <a:solidFill>
                  <a:srgbClr val="CAA150"/>
                </a:solidFill>
                <a:latin typeface="方正兰亭黑简体" panose="02000000000000000000" pitchFamily="2" charset="-122"/>
                <a:ea typeface="方正兰亭黑简体" panose="02000000000000000000" pitchFamily="2" charset="-122"/>
                <a:sym typeface="方正兰亭黑简体" panose="02000000000000000000" pitchFamily="2" charset="-122"/>
              </a:rPr>
              <a:t>需攻克“一人干活、众人围观”的“假并发”顽疾</a:t>
            </a:r>
          </a:p>
        </p:txBody>
      </p:sp>
    </p:spTree>
    <p:extLst>
      <p:ext uri="{BB962C8B-B14F-4D97-AF65-F5344CB8AC3E}">
        <p14:creationId xmlns:p14="http://schemas.microsoft.com/office/powerpoint/2010/main" val="149005894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868341" y="1245632"/>
            <a:ext cx="3615095" cy="1300634"/>
            <a:chOff x="2159000" y="1429684"/>
            <a:chExt cx="7250763" cy="5052079"/>
          </a:xfrm>
        </p:grpSpPr>
        <p:sp>
          <p:nvSpPr>
            <p:cNvPr id="205" name="矩形 204"/>
            <p:cNvSpPr/>
            <p:nvPr/>
          </p:nvSpPr>
          <p:spPr>
            <a:xfrm>
              <a:off x="2159001" y="1429684"/>
              <a:ext cx="7250762" cy="5052078"/>
            </a:xfrm>
            <a:prstGeom prst="rect">
              <a:avLst/>
            </a:prstGeom>
            <a:gradFill>
              <a:gsLst>
                <a:gs pos="100000">
                  <a:sysClr val="window" lastClr="FFFFFF">
                    <a:alpha val="0"/>
                  </a:sysClr>
                </a:gs>
                <a:gs pos="0">
                  <a:sysClr val="window" lastClr="FFFFFF">
                    <a:alpha val="5000"/>
                  </a:sysClr>
                </a:gs>
              </a:gsLst>
              <a:lin ang="5400000" scaled="0"/>
            </a:gradFill>
            <a:ln w="9525">
              <a:solidFill>
                <a:sysClr val="window" lastClr="FFFFFF">
                  <a:alpha val="30000"/>
                </a:sysClr>
              </a:solidFill>
            </a:ln>
          </p:spPr>
          <p:txBody>
            <a:bodyPr vert="horz" lIns="57120" rIns="57120" rtlCol="0" anchor="ctr">
              <a:noAutofit/>
            </a:bodyPr>
            <a:lstStyle/>
            <a:p>
              <a:pPr algn="ctr" defTabSz="241832" eaLnBrk="1" fontAlgn="auto" hangingPunct="1">
                <a:lnSpc>
                  <a:spcPct val="130000"/>
                </a:lnSpc>
                <a:spcBef>
                  <a:spcPts val="0"/>
                </a:spcBef>
                <a:spcAft>
                  <a:spcPts val="0"/>
                </a:spcAft>
              </a:pPr>
              <a:endParaRPr lang="zh-CN" altLang="en-US" sz="635" kern="0"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06" name="半闭框 205"/>
            <p:cNvSpPr/>
            <p:nvPr/>
          </p:nvSpPr>
          <p:spPr>
            <a:xfrm>
              <a:off x="2159000" y="1429684"/>
              <a:ext cx="220984" cy="220984"/>
            </a:xfrm>
            <a:prstGeom prst="halfFrame">
              <a:avLst>
                <a:gd name="adj1" fmla="val 15332"/>
                <a:gd name="adj2" fmla="val 18049"/>
              </a:avLst>
            </a:prstGeom>
            <a:solidFill>
              <a:srgbClr val="CAA150"/>
            </a:soli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endParaRPr lang="zh-CN" altLang="en-US" sz="476"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07" name="半闭框 206"/>
            <p:cNvSpPr/>
            <p:nvPr/>
          </p:nvSpPr>
          <p:spPr>
            <a:xfrm rot="10800000">
              <a:off x="9188779" y="6260778"/>
              <a:ext cx="220984" cy="220984"/>
            </a:xfrm>
            <a:prstGeom prst="halfFrame">
              <a:avLst>
                <a:gd name="adj1" fmla="val 15332"/>
                <a:gd name="adj2" fmla="val 18049"/>
              </a:avLst>
            </a:prstGeom>
            <a:solidFill>
              <a:srgbClr val="CAA150"/>
            </a:soli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endParaRPr lang="zh-CN" altLang="en-US" sz="476"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08" name="半闭框 207"/>
            <p:cNvSpPr/>
            <p:nvPr/>
          </p:nvSpPr>
          <p:spPr>
            <a:xfrm flipV="1">
              <a:off x="2159000" y="6260779"/>
              <a:ext cx="220984" cy="220984"/>
            </a:xfrm>
            <a:prstGeom prst="halfFrame">
              <a:avLst>
                <a:gd name="adj1" fmla="val 15332"/>
                <a:gd name="adj2" fmla="val 18049"/>
              </a:avLst>
            </a:prstGeom>
            <a:solidFill>
              <a:srgbClr val="CAA150"/>
            </a:soli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r>
                <a:rPr lang="en-US" altLang="zh-CN" sz="476" kern="0" dirty="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rPr>
                <a:t> </a:t>
              </a:r>
              <a:endParaRPr lang="zh-CN" altLang="en-US" sz="476" kern="0" dirty="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09" name="半闭框 208"/>
            <p:cNvSpPr/>
            <p:nvPr/>
          </p:nvSpPr>
          <p:spPr>
            <a:xfrm rot="10800000" flipV="1">
              <a:off x="9188779" y="1429684"/>
              <a:ext cx="220984" cy="220984"/>
            </a:xfrm>
            <a:prstGeom prst="halfFrame">
              <a:avLst>
                <a:gd name="adj1" fmla="val 15332"/>
                <a:gd name="adj2" fmla="val 18049"/>
              </a:avLst>
            </a:prstGeom>
            <a:solidFill>
              <a:srgbClr val="CAA150"/>
            </a:solidFill>
            <a:ln w="12700" cap="flat" cmpd="sng" algn="ctr">
              <a:noFill/>
              <a:prstDash val="solid"/>
              <a:miter lim="800000"/>
            </a:ln>
            <a:effectLst/>
          </p:spPr>
          <p:txBody>
            <a:bodyPr rot="0" spcFirstLastPara="0" vertOverflow="overflow" horzOverflow="overflow" vert="horz" wrap="square" lIns="24181" tIns="12090" rIns="24181" bIns="12090" numCol="1" spcCol="0" rtlCol="0" fromWordArt="0" anchor="ctr" anchorCtr="0" forceAA="0" compatLnSpc="1">
              <a:prstTxWarp prst="textNoShape">
                <a:avLst/>
              </a:prstTxWarp>
              <a:noAutofit/>
            </a:bodyPr>
            <a:lstStyle/>
            <a:p>
              <a:pPr algn="ctr" defTabSz="241832" eaLnBrk="1" fontAlgn="auto" hangingPunct="1">
                <a:spcBef>
                  <a:spcPts val="0"/>
                </a:spcBef>
                <a:spcAft>
                  <a:spcPts val="0"/>
                </a:spcAft>
                <a:defRPr/>
              </a:pPr>
              <a:endParaRPr lang="zh-CN" altLang="en-US" sz="476" kern="0">
                <a:solidFill>
                  <a:srgbClr val="1D1D1A"/>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sp>
        <p:nvSpPr>
          <p:cNvPr id="189" name="文本框 66">
            <a:extLst>
              <a:ext uri="{FF2B5EF4-FFF2-40B4-BE49-F238E27FC236}">
                <a16:creationId xmlns:a16="http://schemas.microsoft.com/office/drawing/2014/main" id="{64208870-7505-99AC-9933-3AB060B432B8}"/>
              </a:ext>
            </a:extLst>
          </p:cNvPr>
          <p:cNvSpPr txBox="1"/>
          <p:nvPr/>
        </p:nvSpPr>
        <p:spPr>
          <a:xfrm>
            <a:off x="990894" y="1479100"/>
            <a:ext cx="3346424" cy="969502"/>
          </a:xfrm>
          <a:prstGeom prst="rect">
            <a:avLst/>
          </a:prstGeom>
          <a:noFill/>
        </p:spPr>
        <p:txBody>
          <a:bodyPr wrap="square" lIns="0" tIns="0" rIns="0" bIns="0">
            <a:spAutoFit/>
          </a:bodyPr>
          <a:lstStyle>
            <a:defPPr>
              <a:defRPr lang="en-US"/>
            </a:defPPr>
            <a:lvl1pPr marL="252000" indent="-252000" algn="just" hangingPunct="0">
              <a:lnSpc>
                <a:spcPct val="150000"/>
              </a:lnSpc>
              <a:buFont typeface="Arial" panose="020B0604020202020204" pitchFamily="34" charset="0"/>
              <a:buChar char="•"/>
              <a:defRPr>
                <a:solidFill>
                  <a:schemeClr val="bg1"/>
                </a:solidFill>
                <a:latin typeface="思源黑体 CN Medium" pitchFamily="34" charset="-122"/>
                <a:ea typeface="思源黑体 CN Medium" pitchFamily="34" charset="-122"/>
                <a:cs typeface="Arial" pitchFamily="34" charset="0"/>
              </a:defRPr>
            </a:lvl1pPr>
          </a:lstStyle>
          <a:p>
            <a:pPr marL="251899" indent="-251899" defTabSz="609432" eaLnBrk="1" fontAlgn="auto">
              <a:spcBef>
                <a:spcPts val="0"/>
              </a:spcBef>
              <a:spcAft>
                <a:spcPts val="317"/>
              </a:spcAft>
              <a:buFont typeface="Wingdings" panose="05000000000000000000" pitchFamily="2" charset="2"/>
              <a:buChar char="l"/>
            </a:pPr>
            <a:r>
              <a:rPr lang="zh-CN" altLang="en-US"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颠覆传统线程模型，比线程更轻、比协程更易管理，降低系统负载与调度开销</a:t>
            </a:r>
            <a:endParaRPr lang="en-US" altLang="zh-CN"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a:p>
            <a:pPr marL="251899" indent="-251899" defTabSz="609432" eaLnBrk="1" fontAlgn="auto">
              <a:spcBef>
                <a:spcPts val="0"/>
              </a:spcBef>
              <a:spcAft>
                <a:spcPts val="317"/>
              </a:spcAft>
              <a:buFont typeface="Wingdings" panose="05000000000000000000" pitchFamily="2" charset="2"/>
              <a:buChar char="l"/>
            </a:pPr>
            <a:r>
              <a:rPr lang="zh-CN" altLang="en-US"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形式化证明验证共享资源访问不越界</a:t>
            </a:r>
          </a:p>
        </p:txBody>
      </p:sp>
      <p:sp>
        <p:nvSpPr>
          <p:cNvPr id="115" name="右箭头 114"/>
          <p:cNvSpPr/>
          <p:nvPr/>
        </p:nvSpPr>
        <p:spPr>
          <a:xfrm>
            <a:off x="5733187" y="3601880"/>
            <a:ext cx="431982" cy="587270"/>
          </a:xfrm>
          <a:prstGeom prst="rightArrow">
            <a:avLst/>
          </a:prstGeom>
          <a:gradFill>
            <a:gsLst>
              <a:gs pos="0">
                <a:schemeClr val="accent1">
                  <a:tint val="66000"/>
                  <a:satMod val="160000"/>
                  <a:alpha val="0"/>
                </a:schemeClr>
              </a:gs>
              <a:gs pos="100000">
                <a:srgbClr val="CAA150">
                  <a:alpha val="65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399">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98" name="圆角矩形 297"/>
          <p:cNvSpPr/>
          <p:nvPr/>
        </p:nvSpPr>
        <p:spPr>
          <a:xfrm>
            <a:off x="6920459" y="4086053"/>
            <a:ext cx="2255793" cy="835479"/>
          </a:xfrm>
          <a:prstGeom prst="roundRect">
            <a:avLst>
              <a:gd name="adj" fmla="val 0"/>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28560" rtlCol="0" anchor="b" anchorCtr="1"/>
          <a:lstStyle/>
          <a:p>
            <a:pPr algn="ctr" defTabSz="609432" eaLnBrk="1" fontAlgn="auto" hangingPunct="1">
              <a:spcBef>
                <a:spcPts val="0"/>
              </a:spcBef>
              <a:spcAft>
                <a:spcPts val="0"/>
              </a:spcAft>
            </a:pPr>
            <a:r>
              <a:rPr lang="zh-CN" altLang="en-US"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异构资源</a:t>
            </a:r>
            <a:endParaRPr lang="en-US" altLang="zh-CN"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nvGrpSpPr>
          <p:cNvPr id="10" name="组合 9"/>
          <p:cNvGrpSpPr/>
          <p:nvPr/>
        </p:nvGrpSpPr>
        <p:grpSpPr>
          <a:xfrm>
            <a:off x="7234649" y="4275710"/>
            <a:ext cx="1627412" cy="189703"/>
            <a:chOff x="25084072" y="93233"/>
            <a:chExt cx="6154077" cy="717364"/>
          </a:xfrm>
        </p:grpSpPr>
        <p:sp>
          <p:nvSpPr>
            <p:cNvPr id="300" name="椭圆 299"/>
            <p:cNvSpPr/>
            <p:nvPr/>
          </p:nvSpPr>
          <p:spPr>
            <a:xfrm>
              <a:off x="25084072" y="201099"/>
              <a:ext cx="292243" cy="291600"/>
            </a:xfrm>
            <a:prstGeom prst="ellipse">
              <a:avLst/>
            </a:prstGeom>
            <a:solidFill>
              <a:srgbClr val="CAA150">
                <a:alpha val="2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01" name="椭圆 300"/>
            <p:cNvSpPr/>
            <p:nvPr/>
          </p:nvSpPr>
          <p:spPr>
            <a:xfrm>
              <a:off x="25830188" y="93233"/>
              <a:ext cx="292243" cy="291600"/>
            </a:xfrm>
            <a:prstGeom prst="ellipse">
              <a:avLst/>
            </a:prstGeom>
            <a:solidFill>
              <a:schemeClr val="bg1">
                <a:alpha val="5000"/>
              </a:scheme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02" name="椭圆 301"/>
            <p:cNvSpPr/>
            <p:nvPr/>
          </p:nvSpPr>
          <p:spPr>
            <a:xfrm>
              <a:off x="26576310" y="201099"/>
              <a:ext cx="292243" cy="291600"/>
            </a:xfrm>
            <a:prstGeom prst="ellipse">
              <a:avLst/>
            </a:prstGeom>
            <a:solidFill>
              <a:sysClr val="window" lastClr="FFFFFF">
                <a:alpha val="10000"/>
              </a:sys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03" name="椭圆 302"/>
            <p:cNvSpPr/>
            <p:nvPr/>
          </p:nvSpPr>
          <p:spPr>
            <a:xfrm>
              <a:off x="27322428" y="201099"/>
              <a:ext cx="292243" cy="291600"/>
            </a:xfrm>
            <a:prstGeom prst="ellipse">
              <a:avLst/>
            </a:prstGeom>
            <a:solidFill>
              <a:srgbClr val="CAA150">
                <a:alpha val="1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04" name="椭圆 303"/>
            <p:cNvSpPr/>
            <p:nvPr/>
          </p:nvSpPr>
          <p:spPr>
            <a:xfrm>
              <a:off x="28707555" y="201099"/>
              <a:ext cx="292243" cy="291600"/>
            </a:xfrm>
            <a:prstGeom prst="ellipse">
              <a:avLst/>
            </a:prstGeom>
            <a:solidFill>
              <a:srgbClr val="CAA150">
                <a:alpha val="2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05" name="椭圆 304"/>
            <p:cNvSpPr/>
            <p:nvPr/>
          </p:nvSpPr>
          <p:spPr>
            <a:xfrm>
              <a:off x="29453672" y="201099"/>
              <a:ext cx="292243" cy="291600"/>
            </a:xfrm>
            <a:prstGeom prst="ellipse">
              <a:avLst/>
            </a:prstGeom>
            <a:solidFill>
              <a:schemeClr val="bg1">
                <a:alpha val="5000"/>
              </a:scheme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06" name="椭圆 305"/>
            <p:cNvSpPr/>
            <p:nvPr/>
          </p:nvSpPr>
          <p:spPr>
            <a:xfrm>
              <a:off x="30199793" y="201099"/>
              <a:ext cx="292243" cy="291600"/>
            </a:xfrm>
            <a:prstGeom prst="ellipse">
              <a:avLst/>
            </a:prstGeom>
            <a:solidFill>
              <a:sysClr val="window" lastClr="FFFFFF">
                <a:alpha val="10000"/>
              </a:sys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07" name="椭圆 306"/>
            <p:cNvSpPr/>
            <p:nvPr/>
          </p:nvSpPr>
          <p:spPr>
            <a:xfrm>
              <a:off x="30945906" y="201099"/>
              <a:ext cx="292243" cy="291600"/>
            </a:xfrm>
            <a:prstGeom prst="ellipse">
              <a:avLst/>
            </a:prstGeom>
            <a:solidFill>
              <a:srgbClr val="CAA150">
                <a:alpha val="1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08" name="椭圆 307"/>
            <p:cNvSpPr/>
            <p:nvPr/>
          </p:nvSpPr>
          <p:spPr>
            <a:xfrm>
              <a:off x="26238505" y="403289"/>
              <a:ext cx="292243" cy="291600"/>
            </a:xfrm>
            <a:prstGeom prst="ellipse">
              <a:avLst/>
            </a:prstGeom>
            <a:solidFill>
              <a:srgbClr val="CAA150">
                <a:alpha val="2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09" name="椭圆 308"/>
            <p:cNvSpPr/>
            <p:nvPr/>
          </p:nvSpPr>
          <p:spPr>
            <a:xfrm>
              <a:off x="27178719" y="476711"/>
              <a:ext cx="292243" cy="291600"/>
            </a:xfrm>
            <a:prstGeom prst="ellipse">
              <a:avLst/>
            </a:prstGeom>
            <a:solidFill>
              <a:schemeClr val="bg1">
                <a:alpha val="5000"/>
              </a:scheme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10" name="椭圆 309"/>
            <p:cNvSpPr/>
            <p:nvPr/>
          </p:nvSpPr>
          <p:spPr>
            <a:xfrm>
              <a:off x="25274298" y="476711"/>
              <a:ext cx="292243" cy="291600"/>
            </a:xfrm>
            <a:prstGeom prst="ellipse">
              <a:avLst/>
            </a:prstGeom>
            <a:solidFill>
              <a:srgbClr val="CAA150">
                <a:alpha val="1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11" name="椭圆 310"/>
            <p:cNvSpPr/>
            <p:nvPr/>
          </p:nvSpPr>
          <p:spPr>
            <a:xfrm>
              <a:off x="28014988" y="403289"/>
              <a:ext cx="292243" cy="291600"/>
            </a:xfrm>
            <a:prstGeom prst="ellipse">
              <a:avLst/>
            </a:prstGeom>
            <a:solidFill>
              <a:srgbClr val="CAA150">
                <a:alpha val="2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12" name="椭圆 311"/>
            <p:cNvSpPr/>
            <p:nvPr/>
          </p:nvSpPr>
          <p:spPr>
            <a:xfrm>
              <a:off x="29152467" y="457220"/>
              <a:ext cx="292243" cy="291600"/>
            </a:xfrm>
            <a:prstGeom prst="ellipse">
              <a:avLst/>
            </a:prstGeom>
            <a:solidFill>
              <a:schemeClr val="bg1">
                <a:alpha val="5000"/>
              </a:scheme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13" name="椭圆 312"/>
            <p:cNvSpPr/>
            <p:nvPr/>
          </p:nvSpPr>
          <p:spPr>
            <a:xfrm>
              <a:off x="30500999" y="518997"/>
              <a:ext cx="292243" cy="291600"/>
            </a:xfrm>
            <a:prstGeom prst="ellipse">
              <a:avLst/>
            </a:prstGeom>
            <a:solidFill>
              <a:srgbClr val="CAA150">
                <a:alpha val="1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sp>
        <p:nvSpPr>
          <p:cNvPr id="266" name="圆角矩形 265"/>
          <p:cNvSpPr/>
          <p:nvPr/>
        </p:nvSpPr>
        <p:spPr>
          <a:xfrm>
            <a:off x="6921776" y="3450891"/>
            <a:ext cx="2254476" cy="491365"/>
          </a:xfrm>
          <a:prstGeom prst="roundRect">
            <a:avLst>
              <a:gd name="adj" fmla="val 0"/>
            </a:avLst>
          </a:prstGeom>
          <a:solidFill>
            <a:schemeClr val="bg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399" b="1">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cxnSp>
        <p:nvCxnSpPr>
          <p:cNvPr id="103" name="直接连接符 102"/>
          <p:cNvCxnSpPr>
            <a:cxnSpLocks/>
          </p:cNvCxnSpPr>
          <p:nvPr/>
        </p:nvCxnSpPr>
        <p:spPr>
          <a:xfrm>
            <a:off x="7011221" y="3694363"/>
            <a:ext cx="2039557" cy="0"/>
          </a:xfrm>
          <a:prstGeom prst="line">
            <a:avLst/>
          </a:prstGeom>
          <a:ln w="19050">
            <a:solidFill>
              <a:sysClr val="window" lastClr="FFFFFF">
                <a:alpha val="15000"/>
              </a:sysClr>
            </a:solidFill>
          </a:ln>
        </p:spPr>
      </p:cxnSp>
      <p:sp>
        <p:nvSpPr>
          <p:cNvPr id="106" name="矩形 105"/>
          <p:cNvSpPr/>
          <p:nvPr/>
        </p:nvSpPr>
        <p:spPr>
          <a:xfrm>
            <a:off x="8479226" y="3386766"/>
            <a:ext cx="1059593" cy="215360"/>
          </a:xfrm>
          <a:prstGeom prst="rect">
            <a:avLst/>
          </a:prstGeom>
        </p:spPr>
        <p:txBody>
          <a:bodyPr wrap="square" lIns="0" tIns="0" rIns="0" bIns="0" anchor="ctr" anchorCtr="0">
            <a:spAutoFit/>
          </a:bodyPr>
          <a:lstStyle/>
          <a:p>
            <a:pPr algn="ctr" defTabSz="609432" eaLnBrk="1" fontAlgn="auto" hangingPunct="1">
              <a:spcBef>
                <a:spcPts val="0"/>
              </a:spcBef>
              <a:spcAft>
                <a:spcPts val="0"/>
              </a:spcAft>
            </a:pPr>
            <a:r>
              <a:rPr lang="zh-CN" altLang="en-US" sz="1399" dirty="0">
                <a:solidFill>
                  <a:prstClr val="white"/>
                </a:solidFill>
                <a:latin typeface="方正兰亭黑简体" panose="02000000000000000000" pitchFamily="2" charset="-122"/>
                <a:ea typeface="方正兰亭黑简体" panose="02000000000000000000" pitchFamily="2" charset="-122"/>
                <a:cs typeface="Times New Roman" panose="02020603050405020304" pitchFamily="18" charset="0"/>
                <a:sym typeface="方正兰亭黑简体" panose="02000000000000000000" pitchFamily="2" charset="-122"/>
              </a:rPr>
              <a:t>并发任务</a:t>
            </a:r>
            <a:endParaRPr lang="zh-CN" altLang="en-US"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14" name="矩形 113"/>
          <p:cNvSpPr/>
          <p:nvPr/>
        </p:nvSpPr>
        <p:spPr>
          <a:xfrm>
            <a:off x="7285146" y="2853560"/>
            <a:ext cx="1247662" cy="372393"/>
          </a:xfrm>
          <a:prstGeom prst="rect">
            <a:avLst/>
          </a:prstGeom>
          <a:noFill/>
        </p:spPr>
        <p:txBody>
          <a:bodyPr wrap="square" lIns="0" tIns="0" rIns="0" bIns="0" rtlCol="0" anchor="ctr" anchorCtr="0">
            <a:spAutoFit/>
          </a:bodyPr>
          <a:lstStyle/>
          <a:p>
            <a:pPr algn="ctr" defTabSz="322241" eaLnBrk="1" fontAlgn="auto" hangingPunct="1">
              <a:lnSpc>
                <a:spcPct val="150000"/>
              </a:lnSpc>
              <a:spcBef>
                <a:spcPts val="0"/>
              </a:spcBef>
              <a:spcAft>
                <a:spcPts val="0"/>
              </a:spcAft>
            </a:pPr>
            <a:r>
              <a:rPr kumimoji="1" lang="en-US" altLang="zh-CN" sz="1799" kern="3000" dirty="0">
                <a:solidFill>
                  <a:srgbClr val="CAA150"/>
                </a:solidFill>
                <a:latin typeface="方正兰亭黑简体" panose="02000000000000000000" pitchFamily="2" charset="-122"/>
                <a:ea typeface="方正兰亭黑简体" panose="02000000000000000000" pitchFamily="2" charset="-122"/>
                <a:cs typeface="+mn-ea"/>
                <a:sym typeface="方正兰亭黑简体" panose="02000000000000000000" pitchFamily="2" charset="-122"/>
              </a:rPr>
              <a:t>TO-BE</a:t>
            </a:r>
            <a:endParaRPr kumimoji="1" lang="zh-CN" altLang="en-US" sz="1799" kern="3000" dirty="0">
              <a:solidFill>
                <a:srgbClr val="CAA150"/>
              </a:solidFill>
              <a:latin typeface="方正兰亭黑简体" panose="02000000000000000000" pitchFamily="2" charset="-122"/>
              <a:ea typeface="方正兰亭黑简体" panose="02000000000000000000" pitchFamily="2" charset="-122"/>
              <a:cs typeface="+mn-ea"/>
              <a:sym typeface="方正兰亭黑简体" panose="02000000000000000000" pitchFamily="2" charset="-122"/>
            </a:endParaRPr>
          </a:p>
        </p:txBody>
      </p:sp>
      <p:sp>
        <p:nvSpPr>
          <p:cNvPr id="162" name="椭圆 161"/>
          <p:cNvSpPr/>
          <p:nvPr/>
        </p:nvSpPr>
        <p:spPr>
          <a:xfrm>
            <a:off x="6654156" y="3575194"/>
            <a:ext cx="218960" cy="218959"/>
          </a:xfrm>
          <a:prstGeom prst="ellipse">
            <a:avLst/>
          </a:prstGeom>
          <a:gradFill>
            <a:gsLst>
              <a:gs pos="100000">
                <a:sysClr val="window" lastClr="FFFFFF">
                  <a:alpha val="0"/>
                </a:sysClr>
              </a:gs>
              <a:gs pos="0">
                <a:sysClr val="window" lastClr="FFFFFF">
                  <a:alpha val="5000"/>
                </a:sysClr>
              </a:gs>
            </a:gsLst>
            <a:lin ang="5400000" scaled="0"/>
          </a:gradFill>
          <a:ln w="12700">
            <a:solidFill>
              <a:sysClr val="window" lastClr="FFFFFF">
                <a:alpha val="30000"/>
              </a:sysClr>
            </a:solidFill>
          </a:ln>
        </p:spPr>
        <p:txBody>
          <a:bodyPr vert="horz" lIns="0" tIns="0" rIns="0" bIns="0" rtlCol="0" anchor="ctr">
            <a:noAutofit/>
          </a:bodyPr>
          <a:lstStyle/>
          <a:p>
            <a:pPr algn="ctr" defTabSz="241832" eaLnBrk="1" fontAlgn="auto" hangingPunct="1">
              <a:lnSpc>
                <a:spcPct val="130000"/>
              </a:lnSpc>
              <a:spcBef>
                <a:spcPts val="0"/>
              </a:spcBef>
              <a:spcAft>
                <a:spcPts val="0"/>
              </a:spcAft>
            </a:pPr>
            <a:r>
              <a:rPr lang="en-US" altLang="zh-CN" sz="1399" kern="0"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1</a:t>
            </a:r>
            <a:endParaRPr lang="zh-CN" altLang="en-US" sz="1399" kern="0"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63" name="椭圆 162"/>
          <p:cNvSpPr/>
          <p:nvPr/>
        </p:nvSpPr>
        <p:spPr>
          <a:xfrm>
            <a:off x="6654156" y="4272212"/>
            <a:ext cx="218960" cy="218959"/>
          </a:xfrm>
          <a:prstGeom prst="ellipse">
            <a:avLst/>
          </a:prstGeom>
          <a:gradFill>
            <a:gsLst>
              <a:gs pos="100000">
                <a:sysClr val="window" lastClr="FFFFFF">
                  <a:alpha val="0"/>
                </a:sysClr>
              </a:gs>
              <a:gs pos="0">
                <a:sysClr val="window" lastClr="FFFFFF">
                  <a:alpha val="5000"/>
                </a:sysClr>
              </a:gs>
            </a:gsLst>
            <a:lin ang="5400000" scaled="0"/>
          </a:gradFill>
          <a:ln w="12700">
            <a:solidFill>
              <a:sysClr val="window" lastClr="FFFFFF">
                <a:alpha val="30000"/>
              </a:sysClr>
            </a:solidFill>
          </a:ln>
        </p:spPr>
        <p:txBody>
          <a:bodyPr vert="horz" lIns="0" tIns="0" rIns="0" bIns="0" rtlCol="0" anchor="ctr">
            <a:noAutofit/>
          </a:bodyPr>
          <a:lstStyle/>
          <a:p>
            <a:pPr algn="ctr" defTabSz="241832" eaLnBrk="1" fontAlgn="auto" hangingPunct="1">
              <a:lnSpc>
                <a:spcPct val="130000"/>
              </a:lnSpc>
              <a:spcBef>
                <a:spcPts val="0"/>
              </a:spcBef>
              <a:spcAft>
                <a:spcPts val="0"/>
              </a:spcAft>
            </a:pPr>
            <a:r>
              <a:rPr lang="en-US" altLang="zh-CN" sz="1399" kern="0"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2</a:t>
            </a:r>
            <a:endParaRPr lang="zh-CN" altLang="en-US" sz="1399" kern="0"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65" name="矩形 164"/>
          <p:cNvSpPr/>
          <p:nvPr/>
        </p:nvSpPr>
        <p:spPr>
          <a:xfrm>
            <a:off x="6970491" y="3632649"/>
            <a:ext cx="842404" cy="430719"/>
          </a:xfrm>
          <a:prstGeom prst="rect">
            <a:avLst/>
          </a:prstGeom>
        </p:spPr>
        <p:txBody>
          <a:bodyPr wrap="square" lIns="0" tIns="0" rIns="0" bIns="0" anchor="ctr" anchorCtr="0">
            <a:spAutoFit/>
          </a:bodyPr>
          <a:lstStyle/>
          <a:p>
            <a:pPr algn="ctr" defTabSz="609432" eaLnBrk="1" fontAlgn="auto" hangingPunct="1">
              <a:spcBef>
                <a:spcPts val="0"/>
              </a:spcBef>
              <a:spcAft>
                <a:spcPts val="0"/>
              </a:spcAft>
            </a:pPr>
            <a:r>
              <a:rPr lang="zh-CN" altLang="en-US"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M:N</a:t>
            </a:r>
            <a:endParaRPr lang="en-US" altLang="zh-CN"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a:p>
            <a:pPr algn="ctr" defTabSz="609432" eaLnBrk="1" fontAlgn="auto" hangingPunct="1">
              <a:spcBef>
                <a:spcPts val="0"/>
              </a:spcBef>
              <a:spcAft>
                <a:spcPts val="0"/>
              </a:spcAft>
            </a:pPr>
            <a:r>
              <a:rPr lang="zh-CN" altLang="en-US"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（M&gt;&gt;N）</a:t>
            </a:r>
          </a:p>
        </p:txBody>
      </p:sp>
      <p:sp>
        <p:nvSpPr>
          <p:cNvPr id="166" name="矩形 165"/>
          <p:cNvSpPr/>
          <p:nvPr/>
        </p:nvSpPr>
        <p:spPr>
          <a:xfrm>
            <a:off x="8702732" y="3517028"/>
            <a:ext cx="666285" cy="215360"/>
          </a:xfrm>
          <a:prstGeom prst="rect">
            <a:avLst/>
          </a:prstGeom>
        </p:spPr>
        <p:txBody>
          <a:bodyPr wrap="square" lIns="0" tIns="0" rIns="0" bIns="0" anchor="ctr" anchorCtr="0">
            <a:spAutoFit/>
          </a:bodyPr>
          <a:lstStyle/>
          <a:p>
            <a:pPr algn="ctr" defTabSz="609432" eaLnBrk="1" fontAlgn="auto" hangingPunct="1">
              <a:spcBef>
                <a:spcPts val="0"/>
              </a:spcBef>
              <a:spcAft>
                <a:spcPts val="0"/>
              </a:spcAft>
            </a:pPr>
            <a:r>
              <a:rPr lang="zh-CN" altLang="en-US"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（M）</a:t>
            </a:r>
          </a:p>
        </p:txBody>
      </p:sp>
      <p:grpSp>
        <p:nvGrpSpPr>
          <p:cNvPr id="262" name="组合 261"/>
          <p:cNvGrpSpPr/>
          <p:nvPr/>
        </p:nvGrpSpPr>
        <p:grpSpPr>
          <a:xfrm>
            <a:off x="6642805" y="3206434"/>
            <a:ext cx="2522096" cy="133367"/>
            <a:chOff x="698381" y="5684970"/>
            <a:chExt cx="5040000" cy="361283"/>
          </a:xfrm>
        </p:grpSpPr>
        <p:sp>
          <p:nvSpPr>
            <p:cNvPr id="263" name="梯形 262"/>
            <p:cNvSpPr/>
            <p:nvPr/>
          </p:nvSpPr>
          <p:spPr>
            <a:xfrm>
              <a:off x="734381" y="5684970"/>
              <a:ext cx="4968000" cy="252001"/>
            </a:xfrm>
            <a:prstGeom prst="trapezoid">
              <a:avLst>
                <a:gd name="adj" fmla="val 234568"/>
              </a:avLst>
            </a:prstGeom>
            <a:gradFill>
              <a:gsLst>
                <a:gs pos="100000">
                  <a:srgbClr val="666666">
                    <a:lumMod val="60000"/>
                    <a:lumOff val="40000"/>
                    <a:alpha val="10000"/>
                  </a:srgbClr>
                </a:gs>
                <a:gs pos="0">
                  <a:srgbClr val="666666">
                    <a:lumMod val="60000"/>
                    <a:lumOff val="40000"/>
                    <a:alpha val="0"/>
                  </a:srgbClr>
                </a:gs>
              </a:gsLst>
              <a:lin ang="5400000" scaled="0"/>
            </a:gradFill>
            <a:ln w="12700">
              <a:gradFill>
                <a:gsLst>
                  <a:gs pos="100000">
                    <a:srgbClr val="666666">
                      <a:lumMod val="60000"/>
                      <a:lumOff val="40000"/>
                      <a:alpha val="15000"/>
                    </a:srgbClr>
                  </a:gs>
                  <a:gs pos="0">
                    <a:srgbClr val="666666">
                      <a:lumMod val="60000"/>
                      <a:lumOff val="40000"/>
                      <a:alpha val="0"/>
                    </a:srgbClr>
                  </a:gs>
                </a:gsLst>
                <a:lin ang="5400000" scaled="0"/>
              </a:gradFill>
            </a:ln>
          </p:spPr>
          <p:txBody>
            <a:bodyPr vert="horz" wrap="square" lIns="24181" tIns="12090" rIns="24181" bIns="12090" numCol="1" anchor="t" anchorCtr="0" compatLnSpc="1"/>
            <a:lstStyle/>
            <a:p>
              <a:pPr defTabSz="241832" eaLnBrk="1" fontAlgn="auto" hangingPunct="1">
                <a:spcBef>
                  <a:spcPts val="0"/>
                </a:spcBef>
                <a:spcAft>
                  <a:spcPts val="0"/>
                </a:spcAft>
                <a:defRPr/>
              </a:pPr>
              <a:endParaRPr lang="zh-CN" altLang="en-US" sz="1399" kern="0" dirty="0">
                <a:solidFill>
                  <a:srgbClr val="C7000B"/>
                </a:solidFill>
                <a:latin typeface="方正兰亭黑简体" panose="02000000000000000000" pitchFamily="2" charset="-122"/>
                <a:ea typeface="方正兰亭黑简体" panose="02000000000000000000" pitchFamily="2" charset="-122"/>
                <a:cs typeface="Arial" panose="020B0604020202020204" pitchFamily="34" charset="0"/>
                <a:sym typeface="方正兰亭黑简体" panose="02000000000000000000" pitchFamily="2" charset="-122"/>
              </a:endParaRPr>
            </a:p>
          </p:txBody>
        </p:sp>
        <p:sp>
          <p:nvSpPr>
            <p:cNvPr id="264" name="梯形 263"/>
            <p:cNvSpPr/>
            <p:nvPr/>
          </p:nvSpPr>
          <p:spPr>
            <a:xfrm>
              <a:off x="698381" y="5830253"/>
              <a:ext cx="5040000" cy="216000"/>
            </a:xfrm>
            <a:prstGeom prst="trapezoid">
              <a:avLst>
                <a:gd name="adj" fmla="val 233391"/>
              </a:avLst>
            </a:prstGeom>
            <a:gradFill>
              <a:gsLst>
                <a:gs pos="100000">
                  <a:srgbClr val="666666">
                    <a:lumMod val="60000"/>
                    <a:lumOff val="40000"/>
                    <a:alpha val="20000"/>
                  </a:srgbClr>
                </a:gs>
                <a:gs pos="0">
                  <a:srgbClr val="666666">
                    <a:lumMod val="60000"/>
                    <a:lumOff val="40000"/>
                    <a:alpha val="0"/>
                  </a:srgbClr>
                </a:gs>
              </a:gsLst>
              <a:lin ang="5400000" scaled="0"/>
            </a:gradFill>
            <a:ln w="12700">
              <a:gradFill>
                <a:gsLst>
                  <a:gs pos="100000">
                    <a:srgbClr val="666666">
                      <a:lumMod val="60000"/>
                      <a:lumOff val="40000"/>
                      <a:alpha val="30000"/>
                    </a:srgbClr>
                  </a:gs>
                  <a:gs pos="0">
                    <a:srgbClr val="666666">
                      <a:lumMod val="60000"/>
                      <a:lumOff val="40000"/>
                      <a:alpha val="0"/>
                    </a:srgbClr>
                  </a:gs>
                </a:gsLst>
                <a:lin ang="5400000" scaled="0"/>
              </a:gradFill>
            </a:ln>
          </p:spPr>
          <p:txBody>
            <a:bodyPr vert="horz" wrap="square" lIns="24181" tIns="12090" rIns="24181" bIns="12090" numCol="1" anchor="t" anchorCtr="0" compatLnSpc="1"/>
            <a:lstStyle/>
            <a:p>
              <a:pPr defTabSz="241832" eaLnBrk="1" fontAlgn="auto" hangingPunct="1">
                <a:spcBef>
                  <a:spcPts val="0"/>
                </a:spcBef>
                <a:spcAft>
                  <a:spcPts val="0"/>
                </a:spcAft>
                <a:defRPr/>
              </a:pPr>
              <a:endParaRPr lang="zh-CN" altLang="en-US" sz="1399" kern="0" dirty="0">
                <a:solidFill>
                  <a:srgbClr val="C7000B"/>
                </a:solidFill>
                <a:latin typeface="方正兰亭黑简体" panose="02000000000000000000" pitchFamily="2" charset="-122"/>
                <a:ea typeface="方正兰亭黑简体" panose="02000000000000000000" pitchFamily="2" charset="-122"/>
                <a:cs typeface="Arial" panose="020B0604020202020204" pitchFamily="34" charset="0"/>
                <a:sym typeface="方正兰亭黑简体" panose="02000000000000000000" pitchFamily="2" charset="-122"/>
              </a:endParaRPr>
            </a:p>
          </p:txBody>
        </p:sp>
      </p:grpSp>
      <p:sp>
        <p:nvSpPr>
          <p:cNvPr id="273" name="矩形 272"/>
          <p:cNvSpPr/>
          <p:nvPr/>
        </p:nvSpPr>
        <p:spPr>
          <a:xfrm>
            <a:off x="7942025" y="3498575"/>
            <a:ext cx="218960" cy="183387"/>
          </a:xfrm>
          <a:prstGeom prst="rect">
            <a:avLst/>
          </a:prstGeom>
          <a:solidFill>
            <a:schemeClr val="bg1">
              <a:alpha val="10000"/>
            </a:schemeClr>
          </a:solidFill>
          <a:ln w="12700">
            <a:noFill/>
          </a:ln>
        </p:spPr>
        <p:txBody>
          <a:bodyPr vert="horz" lIns="57120" rIns="57120" rtlCol="0" anchor="ctr">
            <a:noAutofit/>
          </a:bodyPr>
          <a:lstStyle/>
          <a:p>
            <a:pPr algn="just" defTabSz="241832" eaLnBrk="1" fontAlgn="auto" hangingPunct="1">
              <a:lnSpc>
                <a:spcPct val="130000"/>
              </a:lnSpc>
              <a:spcBef>
                <a:spcPts val="0"/>
              </a:spcBef>
              <a:spcAft>
                <a:spcPts val="0"/>
              </a:spcAft>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74" name="矩形 273"/>
          <p:cNvSpPr/>
          <p:nvPr/>
        </p:nvSpPr>
        <p:spPr>
          <a:xfrm>
            <a:off x="7136004" y="3498575"/>
            <a:ext cx="218960" cy="183387"/>
          </a:xfrm>
          <a:prstGeom prst="rect">
            <a:avLst/>
          </a:prstGeom>
          <a:solidFill>
            <a:schemeClr val="bg1">
              <a:alpha val="10000"/>
            </a:schemeClr>
          </a:solidFill>
          <a:ln w="12700">
            <a:noFill/>
          </a:ln>
        </p:spPr>
        <p:txBody>
          <a:bodyPr vert="horz" lIns="57120" rIns="57120" rtlCol="0" anchor="ctr">
            <a:noAutofit/>
          </a:bodyPr>
          <a:lstStyle/>
          <a:p>
            <a:pPr algn="just" defTabSz="241832" eaLnBrk="1" fontAlgn="auto" hangingPunct="1">
              <a:lnSpc>
                <a:spcPct val="130000"/>
              </a:lnSpc>
              <a:spcBef>
                <a:spcPts val="0"/>
              </a:spcBef>
              <a:spcAft>
                <a:spcPts val="0"/>
              </a:spcAft>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75" name="矩形 274"/>
          <p:cNvSpPr/>
          <p:nvPr/>
        </p:nvSpPr>
        <p:spPr>
          <a:xfrm>
            <a:off x="7426325" y="3498575"/>
            <a:ext cx="218960" cy="183387"/>
          </a:xfrm>
          <a:prstGeom prst="rect">
            <a:avLst/>
          </a:prstGeom>
          <a:solidFill>
            <a:schemeClr val="bg1">
              <a:alpha val="10000"/>
            </a:schemeClr>
          </a:solidFill>
          <a:ln w="12700">
            <a:noFill/>
          </a:ln>
        </p:spPr>
        <p:txBody>
          <a:bodyPr vert="horz" lIns="57120" rIns="57120" rtlCol="0" anchor="ctr">
            <a:noAutofit/>
          </a:bodyPr>
          <a:lstStyle/>
          <a:p>
            <a:pPr algn="just" defTabSz="241832" eaLnBrk="1" fontAlgn="auto" hangingPunct="1">
              <a:lnSpc>
                <a:spcPct val="130000"/>
              </a:lnSpc>
              <a:spcBef>
                <a:spcPts val="0"/>
              </a:spcBef>
              <a:spcAft>
                <a:spcPts val="0"/>
              </a:spcAft>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76" name="矩形 275"/>
          <p:cNvSpPr/>
          <p:nvPr/>
        </p:nvSpPr>
        <p:spPr>
          <a:xfrm>
            <a:off x="8232345" y="3498575"/>
            <a:ext cx="218960" cy="183387"/>
          </a:xfrm>
          <a:prstGeom prst="rect">
            <a:avLst/>
          </a:prstGeom>
          <a:solidFill>
            <a:schemeClr val="bg1">
              <a:alpha val="10000"/>
            </a:schemeClr>
          </a:solidFill>
          <a:ln w="12700">
            <a:noFill/>
          </a:ln>
        </p:spPr>
        <p:txBody>
          <a:bodyPr vert="horz" lIns="57120" rIns="57120" rtlCol="0" anchor="ctr">
            <a:noAutofit/>
          </a:bodyPr>
          <a:lstStyle/>
          <a:p>
            <a:pPr algn="just" defTabSz="241832" eaLnBrk="1" fontAlgn="auto" hangingPunct="1">
              <a:lnSpc>
                <a:spcPct val="130000"/>
              </a:lnSpc>
              <a:spcBef>
                <a:spcPts val="0"/>
              </a:spcBef>
              <a:spcAft>
                <a:spcPts val="0"/>
              </a:spcAft>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77" name="任意多边形 85"/>
          <p:cNvSpPr/>
          <p:nvPr/>
        </p:nvSpPr>
        <p:spPr>
          <a:xfrm>
            <a:off x="7218107" y="3519170"/>
            <a:ext cx="54756" cy="142196"/>
          </a:xfrm>
          <a:custGeom>
            <a:avLst/>
            <a:gdLst/>
            <a:ahLst/>
            <a:cxnLst>
              <a:cxn ang="0">
                <a:pos x="wd2" y="hd2"/>
              </a:cxn>
              <a:cxn ang="5400000">
                <a:pos x="wd2" y="hd2"/>
              </a:cxn>
              <a:cxn ang="10800000">
                <a:pos x="wd2" y="hd2"/>
              </a:cxn>
              <a:cxn ang="16200000">
                <a:pos x="wd2" y="hd2"/>
              </a:cxn>
            </a:cxnLst>
            <a:rect l="0" t="0" r="r" b="b"/>
            <a:pathLst>
              <a:path w="21190" h="21600" extrusionOk="0">
                <a:moveTo>
                  <a:pt x="7637" y="0"/>
                </a:moveTo>
                <a:cubicBezTo>
                  <a:pt x="12084" y="1978"/>
                  <a:pt x="16531" y="3956"/>
                  <a:pt x="15261" y="5697"/>
                </a:cubicBezTo>
                <a:cubicBezTo>
                  <a:pt x="13990" y="7437"/>
                  <a:pt x="437" y="8229"/>
                  <a:pt x="14" y="10444"/>
                </a:cubicBezTo>
                <a:cubicBezTo>
                  <a:pt x="-410" y="12659"/>
                  <a:pt x="9190" y="17130"/>
                  <a:pt x="12719" y="18989"/>
                </a:cubicBezTo>
                <a:cubicBezTo>
                  <a:pt x="16249" y="20848"/>
                  <a:pt x="18719" y="21224"/>
                  <a:pt x="21190" y="21600"/>
                </a:cubicBezTo>
              </a:path>
            </a:pathLst>
          </a:custGeom>
          <a:ln w="28575">
            <a:solidFill>
              <a:sysClr val="window" lastClr="FFFFFF">
                <a:alpha val="30000"/>
              </a:sysClr>
            </a:solidFill>
          </a:ln>
        </p:spPr>
        <p:txBody>
          <a:bodyPr lIns="9327" tIns="9327" rIns="9327" bIns="9327" anchor="ctr"/>
          <a:lstStyle/>
          <a:p>
            <a:pPr algn="ctr" defTabSz="181350" eaLnBrk="1" fontAlgn="auto" hangingPunct="1">
              <a:spcBef>
                <a:spcPts val="0"/>
              </a:spcBef>
              <a:spcAft>
                <a:spcPts val="0"/>
              </a:spcAft>
              <a:defRPr>
                <a:solidFill>
                  <a:srgbClr val="FFFFFF"/>
                </a:solidFill>
              </a:defRPr>
            </a:pPr>
            <a:endParaRPr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78" name="任意多边形 85"/>
          <p:cNvSpPr/>
          <p:nvPr/>
        </p:nvSpPr>
        <p:spPr>
          <a:xfrm>
            <a:off x="7508427" y="3519170"/>
            <a:ext cx="54756" cy="142196"/>
          </a:xfrm>
          <a:custGeom>
            <a:avLst/>
            <a:gdLst/>
            <a:ahLst/>
            <a:cxnLst>
              <a:cxn ang="0">
                <a:pos x="wd2" y="hd2"/>
              </a:cxn>
              <a:cxn ang="5400000">
                <a:pos x="wd2" y="hd2"/>
              </a:cxn>
              <a:cxn ang="10800000">
                <a:pos x="wd2" y="hd2"/>
              </a:cxn>
              <a:cxn ang="16200000">
                <a:pos x="wd2" y="hd2"/>
              </a:cxn>
            </a:cxnLst>
            <a:rect l="0" t="0" r="r" b="b"/>
            <a:pathLst>
              <a:path w="21190" h="21600" extrusionOk="0">
                <a:moveTo>
                  <a:pt x="7637" y="0"/>
                </a:moveTo>
                <a:cubicBezTo>
                  <a:pt x="12084" y="1978"/>
                  <a:pt x="16531" y="3956"/>
                  <a:pt x="15261" y="5697"/>
                </a:cubicBezTo>
                <a:cubicBezTo>
                  <a:pt x="13990" y="7437"/>
                  <a:pt x="437" y="8229"/>
                  <a:pt x="14" y="10444"/>
                </a:cubicBezTo>
                <a:cubicBezTo>
                  <a:pt x="-410" y="12659"/>
                  <a:pt x="9190" y="17130"/>
                  <a:pt x="12719" y="18989"/>
                </a:cubicBezTo>
                <a:cubicBezTo>
                  <a:pt x="16249" y="20848"/>
                  <a:pt x="18719" y="21224"/>
                  <a:pt x="21190" y="21600"/>
                </a:cubicBezTo>
              </a:path>
            </a:pathLst>
          </a:custGeom>
          <a:ln w="28575">
            <a:solidFill>
              <a:sysClr val="window" lastClr="FFFFFF">
                <a:alpha val="30000"/>
              </a:sysClr>
            </a:solidFill>
          </a:ln>
        </p:spPr>
        <p:txBody>
          <a:bodyPr lIns="9327" tIns="9327" rIns="9327" bIns="9327" anchor="ctr"/>
          <a:lstStyle/>
          <a:p>
            <a:pPr algn="ctr" defTabSz="181350" eaLnBrk="1" fontAlgn="auto" hangingPunct="1">
              <a:spcBef>
                <a:spcPts val="0"/>
              </a:spcBef>
              <a:spcAft>
                <a:spcPts val="0"/>
              </a:spcAft>
              <a:defRPr>
                <a:solidFill>
                  <a:srgbClr val="FFFFFF"/>
                </a:solidFill>
              </a:defRPr>
            </a:pPr>
            <a:endParaRPr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79" name="任意多边形 85"/>
          <p:cNvSpPr/>
          <p:nvPr/>
        </p:nvSpPr>
        <p:spPr>
          <a:xfrm>
            <a:off x="8024127" y="3519170"/>
            <a:ext cx="54756" cy="142196"/>
          </a:xfrm>
          <a:custGeom>
            <a:avLst/>
            <a:gdLst/>
            <a:ahLst/>
            <a:cxnLst>
              <a:cxn ang="0">
                <a:pos x="wd2" y="hd2"/>
              </a:cxn>
              <a:cxn ang="5400000">
                <a:pos x="wd2" y="hd2"/>
              </a:cxn>
              <a:cxn ang="10800000">
                <a:pos x="wd2" y="hd2"/>
              </a:cxn>
              <a:cxn ang="16200000">
                <a:pos x="wd2" y="hd2"/>
              </a:cxn>
            </a:cxnLst>
            <a:rect l="0" t="0" r="r" b="b"/>
            <a:pathLst>
              <a:path w="21190" h="21600" extrusionOk="0">
                <a:moveTo>
                  <a:pt x="7637" y="0"/>
                </a:moveTo>
                <a:cubicBezTo>
                  <a:pt x="12084" y="1978"/>
                  <a:pt x="16531" y="3956"/>
                  <a:pt x="15261" y="5697"/>
                </a:cubicBezTo>
                <a:cubicBezTo>
                  <a:pt x="13990" y="7437"/>
                  <a:pt x="437" y="8229"/>
                  <a:pt x="14" y="10444"/>
                </a:cubicBezTo>
                <a:cubicBezTo>
                  <a:pt x="-410" y="12659"/>
                  <a:pt x="9190" y="17130"/>
                  <a:pt x="12719" y="18989"/>
                </a:cubicBezTo>
                <a:cubicBezTo>
                  <a:pt x="16249" y="20848"/>
                  <a:pt x="18719" y="21224"/>
                  <a:pt x="21190" y="21600"/>
                </a:cubicBezTo>
              </a:path>
            </a:pathLst>
          </a:custGeom>
          <a:ln w="28575">
            <a:solidFill>
              <a:sysClr val="window" lastClr="FFFFFF">
                <a:alpha val="30000"/>
              </a:sysClr>
            </a:solidFill>
          </a:ln>
        </p:spPr>
        <p:txBody>
          <a:bodyPr lIns="9327" tIns="9327" rIns="9327" bIns="9327" anchor="ctr"/>
          <a:lstStyle/>
          <a:p>
            <a:pPr algn="ctr" defTabSz="181350" eaLnBrk="1" fontAlgn="auto" hangingPunct="1">
              <a:spcBef>
                <a:spcPts val="0"/>
              </a:spcBef>
              <a:spcAft>
                <a:spcPts val="0"/>
              </a:spcAft>
              <a:defRPr>
                <a:solidFill>
                  <a:srgbClr val="FFFFFF"/>
                </a:solidFill>
              </a:defRPr>
            </a:pPr>
            <a:endParaRPr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80" name="任意多边形 85"/>
          <p:cNvSpPr/>
          <p:nvPr/>
        </p:nvSpPr>
        <p:spPr>
          <a:xfrm>
            <a:off x="8314447" y="3519170"/>
            <a:ext cx="54756" cy="142196"/>
          </a:xfrm>
          <a:custGeom>
            <a:avLst/>
            <a:gdLst/>
            <a:ahLst/>
            <a:cxnLst>
              <a:cxn ang="0">
                <a:pos x="wd2" y="hd2"/>
              </a:cxn>
              <a:cxn ang="5400000">
                <a:pos x="wd2" y="hd2"/>
              </a:cxn>
              <a:cxn ang="10800000">
                <a:pos x="wd2" y="hd2"/>
              </a:cxn>
              <a:cxn ang="16200000">
                <a:pos x="wd2" y="hd2"/>
              </a:cxn>
            </a:cxnLst>
            <a:rect l="0" t="0" r="r" b="b"/>
            <a:pathLst>
              <a:path w="21190" h="21600" extrusionOk="0">
                <a:moveTo>
                  <a:pt x="7637" y="0"/>
                </a:moveTo>
                <a:cubicBezTo>
                  <a:pt x="12084" y="1978"/>
                  <a:pt x="16531" y="3956"/>
                  <a:pt x="15261" y="5697"/>
                </a:cubicBezTo>
                <a:cubicBezTo>
                  <a:pt x="13990" y="7437"/>
                  <a:pt x="437" y="8229"/>
                  <a:pt x="14" y="10444"/>
                </a:cubicBezTo>
                <a:cubicBezTo>
                  <a:pt x="-410" y="12659"/>
                  <a:pt x="9190" y="17130"/>
                  <a:pt x="12719" y="18989"/>
                </a:cubicBezTo>
                <a:cubicBezTo>
                  <a:pt x="16249" y="20848"/>
                  <a:pt x="18719" y="21224"/>
                  <a:pt x="21190" y="21600"/>
                </a:cubicBezTo>
              </a:path>
            </a:pathLst>
          </a:custGeom>
          <a:ln w="28575">
            <a:solidFill>
              <a:sysClr val="window" lastClr="FFFFFF">
                <a:alpha val="30000"/>
              </a:sysClr>
            </a:solidFill>
          </a:ln>
        </p:spPr>
        <p:txBody>
          <a:bodyPr lIns="9327" tIns="9327" rIns="9327" bIns="9327" anchor="ctr"/>
          <a:lstStyle/>
          <a:p>
            <a:pPr algn="ctr" defTabSz="181350" eaLnBrk="1" fontAlgn="auto" hangingPunct="1">
              <a:spcBef>
                <a:spcPts val="0"/>
              </a:spcBef>
              <a:spcAft>
                <a:spcPts val="0"/>
              </a:spcAft>
              <a:defRPr>
                <a:solidFill>
                  <a:srgbClr val="FFFFFF"/>
                </a:solidFill>
              </a:defRPr>
            </a:pPr>
            <a:endParaRPr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81" name="矩形 280"/>
          <p:cNvSpPr/>
          <p:nvPr/>
        </p:nvSpPr>
        <p:spPr>
          <a:xfrm>
            <a:off x="7717532" y="3497720"/>
            <a:ext cx="168192" cy="215360"/>
          </a:xfrm>
          <a:prstGeom prst="rect">
            <a:avLst/>
          </a:prstGeom>
        </p:spPr>
        <p:txBody>
          <a:bodyPr wrap="square" lIns="0" tIns="0" rIns="0" bIns="0" anchor="ctr" anchorCtr="0">
            <a:spAutoFit/>
          </a:bodyPr>
          <a:lstStyle/>
          <a:p>
            <a:pPr algn="ctr" defTabSz="609432" eaLnBrk="1" fontAlgn="auto" hangingPunct="1">
              <a:spcBef>
                <a:spcPts val="0"/>
              </a:spcBef>
              <a:spcAft>
                <a:spcPts val="0"/>
              </a:spcAft>
            </a:pPr>
            <a:r>
              <a:rPr lang="en-US" altLang="zh-CN" sz="1399" dirty="0">
                <a:solidFill>
                  <a:prstClr val="white"/>
                </a:solidFill>
                <a:latin typeface="方正兰亭黑简体" panose="02000000000000000000" pitchFamily="2" charset="-122"/>
                <a:ea typeface="方正兰亭黑简体" panose="02000000000000000000" pitchFamily="2" charset="-122"/>
                <a:cs typeface="Times New Roman" panose="02020603050405020304" pitchFamily="18" charset="0"/>
                <a:sym typeface="方正兰亭黑简体" panose="02000000000000000000" pitchFamily="2" charset="-122"/>
              </a:rPr>
              <a:t>…</a:t>
            </a:r>
          </a:p>
        </p:txBody>
      </p:sp>
      <p:sp>
        <p:nvSpPr>
          <p:cNvPr id="287" name="矩形 286"/>
          <p:cNvSpPr/>
          <p:nvPr/>
        </p:nvSpPr>
        <p:spPr>
          <a:xfrm>
            <a:off x="7942025" y="3713975"/>
            <a:ext cx="218960" cy="183387"/>
          </a:xfrm>
          <a:prstGeom prst="rect">
            <a:avLst/>
          </a:prstGeom>
          <a:solidFill>
            <a:schemeClr val="bg1">
              <a:alpha val="10000"/>
            </a:schemeClr>
          </a:solidFill>
          <a:ln w="12700">
            <a:noFill/>
          </a:ln>
        </p:spPr>
        <p:txBody>
          <a:bodyPr vert="horz" lIns="57120" rIns="57120" rtlCol="0" anchor="ctr">
            <a:noAutofit/>
          </a:bodyPr>
          <a:lstStyle/>
          <a:p>
            <a:pPr algn="just" defTabSz="241832" eaLnBrk="1" fontAlgn="auto" hangingPunct="1">
              <a:lnSpc>
                <a:spcPct val="130000"/>
              </a:lnSpc>
              <a:spcBef>
                <a:spcPts val="0"/>
              </a:spcBef>
              <a:spcAft>
                <a:spcPts val="0"/>
              </a:spcAft>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88" name="矩形 287"/>
          <p:cNvSpPr/>
          <p:nvPr/>
        </p:nvSpPr>
        <p:spPr>
          <a:xfrm>
            <a:off x="8232345" y="3713975"/>
            <a:ext cx="218960" cy="183387"/>
          </a:xfrm>
          <a:prstGeom prst="rect">
            <a:avLst/>
          </a:prstGeom>
          <a:solidFill>
            <a:schemeClr val="bg1">
              <a:alpha val="10000"/>
            </a:schemeClr>
          </a:solidFill>
          <a:ln w="12700">
            <a:noFill/>
          </a:ln>
        </p:spPr>
        <p:txBody>
          <a:bodyPr vert="horz" lIns="57120" rIns="57120" rtlCol="0" anchor="ctr">
            <a:noAutofit/>
          </a:bodyPr>
          <a:lstStyle/>
          <a:p>
            <a:pPr algn="just" defTabSz="241832" eaLnBrk="1" fontAlgn="auto" hangingPunct="1">
              <a:lnSpc>
                <a:spcPct val="130000"/>
              </a:lnSpc>
              <a:spcBef>
                <a:spcPts val="0"/>
              </a:spcBef>
              <a:spcAft>
                <a:spcPts val="0"/>
              </a:spcAft>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89" name="任意多边形 85"/>
          <p:cNvSpPr/>
          <p:nvPr/>
        </p:nvSpPr>
        <p:spPr>
          <a:xfrm>
            <a:off x="8024127" y="3734570"/>
            <a:ext cx="54756" cy="142196"/>
          </a:xfrm>
          <a:custGeom>
            <a:avLst/>
            <a:gdLst/>
            <a:ahLst/>
            <a:cxnLst>
              <a:cxn ang="0">
                <a:pos x="wd2" y="hd2"/>
              </a:cxn>
              <a:cxn ang="5400000">
                <a:pos x="wd2" y="hd2"/>
              </a:cxn>
              <a:cxn ang="10800000">
                <a:pos x="wd2" y="hd2"/>
              </a:cxn>
              <a:cxn ang="16200000">
                <a:pos x="wd2" y="hd2"/>
              </a:cxn>
            </a:cxnLst>
            <a:rect l="0" t="0" r="r" b="b"/>
            <a:pathLst>
              <a:path w="21190" h="21600" extrusionOk="0">
                <a:moveTo>
                  <a:pt x="7637" y="0"/>
                </a:moveTo>
                <a:cubicBezTo>
                  <a:pt x="12084" y="1978"/>
                  <a:pt x="16531" y="3956"/>
                  <a:pt x="15261" y="5697"/>
                </a:cubicBezTo>
                <a:cubicBezTo>
                  <a:pt x="13990" y="7437"/>
                  <a:pt x="437" y="8229"/>
                  <a:pt x="14" y="10444"/>
                </a:cubicBezTo>
                <a:cubicBezTo>
                  <a:pt x="-410" y="12659"/>
                  <a:pt x="9190" y="17130"/>
                  <a:pt x="12719" y="18989"/>
                </a:cubicBezTo>
                <a:cubicBezTo>
                  <a:pt x="16249" y="20848"/>
                  <a:pt x="18719" y="21224"/>
                  <a:pt x="21190" y="21600"/>
                </a:cubicBezTo>
              </a:path>
            </a:pathLst>
          </a:custGeom>
          <a:ln w="28575">
            <a:solidFill>
              <a:sysClr val="window" lastClr="FFFFFF">
                <a:alpha val="30000"/>
              </a:sysClr>
            </a:solidFill>
          </a:ln>
        </p:spPr>
        <p:txBody>
          <a:bodyPr lIns="9327" tIns="9327" rIns="9327" bIns="9327" anchor="ctr"/>
          <a:lstStyle/>
          <a:p>
            <a:pPr algn="ctr" defTabSz="181350" eaLnBrk="1" fontAlgn="auto" hangingPunct="1">
              <a:spcBef>
                <a:spcPts val="0"/>
              </a:spcBef>
              <a:spcAft>
                <a:spcPts val="0"/>
              </a:spcAft>
              <a:defRPr>
                <a:solidFill>
                  <a:srgbClr val="FFFFFF"/>
                </a:solidFill>
              </a:defRPr>
            </a:pPr>
            <a:endParaRPr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90" name="任意多边形 85"/>
          <p:cNvSpPr/>
          <p:nvPr/>
        </p:nvSpPr>
        <p:spPr>
          <a:xfrm>
            <a:off x="8314447" y="3734570"/>
            <a:ext cx="54756" cy="142196"/>
          </a:xfrm>
          <a:custGeom>
            <a:avLst/>
            <a:gdLst/>
            <a:ahLst/>
            <a:cxnLst>
              <a:cxn ang="0">
                <a:pos x="wd2" y="hd2"/>
              </a:cxn>
              <a:cxn ang="5400000">
                <a:pos x="wd2" y="hd2"/>
              </a:cxn>
              <a:cxn ang="10800000">
                <a:pos x="wd2" y="hd2"/>
              </a:cxn>
              <a:cxn ang="16200000">
                <a:pos x="wd2" y="hd2"/>
              </a:cxn>
            </a:cxnLst>
            <a:rect l="0" t="0" r="r" b="b"/>
            <a:pathLst>
              <a:path w="21190" h="21600" extrusionOk="0">
                <a:moveTo>
                  <a:pt x="7637" y="0"/>
                </a:moveTo>
                <a:cubicBezTo>
                  <a:pt x="12084" y="1978"/>
                  <a:pt x="16531" y="3956"/>
                  <a:pt x="15261" y="5697"/>
                </a:cubicBezTo>
                <a:cubicBezTo>
                  <a:pt x="13990" y="7437"/>
                  <a:pt x="437" y="8229"/>
                  <a:pt x="14" y="10444"/>
                </a:cubicBezTo>
                <a:cubicBezTo>
                  <a:pt x="-410" y="12659"/>
                  <a:pt x="9190" y="17130"/>
                  <a:pt x="12719" y="18989"/>
                </a:cubicBezTo>
                <a:cubicBezTo>
                  <a:pt x="16249" y="20848"/>
                  <a:pt x="18719" y="21224"/>
                  <a:pt x="21190" y="21600"/>
                </a:cubicBezTo>
              </a:path>
            </a:pathLst>
          </a:custGeom>
          <a:ln w="28575">
            <a:solidFill>
              <a:sysClr val="window" lastClr="FFFFFF">
                <a:alpha val="30000"/>
              </a:sysClr>
            </a:solidFill>
          </a:ln>
        </p:spPr>
        <p:txBody>
          <a:bodyPr lIns="9327" tIns="9327" rIns="9327" bIns="9327" anchor="ctr"/>
          <a:lstStyle/>
          <a:p>
            <a:pPr algn="ctr" defTabSz="181350" eaLnBrk="1" fontAlgn="auto" hangingPunct="1">
              <a:spcBef>
                <a:spcPts val="0"/>
              </a:spcBef>
              <a:spcAft>
                <a:spcPts val="0"/>
              </a:spcAft>
              <a:defRPr>
                <a:solidFill>
                  <a:srgbClr val="FFFFFF"/>
                </a:solidFill>
              </a:defRPr>
            </a:pPr>
            <a:endParaRPr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94" name="矩形 293"/>
          <p:cNvSpPr/>
          <p:nvPr/>
        </p:nvSpPr>
        <p:spPr>
          <a:xfrm>
            <a:off x="8483007" y="3698063"/>
            <a:ext cx="982684" cy="215360"/>
          </a:xfrm>
          <a:prstGeom prst="rect">
            <a:avLst/>
          </a:prstGeom>
        </p:spPr>
        <p:txBody>
          <a:bodyPr wrap="square" lIns="0" tIns="0" rIns="0" bIns="0" anchor="ctr" anchorCtr="0">
            <a:spAutoFit/>
          </a:bodyPr>
          <a:lstStyle/>
          <a:p>
            <a:pPr algn="ctr" defTabSz="609432" eaLnBrk="1" fontAlgn="auto" hangingPunct="1">
              <a:spcBef>
                <a:spcPts val="0"/>
              </a:spcBef>
              <a:spcAft>
                <a:spcPts val="0"/>
              </a:spcAft>
            </a:pPr>
            <a:r>
              <a:rPr lang="zh-CN" altLang="en-US" sz="1399" dirty="0">
                <a:solidFill>
                  <a:prstClr val="white"/>
                </a:solidFill>
                <a:latin typeface="方正兰亭黑简体" panose="02000000000000000000" pitchFamily="2" charset="-122"/>
                <a:ea typeface="方正兰亭黑简体" panose="02000000000000000000" pitchFamily="2" charset="-122"/>
                <a:cs typeface="Times New Roman" panose="02020603050405020304" pitchFamily="18" charset="0"/>
                <a:sym typeface="方正兰亭黑简体" panose="02000000000000000000" pitchFamily="2" charset="-122"/>
              </a:rPr>
              <a:t>调度单元</a:t>
            </a:r>
          </a:p>
        </p:txBody>
      </p:sp>
      <p:sp>
        <p:nvSpPr>
          <p:cNvPr id="295" name="矩形 294"/>
          <p:cNvSpPr/>
          <p:nvPr/>
        </p:nvSpPr>
        <p:spPr>
          <a:xfrm>
            <a:off x="8702732" y="3871474"/>
            <a:ext cx="614702" cy="215360"/>
          </a:xfrm>
          <a:prstGeom prst="rect">
            <a:avLst/>
          </a:prstGeom>
        </p:spPr>
        <p:txBody>
          <a:bodyPr wrap="square" lIns="0" tIns="0" rIns="0" bIns="0" anchor="ctr" anchorCtr="0">
            <a:spAutoFit/>
          </a:bodyPr>
          <a:lstStyle/>
          <a:p>
            <a:pPr algn="ctr" defTabSz="609432" eaLnBrk="1" fontAlgn="auto" hangingPunct="1">
              <a:spcBef>
                <a:spcPts val="0"/>
              </a:spcBef>
              <a:spcAft>
                <a:spcPts val="0"/>
              </a:spcAft>
            </a:pPr>
            <a:r>
              <a:rPr lang="zh-CN" altLang="en-US"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a:t>
            </a:r>
            <a:r>
              <a:rPr lang="en-US" altLang="zh-CN"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N</a:t>
            </a:r>
            <a:r>
              <a:rPr lang="zh-CN" altLang="en-US"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a:t>
            </a:r>
          </a:p>
        </p:txBody>
      </p:sp>
      <p:sp>
        <p:nvSpPr>
          <p:cNvPr id="332" name="矩形 331"/>
          <p:cNvSpPr/>
          <p:nvPr/>
        </p:nvSpPr>
        <p:spPr>
          <a:xfrm>
            <a:off x="7812894" y="4446710"/>
            <a:ext cx="470922" cy="172897"/>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399">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cxnSp>
        <p:nvCxnSpPr>
          <p:cNvPr id="1049" name="直接箭头连接符 1048"/>
          <p:cNvCxnSpPr>
            <a:cxnSpLocks/>
            <a:stCxn id="287" idx="2"/>
          </p:cNvCxnSpPr>
          <p:nvPr/>
        </p:nvCxnSpPr>
        <p:spPr>
          <a:xfrm flipH="1">
            <a:off x="7667905" y="3897362"/>
            <a:ext cx="383600" cy="328062"/>
          </a:xfrm>
          <a:prstGeom prst="straightConnector1">
            <a:avLst/>
          </a:prstGeom>
          <a:ln w="12700">
            <a:solidFill>
              <a:sysClr val="window" lastClr="FFFFFF">
                <a:alpha val="30000"/>
              </a:sysClr>
            </a:solidFill>
            <a:tailEnd type="triangle"/>
          </a:ln>
        </p:spPr>
      </p:cxnSp>
      <p:cxnSp>
        <p:nvCxnSpPr>
          <p:cNvPr id="1051" name="直接箭头连接符 1050"/>
          <p:cNvCxnSpPr>
            <a:cxnSpLocks/>
            <a:stCxn id="288" idx="2"/>
            <a:endCxn id="316" idx="0"/>
          </p:cNvCxnSpPr>
          <p:nvPr/>
        </p:nvCxnSpPr>
        <p:spPr>
          <a:xfrm flipH="1">
            <a:off x="7644866" y="3897362"/>
            <a:ext cx="696959" cy="342816"/>
          </a:xfrm>
          <a:prstGeom prst="straightConnector1">
            <a:avLst/>
          </a:prstGeom>
          <a:ln w="12700">
            <a:solidFill>
              <a:sysClr val="window" lastClr="FFFFFF">
                <a:alpha val="30000"/>
              </a:sysClr>
            </a:solidFill>
            <a:tailEnd type="triangle"/>
          </a:ln>
        </p:spPr>
      </p:cxnSp>
      <p:sp>
        <p:nvSpPr>
          <p:cNvPr id="316" name="矩形 315"/>
          <p:cNvSpPr/>
          <p:nvPr/>
        </p:nvSpPr>
        <p:spPr>
          <a:xfrm>
            <a:off x="7409405" y="4240179"/>
            <a:ext cx="470922" cy="172897"/>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399">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324" name="矩形 323"/>
          <p:cNvSpPr/>
          <p:nvPr/>
        </p:nvSpPr>
        <p:spPr>
          <a:xfrm>
            <a:off x="8216384" y="4240179"/>
            <a:ext cx="470922" cy="172897"/>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399">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nvGrpSpPr>
          <p:cNvPr id="212" name="组合 211"/>
          <p:cNvGrpSpPr/>
          <p:nvPr/>
        </p:nvGrpSpPr>
        <p:grpSpPr>
          <a:xfrm>
            <a:off x="7495441" y="4267939"/>
            <a:ext cx="298852" cy="117377"/>
            <a:chOff x="15288965" y="4423103"/>
            <a:chExt cx="1130112" cy="443861"/>
          </a:xfrm>
        </p:grpSpPr>
        <p:grpSp>
          <p:nvGrpSpPr>
            <p:cNvPr id="218" name="组合 217"/>
            <p:cNvGrpSpPr/>
            <p:nvPr/>
          </p:nvGrpSpPr>
          <p:grpSpPr>
            <a:xfrm>
              <a:off x="16059077" y="4423103"/>
              <a:ext cx="360000" cy="443861"/>
              <a:chOff x="16059077" y="4423103"/>
              <a:chExt cx="446196" cy="443861"/>
            </a:xfrm>
          </p:grpSpPr>
          <p:sp>
            <p:nvSpPr>
              <p:cNvPr id="223" name="Freeform 7"/>
              <p:cNvSpPr>
                <a:spLocks noEditPoints="1"/>
              </p:cNvSpPr>
              <p:nvPr/>
            </p:nvSpPr>
            <p:spPr bwMode="auto">
              <a:xfrm>
                <a:off x="16226400" y="4672098"/>
                <a:ext cx="111549" cy="139071"/>
              </a:xfrm>
              <a:custGeom>
                <a:avLst/>
                <a:gdLst>
                  <a:gd name="T0" fmla="*/ 303 w 614"/>
                  <a:gd name="T1" fmla="*/ 2 h 1027"/>
                  <a:gd name="T2" fmla="*/ 0 w 614"/>
                  <a:gd name="T3" fmla="*/ 309 h 1027"/>
                  <a:gd name="T4" fmla="*/ 122 w 614"/>
                  <a:gd name="T5" fmla="*/ 555 h 1027"/>
                  <a:gd name="T6" fmla="*/ 205 w 614"/>
                  <a:gd name="T7" fmla="*/ 719 h 1027"/>
                  <a:gd name="T8" fmla="*/ 205 w 614"/>
                  <a:gd name="T9" fmla="*/ 922 h 1027"/>
                  <a:gd name="T10" fmla="*/ 308 w 614"/>
                  <a:gd name="T11" fmla="*/ 1026 h 1027"/>
                  <a:gd name="T12" fmla="*/ 410 w 614"/>
                  <a:gd name="T13" fmla="*/ 924 h 1027"/>
                  <a:gd name="T14" fmla="*/ 410 w 614"/>
                  <a:gd name="T15" fmla="*/ 717 h 1027"/>
                  <a:gd name="T16" fmla="*/ 492 w 614"/>
                  <a:gd name="T17" fmla="*/ 555 h 1027"/>
                  <a:gd name="T18" fmla="*/ 614 w 614"/>
                  <a:gd name="T19" fmla="*/ 309 h 1027"/>
                  <a:gd name="T20" fmla="*/ 303 w 614"/>
                  <a:gd name="T21" fmla="*/ 2 h 1027"/>
                  <a:gd name="T22" fmla="*/ 307 w 614"/>
                  <a:gd name="T23" fmla="*/ 412 h 1027"/>
                  <a:gd name="T24" fmla="*/ 205 w 614"/>
                  <a:gd name="T25" fmla="*/ 309 h 1027"/>
                  <a:gd name="T26" fmla="*/ 307 w 614"/>
                  <a:gd name="T27" fmla="*/ 207 h 1027"/>
                  <a:gd name="T28" fmla="*/ 410 w 614"/>
                  <a:gd name="T29" fmla="*/ 309 h 1027"/>
                  <a:gd name="T30" fmla="*/ 307 w 614"/>
                  <a:gd name="T31" fmla="*/ 412 h 1027"/>
                  <a:gd name="T32" fmla="*/ 307 w 614"/>
                  <a:gd name="T33" fmla="*/ 412 h 1027"/>
                  <a:gd name="T34" fmla="*/ 307 w 614"/>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4" h="1027">
                    <a:moveTo>
                      <a:pt x="303" y="2"/>
                    </a:moveTo>
                    <a:cubicBezTo>
                      <a:pt x="136" y="4"/>
                      <a:pt x="0" y="142"/>
                      <a:pt x="0" y="309"/>
                    </a:cubicBezTo>
                    <a:cubicBezTo>
                      <a:pt x="0" y="409"/>
                      <a:pt x="48" y="499"/>
                      <a:pt x="122" y="555"/>
                    </a:cubicBezTo>
                    <a:cubicBezTo>
                      <a:pt x="174" y="594"/>
                      <a:pt x="205" y="654"/>
                      <a:pt x="205" y="719"/>
                    </a:cubicBezTo>
                    <a:cubicBezTo>
                      <a:pt x="205" y="922"/>
                      <a:pt x="205" y="922"/>
                      <a:pt x="205" y="922"/>
                    </a:cubicBezTo>
                    <a:cubicBezTo>
                      <a:pt x="205" y="979"/>
                      <a:pt x="252" y="1027"/>
                      <a:pt x="308" y="1026"/>
                    </a:cubicBezTo>
                    <a:cubicBezTo>
                      <a:pt x="364" y="1025"/>
                      <a:pt x="410" y="980"/>
                      <a:pt x="410" y="924"/>
                    </a:cubicBezTo>
                    <a:cubicBezTo>
                      <a:pt x="410" y="717"/>
                      <a:pt x="410" y="717"/>
                      <a:pt x="410" y="717"/>
                    </a:cubicBezTo>
                    <a:cubicBezTo>
                      <a:pt x="410" y="653"/>
                      <a:pt x="441" y="593"/>
                      <a:pt x="492" y="555"/>
                    </a:cubicBezTo>
                    <a:cubicBezTo>
                      <a:pt x="566" y="499"/>
                      <a:pt x="614" y="409"/>
                      <a:pt x="614" y="309"/>
                    </a:cubicBezTo>
                    <a:cubicBezTo>
                      <a:pt x="614" y="138"/>
                      <a:pt x="475" y="0"/>
                      <a:pt x="303" y="2"/>
                    </a:cubicBezTo>
                    <a:close/>
                    <a:moveTo>
                      <a:pt x="307" y="412"/>
                    </a:moveTo>
                    <a:cubicBezTo>
                      <a:pt x="251" y="412"/>
                      <a:pt x="205" y="366"/>
                      <a:pt x="205" y="309"/>
                    </a:cubicBezTo>
                    <a:cubicBezTo>
                      <a:pt x="205" y="253"/>
                      <a:pt x="251" y="207"/>
                      <a:pt x="307" y="207"/>
                    </a:cubicBezTo>
                    <a:cubicBezTo>
                      <a:pt x="364" y="207"/>
                      <a:pt x="410" y="253"/>
                      <a:pt x="410" y="309"/>
                    </a:cubicBezTo>
                    <a:cubicBezTo>
                      <a:pt x="410" y="366"/>
                      <a:pt x="364" y="412"/>
                      <a:pt x="307" y="412"/>
                    </a:cubicBezTo>
                    <a:close/>
                    <a:moveTo>
                      <a:pt x="307" y="412"/>
                    </a:moveTo>
                    <a:cubicBezTo>
                      <a:pt x="307" y="412"/>
                      <a:pt x="307" y="412"/>
                      <a:pt x="307"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25" name="Freeform 8"/>
              <p:cNvSpPr>
                <a:spLocks noEditPoints="1"/>
              </p:cNvSpPr>
              <p:nvPr/>
            </p:nvSpPr>
            <p:spPr bwMode="auto">
              <a:xfrm>
                <a:off x="16059077" y="4423103"/>
                <a:ext cx="446196" cy="443861"/>
              </a:xfrm>
              <a:custGeom>
                <a:avLst/>
                <a:gdLst>
                  <a:gd name="T0" fmla="*/ 640 w 2458"/>
                  <a:gd name="T1" fmla="*/ 1231 h 3279"/>
                  <a:gd name="T2" fmla="*/ 615 w 2458"/>
                  <a:gd name="T3" fmla="*/ 1205 h 3279"/>
                  <a:gd name="T4" fmla="*/ 615 w 2458"/>
                  <a:gd name="T5" fmla="*/ 821 h 3279"/>
                  <a:gd name="T6" fmla="*/ 795 w 2458"/>
                  <a:gd name="T7" fmla="*/ 387 h 3279"/>
                  <a:gd name="T8" fmla="*/ 1229 w 2458"/>
                  <a:gd name="T9" fmla="*/ 207 h 3279"/>
                  <a:gd name="T10" fmla="*/ 1664 w 2458"/>
                  <a:gd name="T11" fmla="*/ 387 h 3279"/>
                  <a:gd name="T12" fmla="*/ 1844 w 2458"/>
                  <a:gd name="T13" fmla="*/ 821 h 3279"/>
                  <a:gd name="T14" fmla="*/ 1844 w 2458"/>
                  <a:gd name="T15" fmla="*/ 827 h 3279"/>
                  <a:gd name="T16" fmla="*/ 1940 w 2458"/>
                  <a:gd name="T17" fmla="*/ 923 h 3279"/>
                  <a:gd name="T18" fmla="*/ 1952 w 2458"/>
                  <a:gd name="T19" fmla="*/ 923 h 3279"/>
                  <a:gd name="T20" fmla="*/ 2048 w 2458"/>
                  <a:gd name="T21" fmla="*/ 827 h 3279"/>
                  <a:gd name="T22" fmla="*/ 1226 w 2458"/>
                  <a:gd name="T23" fmla="*/ 2 h 3279"/>
                  <a:gd name="T24" fmla="*/ 410 w 2458"/>
                  <a:gd name="T25" fmla="*/ 821 h 3279"/>
                  <a:gd name="T26" fmla="*/ 410 w 2458"/>
                  <a:gd name="T27" fmla="*/ 1205 h 3279"/>
                  <a:gd name="T28" fmla="*/ 384 w 2458"/>
                  <a:gd name="T29" fmla="*/ 1231 h 3279"/>
                  <a:gd name="T30" fmla="*/ 308 w 2458"/>
                  <a:gd name="T31" fmla="*/ 1231 h 3279"/>
                  <a:gd name="T32" fmla="*/ 0 w 2458"/>
                  <a:gd name="T33" fmla="*/ 1538 h 3279"/>
                  <a:gd name="T34" fmla="*/ 0 w 2458"/>
                  <a:gd name="T35" fmla="*/ 2971 h 3279"/>
                  <a:gd name="T36" fmla="*/ 308 w 2458"/>
                  <a:gd name="T37" fmla="*/ 3279 h 3279"/>
                  <a:gd name="T38" fmla="*/ 2151 w 2458"/>
                  <a:gd name="T39" fmla="*/ 3279 h 3279"/>
                  <a:gd name="T40" fmla="*/ 2458 w 2458"/>
                  <a:gd name="T41" fmla="*/ 2971 h 3279"/>
                  <a:gd name="T42" fmla="*/ 2458 w 2458"/>
                  <a:gd name="T43" fmla="*/ 1538 h 3279"/>
                  <a:gd name="T44" fmla="*/ 2151 w 2458"/>
                  <a:gd name="T45" fmla="*/ 1231 h 3279"/>
                  <a:gd name="T46" fmla="*/ 640 w 2458"/>
                  <a:gd name="T47" fmla="*/ 1231 h 3279"/>
                  <a:gd name="T48" fmla="*/ 2151 w 2458"/>
                  <a:gd name="T49" fmla="*/ 3074 h 3279"/>
                  <a:gd name="T50" fmla="*/ 308 w 2458"/>
                  <a:gd name="T51" fmla="*/ 3074 h 3279"/>
                  <a:gd name="T52" fmla="*/ 205 w 2458"/>
                  <a:gd name="T53" fmla="*/ 2971 h 3279"/>
                  <a:gd name="T54" fmla="*/ 205 w 2458"/>
                  <a:gd name="T55" fmla="*/ 1538 h 3279"/>
                  <a:gd name="T56" fmla="*/ 308 w 2458"/>
                  <a:gd name="T57" fmla="*/ 1435 h 3279"/>
                  <a:gd name="T58" fmla="*/ 2151 w 2458"/>
                  <a:gd name="T59" fmla="*/ 1435 h 3279"/>
                  <a:gd name="T60" fmla="*/ 2253 w 2458"/>
                  <a:gd name="T61" fmla="*/ 1538 h 3279"/>
                  <a:gd name="T62" fmla="*/ 2253 w 2458"/>
                  <a:gd name="T63" fmla="*/ 2971 h 3279"/>
                  <a:gd name="T64" fmla="*/ 2151 w 2458"/>
                  <a:gd name="T65" fmla="*/ 3074 h 3279"/>
                  <a:gd name="T66" fmla="*/ 2151 w 2458"/>
                  <a:gd name="T67" fmla="*/ 3074 h 3279"/>
                  <a:gd name="T68" fmla="*/ 2151 w 2458"/>
                  <a:gd name="T69" fmla="*/ 3074 h 3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58" h="3279">
                    <a:moveTo>
                      <a:pt x="640" y="1231"/>
                    </a:moveTo>
                    <a:cubicBezTo>
                      <a:pt x="626" y="1231"/>
                      <a:pt x="615" y="1219"/>
                      <a:pt x="615" y="1205"/>
                    </a:cubicBezTo>
                    <a:cubicBezTo>
                      <a:pt x="615" y="821"/>
                      <a:pt x="615" y="821"/>
                      <a:pt x="615" y="821"/>
                    </a:cubicBezTo>
                    <a:cubicBezTo>
                      <a:pt x="615" y="657"/>
                      <a:pt x="679" y="503"/>
                      <a:pt x="795" y="387"/>
                    </a:cubicBezTo>
                    <a:cubicBezTo>
                      <a:pt x="911" y="271"/>
                      <a:pt x="1065" y="207"/>
                      <a:pt x="1229" y="207"/>
                    </a:cubicBezTo>
                    <a:cubicBezTo>
                      <a:pt x="1393" y="207"/>
                      <a:pt x="1548" y="271"/>
                      <a:pt x="1664" y="387"/>
                    </a:cubicBezTo>
                    <a:cubicBezTo>
                      <a:pt x="1780" y="503"/>
                      <a:pt x="1844" y="657"/>
                      <a:pt x="1844" y="821"/>
                    </a:cubicBezTo>
                    <a:cubicBezTo>
                      <a:pt x="1844" y="827"/>
                      <a:pt x="1844" y="827"/>
                      <a:pt x="1844" y="827"/>
                    </a:cubicBezTo>
                    <a:cubicBezTo>
                      <a:pt x="1844" y="881"/>
                      <a:pt x="1886" y="923"/>
                      <a:pt x="1940" y="923"/>
                    </a:cubicBezTo>
                    <a:cubicBezTo>
                      <a:pt x="1952" y="923"/>
                      <a:pt x="1952" y="923"/>
                      <a:pt x="1952" y="923"/>
                    </a:cubicBezTo>
                    <a:cubicBezTo>
                      <a:pt x="2005" y="923"/>
                      <a:pt x="2048" y="881"/>
                      <a:pt x="2048" y="827"/>
                    </a:cubicBezTo>
                    <a:cubicBezTo>
                      <a:pt x="2048" y="375"/>
                      <a:pt x="1678" y="0"/>
                      <a:pt x="1226" y="2"/>
                    </a:cubicBezTo>
                    <a:cubicBezTo>
                      <a:pt x="775" y="3"/>
                      <a:pt x="410" y="370"/>
                      <a:pt x="410" y="821"/>
                    </a:cubicBezTo>
                    <a:cubicBezTo>
                      <a:pt x="410" y="1205"/>
                      <a:pt x="410" y="1205"/>
                      <a:pt x="410" y="1205"/>
                    </a:cubicBezTo>
                    <a:cubicBezTo>
                      <a:pt x="410" y="1219"/>
                      <a:pt x="398" y="1231"/>
                      <a:pt x="384" y="1231"/>
                    </a:cubicBezTo>
                    <a:cubicBezTo>
                      <a:pt x="308" y="1231"/>
                      <a:pt x="308" y="1231"/>
                      <a:pt x="308" y="1231"/>
                    </a:cubicBezTo>
                    <a:cubicBezTo>
                      <a:pt x="138" y="1231"/>
                      <a:pt x="0" y="1368"/>
                      <a:pt x="0" y="1538"/>
                    </a:cubicBezTo>
                    <a:cubicBezTo>
                      <a:pt x="0" y="2971"/>
                      <a:pt x="0" y="2971"/>
                      <a:pt x="0" y="2971"/>
                    </a:cubicBezTo>
                    <a:cubicBezTo>
                      <a:pt x="0" y="3141"/>
                      <a:pt x="138" y="3279"/>
                      <a:pt x="308" y="3279"/>
                    </a:cubicBezTo>
                    <a:cubicBezTo>
                      <a:pt x="2151" y="3279"/>
                      <a:pt x="2151" y="3279"/>
                      <a:pt x="2151" y="3279"/>
                    </a:cubicBezTo>
                    <a:cubicBezTo>
                      <a:pt x="2320" y="3279"/>
                      <a:pt x="2458" y="3141"/>
                      <a:pt x="2458" y="2971"/>
                    </a:cubicBezTo>
                    <a:cubicBezTo>
                      <a:pt x="2458" y="1538"/>
                      <a:pt x="2458" y="1538"/>
                      <a:pt x="2458" y="1538"/>
                    </a:cubicBezTo>
                    <a:cubicBezTo>
                      <a:pt x="2458" y="1368"/>
                      <a:pt x="2320" y="1231"/>
                      <a:pt x="2151" y="1231"/>
                    </a:cubicBezTo>
                    <a:lnTo>
                      <a:pt x="640" y="1231"/>
                    </a:lnTo>
                    <a:close/>
                    <a:moveTo>
                      <a:pt x="2151" y="3074"/>
                    </a:moveTo>
                    <a:cubicBezTo>
                      <a:pt x="308" y="3074"/>
                      <a:pt x="308" y="3074"/>
                      <a:pt x="308" y="3074"/>
                    </a:cubicBezTo>
                    <a:cubicBezTo>
                      <a:pt x="251" y="3074"/>
                      <a:pt x="205" y="3028"/>
                      <a:pt x="205" y="2971"/>
                    </a:cubicBezTo>
                    <a:cubicBezTo>
                      <a:pt x="205" y="1538"/>
                      <a:pt x="205" y="1538"/>
                      <a:pt x="205" y="1538"/>
                    </a:cubicBezTo>
                    <a:cubicBezTo>
                      <a:pt x="205" y="1481"/>
                      <a:pt x="251" y="1435"/>
                      <a:pt x="308" y="1435"/>
                    </a:cubicBezTo>
                    <a:cubicBezTo>
                      <a:pt x="2151" y="1435"/>
                      <a:pt x="2151" y="1435"/>
                      <a:pt x="2151" y="1435"/>
                    </a:cubicBezTo>
                    <a:cubicBezTo>
                      <a:pt x="2207" y="1435"/>
                      <a:pt x="2253" y="1481"/>
                      <a:pt x="2253" y="1538"/>
                    </a:cubicBezTo>
                    <a:cubicBezTo>
                      <a:pt x="2253" y="2971"/>
                      <a:pt x="2253" y="2971"/>
                      <a:pt x="2253" y="2971"/>
                    </a:cubicBezTo>
                    <a:cubicBezTo>
                      <a:pt x="2253" y="3028"/>
                      <a:pt x="2207" y="3074"/>
                      <a:pt x="2151" y="3074"/>
                    </a:cubicBezTo>
                    <a:close/>
                    <a:moveTo>
                      <a:pt x="2151" y="3074"/>
                    </a:moveTo>
                    <a:cubicBezTo>
                      <a:pt x="2151" y="3074"/>
                      <a:pt x="2151" y="3074"/>
                      <a:pt x="2151" y="3074"/>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nvGrpSpPr>
            <p:cNvPr id="219" name="组合 218"/>
            <p:cNvGrpSpPr/>
            <p:nvPr/>
          </p:nvGrpSpPr>
          <p:grpSpPr>
            <a:xfrm>
              <a:off x="15288965" y="4423103"/>
              <a:ext cx="360000" cy="443861"/>
              <a:chOff x="15234202" y="4423103"/>
              <a:chExt cx="445082" cy="443861"/>
            </a:xfrm>
          </p:grpSpPr>
          <p:sp>
            <p:nvSpPr>
              <p:cNvPr id="220" name="Freeform 6"/>
              <p:cNvSpPr>
                <a:spLocks noEditPoints="1"/>
              </p:cNvSpPr>
              <p:nvPr/>
            </p:nvSpPr>
            <p:spPr bwMode="auto">
              <a:xfrm>
                <a:off x="15401526" y="4672098"/>
                <a:ext cx="111549" cy="139071"/>
              </a:xfrm>
              <a:custGeom>
                <a:avLst/>
                <a:gdLst>
                  <a:gd name="T0" fmla="*/ 303 w 615"/>
                  <a:gd name="T1" fmla="*/ 2 h 1027"/>
                  <a:gd name="T2" fmla="*/ 0 w 615"/>
                  <a:gd name="T3" fmla="*/ 309 h 1027"/>
                  <a:gd name="T4" fmla="*/ 123 w 615"/>
                  <a:gd name="T5" fmla="*/ 555 h 1027"/>
                  <a:gd name="T6" fmla="*/ 205 w 615"/>
                  <a:gd name="T7" fmla="*/ 719 h 1027"/>
                  <a:gd name="T8" fmla="*/ 205 w 615"/>
                  <a:gd name="T9" fmla="*/ 922 h 1027"/>
                  <a:gd name="T10" fmla="*/ 309 w 615"/>
                  <a:gd name="T11" fmla="*/ 1026 h 1027"/>
                  <a:gd name="T12" fmla="*/ 410 w 615"/>
                  <a:gd name="T13" fmla="*/ 924 h 1027"/>
                  <a:gd name="T14" fmla="*/ 410 w 615"/>
                  <a:gd name="T15" fmla="*/ 717 h 1027"/>
                  <a:gd name="T16" fmla="*/ 492 w 615"/>
                  <a:gd name="T17" fmla="*/ 555 h 1027"/>
                  <a:gd name="T18" fmla="*/ 615 w 615"/>
                  <a:gd name="T19" fmla="*/ 309 h 1027"/>
                  <a:gd name="T20" fmla="*/ 303 w 615"/>
                  <a:gd name="T21" fmla="*/ 2 h 1027"/>
                  <a:gd name="T22" fmla="*/ 308 w 615"/>
                  <a:gd name="T23" fmla="*/ 412 h 1027"/>
                  <a:gd name="T24" fmla="*/ 205 w 615"/>
                  <a:gd name="T25" fmla="*/ 309 h 1027"/>
                  <a:gd name="T26" fmla="*/ 308 w 615"/>
                  <a:gd name="T27" fmla="*/ 207 h 1027"/>
                  <a:gd name="T28" fmla="*/ 410 w 615"/>
                  <a:gd name="T29" fmla="*/ 309 h 1027"/>
                  <a:gd name="T30" fmla="*/ 308 w 615"/>
                  <a:gd name="T31" fmla="*/ 412 h 1027"/>
                  <a:gd name="T32" fmla="*/ 308 w 615"/>
                  <a:gd name="T33" fmla="*/ 412 h 1027"/>
                  <a:gd name="T34" fmla="*/ 308 w 615"/>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5" h="1027">
                    <a:moveTo>
                      <a:pt x="303" y="2"/>
                    </a:moveTo>
                    <a:cubicBezTo>
                      <a:pt x="136" y="4"/>
                      <a:pt x="0" y="142"/>
                      <a:pt x="0" y="309"/>
                    </a:cubicBezTo>
                    <a:cubicBezTo>
                      <a:pt x="0" y="409"/>
                      <a:pt x="48" y="499"/>
                      <a:pt x="123" y="555"/>
                    </a:cubicBezTo>
                    <a:cubicBezTo>
                      <a:pt x="174" y="594"/>
                      <a:pt x="205" y="654"/>
                      <a:pt x="205" y="719"/>
                    </a:cubicBezTo>
                    <a:cubicBezTo>
                      <a:pt x="205" y="922"/>
                      <a:pt x="205" y="922"/>
                      <a:pt x="205" y="922"/>
                    </a:cubicBezTo>
                    <a:cubicBezTo>
                      <a:pt x="205" y="979"/>
                      <a:pt x="252" y="1027"/>
                      <a:pt x="309" y="1026"/>
                    </a:cubicBezTo>
                    <a:cubicBezTo>
                      <a:pt x="365" y="1025"/>
                      <a:pt x="410" y="980"/>
                      <a:pt x="410" y="924"/>
                    </a:cubicBezTo>
                    <a:cubicBezTo>
                      <a:pt x="410" y="717"/>
                      <a:pt x="410" y="717"/>
                      <a:pt x="410" y="717"/>
                    </a:cubicBezTo>
                    <a:cubicBezTo>
                      <a:pt x="410" y="653"/>
                      <a:pt x="441" y="593"/>
                      <a:pt x="492" y="555"/>
                    </a:cubicBezTo>
                    <a:cubicBezTo>
                      <a:pt x="567" y="499"/>
                      <a:pt x="615" y="409"/>
                      <a:pt x="615" y="309"/>
                    </a:cubicBezTo>
                    <a:cubicBezTo>
                      <a:pt x="615" y="138"/>
                      <a:pt x="475" y="0"/>
                      <a:pt x="303" y="2"/>
                    </a:cubicBezTo>
                    <a:close/>
                    <a:moveTo>
                      <a:pt x="308" y="412"/>
                    </a:moveTo>
                    <a:cubicBezTo>
                      <a:pt x="251" y="412"/>
                      <a:pt x="205" y="366"/>
                      <a:pt x="205" y="309"/>
                    </a:cubicBezTo>
                    <a:cubicBezTo>
                      <a:pt x="205" y="253"/>
                      <a:pt x="251" y="207"/>
                      <a:pt x="308" y="207"/>
                    </a:cubicBezTo>
                    <a:cubicBezTo>
                      <a:pt x="364" y="207"/>
                      <a:pt x="410" y="253"/>
                      <a:pt x="410" y="309"/>
                    </a:cubicBezTo>
                    <a:cubicBezTo>
                      <a:pt x="410" y="366"/>
                      <a:pt x="364" y="412"/>
                      <a:pt x="308" y="412"/>
                    </a:cubicBezTo>
                    <a:close/>
                    <a:moveTo>
                      <a:pt x="308" y="412"/>
                    </a:moveTo>
                    <a:cubicBezTo>
                      <a:pt x="308" y="412"/>
                      <a:pt x="308" y="412"/>
                      <a:pt x="308"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21" name="Freeform 9"/>
              <p:cNvSpPr>
                <a:spLocks/>
              </p:cNvSpPr>
              <p:nvPr/>
            </p:nvSpPr>
            <p:spPr bwMode="auto">
              <a:xfrm>
                <a:off x="15308940" y="4423103"/>
                <a:ext cx="301183" cy="166552"/>
              </a:xfrm>
              <a:custGeom>
                <a:avLst/>
                <a:gdLst>
                  <a:gd name="T0" fmla="*/ 1413 w 1663"/>
                  <a:gd name="T1" fmla="*/ 1229 h 1229"/>
                  <a:gd name="T2" fmla="*/ 1663 w 1663"/>
                  <a:gd name="T3" fmla="*/ 1229 h 1229"/>
                  <a:gd name="T4" fmla="*/ 1639 w 1663"/>
                  <a:gd name="T5" fmla="*/ 1203 h 1229"/>
                  <a:gd name="T6" fmla="*/ 1639 w 1663"/>
                  <a:gd name="T7" fmla="*/ 848 h 1229"/>
                  <a:gd name="T8" fmla="*/ 1642 w 1663"/>
                  <a:gd name="T9" fmla="*/ 825 h 1229"/>
                  <a:gd name="T10" fmla="*/ 1577 w 1663"/>
                  <a:gd name="T11" fmla="*/ 503 h 1229"/>
                  <a:gd name="T12" fmla="*/ 1033 w 1663"/>
                  <a:gd name="T13" fmla="*/ 26 h 1229"/>
                  <a:gd name="T14" fmla="*/ 1016 w 1663"/>
                  <a:gd name="T15" fmla="*/ 22 h 1229"/>
                  <a:gd name="T16" fmla="*/ 1015 w 1663"/>
                  <a:gd name="T17" fmla="*/ 21 h 1229"/>
                  <a:gd name="T18" fmla="*/ 838 w 1663"/>
                  <a:gd name="T19" fmla="*/ 0 h 1229"/>
                  <a:gd name="T20" fmla="*/ 833 w 1663"/>
                  <a:gd name="T21" fmla="*/ 0 h 1229"/>
                  <a:gd name="T22" fmla="*/ 831 w 1663"/>
                  <a:gd name="T23" fmla="*/ 0 h 1229"/>
                  <a:gd name="T24" fmla="*/ 830 w 1663"/>
                  <a:gd name="T25" fmla="*/ 0 h 1229"/>
                  <a:gd name="T26" fmla="*/ 825 w 1663"/>
                  <a:gd name="T27" fmla="*/ 0 h 1229"/>
                  <a:gd name="T28" fmla="*/ 630 w 1663"/>
                  <a:gd name="T29" fmla="*/ 26 h 1229"/>
                  <a:gd name="T30" fmla="*/ 87 w 1663"/>
                  <a:gd name="T31" fmla="*/ 502 h 1229"/>
                  <a:gd name="T32" fmla="*/ 21 w 1663"/>
                  <a:gd name="T33" fmla="*/ 825 h 1229"/>
                  <a:gd name="T34" fmla="*/ 24 w 1663"/>
                  <a:gd name="T35" fmla="*/ 849 h 1229"/>
                  <a:gd name="T36" fmla="*/ 24 w 1663"/>
                  <a:gd name="T37" fmla="*/ 1203 h 1229"/>
                  <a:gd name="T38" fmla="*/ 0 w 1663"/>
                  <a:gd name="T39" fmla="*/ 1229 h 1229"/>
                  <a:gd name="T40" fmla="*/ 250 w 1663"/>
                  <a:gd name="T41" fmla="*/ 1229 h 1229"/>
                  <a:gd name="T42" fmla="*/ 226 w 1663"/>
                  <a:gd name="T43" fmla="*/ 1203 h 1229"/>
                  <a:gd name="T44" fmla="*/ 226 w 1663"/>
                  <a:gd name="T45" fmla="*/ 819 h 1229"/>
                  <a:gd name="T46" fmla="*/ 404 w 1663"/>
                  <a:gd name="T47" fmla="*/ 385 h 1229"/>
                  <a:gd name="T48" fmla="*/ 831 w 1663"/>
                  <a:gd name="T49" fmla="*/ 205 h 1229"/>
                  <a:gd name="T50" fmla="*/ 1259 w 1663"/>
                  <a:gd name="T51" fmla="*/ 385 h 1229"/>
                  <a:gd name="T52" fmla="*/ 1437 w 1663"/>
                  <a:gd name="T53" fmla="*/ 819 h 1229"/>
                  <a:gd name="T54" fmla="*/ 1437 w 1663"/>
                  <a:gd name="T55" fmla="*/ 1203 h 1229"/>
                  <a:gd name="T56" fmla="*/ 1413 w 1663"/>
                  <a:gd name="T57" fmla="*/ 1229 h 1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63" h="1229">
                    <a:moveTo>
                      <a:pt x="1413" y="1229"/>
                    </a:moveTo>
                    <a:cubicBezTo>
                      <a:pt x="1663" y="1229"/>
                      <a:pt x="1663" y="1229"/>
                      <a:pt x="1663" y="1229"/>
                    </a:cubicBezTo>
                    <a:cubicBezTo>
                      <a:pt x="1649" y="1228"/>
                      <a:pt x="1639" y="1217"/>
                      <a:pt x="1639" y="1203"/>
                    </a:cubicBezTo>
                    <a:cubicBezTo>
                      <a:pt x="1639" y="848"/>
                      <a:pt x="1639" y="848"/>
                      <a:pt x="1639" y="848"/>
                    </a:cubicBezTo>
                    <a:cubicBezTo>
                      <a:pt x="1641" y="841"/>
                      <a:pt x="1642" y="833"/>
                      <a:pt x="1642" y="825"/>
                    </a:cubicBezTo>
                    <a:cubicBezTo>
                      <a:pt x="1642" y="712"/>
                      <a:pt x="1618" y="603"/>
                      <a:pt x="1577" y="503"/>
                    </a:cubicBezTo>
                    <a:cubicBezTo>
                      <a:pt x="1480" y="269"/>
                      <a:pt x="1279" y="90"/>
                      <a:pt x="1033" y="26"/>
                    </a:cubicBezTo>
                    <a:cubicBezTo>
                      <a:pt x="1027" y="24"/>
                      <a:pt x="1022" y="23"/>
                      <a:pt x="1016" y="22"/>
                    </a:cubicBezTo>
                    <a:cubicBezTo>
                      <a:pt x="1016" y="22"/>
                      <a:pt x="1016" y="21"/>
                      <a:pt x="1015" y="21"/>
                    </a:cubicBezTo>
                    <a:cubicBezTo>
                      <a:pt x="958" y="8"/>
                      <a:pt x="899" y="0"/>
                      <a:pt x="838" y="0"/>
                    </a:cubicBezTo>
                    <a:cubicBezTo>
                      <a:pt x="837" y="0"/>
                      <a:pt x="835" y="0"/>
                      <a:pt x="833" y="0"/>
                    </a:cubicBezTo>
                    <a:cubicBezTo>
                      <a:pt x="833" y="0"/>
                      <a:pt x="832" y="0"/>
                      <a:pt x="831" y="0"/>
                    </a:cubicBezTo>
                    <a:cubicBezTo>
                      <a:pt x="831" y="0"/>
                      <a:pt x="830" y="0"/>
                      <a:pt x="830" y="0"/>
                    </a:cubicBezTo>
                    <a:cubicBezTo>
                      <a:pt x="828" y="0"/>
                      <a:pt x="826" y="0"/>
                      <a:pt x="825" y="0"/>
                    </a:cubicBezTo>
                    <a:cubicBezTo>
                      <a:pt x="757" y="0"/>
                      <a:pt x="692" y="9"/>
                      <a:pt x="630" y="26"/>
                    </a:cubicBezTo>
                    <a:cubicBezTo>
                      <a:pt x="384" y="90"/>
                      <a:pt x="184" y="268"/>
                      <a:pt x="87" y="502"/>
                    </a:cubicBezTo>
                    <a:cubicBezTo>
                      <a:pt x="45" y="602"/>
                      <a:pt x="21" y="711"/>
                      <a:pt x="21" y="825"/>
                    </a:cubicBezTo>
                    <a:cubicBezTo>
                      <a:pt x="21" y="833"/>
                      <a:pt x="22" y="841"/>
                      <a:pt x="24" y="849"/>
                    </a:cubicBezTo>
                    <a:cubicBezTo>
                      <a:pt x="24" y="1203"/>
                      <a:pt x="24" y="1203"/>
                      <a:pt x="24" y="1203"/>
                    </a:cubicBezTo>
                    <a:cubicBezTo>
                      <a:pt x="24" y="1217"/>
                      <a:pt x="13" y="1228"/>
                      <a:pt x="0" y="1229"/>
                    </a:cubicBezTo>
                    <a:cubicBezTo>
                      <a:pt x="250" y="1229"/>
                      <a:pt x="250" y="1229"/>
                      <a:pt x="250" y="1229"/>
                    </a:cubicBezTo>
                    <a:cubicBezTo>
                      <a:pt x="237" y="1228"/>
                      <a:pt x="226" y="1217"/>
                      <a:pt x="226" y="1203"/>
                    </a:cubicBezTo>
                    <a:cubicBezTo>
                      <a:pt x="226" y="819"/>
                      <a:pt x="226" y="819"/>
                      <a:pt x="226" y="819"/>
                    </a:cubicBezTo>
                    <a:cubicBezTo>
                      <a:pt x="226" y="655"/>
                      <a:pt x="289" y="501"/>
                      <a:pt x="404" y="385"/>
                    </a:cubicBezTo>
                    <a:cubicBezTo>
                      <a:pt x="518" y="269"/>
                      <a:pt x="670" y="205"/>
                      <a:pt x="831" y="205"/>
                    </a:cubicBezTo>
                    <a:cubicBezTo>
                      <a:pt x="993" y="205"/>
                      <a:pt x="1145" y="269"/>
                      <a:pt x="1259" y="385"/>
                    </a:cubicBezTo>
                    <a:cubicBezTo>
                      <a:pt x="1373" y="501"/>
                      <a:pt x="1437" y="655"/>
                      <a:pt x="1437" y="819"/>
                    </a:cubicBezTo>
                    <a:cubicBezTo>
                      <a:pt x="1437" y="1203"/>
                      <a:pt x="1437" y="1203"/>
                      <a:pt x="1437" y="1203"/>
                    </a:cubicBezTo>
                    <a:cubicBezTo>
                      <a:pt x="1437" y="1217"/>
                      <a:pt x="1426" y="1228"/>
                      <a:pt x="1413" y="1229"/>
                    </a:cubicBez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22" name="Freeform 10"/>
              <p:cNvSpPr>
                <a:spLocks noEditPoints="1"/>
              </p:cNvSpPr>
              <p:nvPr/>
            </p:nvSpPr>
            <p:spPr bwMode="auto">
              <a:xfrm>
                <a:off x="15234202" y="4589655"/>
                <a:ext cx="445082" cy="277309"/>
              </a:xfrm>
              <a:custGeom>
                <a:avLst/>
                <a:gdLst>
                  <a:gd name="T0" fmla="*/ 2160 w 2457"/>
                  <a:gd name="T1" fmla="*/ 0 h 2048"/>
                  <a:gd name="T2" fmla="*/ 297 w 2457"/>
                  <a:gd name="T3" fmla="*/ 0 h 2048"/>
                  <a:gd name="T4" fmla="*/ 0 w 2457"/>
                  <a:gd name="T5" fmla="*/ 307 h 2048"/>
                  <a:gd name="T6" fmla="*/ 0 w 2457"/>
                  <a:gd name="T7" fmla="*/ 1740 h 2048"/>
                  <a:gd name="T8" fmla="*/ 307 w 2457"/>
                  <a:gd name="T9" fmla="*/ 2048 h 2048"/>
                  <a:gd name="T10" fmla="*/ 2150 w 2457"/>
                  <a:gd name="T11" fmla="*/ 2048 h 2048"/>
                  <a:gd name="T12" fmla="*/ 2457 w 2457"/>
                  <a:gd name="T13" fmla="*/ 1740 h 2048"/>
                  <a:gd name="T14" fmla="*/ 2457 w 2457"/>
                  <a:gd name="T15" fmla="*/ 307 h 2048"/>
                  <a:gd name="T16" fmla="*/ 2160 w 2457"/>
                  <a:gd name="T17" fmla="*/ 0 h 2048"/>
                  <a:gd name="T18" fmla="*/ 2253 w 2457"/>
                  <a:gd name="T19" fmla="*/ 1740 h 2048"/>
                  <a:gd name="T20" fmla="*/ 2150 w 2457"/>
                  <a:gd name="T21" fmla="*/ 1843 h 2048"/>
                  <a:gd name="T22" fmla="*/ 307 w 2457"/>
                  <a:gd name="T23" fmla="*/ 1843 h 2048"/>
                  <a:gd name="T24" fmla="*/ 205 w 2457"/>
                  <a:gd name="T25" fmla="*/ 1740 h 2048"/>
                  <a:gd name="T26" fmla="*/ 205 w 2457"/>
                  <a:gd name="T27" fmla="*/ 307 h 2048"/>
                  <a:gd name="T28" fmla="*/ 307 w 2457"/>
                  <a:gd name="T29" fmla="*/ 204 h 2048"/>
                  <a:gd name="T30" fmla="*/ 2150 w 2457"/>
                  <a:gd name="T31" fmla="*/ 204 h 2048"/>
                  <a:gd name="T32" fmla="*/ 2253 w 2457"/>
                  <a:gd name="T33" fmla="*/ 307 h 2048"/>
                  <a:gd name="T34" fmla="*/ 2253 w 2457"/>
                  <a:gd name="T35" fmla="*/ 174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57" h="2048">
                    <a:moveTo>
                      <a:pt x="2160" y="0"/>
                    </a:moveTo>
                    <a:cubicBezTo>
                      <a:pt x="297" y="0"/>
                      <a:pt x="297" y="0"/>
                      <a:pt x="297" y="0"/>
                    </a:cubicBezTo>
                    <a:cubicBezTo>
                      <a:pt x="132" y="5"/>
                      <a:pt x="0" y="141"/>
                      <a:pt x="0" y="307"/>
                    </a:cubicBezTo>
                    <a:cubicBezTo>
                      <a:pt x="0" y="1740"/>
                      <a:pt x="0" y="1740"/>
                      <a:pt x="0" y="1740"/>
                    </a:cubicBezTo>
                    <a:cubicBezTo>
                      <a:pt x="0" y="1910"/>
                      <a:pt x="137" y="2048"/>
                      <a:pt x="307" y="2048"/>
                    </a:cubicBezTo>
                    <a:cubicBezTo>
                      <a:pt x="2150" y="2048"/>
                      <a:pt x="2150" y="2048"/>
                      <a:pt x="2150" y="2048"/>
                    </a:cubicBezTo>
                    <a:cubicBezTo>
                      <a:pt x="2320" y="2048"/>
                      <a:pt x="2457" y="1910"/>
                      <a:pt x="2457" y="1740"/>
                    </a:cubicBezTo>
                    <a:cubicBezTo>
                      <a:pt x="2457" y="307"/>
                      <a:pt x="2457" y="307"/>
                      <a:pt x="2457" y="307"/>
                    </a:cubicBezTo>
                    <a:cubicBezTo>
                      <a:pt x="2457" y="141"/>
                      <a:pt x="2325" y="5"/>
                      <a:pt x="2160" y="0"/>
                    </a:cubicBezTo>
                    <a:close/>
                    <a:moveTo>
                      <a:pt x="2253" y="1740"/>
                    </a:moveTo>
                    <a:cubicBezTo>
                      <a:pt x="2253" y="1797"/>
                      <a:pt x="2207" y="1843"/>
                      <a:pt x="2150" y="1843"/>
                    </a:cubicBezTo>
                    <a:cubicBezTo>
                      <a:pt x="307" y="1843"/>
                      <a:pt x="307" y="1843"/>
                      <a:pt x="307" y="1843"/>
                    </a:cubicBezTo>
                    <a:cubicBezTo>
                      <a:pt x="250" y="1843"/>
                      <a:pt x="205" y="1797"/>
                      <a:pt x="205" y="1740"/>
                    </a:cubicBezTo>
                    <a:cubicBezTo>
                      <a:pt x="205" y="307"/>
                      <a:pt x="205" y="307"/>
                      <a:pt x="205" y="307"/>
                    </a:cubicBezTo>
                    <a:cubicBezTo>
                      <a:pt x="205" y="250"/>
                      <a:pt x="250" y="204"/>
                      <a:pt x="307" y="204"/>
                    </a:cubicBezTo>
                    <a:cubicBezTo>
                      <a:pt x="2150" y="204"/>
                      <a:pt x="2150" y="204"/>
                      <a:pt x="2150" y="204"/>
                    </a:cubicBezTo>
                    <a:cubicBezTo>
                      <a:pt x="2207" y="204"/>
                      <a:pt x="2253" y="250"/>
                      <a:pt x="2253" y="307"/>
                    </a:cubicBezTo>
                    <a:lnTo>
                      <a:pt x="2253" y="1740"/>
                    </a:ln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nvGrpSpPr>
          <p:cNvPr id="231" name="组合 230"/>
          <p:cNvGrpSpPr/>
          <p:nvPr/>
        </p:nvGrpSpPr>
        <p:grpSpPr>
          <a:xfrm>
            <a:off x="8302419" y="4267939"/>
            <a:ext cx="298852" cy="117377"/>
            <a:chOff x="15288965" y="4423103"/>
            <a:chExt cx="1130112" cy="443861"/>
          </a:xfrm>
        </p:grpSpPr>
        <p:grpSp>
          <p:nvGrpSpPr>
            <p:cNvPr id="232" name="组合 231"/>
            <p:cNvGrpSpPr/>
            <p:nvPr/>
          </p:nvGrpSpPr>
          <p:grpSpPr>
            <a:xfrm>
              <a:off x="16059077" y="4423103"/>
              <a:ext cx="360000" cy="443861"/>
              <a:chOff x="16059077" y="4423103"/>
              <a:chExt cx="446196" cy="443861"/>
            </a:xfrm>
          </p:grpSpPr>
          <p:sp>
            <p:nvSpPr>
              <p:cNvPr id="237" name="Freeform 7"/>
              <p:cNvSpPr>
                <a:spLocks noEditPoints="1"/>
              </p:cNvSpPr>
              <p:nvPr/>
            </p:nvSpPr>
            <p:spPr bwMode="auto">
              <a:xfrm>
                <a:off x="16226400" y="4672098"/>
                <a:ext cx="111549" cy="139071"/>
              </a:xfrm>
              <a:custGeom>
                <a:avLst/>
                <a:gdLst>
                  <a:gd name="T0" fmla="*/ 303 w 614"/>
                  <a:gd name="T1" fmla="*/ 2 h 1027"/>
                  <a:gd name="T2" fmla="*/ 0 w 614"/>
                  <a:gd name="T3" fmla="*/ 309 h 1027"/>
                  <a:gd name="T4" fmla="*/ 122 w 614"/>
                  <a:gd name="T5" fmla="*/ 555 h 1027"/>
                  <a:gd name="T6" fmla="*/ 205 w 614"/>
                  <a:gd name="T7" fmla="*/ 719 h 1027"/>
                  <a:gd name="T8" fmla="*/ 205 w 614"/>
                  <a:gd name="T9" fmla="*/ 922 h 1027"/>
                  <a:gd name="T10" fmla="*/ 308 w 614"/>
                  <a:gd name="T11" fmla="*/ 1026 h 1027"/>
                  <a:gd name="T12" fmla="*/ 410 w 614"/>
                  <a:gd name="T13" fmla="*/ 924 h 1027"/>
                  <a:gd name="T14" fmla="*/ 410 w 614"/>
                  <a:gd name="T15" fmla="*/ 717 h 1027"/>
                  <a:gd name="T16" fmla="*/ 492 w 614"/>
                  <a:gd name="T17" fmla="*/ 555 h 1027"/>
                  <a:gd name="T18" fmla="*/ 614 w 614"/>
                  <a:gd name="T19" fmla="*/ 309 h 1027"/>
                  <a:gd name="T20" fmla="*/ 303 w 614"/>
                  <a:gd name="T21" fmla="*/ 2 h 1027"/>
                  <a:gd name="T22" fmla="*/ 307 w 614"/>
                  <a:gd name="T23" fmla="*/ 412 h 1027"/>
                  <a:gd name="T24" fmla="*/ 205 w 614"/>
                  <a:gd name="T25" fmla="*/ 309 h 1027"/>
                  <a:gd name="T26" fmla="*/ 307 w 614"/>
                  <a:gd name="T27" fmla="*/ 207 h 1027"/>
                  <a:gd name="T28" fmla="*/ 410 w 614"/>
                  <a:gd name="T29" fmla="*/ 309 h 1027"/>
                  <a:gd name="T30" fmla="*/ 307 w 614"/>
                  <a:gd name="T31" fmla="*/ 412 h 1027"/>
                  <a:gd name="T32" fmla="*/ 307 w 614"/>
                  <a:gd name="T33" fmla="*/ 412 h 1027"/>
                  <a:gd name="T34" fmla="*/ 307 w 614"/>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4" h="1027">
                    <a:moveTo>
                      <a:pt x="303" y="2"/>
                    </a:moveTo>
                    <a:cubicBezTo>
                      <a:pt x="136" y="4"/>
                      <a:pt x="0" y="142"/>
                      <a:pt x="0" y="309"/>
                    </a:cubicBezTo>
                    <a:cubicBezTo>
                      <a:pt x="0" y="409"/>
                      <a:pt x="48" y="499"/>
                      <a:pt x="122" y="555"/>
                    </a:cubicBezTo>
                    <a:cubicBezTo>
                      <a:pt x="174" y="594"/>
                      <a:pt x="205" y="654"/>
                      <a:pt x="205" y="719"/>
                    </a:cubicBezTo>
                    <a:cubicBezTo>
                      <a:pt x="205" y="922"/>
                      <a:pt x="205" y="922"/>
                      <a:pt x="205" y="922"/>
                    </a:cubicBezTo>
                    <a:cubicBezTo>
                      <a:pt x="205" y="979"/>
                      <a:pt x="252" y="1027"/>
                      <a:pt x="308" y="1026"/>
                    </a:cubicBezTo>
                    <a:cubicBezTo>
                      <a:pt x="364" y="1025"/>
                      <a:pt x="410" y="980"/>
                      <a:pt x="410" y="924"/>
                    </a:cubicBezTo>
                    <a:cubicBezTo>
                      <a:pt x="410" y="717"/>
                      <a:pt x="410" y="717"/>
                      <a:pt x="410" y="717"/>
                    </a:cubicBezTo>
                    <a:cubicBezTo>
                      <a:pt x="410" y="653"/>
                      <a:pt x="441" y="593"/>
                      <a:pt x="492" y="555"/>
                    </a:cubicBezTo>
                    <a:cubicBezTo>
                      <a:pt x="566" y="499"/>
                      <a:pt x="614" y="409"/>
                      <a:pt x="614" y="309"/>
                    </a:cubicBezTo>
                    <a:cubicBezTo>
                      <a:pt x="614" y="138"/>
                      <a:pt x="475" y="0"/>
                      <a:pt x="303" y="2"/>
                    </a:cubicBezTo>
                    <a:close/>
                    <a:moveTo>
                      <a:pt x="307" y="412"/>
                    </a:moveTo>
                    <a:cubicBezTo>
                      <a:pt x="251" y="412"/>
                      <a:pt x="205" y="366"/>
                      <a:pt x="205" y="309"/>
                    </a:cubicBezTo>
                    <a:cubicBezTo>
                      <a:pt x="205" y="253"/>
                      <a:pt x="251" y="207"/>
                      <a:pt x="307" y="207"/>
                    </a:cubicBezTo>
                    <a:cubicBezTo>
                      <a:pt x="364" y="207"/>
                      <a:pt x="410" y="253"/>
                      <a:pt x="410" y="309"/>
                    </a:cubicBezTo>
                    <a:cubicBezTo>
                      <a:pt x="410" y="366"/>
                      <a:pt x="364" y="412"/>
                      <a:pt x="307" y="412"/>
                    </a:cubicBezTo>
                    <a:close/>
                    <a:moveTo>
                      <a:pt x="307" y="412"/>
                    </a:moveTo>
                    <a:cubicBezTo>
                      <a:pt x="307" y="412"/>
                      <a:pt x="307" y="412"/>
                      <a:pt x="307"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38" name="Freeform 8"/>
              <p:cNvSpPr>
                <a:spLocks noEditPoints="1"/>
              </p:cNvSpPr>
              <p:nvPr/>
            </p:nvSpPr>
            <p:spPr bwMode="auto">
              <a:xfrm>
                <a:off x="16059077" y="4423103"/>
                <a:ext cx="446196" cy="443861"/>
              </a:xfrm>
              <a:custGeom>
                <a:avLst/>
                <a:gdLst>
                  <a:gd name="T0" fmla="*/ 640 w 2458"/>
                  <a:gd name="T1" fmla="*/ 1231 h 3279"/>
                  <a:gd name="T2" fmla="*/ 615 w 2458"/>
                  <a:gd name="T3" fmla="*/ 1205 h 3279"/>
                  <a:gd name="T4" fmla="*/ 615 w 2458"/>
                  <a:gd name="T5" fmla="*/ 821 h 3279"/>
                  <a:gd name="T6" fmla="*/ 795 w 2458"/>
                  <a:gd name="T7" fmla="*/ 387 h 3279"/>
                  <a:gd name="T8" fmla="*/ 1229 w 2458"/>
                  <a:gd name="T9" fmla="*/ 207 h 3279"/>
                  <a:gd name="T10" fmla="*/ 1664 w 2458"/>
                  <a:gd name="T11" fmla="*/ 387 h 3279"/>
                  <a:gd name="T12" fmla="*/ 1844 w 2458"/>
                  <a:gd name="T13" fmla="*/ 821 h 3279"/>
                  <a:gd name="T14" fmla="*/ 1844 w 2458"/>
                  <a:gd name="T15" fmla="*/ 827 h 3279"/>
                  <a:gd name="T16" fmla="*/ 1940 w 2458"/>
                  <a:gd name="T17" fmla="*/ 923 h 3279"/>
                  <a:gd name="T18" fmla="*/ 1952 w 2458"/>
                  <a:gd name="T19" fmla="*/ 923 h 3279"/>
                  <a:gd name="T20" fmla="*/ 2048 w 2458"/>
                  <a:gd name="T21" fmla="*/ 827 h 3279"/>
                  <a:gd name="T22" fmla="*/ 1226 w 2458"/>
                  <a:gd name="T23" fmla="*/ 2 h 3279"/>
                  <a:gd name="T24" fmla="*/ 410 w 2458"/>
                  <a:gd name="T25" fmla="*/ 821 h 3279"/>
                  <a:gd name="T26" fmla="*/ 410 w 2458"/>
                  <a:gd name="T27" fmla="*/ 1205 h 3279"/>
                  <a:gd name="T28" fmla="*/ 384 w 2458"/>
                  <a:gd name="T29" fmla="*/ 1231 h 3279"/>
                  <a:gd name="T30" fmla="*/ 308 w 2458"/>
                  <a:gd name="T31" fmla="*/ 1231 h 3279"/>
                  <a:gd name="T32" fmla="*/ 0 w 2458"/>
                  <a:gd name="T33" fmla="*/ 1538 h 3279"/>
                  <a:gd name="T34" fmla="*/ 0 w 2458"/>
                  <a:gd name="T35" fmla="*/ 2971 h 3279"/>
                  <a:gd name="T36" fmla="*/ 308 w 2458"/>
                  <a:gd name="T37" fmla="*/ 3279 h 3279"/>
                  <a:gd name="T38" fmla="*/ 2151 w 2458"/>
                  <a:gd name="T39" fmla="*/ 3279 h 3279"/>
                  <a:gd name="T40" fmla="*/ 2458 w 2458"/>
                  <a:gd name="T41" fmla="*/ 2971 h 3279"/>
                  <a:gd name="T42" fmla="*/ 2458 w 2458"/>
                  <a:gd name="T43" fmla="*/ 1538 h 3279"/>
                  <a:gd name="T44" fmla="*/ 2151 w 2458"/>
                  <a:gd name="T45" fmla="*/ 1231 h 3279"/>
                  <a:gd name="T46" fmla="*/ 640 w 2458"/>
                  <a:gd name="T47" fmla="*/ 1231 h 3279"/>
                  <a:gd name="T48" fmla="*/ 2151 w 2458"/>
                  <a:gd name="T49" fmla="*/ 3074 h 3279"/>
                  <a:gd name="T50" fmla="*/ 308 w 2458"/>
                  <a:gd name="T51" fmla="*/ 3074 h 3279"/>
                  <a:gd name="T52" fmla="*/ 205 w 2458"/>
                  <a:gd name="T53" fmla="*/ 2971 h 3279"/>
                  <a:gd name="T54" fmla="*/ 205 w 2458"/>
                  <a:gd name="T55" fmla="*/ 1538 h 3279"/>
                  <a:gd name="T56" fmla="*/ 308 w 2458"/>
                  <a:gd name="T57" fmla="*/ 1435 h 3279"/>
                  <a:gd name="T58" fmla="*/ 2151 w 2458"/>
                  <a:gd name="T59" fmla="*/ 1435 h 3279"/>
                  <a:gd name="T60" fmla="*/ 2253 w 2458"/>
                  <a:gd name="T61" fmla="*/ 1538 h 3279"/>
                  <a:gd name="T62" fmla="*/ 2253 w 2458"/>
                  <a:gd name="T63" fmla="*/ 2971 h 3279"/>
                  <a:gd name="T64" fmla="*/ 2151 w 2458"/>
                  <a:gd name="T65" fmla="*/ 3074 h 3279"/>
                  <a:gd name="T66" fmla="*/ 2151 w 2458"/>
                  <a:gd name="T67" fmla="*/ 3074 h 3279"/>
                  <a:gd name="T68" fmla="*/ 2151 w 2458"/>
                  <a:gd name="T69" fmla="*/ 3074 h 3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58" h="3279">
                    <a:moveTo>
                      <a:pt x="640" y="1231"/>
                    </a:moveTo>
                    <a:cubicBezTo>
                      <a:pt x="626" y="1231"/>
                      <a:pt x="615" y="1219"/>
                      <a:pt x="615" y="1205"/>
                    </a:cubicBezTo>
                    <a:cubicBezTo>
                      <a:pt x="615" y="821"/>
                      <a:pt x="615" y="821"/>
                      <a:pt x="615" y="821"/>
                    </a:cubicBezTo>
                    <a:cubicBezTo>
                      <a:pt x="615" y="657"/>
                      <a:pt x="679" y="503"/>
                      <a:pt x="795" y="387"/>
                    </a:cubicBezTo>
                    <a:cubicBezTo>
                      <a:pt x="911" y="271"/>
                      <a:pt x="1065" y="207"/>
                      <a:pt x="1229" y="207"/>
                    </a:cubicBezTo>
                    <a:cubicBezTo>
                      <a:pt x="1393" y="207"/>
                      <a:pt x="1548" y="271"/>
                      <a:pt x="1664" y="387"/>
                    </a:cubicBezTo>
                    <a:cubicBezTo>
                      <a:pt x="1780" y="503"/>
                      <a:pt x="1844" y="657"/>
                      <a:pt x="1844" y="821"/>
                    </a:cubicBezTo>
                    <a:cubicBezTo>
                      <a:pt x="1844" y="827"/>
                      <a:pt x="1844" y="827"/>
                      <a:pt x="1844" y="827"/>
                    </a:cubicBezTo>
                    <a:cubicBezTo>
                      <a:pt x="1844" y="881"/>
                      <a:pt x="1886" y="923"/>
                      <a:pt x="1940" y="923"/>
                    </a:cubicBezTo>
                    <a:cubicBezTo>
                      <a:pt x="1952" y="923"/>
                      <a:pt x="1952" y="923"/>
                      <a:pt x="1952" y="923"/>
                    </a:cubicBezTo>
                    <a:cubicBezTo>
                      <a:pt x="2005" y="923"/>
                      <a:pt x="2048" y="881"/>
                      <a:pt x="2048" y="827"/>
                    </a:cubicBezTo>
                    <a:cubicBezTo>
                      <a:pt x="2048" y="375"/>
                      <a:pt x="1678" y="0"/>
                      <a:pt x="1226" y="2"/>
                    </a:cubicBezTo>
                    <a:cubicBezTo>
                      <a:pt x="775" y="3"/>
                      <a:pt x="410" y="370"/>
                      <a:pt x="410" y="821"/>
                    </a:cubicBezTo>
                    <a:cubicBezTo>
                      <a:pt x="410" y="1205"/>
                      <a:pt x="410" y="1205"/>
                      <a:pt x="410" y="1205"/>
                    </a:cubicBezTo>
                    <a:cubicBezTo>
                      <a:pt x="410" y="1219"/>
                      <a:pt x="398" y="1231"/>
                      <a:pt x="384" y="1231"/>
                    </a:cubicBezTo>
                    <a:cubicBezTo>
                      <a:pt x="308" y="1231"/>
                      <a:pt x="308" y="1231"/>
                      <a:pt x="308" y="1231"/>
                    </a:cubicBezTo>
                    <a:cubicBezTo>
                      <a:pt x="138" y="1231"/>
                      <a:pt x="0" y="1368"/>
                      <a:pt x="0" y="1538"/>
                    </a:cubicBezTo>
                    <a:cubicBezTo>
                      <a:pt x="0" y="2971"/>
                      <a:pt x="0" y="2971"/>
                      <a:pt x="0" y="2971"/>
                    </a:cubicBezTo>
                    <a:cubicBezTo>
                      <a:pt x="0" y="3141"/>
                      <a:pt x="138" y="3279"/>
                      <a:pt x="308" y="3279"/>
                    </a:cubicBezTo>
                    <a:cubicBezTo>
                      <a:pt x="2151" y="3279"/>
                      <a:pt x="2151" y="3279"/>
                      <a:pt x="2151" y="3279"/>
                    </a:cubicBezTo>
                    <a:cubicBezTo>
                      <a:pt x="2320" y="3279"/>
                      <a:pt x="2458" y="3141"/>
                      <a:pt x="2458" y="2971"/>
                    </a:cubicBezTo>
                    <a:cubicBezTo>
                      <a:pt x="2458" y="1538"/>
                      <a:pt x="2458" y="1538"/>
                      <a:pt x="2458" y="1538"/>
                    </a:cubicBezTo>
                    <a:cubicBezTo>
                      <a:pt x="2458" y="1368"/>
                      <a:pt x="2320" y="1231"/>
                      <a:pt x="2151" y="1231"/>
                    </a:cubicBezTo>
                    <a:lnTo>
                      <a:pt x="640" y="1231"/>
                    </a:lnTo>
                    <a:close/>
                    <a:moveTo>
                      <a:pt x="2151" y="3074"/>
                    </a:moveTo>
                    <a:cubicBezTo>
                      <a:pt x="308" y="3074"/>
                      <a:pt x="308" y="3074"/>
                      <a:pt x="308" y="3074"/>
                    </a:cubicBezTo>
                    <a:cubicBezTo>
                      <a:pt x="251" y="3074"/>
                      <a:pt x="205" y="3028"/>
                      <a:pt x="205" y="2971"/>
                    </a:cubicBezTo>
                    <a:cubicBezTo>
                      <a:pt x="205" y="1538"/>
                      <a:pt x="205" y="1538"/>
                      <a:pt x="205" y="1538"/>
                    </a:cubicBezTo>
                    <a:cubicBezTo>
                      <a:pt x="205" y="1481"/>
                      <a:pt x="251" y="1435"/>
                      <a:pt x="308" y="1435"/>
                    </a:cubicBezTo>
                    <a:cubicBezTo>
                      <a:pt x="2151" y="1435"/>
                      <a:pt x="2151" y="1435"/>
                      <a:pt x="2151" y="1435"/>
                    </a:cubicBezTo>
                    <a:cubicBezTo>
                      <a:pt x="2207" y="1435"/>
                      <a:pt x="2253" y="1481"/>
                      <a:pt x="2253" y="1538"/>
                    </a:cubicBezTo>
                    <a:cubicBezTo>
                      <a:pt x="2253" y="2971"/>
                      <a:pt x="2253" y="2971"/>
                      <a:pt x="2253" y="2971"/>
                    </a:cubicBezTo>
                    <a:cubicBezTo>
                      <a:pt x="2253" y="3028"/>
                      <a:pt x="2207" y="3074"/>
                      <a:pt x="2151" y="3074"/>
                    </a:cubicBezTo>
                    <a:close/>
                    <a:moveTo>
                      <a:pt x="2151" y="3074"/>
                    </a:moveTo>
                    <a:cubicBezTo>
                      <a:pt x="2151" y="3074"/>
                      <a:pt x="2151" y="3074"/>
                      <a:pt x="2151" y="3074"/>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nvGrpSpPr>
            <p:cNvPr id="233" name="组合 232"/>
            <p:cNvGrpSpPr/>
            <p:nvPr/>
          </p:nvGrpSpPr>
          <p:grpSpPr>
            <a:xfrm>
              <a:off x="15288965" y="4423103"/>
              <a:ext cx="360000" cy="443861"/>
              <a:chOff x="15234202" y="4423103"/>
              <a:chExt cx="445082" cy="443861"/>
            </a:xfrm>
          </p:grpSpPr>
          <p:sp>
            <p:nvSpPr>
              <p:cNvPr id="234" name="Freeform 6"/>
              <p:cNvSpPr>
                <a:spLocks noEditPoints="1"/>
              </p:cNvSpPr>
              <p:nvPr/>
            </p:nvSpPr>
            <p:spPr bwMode="auto">
              <a:xfrm>
                <a:off x="15401526" y="4672098"/>
                <a:ext cx="111549" cy="139071"/>
              </a:xfrm>
              <a:custGeom>
                <a:avLst/>
                <a:gdLst>
                  <a:gd name="T0" fmla="*/ 303 w 615"/>
                  <a:gd name="T1" fmla="*/ 2 h 1027"/>
                  <a:gd name="T2" fmla="*/ 0 w 615"/>
                  <a:gd name="T3" fmla="*/ 309 h 1027"/>
                  <a:gd name="T4" fmla="*/ 123 w 615"/>
                  <a:gd name="T5" fmla="*/ 555 h 1027"/>
                  <a:gd name="T6" fmla="*/ 205 w 615"/>
                  <a:gd name="T7" fmla="*/ 719 h 1027"/>
                  <a:gd name="T8" fmla="*/ 205 w 615"/>
                  <a:gd name="T9" fmla="*/ 922 h 1027"/>
                  <a:gd name="T10" fmla="*/ 309 w 615"/>
                  <a:gd name="T11" fmla="*/ 1026 h 1027"/>
                  <a:gd name="T12" fmla="*/ 410 w 615"/>
                  <a:gd name="T13" fmla="*/ 924 h 1027"/>
                  <a:gd name="T14" fmla="*/ 410 w 615"/>
                  <a:gd name="T15" fmla="*/ 717 h 1027"/>
                  <a:gd name="T16" fmla="*/ 492 w 615"/>
                  <a:gd name="T17" fmla="*/ 555 h 1027"/>
                  <a:gd name="T18" fmla="*/ 615 w 615"/>
                  <a:gd name="T19" fmla="*/ 309 h 1027"/>
                  <a:gd name="T20" fmla="*/ 303 w 615"/>
                  <a:gd name="T21" fmla="*/ 2 h 1027"/>
                  <a:gd name="T22" fmla="*/ 308 w 615"/>
                  <a:gd name="T23" fmla="*/ 412 h 1027"/>
                  <a:gd name="T24" fmla="*/ 205 w 615"/>
                  <a:gd name="T25" fmla="*/ 309 h 1027"/>
                  <a:gd name="T26" fmla="*/ 308 w 615"/>
                  <a:gd name="T27" fmla="*/ 207 h 1027"/>
                  <a:gd name="T28" fmla="*/ 410 w 615"/>
                  <a:gd name="T29" fmla="*/ 309 h 1027"/>
                  <a:gd name="T30" fmla="*/ 308 w 615"/>
                  <a:gd name="T31" fmla="*/ 412 h 1027"/>
                  <a:gd name="T32" fmla="*/ 308 w 615"/>
                  <a:gd name="T33" fmla="*/ 412 h 1027"/>
                  <a:gd name="T34" fmla="*/ 308 w 615"/>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5" h="1027">
                    <a:moveTo>
                      <a:pt x="303" y="2"/>
                    </a:moveTo>
                    <a:cubicBezTo>
                      <a:pt x="136" y="4"/>
                      <a:pt x="0" y="142"/>
                      <a:pt x="0" y="309"/>
                    </a:cubicBezTo>
                    <a:cubicBezTo>
                      <a:pt x="0" y="409"/>
                      <a:pt x="48" y="499"/>
                      <a:pt x="123" y="555"/>
                    </a:cubicBezTo>
                    <a:cubicBezTo>
                      <a:pt x="174" y="594"/>
                      <a:pt x="205" y="654"/>
                      <a:pt x="205" y="719"/>
                    </a:cubicBezTo>
                    <a:cubicBezTo>
                      <a:pt x="205" y="922"/>
                      <a:pt x="205" y="922"/>
                      <a:pt x="205" y="922"/>
                    </a:cubicBezTo>
                    <a:cubicBezTo>
                      <a:pt x="205" y="979"/>
                      <a:pt x="252" y="1027"/>
                      <a:pt x="309" y="1026"/>
                    </a:cubicBezTo>
                    <a:cubicBezTo>
                      <a:pt x="365" y="1025"/>
                      <a:pt x="410" y="980"/>
                      <a:pt x="410" y="924"/>
                    </a:cubicBezTo>
                    <a:cubicBezTo>
                      <a:pt x="410" y="717"/>
                      <a:pt x="410" y="717"/>
                      <a:pt x="410" y="717"/>
                    </a:cubicBezTo>
                    <a:cubicBezTo>
                      <a:pt x="410" y="653"/>
                      <a:pt x="441" y="593"/>
                      <a:pt x="492" y="555"/>
                    </a:cubicBezTo>
                    <a:cubicBezTo>
                      <a:pt x="567" y="499"/>
                      <a:pt x="615" y="409"/>
                      <a:pt x="615" y="309"/>
                    </a:cubicBezTo>
                    <a:cubicBezTo>
                      <a:pt x="615" y="138"/>
                      <a:pt x="475" y="0"/>
                      <a:pt x="303" y="2"/>
                    </a:cubicBezTo>
                    <a:close/>
                    <a:moveTo>
                      <a:pt x="308" y="412"/>
                    </a:moveTo>
                    <a:cubicBezTo>
                      <a:pt x="251" y="412"/>
                      <a:pt x="205" y="366"/>
                      <a:pt x="205" y="309"/>
                    </a:cubicBezTo>
                    <a:cubicBezTo>
                      <a:pt x="205" y="253"/>
                      <a:pt x="251" y="207"/>
                      <a:pt x="308" y="207"/>
                    </a:cubicBezTo>
                    <a:cubicBezTo>
                      <a:pt x="364" y="207"/>
                      <a:pt x="410" y="253"/>
                      <a:pt x="410" y="309"/>
                    </a:cubicBezTo>
                    <a:cubicBezTo>
                      <a:pt x="410" y="366"/>
                      <a:pt x="364" y="412"/>
                      <a:pt x="308" y="412"/>
                    </a:cubicBezTo>
                    <a:close/>
                    <a:moveTo>
                      <a:pt x="308" y="412"/>
                    </a:moveTo>
                    <a:cubicBezTo>
                      <a:pt x="308" y="412"/>
                      <a:pt x="308" y="412"/>
                      <a:pt x="308"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35" name="Freeform 9"/>
              <p:cNvSpPr>
                <a:spLocks/>
              </p:cNvSpPr>
              <p:nvPr/>
            </p:nvSpPr>
            <p:spPr bwMode="auto">
              <a:xfrm>
                <a:off x="15308940" y="4423103"/>
                <a:ext cx="301183" cy="166552"/>
              </a:xfrm>
              <a:custGeom>
                <a:avLst/>
                <a:gdLst>
                  <a:gd name="T0" fmla="*/ 1413 w 1663"/>
                  <a:gd name="T1" fmla="*/ 1229 h 1229"/>
                  <a:gd name="T2" fmla="*/ 1663 w 1663"/>
                  <a:gd name="T3" fmla="*/ 1229 h 1229"/>
                  <a:gd name="T4" fmla="*/ 1639 w 1663"/>
                  <a:gd name="T5" fmla="*/ 1203 h 1229"/>
                  <a:gd name="T6" fmla="*/ 1639 w 1663"/>
                  <a:gd name="T7" fmla="*/ 848 h 1229"/>
                  <a:gd name="T8" fmla="*/ 1642 w 1663"/>
                  <a:gd name="T9" fmla="*/ 825 h 1229"/>
                  <a:gd name="T10" fmla="*/ 1577 w 1663"/>
                  <a:gd name="T11" fmla="*/ 503 h 1229"/>
                  <a:gd name="T12" fmla="*/ 1033 w 1663"/>
                  <a:gd name="T13" fmla="*/ 26 h 1229"/>
                  <a:gd name="T14" fmla="*/ 1016 w 1663"/>
                  <a:gd name="T15" fmla="*/ 22 h 1229"/>
                  <a:gd name="T16" fmla="*/ 1015 w 1663"/>
                  <a:gd name="T17" fmla="*/ 21 h 1229"/>
                  <a:gd name="T18" fmla="*/ 838 w 1663"/>
                  <a:gd name="T19" fmla="*/ 0 h 1229"/>
                  <a:gd name="T20" fmla="*/ 833 w 1663"/>
                  <a:gd name="T21" fmla="*/ 0 h 1229"/>
                  <a:gd name="T22" fmla="*/ 831 w 1663"/>
                  <a:gd name="T23" fmla="*/ 0 h 1229"/>
                  <a:gd name="T24" fmla="*/ 830 w 1663"/>
                  <a:gd name="T25" fmla="*/ 0 h 1229"/>
                  <a:gd name="T26" fmla="*/ 825 w 1663"/>
                  <a:gd name="T27" fmla="*/ 0 h 1229"/>
                  <a:gd name="T28" fmla="*/ 630 w 1663"/>
                  <a:gd name="T29" fmla="*/ 26 h 1229"/>
                  <a:gd name="T30" fmla="*/ 87 w 1663"/>
                  <a:gd name="T31" fmla="*/ 502 h 1229"/>
                  <a:gd name="T32" fmla="*/ 21 w 1663"/>
                  <a:gd name="T33" fmla="*/ 825 h 1229"/>
                  <a:gd name="T34" fmla="*/ 24 w 1663"/>
                  <a:gd name="T35" fmla="*/ 849 h 1229"/>
                  <a:gd name="T36" fmla="*/ 24 w 1663"/>
                  <a:gd name="T37" fmla="*/ 1203 h 1229"/>
                  <a:gd name="T38" fmla="*/ 0 w 1663"/>
                  <a:gd name="T39" fmla="*/ 1229 h 1229"/>
                  <a:gd name="T40" fmla="*/ 250 w 1663"/>
                  <a:gd name="T41" fmla="*/ 1229 h 1229"/>
                  <a:gd name="T42" fmla="*/ 226 w 1663"/>
                  <a:gd name="T43" fmla="*/ 1203 h 1229"/>
                  <a:gd name="T44" fmla="*/ 226 w 1663"/>
                  <a:gd name="T45" fmla="*/ 819 h 1229"/>
                  <a:gd name="T46" fmla="*/ 404 w 1663"/>
                  <a:gd name="T47" fmla="*/ 385 h 1229"/>
                  <a:gd name="T48" fmla="*/ 831 w 1663"/>
                  <a:gd name="T49" fmla="*/ 205 h 1229"/>
                  <a:gd name="T50" fmla="*/ 1259 w 1663"/>
                  <a:gd name="T51" fmla="*/ 385 h 1229"/>
                  <a:gd name="T52" fmla="*/ 1437 w 1663"/>
                  <a:gd name="T53" fmla="*/ 819 h 1229"/>
                  <a:gd name="T54" fmla="*/ 1437 w 1663"/>
                  <a:gd name="T55" fmla="*/ 1203 h 1229"/>
                  <a:gd name="T56" fmla="*/ 1413 w 1663"/>
                  <a:gd name="T57" fmla="*/ 1229 h 1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63" h="1229">
                    <a:moveTo>
                      <a:pt x="1413" y="1229"/>
                    </a:moveTo>
                    <a:cubicBezTo>
                      <a:pt x="1663" y="1229"/>
                      <a:pt x="1663" y="1229"/>
                      <a:pt x="1663" y="1229"/>
                    </a:cubicBezTo>
                    <a:cubicBezTo>
                      <a:pt x="1649" y="1228"/>
                      <a:pt x="1639" y="1217"/>
                      <a:pt x="1639" y="1203"/>
                    </a:cubicBezTo>
                    <a:cubicBezTo>
                      <a:pt x="1639" y="848"/>
                      <a:pt x="1639" y="848"/>
                      <a:pt x="1639" y="848"/>
                    </a:cubicBezTo>
                    <a:cubicBezTo>
                      <a:pt x="1641" y="841"/>
                      <a:pt x="1642" y="833"/>
                      <a:pt x="1642" y="825"/>
                    </a:cubicBezTo>
                    <a:cubicBezTo>
                      <a:pt x="1642" y="712"/>
                      <a:pt x="1618" y="603"/>
                      <a:pt x="1577" y="503"/>
                    </a:cubicBezTo>
                    <a:cubicBezTo>
                      <a:pt x="1480" y="269"/>
                      <a:pt x="1279" y="90"/>
                      <a:pt x="1033" y="26"/>
                    </a:cubicBezTo>
                    <a:cubicBezTo>
                      <a:pt x="1027" y="24"/>
                      <a:pt x="1022" y="23"/>
                      <a:pt x="1016" y="22"/>
                    </a:cubicBezTo>
                    <a:cubicBezTo>
                      <a:pt x="1016" y="22"/>
                      <a:pt x="1016" y="21"/>
                      <a:pt x="1015" y="21"/>
                    </a:cubicBezTo>
                    <a:cubicBezTo>
                      <a:pt x="958" y="8"/>
                      <a:pt x="899" y="0"/>
                      <a:pt x="838" y="0"/>
                    </a:cubicBezTo>
                    <a:cubicBezTo>
                      <a:pt x="837" y="0"/>
                      <a:pt x="835" y="0"/>
                      <a:pt x="833" y="0"/>
                    </a:cubicBezTo>
                    <a:cubicBezTo>
                      <a:pt x="833" y="0"/>
                      <a:pt x="832" y="0"/>
                      <a:pt x="831" y="0"/>
                    </a:cubicBezTo>
                    <a:cubicBezTo>
                      <a:pt x="831" y="0"/>
                      <a:pt x="830" y="0"/>
                      <a:pt x="830" y="0"/>
                    </a:cubicBezTo>
                    <a:cubicBezTo>
                      <a:pt x="828" y="0"/>
                      <a:pt x="826" y="0"/>
                      <a:pt x="825" y="0"/>
                    </a:cubicBezTo>
                    <a:cubicBezTo>
                      <a:pt x="757" y="0"/>
                      <a:pt x="692" y="9"/>
                      <a:pt x="630" y="26"/>
                    </a:cubicBezTo>
                    <a:cubicBezTo>
                      <a:pt x="384" y="90"/>
                      <a:pt x="184" y="268"/>
                      <a:pt x="87" y="502"/>
                    </a:cubicBezTo>
                    <a:cubicBezTo>
                      <a:pt x="45" y="602"/>
                      <a:pt x="21" y="711"/>
                      <a:pt x="21" y="825"/>
                    </a:cubicBezTo>
                    <a:cubicBezTo>
                      <a:pt x="21" y="833"/>
                      <a:pt x="22" y="841"/>
                      <a:pt x="24" y="849"/>
                    </a:cubicBezTo>
                    <a:cubicBezTo>
                      <a:pt x="24" y="1203"/>
                      <a:pt x="24" y="1203"/>
                      <a:pt x="24" y="1203"/>
                    </a:cubicBezTo>
                    <a:cubicBezTo>
                      <a:pt x="24" y="1217"/>
                      <a:pt x="13" y="1228"/>
                      <a:pt x="0" y="1229"/>
                    </a:cubicBezTo>
                    <a:cubicBezTo>
                      <a:pt x="250" y="1229"/>
                      <a:pt x="250" y="1229"/>
                      <a:pt x="250" y="1229"/>
                    </a:cubicBezTo>
                    <a:cubicBezTo>
                      <a:pt x="237" y="1228"/>
                      <a:pt x="226" y="1217"/>
                      <a:pt x="226" y="1203"/>
                    </a:cubicBezTo>
                    <a:cubicBezTo>
                      <a:pt x="226" y="819"/>
                      <a:pt x="226" y="819"/>
                      <a:pt x="226" y="819"/>
                    </a:cubicBezTo>
                    <a:cubicBezTo>
                      <a:pt x="226" y="655"/>
                      <a:pt x="289" y="501"/>
                      <a:pt x="404" y="385"/>
                    </a:cubicBezTo>
                    <a:cubicBezTo>
                      <a:pt x="518" y="269"/>
                      <a:pt x="670" y="205"/>
                      <a:pt x="831" y="205"/>
                    </a:cubicBezTo>
                    <a:cubicBezTo>
                      <a:pt x="993" y="205"/>
                      <a:pt x="1145" y="269"/>
                      <a:pt x="1259" y="385"/>
                    </a:cubicBezTo>
                    <a:cubicBezTo>
                      <a:pt x="1373" y="501"/>
                      <a:pt x="1437" y="655"/>
                      <a:pt x="1437" y="819"/>
                    </a:cubicBezTo>
                    <a:cubicBezTo>
                      <a:pt x="1437" y="1203"/>
                      <a:pt x="1437" y="1203"/>
                      <a:pt x="1437" y="1203"/>
                    </a:cubicBezTo>
                    <a:cubicBezTo>
                      <a:pt x="1437" y="1217"/>
                      <a:pt x="1426" y="1228"/>
                      <a:pt x="1413" y="1229"/>
                    </a:cubicBez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36" name="Freeform 10"/>
              <p:cNvSpPr>
                <a:spLocks noEditPoints="1"/>
              </p:cNvSpPr>
              <p:nvPr/>
            </p:nvSpPr>
            <p:spPr bwMode="auto">
              <a:xfrm>
                <a:off x="15234202" y="4589655"/>
                <a:ext cx="445082" cy="277309"/>
              </a:xfrm>
              <a:custGeom>
                <a:avLst/>
                <a:gdLst>
                  <a:gd name="T0" fmla="*/ 2160 w 2457"/>
                  <a:gd name="T1" fmla="*/ 0 h 2048"/>
                  <a:gd name="T2" fmla="*/ 297 w 2457"/>
                  <a:gd name="T3" fmla="*/ 0 h 2048"/>
                  <a:gd name="T4" fmla="*/ 0 w 2457"/>
                  <a:gd name="T5" fmla="*/ 307 h 2048"/>
                  <a:gd name="T6" fmla="*/ 0 w 2457"/>
                  <a:gd name="T7" fmla="*/ 1740 h 2048"/>
                  <a:gd name="T8" fmla="*/ 307 w 2457"/>
                  <a:gd name="T9" fmla="*/ 2048 h 2048"/>
                  <a:gd name="T10" fmla="*/ 2150 w 2457"/>
                  <a:gd name="T11" fmla="*/ 2048 h 2048"/>
                  <a:gd name="T12" fmla="*/ 2457 w 2457"/>
                  <a:gd name="T13" fmla="*/ 1740 h 2048"/>
                  <a:gd name="T14" fmla="*/ 2457 w 2457"/>
                  <a:gd name="T15" fmla="*/ 307 h 2048"/>
                  <a:gd name="T16" fmla="*/ 2160 w 2457"/>
                  <a:gd name="T17" fmla="*/ 0 h 2048"/>
                  <a:gd name="T18" fmla="*/ 2253 w 2457"/>
                  <a:gd name="T19" fmla="*/ 1740 h 2048"/>
                  <a:gd name="T20" fmla="*/ 2150 w 2457"/>
                  <a:gd name="T21" fmla="*/ 1843 h 2048"/>
                  <a:gd name="T22" fmla="*/ 307 w 2457"/>
                  <a:gd name="T23" fmla="*/ 1843 h 2048"/>
                  <a:gd name="T24" fmla="*/ 205 w 2457"/>
                  <a:gd name="T25" fmla="*/ 1740 h 2048"/>
                  <a:gd name="T26" fmla="*/ 205 w 2457"/>
                  <a:gd name="T27" fmla="*/ 307 h 2048"/>
                  <a:gd name="T28" fmla="*/ 307 w 2457"/>
                  <a:gd name="T29" fmla="*/ 204 h 2048"/>
                  <a:gd name="T30" fmla="*/ 2150 w 2457"/>
                  <a:gd name="T31" fmla="*/ 204 h 2048"/>
                  <a:gd name="T32" fmla="*/ 2253 w 2457"/>
                  <a:gd name="T33" fmla="*/ 307 h 2048"/>
                  <a:gd name="T34" fmla="*/ 2253 w 2457"/>
                  <a:gd name="T35" fmla="*/ 174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57" h="2048">
                    <a:moveTo>
                      <a:pt x="2160" y="0"/>
                    </a:moveTo>
                    <a:cubicBezTo>
                      <a:pt x="297" y="0"/>
                      <a:pt x="297" y="0"/>
                      <a:pt x="297" y="0"/>
                    </a:cubicBezTo>
                    <a:cubicBezTo>
                      <a:pt x="132" y="5"/>
                      <a:pt x="0" y="141"/>
                      <a:pt x="0" y="307"/>
                    </a:cubicBezTo>
                    <a:cubicBezTo>
                      <a:pt x="0" y="1740"/>
                      <a:pt x="0" y="1740"/>
                      <a:pt x="0" y="1740"/>
                    </a:cubicBezTo>
                    <a:cubicBezTo>
                      <a:pt x="0" y="1910"/>
                      <a:pt x="137" y="2048"/>
                      <a:pt x="307" y="2048"/>
                    </a:cubicBezTo>
                    <a:cubicBezTo>
                      <a:pt x="2150" y="2048"/>
                      <a:pt x="2150" y="2048"/>
                      <a:pt x="2150" y="2048"/>
                    </a:cubicBezTo>
                    <a:cubicBezTo>
                      <a:pt x="2320" y="2048"/>
                      <a:pt x="2457" y="1910"/>
                      <a:pt x="2457" y="1740"/>
                    </a:cubicBezTo>
                    <a:cubicBezTo>
                      <a:pt x="2457" y="307"/>
                      <a:pt x="2457" y="307"/>
                      <a:pt x="2457" y="307"/>
                    </a:cubicBezTo>
                    <a:cubicBezTo>
                      <a:pt x="2457" y="141"/>
                      <a:pt x="2325" y="5"/>
                      <a:pt x="2160" y="0"/>
                    </a:cubicBezTo>
                    <a:close/>
                    <a:moveTo>
                      <a:pt x="2253" y="1740"/>
                    </a:moveTo>
                    <a:cubicBezTo>
                      <a:pt x="2253" y="1797"/>
                      <a:pt x="2207" y="1843"/>
                      <a:pt x="2150" y="1843"/>
                    </a:cubicBezTo>
                    <a:cubicBezTo>
                      <a:pt x="307" y="1843"/>
                      <a:pt x="307" y="1843"/>
                      <a:pt x="307" y="1843"/>
                    </a:cubicBezTo>
                    <a:cubicBezTo>
                      <a:pt x="250" y="1843"/>
                      <a:pt x="205" y="1797"/>
                      <a:pt x="205" y="1740"/>
                    </a:cubicBezTo>
                    <a:cubicBezTo>
                      <a:pt x="205" y="307"/>
                      <a:pt x="205" y="307"/>
                      <a:pt x="205" y="307"/>
                    </a:cubicBezTo>
                    <a:cubicBezTo>
                      <a:pt x="205" y="250"/>
                      <a:pt x="250" y="204"/>
                      <a:pt x="307" y="204"/>
                    </a:cubicBezTo>
                    <a:cubicBezTo>
                      <a:pt x="2150" y="204"/>
                      <a:pt x="2150" y="204"/>
                      <a:pt x="2150" y="204"/>
                    </a:cubicBezTo>
                    <a:cubicBezTo>
                      <a:pt x="2207" y="204"/>
                      <a:pt x="2253" y="250"/>
                      <a:pt x="2253" y="307"/>
                    </a:cubicBezTo>
                    <a:lnTo>
                      <a:pt x="2253" y="1740"/>
                    </a:ln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nvGrpSpPr>
          <p:cNvPr id="239" name="组合 238"/>
          <p:cNvGrpSpPr/>
          <p:nvPr/>
        </p:nvGrpSpPr>
        <p:grpSpPr>
          <a:xfrm>
            <a:off x="7898929" y="4474470"/>
            <a:ext cx="298852" cy="117377"/>
            <a:chOff x="15288965" y="4423103"/>
            <a:chExt cx="1130112" cy="443861"/>
          </a:xfrm>
        </p:grpSpPr>
        <p:grpSp>
          <p:nvGrpSpPr>
            <p:cNvPr id="240" name="组合 239"/>
            <p:cNvGrpSpPr/>
            <p:nvPr/>
          </p:nvGrpSpPr>
          <p:grpSpPr>
            <a:xfrm>
              <a:off x="16059077" y="4423103"/>
              <a:ext cx="360000" cy="443861"/>
              <a:chOff x="16059077" y="4423103"/>
              <a:chExt cx="446196" cy="443861"/>
            </a:xfrm>
          </p:grpSpPr>
          <p:sp>
            <p:nvSpPr>
              <p:cNvPr id="245" name="Freeform 7"/>
              <p:cNvSpPr>
                <a:spLocks noEditPoints="1"/>
              </p:cNvSpPr>
              <p:nvPr/>
            </p:nvSpPr>
            <p:spPr bwMode="auto">
              <a:xfrm>
                <a:off x="16226400" y="4672098"/>
                <a:ext cx="111549" cy="139071"/>
              </a:xfrm>
              <a:custGeom>
                <a:avLst/>
                <a:gdLst>
                  <a:gd name="T0" fmla="*/ 303 w 614"/>
                  <a:gd name="T1" fmla="*/ 2 h 1027"/>
                  <a:gd name="T2" fmla="*/ 0 w 614"/>
                  <a:gd name="T3" fmla="*/ 309 h 1027"/>
                  <a:gd name="T4" fmla="*/ 122 w 614"/>
                  <a:gd name="T5" fmla="*/ 555 h 1027"/>
                  <a:gd name="T6" fmla="*/ 205 w 614"/>
                  <a:gd name="T7" fmla="*/ 719 h 1027"/>
                  <a:gd name="T8" fmla="*/ 205 w 614"/>
                  <a:gd name="T9" fmla="*/ 922 h 1027"/>
                  <a:gd name="T10" fmla="*/ 308 w 614"/>
                  <a:gd name="T11" fmla="*/ 1026 h 1027"/>
                  <a:gd name="T12" fmla="*/ 410 w 614"/>
                  <a:gd name="T13" fmla="*/ 924 h 1027"/>
                  <a:gd name="T14" fmla="*/ 410 w 614"/>
                  <a:gd name="T15" fmla="*/ 717 h 1027"/>
                  <a:gd name="T16" fmla="*/ 492 w 614"/>
                  <a:gd name="T17" fmla="*/ 555 h 1027"/>
                  <a:gd name="T18" fmla="*/ 614 w 614"/>
                  <a:gd name="T19" fmla="*/ 309 h 1027"/>
                  <a:gd name="T20" fmla="*/ 303 w 614"/>
                  <a:gd name="T21" fmla="*/ 2 h 1027"/>
                  <a:gd name="T22" fmla="*/ 307 w 614"/>
                  <a:gd name="T23" fmla="*/ 412 h 1027"/>
                  <a:gd name="T24" fmla="*/ 205 w 614"/>
                  <a:gd name="T25" fmla="*/ 309 h 1027"/>
                  <a:gd name="T26" fmla="*/ 307 w 614"/>
                  <a:gd name="T27" fmla="*/ 207 h 1027"/>
                  <a:gd name="T28" fmla="*/ 410 w 614"/>
                  <a:gd name="T29" fmla="*/ 309 h 1027"/>
                  <a:gd name="T30" fmla="*/ 307 w 614"/>
                  <a:gd name="T31" fmla="*/ 412 h 1027"/>
                  <a:gd name="T32" fmla="*/ 307 w 614"/>
                  <a:gd name="T33" fmla="*/ 412 h 1027"/>
                  <a:gd name="T34" fmla="*/ 307 w 614"/>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4" h="1027">
                    <a:moveTo>
                      <a:pt x="303" y="2"/>
                    </a:moveTo>
                    <a:cubicBezTo>
                      <a:pt x="136" y="4"/>
                      <a:pt x="0" y="142"/>
                      <a:pt x="0" y="309"/>
                    </a:cubicBezTo>
                    <a:cubicBezTo>
                      <a:pt x="0" y="409"/>
                      <a:pt x="48" y="499"/>
                      <a:pt x="122" y="555"/>
                    </a:cubicBezTo>
                    <a:cubicBezTo>
                      <a:pt x="174" y="594"/>
                      <a:pt x="205" y="654"/>
                      <a:pt x="205" y="719"/>
                    </a:cubicBezTo>
                    <a:cubicBezTo>
                      <a:pt x="205" y="922"/>
                      <a:pt x="205" y="922"/>
                      <a:pt x="205" y="922"/>
                    </a:cubicBezTo>
                    <a:cubicBezTo>
                      <a:pt x="205" y="979"/>
                      <a:pt x="252" y="1027"/>
                      <a:pt x="308" y="1026"/>
                    </a:cubicBezTo>
                    <a:cubicBezTo>
                      <a:pt x="364" y="1025"/>
                      <a:pt x="410" y="980"/>
                      <a:pt x="410" y="924"/>
                    </a:cubicBezTo>
                    <a:cubicBezTo>
                      <a:pt x="410" y="717"/>
                      <a:pt x="410" y="717"/>
                      <a:pt x="410" y="717"/>
                    </a:cubicBezTo>
                    <a:cubicBezTo>
                      <a:pt x="410" y="653"/>
                      <a:pt x="441" y="593"/>
                      <a:pt x="492" y="555"/>
                    </a:cubicBezTo>
                    <a:cubicBezTo>
                      <a:pt x="566" y="499"/>
                      <a:pt x="614" y="409"/>
                      <a:pt x="614" y="309"/>
                    </a:cubicBezTo>
                    <a:cubicBezTo>
                      <a:pt x="614" y="138"/>
                      <a:pt x="475" y="0"/>
                      <a:pt x="303" y="2"/>
                    </a:cubicBezTo>
                    <a:close/>
                    <a:moveTo>
                      <a:pt x="307" y="412"/>
                    </a:moveTo>
                    <a:cubicBezTo>
                      <a:pt x="251" y="412"/>
                      <a:pt x="205" y="366"/>
                      <a:pt x="205" y="309"/>
                    </a:cubicBezTo>
                    <a:cubicBezTo>
                      <a:pt x="205" y="253"/>
                      <a:pt x="251" y="207"/>
                      <a:pt x="307" y="207"/>
                    </a:cubicBezTo>
                    <a:cubicBezTo>
                      <a:pt x="364" y="207"/>
                      <a:pt x="410" y="253"/>
                      <a:pt x="410" y="309"/>
                    </a:cubicBezTo>
                    <a:cubicBezTo>
                      <a:pt x="410" y="366"/>
                      <a:pt x="364" y="412"/>
                      <a:pt x="307" y="412"/>
                    </a:cubicBezTo>
                    <a:close/>
                    <a:moveTo>
                      <a:pt x="307" y="412"/>
                    </a:moveTo>
                    <a:cubicBezTo>
                      <a:pt x="307" y="412"/>
                      <a:pt x="307" y="412"/>
                      <a:pt x="307"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46" name="Freeform 8"/>
              <p:cNvSpPr>
                <a:spLocks noEditPoints="1"/>
              </p:cNvSpPr>
              <p:nvPr/>
            </p:nvSpPr>
            <p:spPr bwMode="auto">
              <a:xfrm>
                <a:off x="16059077" y="4423103"/>
                <a:ext cx="446196" cy="443861"/>
              </a:xfrm>
              <a:custGeom>
                <a:avLst/>
                <a:gdLst>
                  <a:gd name="T0" fmla="*/ 640 w 2458"/>
                  <a:gd name="T1" fmla="*/ 1231 h 3279"/>
                  <a:gd name="T2" fmla="*/ 615 w 2458"/>
                  <a:gd name="T3" fmla="*/ 1205 h 3279"/>
                  <a:gd name="T4" fmla="*/ 615 w 2458"/>
                  <a:gd name="T5" fmla="*/ 821 h 3279"/>
                  <a:gd name="T6" fmla="*/ 795 w 2458"/>
                  <a:gd name="T7" fmla="*/ 387 h 3279"/>
                  <a:gd name="T8" fmla="*/ 1229 w 2458"/>
                  <a:gd name="T9" fmla="*/ 207 h 3279"/>
                  <a:gd name="T10" fmla="*/ 1664 w 2458"/>
                  <a:gd name="T11" fmla="*/ 387 h 3279"/>
                  <a:gd name="T12" fmla="*/ 1844 w 2458"/>
                  <a:gd name="T13" fmla="*/ 821 h 3279"/>
                  <a:gd name="T14" fmla="*/ 1844 w 2458"/>
                  <a:gd name="T15" fmla="*/ 827 h 3279"/>
                  <a:gd name="T16" fmla="*/ 1940 w 2458"/>
                  <a:gd name="T17" fmla="*/ 923 h 3279"/>
                  <a:gd name="T18" fmla="*/ 1952 w 2458"/>
                  <a:gd name="T19" fmla="*/ 923 h 3279"/>
                  <a:gd name="T20" fmla="*/ 2048 w 2458"/>
                  <a:gd name="T21" fmla="*/ 827 h 3279"/>
                  <a:gd name="T22" fmla="*/ 1226 w 2458"/>
                  <a:gd name="T23" fmla="*/ 2 h 3279"/>
                  <a:gd name="T24" fmla="*/ 410 w 2458"/>
                  <a:gd name="T25" fmla="*/ 821 h 3279"/>
                  <a:gd name="T26" fmla="*/ 410 w 2458"/>
                  <a:gd name="T27" fmla="*/ 1205 h 3279"/>
                  <a:gd name="T28" fmla="*/ 384 w 2458"/>
                  <a:gd name="T29" fmla="*/ 1231 h 3279"/>
                  <a:gd name="T30" fmla="*/ 308 w 2458"/>
                  <a:gd name="T31" fmla="*/ 1231 h 3279"/>
                  <a:gd name="T32" fmla="*/ 0 w 2458"/>
                  <a:gd name="T33" fmla="*/ 1538 h 3279"/>
                  <a:gd name="T34" fmla="*/ 0 w 2458"/>
                  <a:gd name="T35" fmla="*/ 2971 h 3279"/>
                  <a:gd name="T36" fmla="*/ 308 w 2458"/>
                  <a:gd name="T37" fmla="*/ 3279 h 3279"/>
                  <a:gd name="T38" fmla="*/ 2151 w 2458"/>
                  <a:gd name="T39" fmla="*/ 3279 h 3279"/>
                  <a:gd name="T40" fmla="*/ 2458 w 2458"/>
                  <a:gd name="T41" fmla="*/ 2971 h 3279"/>
                  <a:gd name="T42" fmla="*/ 2458 w 2458"/>
                  <a:gd name="T43" fmla="*/ 1538 h 3279"/>
                  <a:gd name="T44" fmla="*/ 2151 w 2458"/>
                  <a:gd name="T45" fmla="*/ 1231 h 3279"/>
                  <a:gd name="T46" fmla="*/ 640 w 2458"/>
                  <a:gd name="T47" fmla="*/ 1231 h 3279"/>
                  <a:gd name="T48" fmla="*/ 2151 w 2458"/>
                  <a:gd name="T49" fmla="*/ 3074 h 3279"/>
                  <a:gd name="T50" fmla="*/ 308 w 2458"/>
                  <a:gd name="T51" fmla="*/ 3074 h 3279"/>
                  <a:gd name="T52" fmla="*/ 205 w 2458"/>
                  <a:gd name="T53" fmla="*/ 2971 h 3279"/>
                  <a:gd name="T54" fmla="*/ 205 w 2458"/>
                  <a:gd name="T55" fmla="*/ 1538 h 3279"/>
                  <a:gd name="T56" fmla="*/ 308 w 2458"/>
                  <a:gd name="T57" fmla="*/ 1435 h 3279"/>
                  <a:gd name="T58" fmla="*/ 2151 w 2458"/>
                  <a:gd name="T59" fmla="*/ 1435 h 3279"/>
                  <a:gd name="T60" fmla="*/ 2253 w 2458"/>
                  <a:gd name="T61" fmla="*/ 1538 h 3279"/>
                  <a:gd name="T62" fmla="*/ 2253 w 2458"/>
                  <a:gd name="T63" fmla="*/ 2971 h 3279"/>
                  <a:gd name="T64" fmla="*/ 2151 w 2458"/>
                  <a:gd name="T65" fmla="*/ 3074 h 3279"/>
                  <a:gd name="T66" fmla="*/ 2151 w 2458"/>
                  <a:gd name="T67" fmla="*/ 3074 h 3279"/>
                  <a:gd name="T68" fmla="*/ 2151 w 2458"/>
                  <a:gd name="T69" fmla="*/ 3074 h 3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58" h="3279">
                    <a:moveTo>
                      <a:pt x="640" y="1231"/>
                    </a:moveTo>
                    <a:cubicBezTo>
                      <a:pt x="626" y="1231"/>
                      <a:pt x="615" y="1219"/>
                      <a:pt x="615" y="1205"/>
                    </a:cubicBezTo>
                    <a:cubicBezTo>
                      <a:pt x="615" y="821"/>
                      <a:pt x="615" y="821"/>
                      <a:pt x="615" y="821"/>
                    </a:cubicBezTo>
                    <a:cubicBezTo>
                      <a:pt x="615" y="657"/>
                      <a:pt x="679" y="503"/>
                      <a:pt x="795" y="387"/>
                    </a:cubicBezTo>
                    <a:cubicBezTo>
                      <a:pt x="911" y="271"/>
                      <a:pt x="1065" y="207"/>
                      <a:pt x="1229" y="207"/>
                    </a:cubicBezTo>
                    <a:cubicBezTo>
                      <a:pt x="1393" y="207"/>
                      <a:pt x="1548" y="271"/>
                      <a:pt x="1664" y="387"/>
                    </a:cubicBezTo>
                    <a:cubicBezTo>
                      <a:pt x="1780" y="503"/>
                      <a:pt x="1844" y="657"/>
                      <a:pt x="1844" y="821"/>
                    </a:cubicBezTo>
                    <a:cubicBezTo>
                      <a:pt x="1844" y="827"/>
                      <a:pt x="1844" y="827"/>
                      <a:pt x="1844" y="827"/>
                    </a:cubicBezTo>
                    <a:cubicBezTo>
                      <a:pt x="1844" y="881"/>
                      <a:pt x="1886" y="923"/>
                      <a:pt x="1940" y="923"/>
                    </a:cubicBezTo>
                    <a:cubicBezTo>
                      <a:pt x="1952" y="923"/>
                      <a:pt x="1952" y="923"/>
                      <a:pt x="1952" y="923"/>
                    </a:cubicBezTo>
                    <a:cubicBezTo>
                      <a:pt x="2005" y="923"/>
                      <a:pt x="2048" y="881"/>
                      <a:pt x="2048" y="827"/>
                    </a:cubicBezTo>
                    <a:cubicBezTo>
                      <a:pt x="2048" y="375"/>
                      <a:pt x="1678" y="0"/>
                      <a:pt x="1226" y="2"/>
                    </a:cubicBezTo>
                    <a:cubicBezTo>
                      <a:pt x="775" y="3"/>
                      <a:pt x="410" y="370"/>
                      <a:pt x="410" y="821"/>
                    </a:cubicBezTo>
                    <a:cubicBezTo>
                      <a:pt x="410" y="1205"/>
                      <a:pt x="410" y="1205"/>
                      <a:pt x="410" y="1205"/>
                    </a:cubicBezTo>
                    <a:cubicBezTo>
                      <a:pt x="410" y="1219"/>
                      <a:pt x="398" y="1231"/>
                      <a:pt x="384" y="1231"/>
                    </a:cubicBezTo>
                    <a:cubicBezTo>
                      <a:pt x="308" y="1231"/>
                      <a:pt x="308" y="1231"/>
                      <a:pt x="308" y="1231"/>
                    </a:cubicBezTo>
                    <a:cubicBezTo>
                      <a:pt x="138" y="1231"/>
                      <a:pt x="0" y="1368"/>
                      <a:pt x="0" y="1538"/>
                    </a:cubicBezTo>
                    <a:cubicBezTo>
                      <a:pt x="0" y="2971"/>
                      <a:pt x="0" y="2971"/>
                      <a:pt x="0" y="2971"/>
                    </a:cubicBezTo>
                    <a:cubicBezTo>
                      <a:pt x="0" y="3141"/>
                      <a:pt x="138" y="3279"/>
                      <a:pt x="308" y="3279"/>
                    </a:cubicBezTo>
                    <a:cubicBezTo>
                      <a:pt x="2151" y="3279"/>
                      <a:pt x="2151" y="3279"/>
                      <a:pt x="2151" y="3279"/>
                    </a:cubicBezTo>
                    <a:cubicBezTo>
                      <a:pt x="2320" y="3279"/>
                      <a:pt x="2458" y="3141"/>
                      <a:pt x="2458" y="2971"/>
                    </a:cubicBezTo>
                    <a:cubicBezTo>
                      <a:pt x="2458" y="1538"/>
                      <a:pt x="2458" y="1538"/>
                      <a:pt x="2458" y="1538"/>
                    </a:cubicBezTo>
                    <a:cubicBezTo>
                      <a:pt x="2458" y="1368"/>
                      <a:pt x="2320" y="1231"/>
                      <a:pt x="2151" y="1231"/>
                    </a:cubicBezTo>
                    <a:lnTo>
                      <a:pt x="640" y="1231"/>
                    </a:lnTo>
                    <a:close/>
                    <a:moveTo>
                      <a:pt x="2151" y="3074"/>
                    </a:moveTo>
                    <a:cubicBezTo>
                      <a:pt x="308" y="3074"/>
                      <a:pt x="308" y="3074"/>
                      <a:pt x="308" y="3074"/>
                    </a:cubicBezTo>
                    <a:cubicBezTo>
                      <a:pt x="251" y="3074"/>
                      <a:pt x="205" y="3028"/>
                      <a:pt x="205" y="2971"/>
                    </a:cubicBezTo>
                    <a:cubicBezTo>
                      <a:pt x="205" y="1538"/>
                      <a:pt x="205" y="1538"/>
                      <a:pt x="205" y="1538"/>
                    </a:cubicBezTo>
                    <a:cubicBezTo>
                      <a:pt x="205" y="1481"/>
                      <a:pt x="251" y="1435"/>
                      <a:pt x="308" y="1435"/>
                    </a:cubicBezTo>
                    <a:cubicBezTo>
                      <a:pt x="2151" y="1435"/>
                      <a:pt x="2151" y="1435"/>
                      <a:pt x="2151" y="1435"/>
                    </a:cubicBezTo>
                    <a:cubicBezTo>
                      <a:pt x="2207" y="1435"/>
                      <a:pt x="2253" y="1481"/>
                      <a:pt x="2253" y="1538"/>
                    </a:cubicBezTo>
                    <a:cubicBezTo>
                      <a:pt x="2253" y="2971"/>
                      <a:pt x="2253" y="2971"/>
                      <a:pt x="2253" y="2971"/>
                    </a:cubicBezTo>
                    <a:cubicBezTo>
                      <a:pt x="2253" y="3028"/>
                      <a:pt x="2207" y="3074"/>
                      <a:pt x="2151" y="3074"/>
                    </a:cubicBezTo>
                    <a:close/>
                    <a:moveTo>
                      <a:pt x="2151" y="3074"/>
                    </a:moveTo>
                    <a:cubicBezTo>
                      <a:pt x="2151" y="3074"/>
                      <a:pt x="2151" y="3074"/>
                      <a:pt x="2151" y="3074"/>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nvGrpSpPr>
            <p:cNvPr id="241" name="组合 240"/>
            <p:cNvGrpSpPr/>
            <p:nvPr/>
          </p:nvGrpSpPr>
          <p:grpSpPr>
            <a:xfrm>
              <a:off x="15288965" y="4423103"/>
              <a:ext cx="360000" cy="443861"/>
              <a:chOff x="15234202" y="4423103"/>
              <a:chExt cx="445082" cy="443861"/>
            </a:xfrm>
          </p:grpSpPr>
          <p:sp>
            <p:nvSpPr>
              <p:cNvPr id="242" name="Freeform 6"/>
              <p:cNvSpPr>
                <a:spLocks noEditPoints="1"/>
              </p:cNvSpPr>
              <p:nvPr/>
            </p:nvSpPr>
            <p:spPr bwMode="auto">
              <a:xfrm>
                <a:off x="15401526" y="4672098"/>
                <a:ext cx="111549" cy="139071"/>
              </a:xfrm>
              <a:custGeom>
                <a:avLst/>
                <a:gdLst>
                  <a:gd name="T0" fmla="*/ 303 w 615"/>
                  <a:gd name="T1" fmla="*/ 2 h 1027"/>
                  <a:gd name="T2" fmla="*/ 0 w 615"/>
                  <a:gd name="T3" fmla="*/ 309 h 1027"/>
                  <a:gd name="T4" fmla="*/ 123 w 615"/>
                  <a:gd name="T5" fmla="*/ 555 h 1027"/>
                  <a:gd name="T6" fmla="*/ 205 w 615"/>
                  <a:gd name="T7" fmla="*/ 719 h 1027"/>
                  <a:gd name="T8" fmla="*/ 205 w 615"/>
                  <a:gd name="T9" fmla="*/ 922 h 1027"/>
                  <a:gd name="T10" fmla="*/ 309 w 615"/>
                  <a:gd name="T11" fmla="*/ 1026 h 1027"/>
                  <a:gd name="T12" fmla="*/ 410 w 615"/>
                  <a:gd name="T13" fmla="*/ 924 h 1027"/>
                  <a:gd name="T14" fmla="*/ 410 w 615"/>
                  <a:gd name="T15" fmla="*/ 717 h 1027"/>
                  <a:gd name="T16" fmla="*/ 492 w 615"/>
                  <a:gd name="T17" fmla="*/ 555 h 1027"/>
                  <a:gd name="T18" fmla="*/ 615 w 615"/>
                  <a:gd name="T19" fmla="*/ 309 h 1027"/>
                  <a:gd name="T20" fmla="*/ 303 w 615"/>
                  <a:gd name="T21" fmla="*/ 2 h 1027"/>
                  <a:gd name="T22" fmla="*/ 308 w 615"/>
                  <a:gd name="T23" fmla="*/ 412 h 1027"/>
                  <a:gd name="T24" fmla="*/ 205 w 615"/>
                  <a:gd name="T25" fmla="*/ 309 h 1027"/>
                  <a:gd name="T26" fmla="*/ 308 w 615"/>
                  <a:gd name="T27" fmla="*/ 207 h 1027"/>
                  <a:gd name="T28" fmla="*/ 410 w 615"/>
                  <a:gd name="T29" fmla="*/ 309 h 1027"/>
                  <a:gd name="T30" fmla="*/ 308 w 615"/>
                  <a:gd name="T31" fmla="*/ 412 h 1027"/>
                  <a:gd name="T32" fmla="*/ 308 w 615"/>
                  <a:gd name="T33" fmla="*/ 412 h 1027"/>
                  <a:gd name="T34" fmla="*/ 308 w 615"/>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5" h="1027">
                    <a:moveTo>
                      <a:pt x="303" y="2"/>
                    </a:moveTo>
                    <a:cubicBezTo>
                      <a:pt x="136" y="4"/>
                      <a:pt x="0" y="142"/>
                      <a:pt x="0" y="309"/>
                    </a:cubicBezTo>
                    <a:cubicBezTo>
                      <a:pt x="0" y="409"/>
                      <a:pt x="48" y="499"/>
                      <a:pt x="123" y="555"/>
                    </a:cubicBezTo>
                    <a:cubicBezTo>
                      <a:pt x="174" y="594"/>
                      <a:pt x="205" y="654"/>
                      <a:pt x="205" y="719"/>
                    </a:cubicBezTo>
                    <a:cubicBezTo>
                      <a:pt x="205" y="922"/>
                      <a:pt x="205" y="922"/>
                      <a:pt x="205" y="922"/>
                    </a:cubicBezTo>
                    <a:cubicBezTo>
                      <a:pt x="205" y="979"/>
                      <a:pt x="252" y="1027"/>
                      <a:pt x="309" y="1026"/>
                    </a:cubicBezTo>
                    <a:cubicBezTo>
                      <a:pt x="365" y="1025"/>
                      <a:pt x="410" y="980"/>
                      <a:pt x="410" y="924"/>
                    </a:cubicBezTo>
                    <a:cubicBezTo>
                      <a:pt x="410" y="717"/>
                      <a:pt x="410" y="717"/>
                      <a:pt x="410" y="717"/>
                    </a:cubicBezTo>
                    <a:cubicBezTo>
                      <a:pt x="410" y="653"/>
                      <a:pt x="441" y="593"/>
                      <a:pt x="492" y="555"/>
                    </a:cubicBezTo>
                    <a:cubicBezTo>
                      <a:pt x="567" y="499"/>
                      <a:pt x="615" y="409"/>
                      <a:pt x="615" y="309"/>
                    </a:cubicBezTo>
                    <a:cubicBezTo>
                      <a:pt x="615" y="138"/>
                      <a:pt x="475" y="0"/>
                      <a:pt x="303" y="2"/>
                    </a:cubicBezTo>
                    <a:close/>
                    <a:moveTo>
                      <a:pt x="308" y="412"/>
                    </a:moveTo>
                    <a:cubicBezTo>
                      <a:pt x="251" y="412"/>
                      <a:pt x="205" y="366"/>
                      <a:pt x="205" y="309"/>
                    </a:cubicBezTo>
                    <a:cubicBezTo>
                      <a:pt x="205" y="253"/>
                      <a:pt x="251" y="207"/>
                      <a:pt x="308" y="207"/>
                    </a:cubicBezTo>
                    <a:cubicBezTo>
                      <a:pt x="364" y="207"/>
                      <a:pt x="410" y="253"/>
                      <a:pt x="410" y="309"/>
                    </a:cubicBezTo>
                    <a:cubicBezTo>
                      <a:pt x="410" y="366"/>
                      <a:pt x="364" y="412"/>
                      <a:pt x="308" y="412"/>
                    </a:cubicBezTo>
                    <a:close/>
                    <a:moveTo>
                      <a:pt x="308" y="412"/>
                    </a:moveTo>
                    <a:cubicBezTo>
                      <a:pt x="308" y="412"/>
                      <a:pt x="308" y="412"/>
                      <a:pt x="308"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43" name="Freeform 9"/>
              <p:cNvSpPr>
                <a:spLocks/>
              </p:cNvSpPr>
              <p:nvPr/>
            </p:nvSpPr>
            <p:spPr bwMode="auto">
              <a:xfrm>
                <a:off x="15308940" y="4423103"/>
                <a:ext cx="301183" cy="166552"/>
              </a:xfrm>
              <a:custGeom>
                <a:avLst/>
                <a:gdLst>
                  <a:gd name="T0" fmla="*/ 1413 w 1663"/>
                  <a:gd name="T1" fmla="*/ 1229 h 1229"/>
                  <a:gd name="T2" fmla="*/ 1663 w 1663"/>
                  <a:gd name="T3" fmla="*/ 1229 h 1229"/>
                  <a:gd name="T4" fmla="*/ 1639 w 1663"/>
                  <a:gd name="T5" fmla="*/ 1203 h 1229"/>
                  <a:gd name="T6" fmla="*/ 1639 w 1663"/>
                  <a:gd name="T7" fmla="*/ 848 h 1229"/>
                  <a:gd name="T8" fmla="*/ 1642 w 1663"/>
                  <a:gd name="T9" fmla="*/ 825 h 1229"/>
                  <a:gd name="T10" fmla="*/ 1577 w 1663"/>
                  <a:gd name="T11" fmla="*/ 503 h 1229"/>
                  <a:gd name="T12" fmla="*/ 1033 w 1663"/>
                  <a:gd name="T13" fmla="*/ 26 h 1229"/>
                  <a:gd name="T14" fmla="*/ 1016 w 1663"/>
                  <a:gd name="T15" fmla="*/ 22 h 1229"/>
                  <a:gd name="T16" fmla="*/ 1015 w 1663"/>
                  <a:gd name="T17" fmla="*/ 21 h 1229"/>
                  <a:gd name="T18" fmla="*/ 838 w 1663"/>
                  <a:gd name="T19" fmla="*/ 0 h 1229"/>
                  <a:gd name="T20" fmla="*/ 833 w 1663"/>
                  <a:gd name="T21" fmla="*/ 0 h 1229"/>
                  <a:gd name="T22" fmla="*/ 831 w 1663"/>
                  <a:gd name="T23" fmla="*/ 0 h 1229"/>
                  <a:gd name="T24" fmla="*/ 830 w 1663"/>
                  <a:gd name="T25" fmla="*/ 0 h 1229"/>
                  <a:gd name="T26" fmla="*/ 825 w 1663"/>
                  <a:gd name="T27" fmla="*/ 0 h 1229"/>
                  <a:gd name="T28" fmla="*/ 630 w 1663"/>
                  <a:gd name="T29" fmla="*/ 26 h 1229"/>
                  <a:gd name="T30" fmla="*/ 87 w 1663"/>
                  <a:gd name="T31" fmla="*/ 502 h 1229"/>
                  <a:gd name="T32" fmla="*/ 21 w 1663"/>
                  <a:gd name="T33" fmla="*/ 825 h 1229"/>
                  <a:gd name="T34" fmla="*/ 24 w 1663"/>
                  <a:gd name="T35" fmla="*/ 849 h 1229"/>
                  <a:gd name="T36" fmla="*/ 24 w 1663"/>
                  <a:gd name="T37" fmla="*/ 1203 h 1229"/>
                  <a:gd name="T38" fmla="*/ 0 w 1663"/>
                  <a:gd name="T39" fmla="*/ 1229 h 1229"/>
                  <a:gd name="T40" fmla="*/ 250 w 1663"/>
                  <a:gd name="T41" fmla="*/ 1229 h 1229"/>
                  <a:gd name="T42" fmla="*/ 226 w 1663"/>
                  <a:gd name="T43" fmla="*/ 1203 h 1229"/>
                  <a:gd name="T44" fmla="*/ 226 w 1663"/>
                  <a:gd name="T45" fmla="*/ 819 h 1229"/>
                  <a:gd name="T46" fmla="*/ 404 w 1663"/>
                  <a:gd name="T47" fmla="*/ 385 h 1229"/>
                  <a:gd name="T48" fmla="*/ 831 w 1663"/>
                  <a:gd name="T49" fmla="*/ 205 h 1229"/>
                  <a:gd name="T50" fmla="*/ 1259 w 1663"/>
                  <a:gd name="T51" fmla="*/ 385 h 1229"/>
                  <a:gd name="T52" fmla="*/ 1437 w 1663"/>
                  <a:gd name="T53" fmla="*/ 819 h 1229"/>
                  <a:gd name="T54" fmla="*/ 1437 w 1663"/>
                  <a:gd name="T55" fmla="*/ 1203 h 1229"/>
                  <a:gd name="T56" fmla="*/ 1413 w 1663"/>
                  <a:gd name="T57" fmla="*/ 1229 h 1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63" h="1229">
                    <a:moveTo>
                      <a:pt x="1413" y="1229"/>
                    </a:moveTo>
                    <a:cubicBezTo>
                      <a:pt x="1663" y="1229"/>
                      <a:pt x="1663" y="1229"/>
                      <a:pt x="1663" y="1229"/>
                    </a:cubicBezTo>
                    <a:cubicBezTo>
                      <a:pt x="1649" y="1228"/>
                      <a:pt x="1639" y="1217"/>
                      <a:pt x="1639" y="1203"/>
                    </a:cubicBezTo>
                    <a:cubicBezTo>
                      <a:pt x="1639" y="848"/>
                      <a:pt x="1639" y="848"/>
                      <a:pt x="1639" y="848"/>
                    </a:cubicBezTo>
                    <a:cubicBezTo>
                      <a:pt x="1641" y="841"/>
                      <a:pt x="1642" y="833"/>
                      <a:pt x="1642" y="825"/>
                    </a:cubicBezTo>
                    <a:cubicBezTo>
                      <a:pt x="1642" y="712"/>
                      <a:pt x="1618" y="603"/>
                      <a:pt x="1577" y="503"/>
                    </a:cubicBezTo>
                    <a:cubicBezTo>
                      <a:pt x="1480" y="269"/>
                      <a:pt x="1279" y="90"/>
                      <a:pt x="1033" y="26"/>
                    </a:cubicBezTo>
                    <a:cubicBezTo>
                      <a:pt x="1027" y="24"/>
                      <a:pt x="1022" y="23"/>
                      <a:pt x="1016" y="22"/>
                    </a:cubicBezTo>
                    <a:cubicBezTo>
                      <a:pt x="1016" y="22"/>
                      <a:pt x="1016" y="21"/>
                      <a:pt x="1015" y="21"/>
                    </a:cubicBezTo>
                    <a:cubicBezTo>
                      <a:pt x="958" y="8"/>
                      <a:pt x="899" y="0"/>
                      <a:pt x="838" y="0"/>
                    </a:cubicBezTo>
                    <a:cubicBezTo>
                      <a:pt x="837" y="0"/>
                      <a:pt x="835" y="0"/>
                      <a:pt x="833" y="0"/>
                    </a:cubicBezTo>
                    <a:cubicBezTo>
                      <a:pt x="833" y="0"/>
                      <a:pt x="832" y="0"/>
                      <a:pt x="831" y="0"/>
                    </a:cubicBezTo>
                    <a:cubicBezTo>
                      <a:pt x="831" y="0"/>
                      <a:pt x="830" y="0"/>
                      <a:pt x="830" y="0"/>
                    </a:cubicBezTo>
                    <a:cubicBezTo>
                      <a:pt x="828" y="0"/>
                      <a:pt x="826" y="0"/>
                      <a:pt x="825" y="0"/>
                    </a:cubicBezTo>
                    <a:cubicBezTo>
                      <a:pt x="757" y="0"/>
                      <a:pt x="692" y="9"/>
                      <a:pt x="630" y="26"/>
                    </a:cubicBezTo>
                    <a:cubicBezTo>
                      <a:pt x="384" y="90"/>
                      <a:pt x="184" y="268"/>
                      <a:pt x="87" y="502"/>
                    </a:cubicBezTo>
                    <a:cubicBezTo>
                      <a:pt x="45" y="602"/>
                      <a:pt x="21" y="711"/>
                      <a:pt x="21" y="825"/>
                    </a:cubicBezTo>
                    <a:cubicBezTo>
                      <a:pt x="21" y="833"/>
                      <a:pt x="22" y="841"/>
                      <a:pt x="24" y="849"/>
                    </a:cubicBezTo>
                    <a:cubicBezTo>
                      <a:pt x="24" y="1203"/>
                      <a:pt x="24" y="1203"/>
                      <a:pt x="24" y="1203"/>
                    </a:cubicBezTo>
                    <a:cubicBezTo>
                      <a:pt x="24" y="1217"/>
                      <a:pt x="13" y="1228"/>
                      <a:pt x="0" y="1229"/>
                    </a:cubicBezTo>
                    <a:cubicBezTo>
                      <a:pt x="250" y="1229"/>
                      <a:pt x="250" y="1229"/>
                      <a:pt x="250" y="1229"/>
                    </a:cubicBezTo>
                    <a:cubicBezTo>
                      <a:pt x="237" y="1228"/>
                      <a:pt x="226" y="1217"/>
                      <a:pt x="226" y="1203"/>
                    </a:cubicBezTo>
                    <a:cubicBezTo>
                      <a:pt x="226" y="819"/>
                      <a:pt x="226" y="819"/>
                      <a:pt x="226" y="819"/>
                    </a:cubicBezTo>
                    <a:cubicBezTo>
                      <a:pt x="226" y="655"/>
                      <a:pt x="289" y="501"/>
                      <a:pt x="404" y="385"/>
                    </a:cubicBezTo>
                    <a:cubicBezTo>
                      <a:pt x="518" y="269"/>
                      <a:pt x="670" y="205"/>
                      <a:pt x="831" y="205"/>
                    </a:cubicBezTo>
                    <a:cubicBezTo>
                      <a:pt x="993" y="205"/>
                      <a:pt x="1145" y="269"/>
                      <a:pt x="1259" y="385"/>
                    </a:cubicBezTo>
                    <a:cubicBezTo>
                      <a:pt x="1373" y="501"/>
                      <a:pt x="1437" y="655"/>
                      <a:pt x="1437" y="819"/>
                    </a:cubicBezTo>
                    <a:cubicBezTo>
                      <a:pt x="1437" y="1203"/>
                      <a:pt x="1437" y="1203"/>
                      <a:pt x="1437" y="1203"/>
                    </a:cubicBezTo>
                    <a:cubicBezTo>
                      <a:pt x="1437" y="1217"/>
                      <a:pt x="1426" y="1228"/>
                      <a:pt x="1413" y="1229"/>
                    </a:cubicBez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44" name="Freeform 10"/>
              <p:cNvSpPr>
                <a:spLocks noEditPoints="1"/>
              </p:cNvSpPr>
              <p:nvPr/>
            </p:nvSpPr>
            <p:spPr bwMode="auto">
              <a:xfrm>
                <a:off x="15234202" y="4589655"/>
                <a:ext cx="445082" cy="277309"/>
              </a:xfrm>
              <a:custGeom>
                <a:avLst/>
                <a:gdLst>
                  <a:gd name="T0" fmla="*/ 2160 w 2457"/>
                  <a:gd name="T1" fmla="*/ 0 h 2048"/>
                  <a:gd name="T2" fmla="*/ 297 w 2457"/>
                  <a:gd name="T3" fmla="*/ 0 h 2048"/>
                  <a:gd name="T4" fmla="*/ 0 w 2457"/>
                  <a:gd name="T5" fmla="*/ 307 h 2048"/>
                  <a:gd name="T6" fmla="*/ 0 w 2457"/>
                  <a:gd name="T7" fmla="*/ 1740 h 2048"/>
                  <a:gd name="T8" fmla="*/ 307 w 2457"/>
                  <a:gd name="T9" fmla="*/ 2048 h 2048"/>
                  <a:gd name="T10" fmla="*/ 2150 w 2457"/>
                  <a:gd name="T11" fmla="*/ 2048 h 2048"/>
                  <a:gd name="T12" fmla="*/ 2457 w 2457"/>
                  <a:gd name="T13" fmla="*/ 1740 h 2048"/>
                  <a:gd name="T14" fmla="*/ 2457 w 2457"/>
                  <a:gd name="T15" fmla="*/ 307 h 2048"/>
                  <a:gd name="T16" fmla="*/ 2160 w 2457"/>
                  <a:gd name="T17" fmla="*/ 0 h 2048"/>
                  <a:gd name="T18" fmla="*/ 2253 w 2457"/>
                  <a:gd name="T19" fmla="*/ 1740 h 2048"/>
                  <a:gd name="T20" fmla="*/ 2150 w 2457"/>
                  <a:gd name="T21" fmla="*/ 1843 h 2048"/>
                  <a:gd name="T22" fmla="*/ 307 w 2457"/>
                  <a:gd name="T23" fmla="*/ 1843 h 2048"/>
                  <a:gd name="T24" fmla="*/ 205 w 2457"/>
                  <a:gd name="T25" fmla="*/ 1740 h 2048"/>
                  <a:gd name="T26" fmla="*/ 205 w 2457"/>
                  <a:gd name="T27" fmla="*/ 307 h 2048"/>
                  <a:gd name="T28" fmla="*/ 307 w 2457"/>
                  <a:gd name="T29" fmla="*/ 204 h 2048"/>
                  <a:gd name="T30" fmla="*/ 2150 w 2457"/>
                  <a:gd name="T31" fmla="*/ 204 h 2048"/>
                  <a:gd name="T32" fmla="*/ 2253 w 2457"/>
                  <a:gd name="T33" fmla="*/ 307 h 2048"/>
                  <a:gd name="T34" fmla="*/ 2253 w 2457"/>
                  <a:gd name="T35" fmla="*/ 174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57" h="2048">
                    <a:moveTo>
                      <a:pt x="2160" y="0"/>
                    </a:moveTo>
                    <a:cubicBezTo>
                      <a:pt x="297" y="0"/>
                      <a:pt x="297" y="0"/>
                      <a:pt x="297" y="0"/>
                    </a:cubicBezTo>
                    <a:cubicBezTo>
                      <a:pt x="132" y="5"/>
                      <a:pt x="0" y="141"/>
                      <a:pt x="0" y="307"/>
                    </a:cubicBezTo>
                    <a:cubicBezTo>
                      <a:pt x="0" y="1740"/>
                      <a:pt x="0" y="1740"/>
                      <a:pt x="0" y="1740"/>
                    </a:cubicBezTo>
                    <a:cubicBezTo>
                      <a:pt x="0" y="1910"/>
                      <a:pt x="137" y="2048"/>
                      <a:pt x="307" y="2048"/>
                    </a:cubicBezTo>
                    <a:cubicBezTo>
                      <a:pt x="2150" y="2048"/>
                      <a:pt x="2150" y="2048"/>
                      <a:pt x="2150" y="2048"/>
                    </a:cubicBezTo>
                    <a:cubicBezTo>
                      <a:pt x="2320" y="2048"/>
                      <a:pt x="2457" y="1910"/>
                      <a:pt x="2457" y="1740"/>
                    </a:cubicBezTo>
                    <a:cubicBezTo>
                      <a:pt x="2457" y="307"/>
                      <a:pt x="2457" y="307"/>
                      <a:pt x="2457" y="307"/>
                    </a:cubicBezTo>
                    <a:cubicBezTo>
                      <a:pt x="2457" y="141"/>
                      <a:pt x="2325" y="5"/>
                      <a:pt x="2160" y="0"/>
                    </a:cubicBezTo>
                    <a:close/>
                    <a:moveTo>
                      <a:pt x="2253" y="1740"/>
                    </a:moveTo>
                    <a:cubicBezTo>
                      <a:pt x="2253" y="1797"/>
                      <a:pt x="2207" y="1843"/>
                      <a:pt x="2150" y="1843"/>
                    </a:cubicBezTo>
                    <a:cubicBezTo>
                      <a:pt x="307" y="1843"/>
                      <a:pt x="307" y="1843"/>
                      <a:pt x="307" y="1843"/>
                    </a:cubicBezTo>
                    <a:cubicBezTo>
                      <a:pt x="250" y="1843"/>
                      <a:pt x="205" y="1797"/>
                      <a:pt x="205" y="1740"/>
                    </a:cubicBezTo>
                    <a:cubicBezTo>
                      <a:pt x="205" y="307"/>
                      <a:pt x="205" y="307"/>
                      <a:pt x="205" y="307"/>
                    </a:cubicBezTo>
                    <a:cubicBezTo>
                      <a:pt x="205" y="250"/>
                      <a:pt x="250" y="204"/>
                      <a:pt x="307" y="204"/>
                    </a:cubicBezTo>
                    <a:cubicBezTo>
                      <a:pt x="2150" y="204"/>
                      <a:pt x="2150" y="204"/>
                      <a:pt x="2150" y="204"/>
                    </a:cubicBezTo>
                    <a:cubicBezTo>
                      <a:pt x="2207" y="204"/>
                      <a:pt x="2253" y="250"/>
                      <a:pt x="2253" y="307"/>
                    </a:cubicBezTo>
                    <a:lnTo>
                      <a:pt x="2253" y="1740"/>
                    </a:ln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sp>
        <p:nvSpPr>
          <p:cNvPr id="61" name="圆角矩形 60"/>
          <p:cNvSpPr/>
          <p:nvPr/>
        </p:nvSpPr>
        <p:spPr>
          <a:xfrm>
            <a:off x="2726311" y="3358407"/>
            <a:ext cx="2522096" cy="491365"/>
          </a:xfrm>
          <a:prstGeom prst="roundRect">
            <a:avLst>
              <a:gd name="adj" fmla="val 0"/>
            </a:avLst>
          </a:prstGeom>
          <a:solidFill>
            <a:schemeClr val="bg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399" b="1">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nvGrpSpPr>
          <p:cNvPr id="190" name="组合 189"/>
          <p:cNvGrpSpPr/>
          <p:nvPr/>
        </p:nvGrpSpPr>
        <p:grpSpPr>
          <a:xfrm>
            <a:off x="2726311" y="3176680"/>
            <a:ext cx="2522096" cy="133369"/>
            <a:chOff x="698381" y="5684964"/>
            <a:chExt cx="5040000" cy="361289"/>
          </a:xfrm>
        </p:grpSpPr>
        <p:sp>
          <p:nvSpPr>
            <p:cNvPr id="191" name="梯形 190"/>
            <p:cNvSpPr/>
            <p:nvPr/>
          </p:nvSpPr>
          <p:spPr>
            <a:xfrm>
              <a:off x="734381" y="5684964"/>
              <a:ext cx="4968000" cy="252002"/>
            </a:xfrm>
            <a:prstGeom prst="trapezoid">
              <a:avLst>
                <a:gd name="adj" fmla="val 234568"/>
              </a:avLst>
            </a:prstGeom>
            <a:gradFill>
              <a:gsLst>
                <a:gs pos="100000">
                  <a:srgbClr val="666666">
                    <a:lumMod val="60000"/>
                    <a:lumOff val="40000"/>
                    <a:alpha val="10000"/>
                  </a:srgbClr>
                </a:gs>
                <a:gs pos="0">
                  <a:srgbClr val="666666">
                    <a:lumMod val="60000"/>
                    <a:lumOff val="40000"/>
                    <a:alpha val="0"/>
                  </a:srgbClr>
                </a:gs>
              </a:gsLst>
              <a:lin ang="5400000" scaled="0"/>
            </a:gradFill>
            <a:ln w="12700">
              <a:gradFill>
                <a:gsLst>
                  <a:gs pos="100000">
                    <a:srgbClr val="666666">
                      <a:lumMod val="60000"/>
                      <a:lumOff val="40000"/>
                      <a:alpha val="15000"/>
                    </a:srgbClr>
                  </a:gs>
                  <a:gs pos="0">
                    <a:srgbClr val="666666">
                      <a:lumMod val="60000"/>
                      <a:lumOff val="40000"/>
                      <a:alpha val="0"/>
                    </a:srgbClr>
                  </a:gs>
                </a:gsLst>
                <a:lin ang="5400000" scaled="0"/>
              </a:gradFill>
            </a:ln>
          </p:spPr>
          <p:txBody>
            <a:bodyPr vert="horz" wrap="square" lIns="24181" tIns="12090" rIns="24181" bIns="12090" numCol="1" anchor="t" anchorCtr="0" compatLnSpc="1"/>
            <a:lstStyle/>
            <a:p>
              <a:pPr defTabSz="241832" eaLnBrk="1" fontAlgn="auto" hangingPunct="1">
                <a:spcBef>
                  <a:spcPts val="0"/>
                </a:spcBef>
                <a:spcAft>
                  <a:spcPts val="0"/>
                </a:spcAft>
                <a:defRPr/>
              </a:pPr>
              <a:endParaRPr lang="zh-CN" altLang="en-US" sz="1399" kern="0" dirty="0">
                <a:solidFill>
                  <a:srgbClr val="C7000B"/>
                </a:solidFill>
                <a:latin typeface="方正兰亭黑简体" panose="02000000000000000000" pitchFamily="2" charset="-122"/>
                <a:ea typeface="方正兰亭黑简体" panose="02000000000000000000" pitchFamily="2" charset="-122"/>
                <a:cs typeface="Arial" panose="020B0604020202020204" pitchFamily="34" charset="0"/>
                <a:sym typeface="方正兰亭黑简体" panose="02000000000000000000" pitchFamily="2" charset="-122"/>
              </a:endParaRPr>
            </a:p>
          </p:txBody>
        </p:sp>
        <p:sp>
          <p:nvSpPr>
            <p:cNvPr id="192" name="梯形 191"/>
            <p:cNvSpPr/>
            <p:nvPr/>
          </p:nvSpPr>
          <p:spPr>
            <a:xfrm>
              <a:off x="698381" y="5830253"/>
              <a:ext cx="5040000" cy="216000"/>
            </a:xfrm>
            <a:prstGeom prst="trapezoid">
              <a:avLst>
                <a:gd name="adj" fmla="val 233391"/>
              </a:avLst>
            </a:prstGeom>
            <a:gradFill>
              <a:gsLst>
                <a:gs pos="100000">
                  <a:srgbClr val="666666">
                    <a:lumMod val="60000"/>
                    <a:lumOff val="40000"/>
                    <a:alpha val="20000"/>
                  </a:srgbClr>
                </a:gs>
                <a:gs pos="0">
                  <a:srgbClr val="666666">
                    <a:lumMod val="60000"/>
                    <a:lumOff val="40000"/>
                    <a:alpha val="0"/>
                  </a:srgbClr>
                </a:gs>
              </a:gsLst>
              <a:lin ang="5400000" scaled="0"/>
            </a:gradFill>
            <a:ln w="12700">
              <a:gradFill>
                <a:gsLst>
                  <a:gs pos="100000">
                    <a:srgbClr val="666666">
                      <a:lumMod val="60000"/>
                      <a:lumOff val="40000"/>
                      <a:alpha val="30000"/>
                    </a:srgbClr>
                  </a:gs>
                  <a:gs pos="0">
                    <a:srgbClr val="666666">
                      <a:lumMod val="60000"/>
                      <a:lumOff val="40000"/>
                      <a:alpha val="0"/>
                    </a:srgbClr>
                  </a:gs>
                </a:gsLst>
                <a:lin ang="5400000" scaled="0"/>
              </a:gradFill>
            </a:ln>
          </p:spPr>
          <p:txBody>
            <a:bodyPr vert="horz" wrap="square" lIns="24181" tIns="12090" rIns="24181" bIns="12090" numCol="1" anchor="t" anchorCtr="0" compatLnSpc="1"/>
            <a:lstStyle/>
            <a:p>
              <a:pPr defTabSz="241832" eaLnBrk="1" fontAlgn="auto" hangingPunct="1">
                <a:spcBef>
                  <a:spcPts val="0"/>
                </a:spcBef>
                <a:spcAft>
                  <a:spcPts val="0"/>
                </a:spcAft>
                <a:defRPr/>
              </a:pPr>
              <a:endParaRPr lang="zh-CN" altLang="en-US" sz="1399" kern="0" dirty="0">
                <a:solidFill>
                  <a:srgbClr val="C7000B"/>
                </a:solidFill>
                <a:latin typeface="方正兰亭黑简体" panose="02000000000000000000" pitchFamily="2" charset="-122"/>
                <a:ea typeface="方正兰亭黑简体" panose="02000000000000000000" pitchFamily="2" charset="-122"/>
                <a:cs typeface="Arial" panose="020B0604020202020204" pitchFamily="34" charset="0"/>
                <a:sym typeface="方正兰亭黑简体" panose="02000000000000000000" pitchFamily="2" charset="-122"/>
              </a:endParaRPr>
            </a:p>
          </p:txBody>
        </p:sp>
      </p:grpSp>
      <p:cxnSp>
        <p:nvCxnSpPr>
          <p:cNvPr id="79" name="直接连接符 78"/>
          <p:cNvCxnSpPr>
            <a:cxnSpLocks/>
          </p:cNvCxnSpPr>
          <p:nvPr/>
        </p:nvCxnSpPr>
        <p:spPr>
          <a:xfrm>
            <a:off x="2872136" y="3601879"/>
            <a:ext cx="2230446" cy="3817"/>
          </a:xfrm>
          <a:prstGeom prst="line">
            <a:avLst/>
          </a:prstGeom>
          <a:ln w="19050">
            <a:solidFill>
              <a:sysClr val="window" lastClr="FFFFFF">
                <a:alpha val="15000"/>
              </a:sysClr>
            </a:solidFill>
          </a:ln>
        </p:spPr>
      </p:cxnSp>
      <p:sp>
        <p:nvSpPr>
          <p:cNvPr id="113" name="矩形 112"/>
          <p:cNvSpPr/>
          <p:nvPr/>
        </p:nvSpPr>
        <p:spPr>
          <a:xfrm>
            <a:off x="3464946" y="2858017"/>
            <a:ext cx="1010537" cy="374187"/>
          </a:xfrm>
          <a:prstGeom prst="rect">
            <a:avLst/>
          </a:prstGeom>
          <a:noFill/>
        </p:spPr>
        <p:txBody>
          <a:bodyPr wrap="square" lIns="0" tIns="0" rIns="0" bIns="0" rtlCol="0" anchor="ctr" anchorCtr="0">
            <a:spAutoFit/>
          </a:bodyPr>
          <a:lstStyle/>
          <a:p>
            <a:pPr algn="ctr" defTabSz="322241" eaLnBrk="1" fontAlgn="auto" hangingPunct="1">
              <a:lnSpc>
                <a:spcPct val="150000"/>
              </a:lnSpc>
              <a:spcBef>
                <a:spcPts val="0"/>
              </a:spcBef>
              <a:spcAft>
                <a:spcPts val="0"/>
              </a:spcAft>
            </a:pPr>
            <a:r>
              <a:rPr kumimoji="1" lang="en-US" altLang="zh-CN" sz="1799" kern="3000" dirty="0">
                <a:solidFill>
                  <a:srgbClr val="CAA150"/>
                </a:solidFill>
                <a:latin typeface="方正兰亭黑简体" panose="02000000000000000000" pitchFamily="2" charset="-122"/>
                <a:ea typeface="方正兰亭黑简体" panose="02000000000000000000" pitchFamily="2" charset="-122"/>
                <a:cs typeface="+mn-ea"/>
                <a:sym typeface="方正兰亭黑简体" panose="02000000000000000000" pitchFamily="2" charset="-122"/>
              </a:rPr>
              <a:t>AS-IS</a:t>
            </a:r>
            <a:endParaRPr kumimoji="1" lang="zh-CN" altLang="en-US" sz="1799" kern="3000" dirty="0">
              <a:solidFill>
                <a:srgbClr val="CAA150"/>
              </a:solidFill>
              <a:latin typeface="方正兰亭黑简体" panose="02000000000000000000" pitchFamily="2" charset="-122"/>
              <a:ea typeface="方正兰亭黑简体" panose="02000000000000000000" pitchFamily="2" charset="-122"/>
              <a:cs typeface="+mn-ea"/>
              <a:sym typeface="方正兰亭黑简体" panose="02000000000000000000" pitchFamily="2" charset="-122"/>
            </a:endParaRPr>
          </a:p>
        </p:txBody>
      </p:sp>
      <p:sp>
        <p:nvSpPr>
          <p:cNvPr id="116" name="圆角矩形 115"/>
          <p:cNvSpPr/>
          <p:nvPr/>
        </p:nvSpPr>
        <p:spPr>
          <a:xfrm>
            <a:off x="2726311" y="4075589"/>
            <a:ext cx="2522096" cy="845942"/>
          </a:xfrm>
          <a:prstGeom prst="roundRect">
            <a:avLst>
              <a:gd name="adj" fmla="val 0"/>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28560" rtlCol="0" anchor="b" anchorCtr="1"/>
          <a:lstStyle/>
          <a:p>
            <a:pPr algn="ctr" defTabSz="609432" eaLnBrk="1" fontAlgn="auto" hangingPunct="1">
              <a:spcBef>
                <a:spcPts val="0"/>
              </a:spcBef>
              <a:spcAft>
                <a:spcPts val="0"/>
              </a:spcAft>
            </a:pPr>
            <a:r>
              <a:rPr lang="zh-CN" altLang="en-US"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rPr>
              <a:t>异构资源</a:t>
            </a:r>
            <a:endParaRPr lang="en-US" altLang="zh-CN"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cxnSp>
        <p:nvCxnSpPr>
          <p:cNvPr id="136" name="直接箭头连接符 135"/>
          <p:cNvCxnSpPr>
            <a:stCxn id="186" idx="2"/>
            <a:endCxn id="36" idx="0"/>
          </p:cNvCxnSpPr>
          <p:nvPr/>
        </p:nvCxnSpPr>
        <p:spPr>
          <a:xfrm flipH="1">
            <a:off x="3258549" y="3802089"/>
            <a:ext cx="370052" cy="384998"/>
          </a:xfrm>
          <a:prstGeom prst="straightConnector1">
            <a:avLst/>
          </a:prstGeom>
          <a:ln w="12700">
            <a:solidFill>
              <a:sysClr val="window" lastClr="FFFFFF">
                <a:alpha val="30000"/>
              </a:sysClr>
            </a:solidFill>
            <a:tailEnd type="triangle"/>
          </a:ln>
        </p:spPr>
      </p:cxnSp>
      <p:cxnSp>
        <p:nvCxnSpPr>
          <p:cNvPr id="137" name="直接箭头连接符 136"/>
          <p:cNvCxnSpPr>
            <a:stCxn id="184" idx="2"/>
            <a:endCxn id="36" idx="0"/>
          </p:cNvCxnSpPr>
          <p:nvPr/>
        </p:nvCxnSpPr>
        <p:spPr>
          <a:xfrm flipH="1">
            <a:off x="3258549" y="3802089"/>
            <a:ext cx="660373" cy="384998"/>
          </a:xfrm>
          <a:prstGeom prst="straightConnector1">
            <a:avLst/>
          </a:prstGeom>
          <a:ln w="12700">
            <a:solidFill>
              <a:sysClr val="window" lastClr="FFFFFF">
                <a:alpha val="30000"/>
              </a:sysClr>
            </a:solidFill>
            <a:tailEnd type="triangle"/>
          </a:ln>
        </p:spPr>
      </p:cxnSp>
      <p:cxnSp>
        <p:nvCxnSpPr>
          <p:cNvPr id="138" name="直接箭头连接符 137"/>
          <p:cNvCxnSpPr>
            <a:cxnSpLocks/>
            <a:stCxn id="182" idx="2"/>
            <a:endCxn id="195" idx="1"/>
          </p:cNvCxnSpPr>
          <p:nvPr/>
        </p:nvCxnSpPr>
        <p:spPr>
          <a:xfrm flipH="1">
            <a:off x="3751897" y="3802090"/>
            <a:ext cx="804692" cy="471447"/>
          </a:xfrm>
          <a:prstGeom prst="straightConnector1">
            <a:avLst/>
          </a:prstGeom>
          <a:ln w="12700">
            <a:solidFill>
              <a:sysClr val="window" lastClr="FFFFFF">
                <a:alpha val="30000"/>
              </a:sysClr>
            </a:solidFill>
            <a:tailEnd type="triangle"/>
          </a:ln>
        </p:spPr>
      </p:cxnSp>
      <p:cxnSp>
        <p:nvCxnSpPr>
          <p:cNvPr id="139" name="直接箭头连接符 138"/>
          <p:cNvCxnSpPr>
            <a:stCxn id="180" idx="2"/>
            <a:endCxn id="203" idx="0"/>
          </p:cNvCxnSpPr>
          <p:nvPr/>
        </p:nvCxnSpPr>
        <p:spPr>
          <a:xfrm flipH="1">
            <a:off x="4716169" y="3802089"/>
            <a:ext cx="130740" cy="384998"/>
          </a:xfrm>
          <a:prstGeom prst="straightConnector1">
            <a:avLst/>
          </a:prstGeom>
          <a:ln w="12700">
            <a:solidFill>
              <a:sysClr val="window" lastClr="FFFFFF">
                <a:alpha val="30000"/>
              </a:sysClr>
            </a:solidFill>
            <a:tailEnd type="triangle"/>
          </a:ln>
        </p:spPr>
      </p:cxnSp>
      <p:cxnSp>
        <p:nvCxnSpPr>
          <p:cNvPr id="140" name="直接箭头连接符 139"/>
          <p:cNvCxnSpPr>
            <a:stCxn id="182" idx="2"/>
            <a:endCxn id="224" idx="0"/>
          </p:cNvCxnSpPr>
          <p:nvPr/>
        </p:nvCxnSpPr>
        <p:spPr>
          <a:xfrm flipH="1">
            <a:off x="4418513" y="3802090"/>
            <a:ext cx="138077" cy="537845"/>
          </a:xfrm>
          <a:prstGeom prst="straightConnector1">
            <a:avLst/>
          </a:prstGeom>
          <a:ln w="12700">
            <a:solidFill>
              <a:sysClr val="window" lastClr="FFFFFF">
                <a:alpha val="30000"/>
              </a:sysClr>
            </a:solidFill>
            <a:tailEnd type="triangle"/>
          </a:ln>
        </p:spPr>
      </p:cxnSp>
      <p:cxnSp>
        <p:nvCxnSpPr>
          <p:cNvPr id="141" name="直接箭头连接符 140"/>
          <p:cNvCxnSpPr>
            <a:stCxn id="184" idx="2"/>
            <a:endCxn id="203" idx="0"/>
          </p:cNvCxnSpPr>
          <p:nvPr/>
        </p:nvCxnSpPr>
        <p:spPr>
          <a:xfrm>
            <a:off x="3918922" y="3802089"/>
            <a:ext cx="797248" cy="384998"/>
          </a:xfrm>
          <a:prstGeom prst="straightConnector1">
            <a:avLst/>
          </a:prstGeom>
          <a:ln w="12700">
            <a:solidFill>
              <a:sysClr val="window" lastClr="FFFFFF">
                <a:alpha val="30000"/>
              </a:sysClr>
            </a:solidFill>
            <a:tailEnd type="triangle"/>
          </a:ln>
        </p:spPr>
      </p:cxnSp>
      <p:sp>
        <p:nvSpPr>
          <p:cNvPr id="186" name="矩形 185"/>
          <p:cNvSpPr/>
          <p:nvPr/>
        </p:nvSpPr>
        <p:spPr>
          <a:xfrm>
            <a:off x="3523881" y="3406090"/>
            <a:ext cx="209440" cy="395999"/>
          </a:xfrm>
          <a:prstGeom prst="rect">
            <a:avLst/>
          </a:prstGeom>
          <a:solidFill>
            <a:schemeClr val="bg1">
              <a:alpha val="15000"/>
            </a:scheme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84" name="矩形 183"/>
          <p:cNvSpPr/>
          <p:nvPr/>
        </p:nvSpPr>
        <p:spPr>
          <a:xfrm>
            <a:off x="3814201" y="3406090"/>
            <a:ext cx="209440" cy="395999"/>
          </a:xfrm>
          <a:prstGeom prst="rect">
            <a:avLst/>
          </a:prstGeom>
          <a:solidFill>
            <a:schemeClr val="bg1">
              <a:alpha val="15000"/>
            </a:scheme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87" name="任意多边形 85"/>
          <p:cNvSpPr/>
          <p:nvPr/>
        </p:nvSpPr>
        <p:spPr>
          <a:xfrm>
            <a:off x="3601223" y="3450563"/>
            <a:ext cx="54756" cy="307053"/>
          </a:xfrm>
          <a:custGeom>
            <a:avLst/>
            <a:gdLst/>
            <a:ahLst/>
            <a:cxnLst>
              <a:cxn ang="0">
                <a:pos x="wd2" y="hd2"/>
              </a:cxn>
              <a:cxn ang="5400000">
                <a:pos x="wd2" y="hd2"/>
              </a:cxn>
              <a:cxn ang="10800000">
                <a:pos x="wd2" y="hd2"/>
              </a:cxn>
              <a:cxn ang="16200000">
                <a:pos x="wd2" y="hd2"/>
              </a:cxn>
            </a:cxnLst>
            <a:rect l="0" t="0" r="r" b="b"/>
            <a:pathLst>
              <a:path w="21190" h="21600" extrusionOk="0">
                <a:moveTo>
                  <a:pt x="7637" y="0"/>
                </a:moveTo>
                <a:cubicBezTo>
                  <a:pt x="12084" y="1978"/>
                  <a:pt x="16531" y="3956"/>
                  <a:pt x="15261" y="5697"/>
                </a:cubicBezTo>
                <a:cubicBezTo>
                  <a:pt x="13990" y="7437"/>
                  <a:pt x="437" y="8229"/>
                  <a:pt x="14" y="10444"/>
                </a:cubicBezTo>
                <a:cubicBezTo>
                  <a:pt x="-410" y="12659"/>
                  <a:pt x="9190" y="17130"/>
                  <a:pt x="12719" y="18989"/>
                </a:cubicBezTo>
                <a:cubicBezTo>
                  <a:pt x="16249" y="20848"/>
                  <a:pt x="18719" y="21224"/>
                  <a:pt x="21190" y="21600"/>
                </a:cubicBezTo>
              </a:path>
            </a:pathLst>
          </a:custGeom>
          <a:ln w="28575">
            <a:solidFill>
              <a:sysClr val="window" lastClr="FFFFFF">
                <a:alpha val="30000"/>
              </a:sysClr>
            </a:solidFill>
          </a:ln>
        </p:spPr>
        <p:txBody>
          <a:bodyPr lIns="9327" tIns="9327" rIns="9327" bIns="9327" anchor="ctr"/>
          <a:lstStyle/>
          <a:p>
            <a:pPr algn="ctr" defTabSz="181350" eaLnBrk="1" fontAlgn="auto" hangingPunct="1">
              <a:spcBef>
                <a:spcPts val="0"/>
              </a:spcBef>
              <a:spcAft>
                <a:spcPts val="0"/>
              </a:spcAft>
              <a:defRPr>
                <a:solidFill>
                  <a:srgbClr val="FFFFFF"/>
                </a:solidFill>
              </a:defRPr>
            </a:pPr>
            <a:endParaRPr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85" name="任意多边形 85"/>
          <p:cNvSpPr/>
          <p:nvPr/>
        </p:nvSpPr>
        <p:spPr>
          <a:xfrm>
            <a:off x="3891543" y="3450563"/>
            <a:ext cx="54756" cy="307053"/>
          </a:xfrm>
          <a:custGeom>
            <a:avLst/>
            <a:gdLst/>
            <a:ahLst/>
            <a:cxnLst>
              <a:cxn ang="0">
                <a:pos x="wd2" y="hd2"/>
              </a:cxn>
              <a:cxn ang="5400000">
                <a:pos x="wd2" y="hd2"/>
              </a:cxn>
              <a:cxn ang="10800000">
                <a:pos x="wd2" y="hd2"/>
              </a:cxn>
              <a:cxn ang="16200000">
                <a:pos x="wd2" y="hd2"/>
              </a:cxn>
            </a:cxnLst>
            <a:rect l="0" t="0" r="r" b="b"/>
            <a:pathLst>
              <a:path w="21190" h="21600" extrusionOk="0">
                <a:moveTo>
                  <a:pt x="7637" y="0"/>
                </a:moveTo>
                <a:cubicBezTo>
                  <a:pt x="12084" y="1978"/>
                  <a:pt x="16531" y="3956"/>
                  <a:pt x="15261" y="5697"/>
                </a:cubicBezTo>
                <a:cubicBezTo>
                  <a:pt x="13990" y="7437"/>
                  <a:pt x="437" y="8229"/>
                  <a:pt x="14" y="10444"/>
                </a:cubicBezTo>
                <a:cubicBezTo>
                  <a:pt x="-410" y="12659"/>
                  <a:pt x="9190" y="17130"/>
                  <a:pt x="12719" y="18989"/>
                </a:cubicBezTo>
                <a:cubicBezTo>
                  <a:pt x="16249" y="20848"/>
                  <a:pt x="18719" y="21224"/>
                  <a:pt x="21190" y="21600"/>
                </a:cubicBezTo>
              </a:path>
            </a:pathLst>
          </a:custGeom>
          <a:ln w="28575">
            <a:solidFill>
              <a:sysClr val="window" lastClr="FFFFFF">
                <a:alpha val="30000"/>
              </a:sysClr>
            </a:solidFill>
          </a:ln>
        </p:spPr>
        <p:txBody>
          <a:bodyPr lIns="9327" tIns="9327" rIns="9327" bIns="9327" anchor="ctr"/>
          <a:lstStyle/>
          <a:p>
            <a:pPr algn="ctr" defTabSz="181350" eaLnBrk="1" fontAlgn="auto" hangingPunct="1">
              <a:spcBef>
                <a:spcPts val="0"/>
              </a:spcBef>
              <a:spcAft>
                <a:spcPts val="0"/>
              </a:spcAft>
              <a:defRPr>
                <a:solidFill>
                  <a:srgbClr val="FFFFFF"/>
                </a:solidFill>
              </a:defRPr>
            </a:pPr>
            <a:endParaRPr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nvGrpSpPr>
          <p:cNvPr id="12" name="组合 11"/>
          <p:cNvGrpSpPr/>
          <p:nvPr/>
        </p:nvGrpSpPr>
        <p:grpSpPr>
          <a:xfrm>
            <a:off x="4451870" y="3406090"/>
            <a:ext cx="499760" cy="395999"/>
            <a:chOff x="17024428" y="2356445"/>
            <a:chExt cx="1889848" cy="1497476"/>
          </a:xfrm>
        </p:grpSpPr>
        <p:sp>
          <p:nvSpPr>
            <p:cNvPr id="182" name="矩形 181"/>
            <p:cNvSpPr/>
            <p:nvPr/>
          </p:nvSpPr>
          <p:spPr>
            <a:xfrm>
              <a:off x="17024428" y="2356445"/>
              <a:ext cx="792000" cy="1497476"/>
            </a:xfrm>
            <a:prstGeom prst="rect">
              <a:avLst/>
            </a:prstGeom>
            <a:solidFill>
              <a:schemeClr val="bg1">
                <a:alpha val="15000"/>
              </a:scheme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80" name="矩形 179"/>
            <p:cNvSpPr/>
            <p:nvPr/>
          </p:nvSpPr>
          <p:spPr>
            <a:xfrm>
              <a:off x="18122276" y="2356445"/>
              <a:ext cx="792000" cy="1497476"/>
            </a:xfrm>
            <a:prstGeom prst="rect">
              <a:avLst/>
            </a:prstGeom>
            <a:solidFill>
              <a:schemeClr val="bg1">
                <a:alpha val="15000"/>
              </a:scheme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83" name="任意多边形 85"/>
            <p:cNvSpPr/>
            <p:nvPr/>
          </p:nvSpPr>
          <p:spPr>
            <a:xfrm>
              <a:off x="17316899" y="2524620"/>
              <a:ext cx="207059" cy="1161126"/>
            </a:xfrm>
            <a:custGeom>
              <a:avLst/>
              <a:gdLst/>
              <a:ahLst/>
              <a:cxnLst>
                <a:cxn ang="0">
                  <a:pos x="wd2" y="hd2"/>
                </a:cxn>
                <a:cxn ang="5400000">
                  <a:pos x="wd2" y="hd2"/>
                </a:cxn>
                <a:cxn ang="10800000">
                  <a:pos x="wd2" y="hd2"/>
                </a:cxn>
                <a:cxn ang="16200000">
                  <a:pos x="wd2" y="hd2"/>
                </a:cxn>
              </a:cxnLst>
              <a:rect l="0" t="0" r="r" b="b"/>
              <a:pathLst>
                <a:path w="21190" h="21600" extrusionOk="0">
                  <a:moveTo>
                    <a:pt x="7637" y="0"/>
                  </a:moveTo>
                  <a:cubicBezTo>
                    <a:pt x="12084" y="1978"/>
                    <a:pt x="16531" y="3956"/>
                    <a:pt x="15261" y="5697"/>
                  </a:cubicBezTo>
                  <a:cubicBezTo>
                    <a:pt x="13990" y="7437"/>
                    <a:pt x="437" y="8229"/>
                    <a:pt x="14" y="10444"/>
                  </a:cubicBezTo>
                  <a:cubicBezTo>
                    <a:pt x="-410" y="12659"/>
                    <a:pt x="9190" y="17130"/>
                    <a:pt x="12719" y="18989"/>
                  </a:cubicBezTo>
                  <a:cubicBezTo>
                    <a:pt x="16249" y="20848"/>
                    <a:pt x="18719" y="21224"/>
                    <a:pt x="21190" y="21600"/>
                  </a:cubicBezTo>
                </a:path>
              </a:pathLst>
            </a:custGeom>
            <a:ln w="28575">
              <a:solidFill>
                <a:sysClr val="window" lastClr="FFFFFF">
                  <a:alpha val="30000"/>
                </a:sysClr>
              </a:solidFill>
            </a:ln>
          </p:spPr>
          <p:txBody>
            <a:bodyPr lIns="9327" tIns="9327" rIns="9327" bIns="9327" anchor="ctr"/>
            <a:lstStyle/>
            <a:p>
              <a:pPr algn="ctr" defTabSz="181350" eaLnBrk="1" fontAlgn="auto" hangingPunct="1">
                <a:spcBef>
                  <a:spcPts val="0"/>
                </a:spcBef>
                <a:spcAft>
                  <a:spcPts val="0"/>
                </a:spcAft>
                <a:defRPr>
                  <a:solidFill>
                    <a:srgbClr val="FFFFFF"/>
                  </a:solidFill>
                </a:defRPr>
              </a:pPr>
              <a:endParaRPr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81" name="任意多边形 85"/>
            <p:cNvSpPr/>
            <p:nvPr/>
          </p:nvSpPr>
          <p:spPr>
            <a:xfrm>
              <a:off x="18414747" y="2524620"/>
              <a:ext cx="207059" cy="1161126"/>
            </a:xfrm>
            <a:custGeom>
              <a:avLst/>
              <a:gdLst/>
              <a:ahLst/>
              <a:cxnLst>
                <a:cxn ang="0">
                  <a:pos x="wd2" y="hd2"/>
                </a:cxn>
                <a:cxn ang="5400000">
                  <a:pos x="wd2" y="hd2"/>
                </a:cxn>
                <a:cxn ang="10800000">
                  <a:pos x="wd2" y="hd2"/>
                </a:cxn>
                <a:cxn ang="16200000">
                  <a:pos x="wd2" y="hd2"/>
                </a:cxn>
              </a:cxnLst>
              <a:rect l="0" t="0" r="r" b="b"/>
              <a:pathLst>
                <a:path w="21190" h="21600" extrusionOk="0">
                  <a:moveTo>
                    <a:pt x="7637" y="0"/>
                  </a:moveTo>
                  <a:cubicBezTo>
                    <a:pt x="12084" y="1978"/>
                    <a:pt x="16531" y="3956"/>
                    <a:pt x="15261" y="5697"/>
                  </a:cubicBezTo>
                  <a:cubicBezTo>
                    <a:pt x="13990" y="7437"/>
                    <a:pt x="437" y="8229"/>
                    <a:pt x="14" y="10444"/>
                  </a:cubicBezTo>
                  <a:cubicBezTo>
                    <a:pt x="-410" y="12659"/>
                    <a:pt x="9190" y="17130"/>
                    <a:pt x="12719" y="18989"/>
                  </a:cubicBezTo>
                  <a:cubicBezTo>
                    <a:pt x="16249" y="20848"/>
                    <a:pt x="18719" y="21224"/>
                    <a:pt x="21190" y="21600"/>
                  </a:cubicBezTo>
                </a:path>
              </a:pathLst>
            </a:custGeom>
            <a:ln w="28575">
              <a:solidFill>
                <a:sysClr val="window" lastClr="FFFFFF">
                  <a:alpha val="30000"/>
                </a:sysClr>
              </a:solidFill>
            </a:ln>
          </p:spPr>
          <p:txBody>
            <a:bodyPr lIns="9327" tIns="9327" rIns="9327" bIns="9327" anchor="ctr"/>
            <a:lstStyle/>
            <a:p>
              <a:pPr algn="ctr" defTabSz="181350" eaLnBrk="1" fontAlgn="auto" hangingPunct="1">
                <a:spcBef>
                  <a:spcPts val="0"/>
                </a:spcBef>
                <a:spcAft>
                  <a:spcPts val="0"/>
                </a:spcAft>
                <a:defRPr>
                  <a:solidFill>
                    <a:srgbClr val="FFFFFF"/>
                  </a:solidFill>
                </a:defRPr>
              </a:pPr>
              <a:endParaRPr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sp>
        <p:nvSpPr>
          <p:cNvPr id="99" name="矩形 98"/>
          <p:cNvSpPr/>
          <p:nvPr/>
        </p:nvSpPr>
        <p:spPr>
          <a:xfrm>
            <a:off x="4153660" y="3313056"/>
            <a:ext cx="168192" cy="861437"/>
          </a:xfrm>
          <a:prstGeom prst="rect">
            <a:avLst/>
          </a:prstGeom>
        </p:spPr>
        <p:txBody>
          <a:bodyPr wrap="square" lIns="0" tIns="0" rIns="0" bIns="0" anchor="ctr" anchorCtr="0">
            <a:spAutoFit/>
          </a:bodyPr>
          <a:lstStyle/>
          <a:p>
            <a:pPr algn="ctr" defTabSz="609432" eaLnBrk="1" fontAlgn="auto" hangingPunct="1">
              <a:spcBef>
                <a:spcPts val="0"/>
              </a:spcBef>
              <a:spcAft>
                <a:spcPts val="0"/>
              </a:spcAft>
            </a:pPr>
            <a:r>
              <a:rPr lang="en-US" altLang="zh-CN" sz="1399" dirty="0">
                <a:solidFill>
                  <a:prstClr val="white"/>
                </a:solidFill>
                <a:latin typeface="方正兰亭黑简体" panose="02000000000000000000" pitchFamily="2" charset="-122"/>
                <a:ea typeface="方正兰亭黑简体" panose="02000000000000000000" pitchFamily="2" charset="-122"/>
                <a:cs typeface="Times New Roman" panose="02020603050405020304" pitchFamily="18" charset="0"/>
                <a:sym typeface="方正兰亭黑简体" panose="02000000000000000000" pitchFamily="2" charset="-122"/>
              </a:rPr>
              <a:t>…</a:t>
            </a:r>
          </a:p>
          <a:p>
            <a:pPr algn="ctr" defTabSz="609432" eaLnBrk="1" fontAlgn="auto" hangingPunct="1">
              <a:spcBef>
                <a:spcPts val="0"/>
              </a:spcBef>
              <a:spcAft>
                <a:spcPts val="0"/>
              </a:spcAft>
            </a:pPr>
            <a:endParaRPr lang="en-US" altLang="zh-CN" sz="1399" dirty="0">
              <a:solidFill>
                <a:prstClr val="white"/>
              </a:solidFill>
              <a:latin typeface="方正兰亭黑简体" panose="02000000000000000000" pitchFamily="2" charset="-122"/>
              <a:ea typeface="方正兰亭黑简体" panose="02000000000000000000" pitchFamily="2" charset="-122"/>
              <a:cs typeface="Times New Roman" panose="02020603050405020304" pitchFamily="18" charset="0"/>
              <a:sym typeface="方正兰亭黑简体" panose="02000000000000000000" pitchFamily="2" charset="-122"/>
            </a:endParaRPr>
          </a:p>
          <a:p>
            <a:pPr algn="ctr" defTabSz="609432" eaLnBrk="1" fontAlgn="auto" hangingPunct="1">
              <a:spcBef>
                <a:spcPts val="0"/>
              </a:spcBef>
              <a:spcAft>
                <a:spcPts val="0"/>
              </a:spcAft>
            </a:pPr>
            <a:endParaRPr lang="en-US" altLang="zh-CN" sz="1399" dirty="0">
              <a:solidFill>
                <a:prstClr val="white"/>
              </a:solidFill>
              <a:latin typeface="方正兰亭黑简体" panose="02000000000000000000" pitchFamily="2" charset="-122"/>
              <a:ea typeface="方正兰亭黑简体" panose="02000000000000000000" pitchFamily="2" charset="-122"/>
              <a:cs typeface="Times New Roman" panose="02020603050405020304" pitchFamily="18" charset="0"/>
              <a:sym typeface="方正兰亭黑简体" panose="02000000000000000000" pitchFamily="2" charset="-122"/>
            </a:endParaRPr>
          </a:p>
          <a:p>
            <a:pPr algn="ctr" defTabSz="609432" eaLnBrk="1" fontAlgn="auto" hangingPunct="1">
              <a:spcBef>
                <a:spcPts val="0"/>
              </a:spcBef>
              <a:spcAft>
                <a:spcPts val="0"/>
              </a:spcAft>
            </a:pPr>
            <a:r>
              <a:rPr lang="en-US" altLang="zh-CN" sz="1399" dirty="0">
                <a:solidFill>
                  <a:prstClr val="white"/>
                </a:solidFill>
                <a:latin typeface="方正兰亭黑简体" panose="02000000000000000000" pitchFamily="2" charset="-122"/>
                <a:ea typeface="方正兰亭黑简体" panose="02000000000000000000" pitchFamily="2" charset="-122"/>
                <a:cs typeface="Times New Roman" panose="02020603050405020304" pitchFamily="18" charset="0"/>
                <a:sym typeface="方正兰亭黑简体" panose="02000000000000000000" pitchFamily="2" charset="-122"/>
              </a:rPr>
              <a:t>…</a:t>
            </a:r>
            <a:endParaRPr lang="zh-CN" altLang="en-US"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00" name="矩形 99"/>
          <p:cNvSpPr/>
          <p:nvPr/>
        </p:nvSpPr>
        <p:spPr>
          <a:xfrm>
            <a:off x="2600836" y="3357260"/>
            <a:ext cx="721023" cy="215360"/>
          </a:xfrm>
          <a:prstGeom prst="rect">
            <a:avLst/>
          </a:prstGeom>
        </p:spPr>
        <p:txBody>
          <a:bodyPr wrap="square" lIns="0" tIns="0" rIns="0" bIns="0" anchor="ctr" anchorCtr="0">
            <a:spAutoFit/>
          </a:bodyPr>
          <a:lstStyle/>
          <a:p>
            <a:pPr algn="ctr" defTabSz="609432" eaLnBrk="1" fontAlgn="auto" hangingPunct="1">
              <a:spcBef>
                <a:spcPts val="0"/>
              </a:spcBef>
              <a:spcAft>
                <a:spcPts val="0"/>
              </a:spcAft>
            </a:pPr>
            <a:r>
              <a:rPr lang="zh-CN" altLang="en-US" sz="1399" dirty="0">
                <a:solidFill>
                  <a:prstClr val="white"/>
                </a:solidFill>
                <a:latin typeface="方正兰亭黑简体" panose="02000000000000000000" pitchFamily="2" charset="-122"/>
                <a:ea typeface="方正兰亭黑简体" panose="02000000000000000000" pitchFamily="2" charset="-122"/>
                <a:cs typeface="Times New Roman" panose="02020603050405020304" pitchFamily="18" charset="0"/>
                <a:sym typeface="方正兰亭黑简体" panose="02000000000000000000" pitchFamily="2" charset="-122"/>
              </a:rPr>
              <a:t>并发任务</a:t>
            </a:r>
            <a:endParaRPr lang="zh-CN" altLang="en-US" sz="1399" dirty="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01" name="矩形 100"/>
          <p:cNvSpPr/>
          <p:nvPr/>
        </p:nvSpPr>
        <p:spPr>
          <a:xfrm>
            <a:off x="2600836" y="3655389"/>
            <a:ext cx="721023" cy="215360"/>
          </a:xfrm>
          <a:prstGeom prst="rect">
            <a:avLst/>
          </a:prstGeom>
        </p:spPr>
        <p:txBody>
          <a:bodyPr wrap="square" lIns="0" tIns="0" rIns="0" bIns="0" anchor="ctr" anchorCtr="0">
            <a:spAutoFit/>
          </a:bodyPr>
          <a:lstStyle/>
          <a:p>
            <a:pPr algn="ctr" defTabSz="609432" eaLnBrk="1" fontAlgn="auto" hangingPunct="1">
              <a:spcBef>
                <a:spcPts val="0"/>
              </a:spcBef>
              <a:spcAft>
                <a:spcPts val="0"/>
              </a:spcAft>
            </a:pPr>
            <a:r>
              <a:rPr lang="zh-CN" altLang="en-US" sz="1399" dirty="0">
                <a:solidFill>
                  <a:prstClr val="white"/>
                </a:solidFill>
                <a:latin typeface="方正兰亭黑简体" panose="02000000000000000000" pitchFamily="2" charset="-122"/>
                <a:ea typeface="方正兰亭黑简体" panose="02000000000000000000" pitchFamily="2" charset="-122"/>
                <a:cs typeface="Times New Roman" panose="02020603050405020304" pitchFamily="18" charset="0"/>
                <a:sym typeface="方正兰亭黑简体" panose="02000000000000000000" pitchFamily="2" charset="-122"/>
              </a:rPr>
              <a:t>调度单元</a:t>
            </a:r>
          </a:p>
        </p:txBody>
      </p:sp>
      <p:sp>
        <p:nvSpPr>
          <p:cNvPr id="164" name="矩形 163"/>
          <p:cNvSpPr/>
          <p:nvPr/>
        </p:nvSpPr>
        <p:spPr>
          <a:xfrm>
            <a:off x="2635174" y="3840984"/>
            <a:ext cx="592068" cy="215360"/>
          </a:xfrm>
          <a:prstGeom prst="rect">
            <a:avLst/>
          </a:prstGeom>
        </p:spPr>
        <p:txBody>
          <a:bodyPr wrap="square" lIns="0" tIns="0" rIns="0" bIns="0" anchor="ctr" anchorCtr="0">
            <a:spAutoFit/>
          </a:bodyPr>
          <a:lstStyle/>
          <a:p>
            <a:pPr algn="ctr" defTabSz="609432" eaLnBrk="1" fontAlgn="auto" hangingPunct="1">
              <a:spcBef>
                <a:spcPts val="0"/>
              </a:spcBef>
              <a:spcAft>
                <a:spcPts val="0"/>
              </a:spcAft>
            </a:pPr>
            <a:r>
              <a:rPr lang="zh-CN" altLang="en-US" sz="1399" dirty="0">
                <a:solidFill>
                  <a:prstClr val="white"/>
                </a:solidFill>
                <a:latin typeface="方正兰亭黑简体" panose="02000000000000000000" pitchFamily="2" charset="-122"/>
                <a:ea typeface="方正兰亭黑简体" panose="02000000000000000000" pitchFamily="2" charset="-122"/>
                <a:cs typeface="Times New Roman" panose="02020603050405020304" pitchFamily="18" charset="0"/>
                <a:sym typeface="方正兰亭黑简体" panose="02000000000000000000" pitchFamily="2" charset="-122"/>
              </a:rPr>
              <a:t>1:1</a:t>
            </a:r>
          </a:p>
        </p:txBody>
      </p:sp>
      <p:sp>
        <p:nvSpPr>
          <p:cNvPr id="36" name="矩形 35"/>
          <p:cNvSpPr/>
          <p:nvPr/>
        </p:nvSpPr>
        <p:spPr>
          <a:xfrm>
            <a:off x="3023087" y="4187088"/>
            <a:ext cx="470922" cy="172897"/>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399">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95" name="矩形 194"/>
          <p:cNvSpPr/>
          <p:nvPr/>
        </p:nvSpPr>
        <p:spPr>
          <a:xfrm>
            <a:off x="3751898" y="4187088"/>
            <a:ext cx="470922" cy="172897"/>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399">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nvGrpSpPr>
          <p:cNvPr id="6" name="组合 5"/>
          <p:cNvGrpSpPr/>
          <p:nvPr/>
        </p:nvGrpSpPr>
        <p:grpSpPr>
          <a:xfrm>
            <a:off x="3837933" y="4214848"/>
            <a:ext cx="298852" cy="117377"/>
            <a:chOff x="15288965" y="4423103"/>
            <a:chExt cx="1130112" cy="443861"/>
          </a:xfrm>
        </p:grpSpPr>
        <p:grpSp>
          <p:nvGrpSpPr>
            <p:cNvPr id="4" name="组合 3"/>
            <p:cNvGrpSpPr/>
            <p:nvPr/>
          </p:nvGrpSpPr>
          <p:grpSpPr>
            <a:xfrm>
              <a:off x="16059077" y="4423103"/>
              <a:ext cx="360000" cy="443861"/>
              <a:chOff x="16059077" y="4423103"/>
              <a:chExt cx="446196" cy="443861"/>
            </a:xfrm>
          </p:grpSpPr>
          <p:sp>
            <p:nvSpPr>
              <p:cNvPr id="198" name="Freeform 7"/>
              <p:cNvSpPr>
                <a:spLocks noEditPoints="1"/>
              </p:cNvSpPr>
              <p:nvPr/>
            </p:nvSpPr>
            <p:spPr bwMode="auto">
              <a:xfrm>
                <a:off x="16226400" y="4672098"/>
                <a:ext cx="111549" cy="139071"/>
              </a:xfrm>
              <a:custGeom>
                <a:avLst/>
                <a:gdLst>
                  <a:gd name="T0" fmla="*/ 303 w 614"/>
                  <a:gd name="T1" fmla="*/ 2 h 1027"/>
                  <a:gd name="T2" fmla="*/ 0 w 614"/>
                  <a:gd name="T3" fmla="*/ 309 h 1027"/>
                  <a:gd name="T4" fmla="*/ 122 w 614"/>
                  <a:gd name="T5" fmla="*/ 555 h 1027"/>
                  <a:gd name="T6" fmla="*/ 205 w 614"/>
                  <a:gd name="T7" fmla="*/ 719 h 1027"/>
                  <a:gd name="T8" fmla="*/ 205 w 614"/>
                  <a:gd name="T9" fmla="*/ 922 h 1027"/>
                  <a:gd name="T10" fmla="*/ 308 w 614"/>
                  <a:gd name="T11" fmla="*/ 1026 h 1027"/>
                  <a:gd name="T12" fmla="*/ 410 w 614"/>
                  <a:gd name="T13" fmla="*/ 924 h 1027"/>
                  <a:gd name="T14" fmla="*/ 410 w 614"/>
                  <a:gd name="T15" fmla="*/ 717 h 1027"/>
                  <a:gd name="T16" fmla="*/ 492 w 614"/>
                  <a:gd name="T17" fmla="*/ 555 h 1027"/>
                  <a:gd name="T18" fmla="*/ 614 w 614"/>
                  <a:gd name="T19" fmla="*/ 309 h 1027"/>
                  <a:gd name="T20" fmla="*/ 303 w 614"/>
                  <a:gd name="T21" fmla="*/ 2 h 1027"/>
                  <a:gd name="T22" fmla="*/ 307 w 614"/>
                  <a:gd name="T23" fmla="*/ 412 h 1027"/>
                  <a:gd name="T24" fmla="*/ 205 w 614"/>
                  <a:gd name="T25" fmla="*/ 309 h 1027"/>
                  <a:gd name="T26" fmla="*/ 307 w 614"/>
                  <a:gd name="T27" fmla="*/ 207 h 1027"/>
                  <a:gd name="T28" fmla="*/ 410 w 614"/>
                  <a:gd name="T29" fmla="*/ 309 h 1027"/>
                  <a:gd name="T30" fmla="*/ 307 w 614"/>
                  <a:gd name="T31" fmla="*/ 412 h 1027"/>
                  <a:gd name="T32" fmla="*/ 307 w 614"/>
                  <a:gd name="T33" fmla="*/ 412 h 1027"/>
                  <a:gd name="T34" fmla="*/ 307 w 614"/>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4" h="1027">
                    <a:moveTo>
                      <a:pt x="303" y="2"/>
                    </a:moveTo>
                    <a:cubicBezTo>
                      <a:pt x="136" y="4"/>
                      <a:pt x="0" y="142"/>
                      <a:pt x="0" y="309"/>
                    </a:cubicBezTo>
                    <a:cubicBezTo>
                      <a:pt x="0" y="409"/>
                      <a:pt x="48" y="499"/>
                      <a:pt x="122" y="555"/>
                    </a:cubicBezTo>
                    <a:cubicBezTo>
                      <a:pt x="174" y="594"/>
                      <a:pt x="205" y="654"/>
                      <a:pt x="205" y="719"/>
                    </a:cubicBezTo>
                    <a:cubicBezTo>
                      <a:pt x="205" y="922"/>
                      <a:pt x="205" y="922"/>
                      <a:pt x="205" y="922"/>
                    </a:cubicBezTo>
                    <a:cubicBezTo>
                      <a:pt x="205" y="979"/>
                      <a:pt x="252" y="1027"/>
                      <a:pt x="308" y="1026"/>
                    </a:cubicBezTo>
                    <a:cubicBezTo>
                      <a:pt x="364" y="1025"/>
                      <a:pt x="410" y="980"/>
                      <a:pt x="410" y="924"/>
                    </a:cubicBezTo>
                    <a:cubicBezTo>
                      <a:pt x="410" y="717"/>
                      <a:pt x="410" y="717"/>
                      <a:pt x="410" y="717"/>
                    </a:cubicBezTo>
                    <a:cubicBezTo>
                      <a:pt x="410" y="653"/>
                      <a:pt x="441" y="593"/>
                      <a:pt x="492" y="555"/>
                    </a:cubicBezTo>
                    <a:cubicBezTo>
                      <a:pt x="566" y="499"/>
                      <a:pt x="614" y="409"/>
                      <a:pt x="614" y="309"/>
                    </a:cubicBezTo>
                    <a:cubicBezTo>
                      <a:pt x="614" y="138"/>
                      <a:pt x="475" y="0"/>
                      <a:pt x="303" y="2"/>
                    </a:cubicBezTo>
                    <a:close/>
                    <a:moveTo>
                      <a:pt x="307" y="412"/>
                    </a:moveTo>
                    <a:cubicBezTo>
                      <a:pt x="251" y="412"/>
                      <a:pt x="205" y="366"/>
                      <a:pt x="205" y="309"/>
                    </a:cubicBezTo>
                    <a:cubicBezTo>
                      <a:pt x="205" y="253"/>
                      <a:pt x="251" y="207"/>
                      <a:pt x="307" y="207"/>
                    </a:cubicBezTo>
                    <a:cubicBezTo>
                      <a:pt x="364" y="207"/>
                      <a:pt x="410" y="253"/>
                      <a:pt x="410" y="309"/>
                    </a:cubicBezTo>
                    <a:cubicBezTo>
                      <a:pt x="410" y="366"/>
                      <a:pt x="364" y="412"/>
                      <a:pt x="307" y="412"/>
                    </a:cubicBezTo>
                    <a:close/>
                    <a:moveTo>
                      <a:pt x="307" y="412"/>
                    </a:moveTo>
                    <a:cubicBezTo>
                      <a:pt x="307" y="412"/>
                      <a:pt x="307" y="412"/>
                      <a:pt x="307"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99" name="Freeform 8"/>
              <p:cNvSpPr>
                <a:spLocks noEditPoints="1"/>
              </p:cNvSpPr>
              <p:nvPr/>
            </p:nvSpPr>
            <p:spPr bwMode="auto">
              <a:xfrm>
                <a:off x="16059077" y="4423103"/>
                <a:ext cx="446196" cy="443861"/>
              </a:xfrm>
              <a:custGeom>
                <a:avLst/>
                <a:gdLst>
                  <a:gd name="T0" fmla="*/ 640 w 2458"/>
                  <a:gd name="T1" fmla="*/ 1231 h 3279"/>
                  <a:gd name="T2" fmla="*/ 615 w 2458"/>
                  <a:gd name="T3" fmla="*/ 1205 h 3279"/>
                  <a:gd name="T4" fmla="*/ 615 w 2458"/>
                  <a:gd name="T5" fmla="*/ 821 h 3279"/>
                  <a:gd name="T6" fmla="*/ 795 w 2458"/>
                  <a:gd name="T7" fmla="*/ 387 h 3279"/>
                  <a:gd name="T8" fmla="*/ 1229 w 2458"/>
                  <a:gd name="T9" fmla="*/ 207 h 3279"/>
                  <a:gd name="T10" fmla="*/ 1664 w 2458"/>
                  <a:gd name="T11" fmla="*/ 387 h 3279"/>
                  <a:gd name="T12" fmla="*/ 1844 w 2458"/>
                  <a:gd name="T13" fmla="*/ 821 h 3279"/>
                  <a:gd name="T14" fmla="*/ 1844 w 2458"/>
                  <a:gd name="T15" fmla="*/ 827 h 3279"/>
                  <a:gd name="T16" fmla="*/ 1940 w 2458"/>
                  <a:gd name="T17" fmla="*/ 923 h 3279"/>
                  <a:gd name="T18" fmla="*/ 1952 w 2458"/>
                  <a:gd name="T19" fmla="*/ 923 h 3279"/>
                  <a:gd name="T20" fmla="*/ 2048 w 2458"/>
                  <a:gd name="T21" fmla="*/ 827 h 3279"/>
                  <a:gd name="T22" fmla="*/ 1226 w 2458"/>
                  <a:gd name="T23" fmla="*/ 2 h 3279"/>
                  <a:gd name="T24" fmla="*/ 410 w 2458"/>
                  <a:gd name="T25" fmla="*/ 821 h 3279"/>
                  <a:gd name="T26" fmla="*/ 410 w 2458"/>
                  <a:gd name="T27" fmla="*/ 1205 h 3279"/>
                  <a:gd name="T28" fmla="*/ 384 w 2458"/>
                  <a:gd name="T29" fmla="*/ 1231 h 3279"/>
                  <a:gd name="T30" fmla="*/ 308 w 2458"/>
                  <a:gd name="T31" fmla="*/ 1231 h 3279"/>
                  <a:gd name="T32" fmla="*/ 0 w 2458"/>
                  <a:gd name="T33" fmla="*/ 1538 h 3279"/>
                  <a:gd name="T34" fmla="*/ 0 w 2458"/>
                  <a:gd name="T35" fmla="*/ 2971 h 3279"/>
                  <a:gd name="T36" fmla="*/ 308 w 2458"/>
                  <a:gd name="T37" fmla="*/ 3279 h 3279"/>
                  <a:gd name="T38" fmla="*/ 2151 w 2458"/>
                  <a:gd name="T39" fmla="*/ 3279 h 3279"/>
                  <a:gd name="T40" fmla="*/ 2458 w 2458"/>
                  <a:gd name="T41" fmla="*/ 2971 h 3279"/>
                  <a:gd name="T42" fmla="*/ 2458 w 2458"/>
                  <a:gd name="T43" fmla="*/ 1538 h 3279"/>
                  <a:gd name="T44" fmla="*/ 2151 w 2458"/>
                  <a:gd name="T45" fmla="*/ 1231 h 3279"/>
                  <a:gd name="T46" fmla="*/ 640 w 2458"/>
                  <a:gd name="T47" fmla="*/ 1231 h 3279"/>
                  <a:gd name="T48" fmla="*/ 2151 w 2458"/>
                  <a:gd name="T49" fmla="*/ 3074 h 3279"/>
                  <a:gd name="T50" fmla="*/ 308 w 2458"/>
                  <a:gd name="T51" fmla="*/ 3074 h 3279"/>
                  <a:gd name="T52" fmla="*/ 205 w 2458"/>
                  <a:gd name="T53" fmla="*/ 2971 h 3279"/>
                  <a:gd name="T54" fmla="*/ 205 w 2458"/>
                  <a:gd name="T55" fmla="*/ 1538 h 3279"/>
                  <a:gd name="T56" fmla="*/ 308 w 2458"/>
                  <a:gd name="T57" fmla="*/ 1435 h 3279"/>
                  <a:gd name="T58" fmla="*/ 2151 w 2458"/>
                  <a:gd name="T59" fmla="*/ 1435 h 3279"/>
                  <a:gd name="T60" fmla="*/ 2253 w 2458"/>
                  <a:gd name="T61" fmla="*/ 1538 h 3279"/>
                  <a:gd name="T62" fmla="*/ 2253 w 2458"/>
                  <a:gd name="T63" fmla="*/ 2971 h 3279"/>
                  <a:gd name="T64" fmla="*/ 2151 w 2458"/>
                  <a:gd name="T65" fmla="*/ 3074 h 3279"/>
                  <a:gd name="T66" fmla="*/ 2151 w 2458"/>
                  <a:gd name="T67" fmla="*/ 3074 h 3279"/>
                  <a:gd name="T68" fmla="*/ 2151 w 2458"/>
                  <a:gd name="T69" fmla="*/ 3074 h 3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58" h="3279">
                    <a:moveTo>
                      <a:pt x="640" y="1231"/>
                    </a:moveTo>
                    <a:cubicBezTo>
                      <a:pt x="626" y="1231"/>
                      <a:pt x="615" y="1219"/>
                      <a:pt x="615" y="1205"/>
                    </a:cubicBezTo>
                    <a:cubicBezTo>
                      <a:pt x="615" y="821"/>
                      <a:pt x="615" y="821"/>
                      <a:pt x="615" y="821"/>
                    </a:cubicBezTo>
                    <a:cubicBezTo>
                      <a:pt x="615" y="657"/>
                      <a:pt x="679" y="503"/>
                      <a:pt x="795" y="387"/>
                    </a:cubicBezTo>
                    <a:cubicBezTo>
                      <a:pt x="911" y="271"/>
                      <a:pt x="1065" y="207"/>
                      <a:pt x="1229" y="207"/>
                    </a:cubicBezTo>
                    <a:cubicBezTo>
                      <a:pt x="1393" y="207"/>
                      <a:pt x="1548" y="271"/>
                      <a:pt x="1664" y="387"/>
                    </a:cubicBezTo>
                    <a:cubicBezTo>
                      <a:pt x="1780" y="503"/>
                      <a:pt x="1844" y="657"/>
                      <a:pt x="1844" y="821"/>
                    </a:cubicBezTo>
                    <a:cubicBezTo>
                      <a:pt x="1844" y="827"/>
                      <a:pt x="1844" y="827"/>
                      <a:pt x="1844" y="827"/>
                    </a:cubicBezTo>
                    <a:cubicBezTo>
                      <a:pt x="1844" y="881"/>
                      <a:pt x="1886" y="923"/>
                      <a:pt x="1940" y="923"/>
                    </a:cubicBezTo>
                    <a:cubicBezTo>
                      <a:pt x="1952" y="923"/>
                      <a:pt x="1952" y="923"/>
                      <a:pt x="1952" y="923"/>
                    </a:cubicBezTo>
                    <a:cubicBezTo>
                      <a:pt x="2005" y="923"/>
                      <a:pt x="2048" y="881"/>
                      <a:pt x="2048" y="827"/>
                    </a:cubicBezTo>
                    <a:cubicBezTo>
                      <a:pt x="2048" y="375"/>
                      <a:pt x="1678" y="0"/>
                      <a:pt x="1226" y="2"/>
                    </a:cubicBezTo>
                    <a:cubicBezTo>
                      <a:pt x="775" y="3"/>
                      <a:pt x="410" y="370"/>
                      <a:pt x="410" y="821"/>
                    </a:cubicBezTo>
                    <a:cubicBezTo>
                      <a:pt x="410" y="1205"/>
                      <a:pt x="410" y="1205"/>
                      <a:pt x="410" y="1205"/>
                    </a:cubicBezTo>
                    <a:cubicBezTo>
                      <a:pt x="410" y="1219"/>
                      <a:pt x="398" y="1231"/>
                      <a:pt x="384" y="1231"/>
                    </a:cubicBezTo>
                    <a:cubicBezTo>
                      <a:pt x="308" y="1231"/>
                      <a:pt x="308" y="1231"/>
                      <a:pt x="308" y="1231"/>
                    </a:cubicBezTo>
                    <a:cubicBezTo>
                      <a:pt x="138" y="1231"/>
                      <a:pt x="0" y="1368"/>
                      <a:pt x="0" y="1538"/>
                    </a:cubicBezTo>
                    <a:cubicBezTo>
                      <a:pt x="0" y="2971"/>
                      <a:pt x="0" y="2971"/>
                      <a:pt x="0" y="2971"/>
                    </a:cubicBezTo>
                    <a:cubicBezTo>
                      <a:pt x="0" y="3141"/>
                      <a:pt x="138" y="3279"/>
                      <a:pt x="308" y="3279"/>
                    </a:cubicBezTo>
                    <a:cubicBezTo>
                      <a:pt x="2151" y="3279"/>
                      <a:pt x="2151" y="3279"/>
                      <a:pt x="2151" y="3279"/>
                    </a:cubicBezTo>
                    <a:cubicBezTo>
                      <a:pt x="2320" y="3279"/>
                      <a:pt x="2458" y="3141"/>
                      <a:pt x="2458" y="2971"/>
                    </a:cubicBezTo>
                    <a:cubicBezTo>
                      <a:pt x="2458" y="1538"/>
                      <a:pt x="2458" y="1538"/>
                      <a:pt x="2458" y="1538"/>
                    </a:cubicBezTo>
                    <a:cubicBezTo>
                      <a:pt x="2458" y="1368"/>
                      <a:pt x="2320" y="1231"/>
                      <a:pt x="2151" y="1231"/>
                    </a:cubicBezTo>
                    <a:lnTo>
                      <a:pt x="640" y="1231"/>
                    </a:lnTo>
                    <a:close/>
                    <a:moveTo>
                      <a:pt x="2151" y="3074"/>
                    </a:moveTo>
                    <a:cubicBezTo>
                      <a:pt x="308" y="3074"/>
                      <a:pt x="308" y="3074"/>
                      <a:pt x="308" y="3074"/>
                    </a:cubicBezTo>
                    <a:cubicBezTo>
                      <a:pt x="251" y="3074"/>
                      <a:pt x="205" y="3028"/>
                      <a:pt x="205" y="2971"/>
                    </a:cubicBezTo>
                    <a:cubicBezTo>
                      <a:pt x="205" y="1538"/>
                      <a:pt x="205" y="1538"/>
                      <a:pt x="205" y="1538"/>
                    </a:cubicBezTo>
                    <a:cubicBezTo>
                      <a:pt x="205" y="1481"/>
                      <a:pt x="251" y="1435"/>
                      <a:pt x="308" y="1435"/>
                    </a:cubicBezTo>
                    <a:cubicBezTo>
                      <a:pt x="2151" y="1435"/>
                      <a:pt x="2151" y="1435"/>
                      <a:pt x="2151" y="1435"/>
                    </a:cubicBezTo>
                    <a:cubicBezTo>
                      <a:pt x="2207" y="1435"/>
                      <a:pt x="2253" y="1481"/>
                      <a:pt x="2253" y="1538"/>
                    </a:cubicBezTo>
                    <a:cubicBezTo>
                      <a:pt x="2253" y="2971"/>
                      <a:pt x="2253" y="2971"/>
                      <a:pt x="2253" y="2971"/>
                    </a:cubicBezTo>
                    <a:cubicBezTo>
                      <a:pt x="2253" y="3028"/>
                      <a:pt x="2207" y="3074"/>
                      <a:pt x="2151" y="3074"/>
                    </a:cubicBezTo>
                    <a:close/>
                    <a:moveTo>
                      <a:pt x="2151" y="3074"/>
                    </a:moveTo>
                    <a:cubicBezTo>
                      <a:pt x="2151" y="3074"/>
                      <a:pt x="2151" y="3074"/>
                      <a:pt x="2151" y="3074"/>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nvGrpSpPr>
            <p:cNvPr id="5" name="组合 4"/>
            <p:cNvGrpSpPr/>
            <p:nvPr/>
          </p:nvGrpSpPr>
          <p:grpSpPr>
            <a:xfrm>
              <a:off x="15288965" y="4423103"/>
              <a:ext cx="360000" cy="443861"/>
              <a:chOff x="15234202" y="4423103"/>
              <a:chExt cx="445082" cy="443861"/>
            </a:xfrm>
          </p:grpSpPr>
          <p:sp>
            <p:nvSpPr>
              <p:cNvPr id="197" name="Freeform 6"/>
              <p:cNvSpPr>
                <a:spLocks noEditPoints="1"/>
              </p:cNvSpPr>
              <p:nvPr/>
            </p:nvSpPr>
            <p:spPr bwMode="auto">
              <a:xfrm>
                <a:off x="15401526" y="4672098"/>
                <a:ext cx="111549" cy="139071"/>
              </a:xfrm>
              <a:custGeom>
                <a:avLst/>
                <a:gdLst>
                  <a:gd name="T0" fmla="*/ 303 w 615"/>
                  <a:gd name="T1" fmla="*/ 2 h 1027"/>
                  <a:gd name="T2" fmla="*/ 0 w 615"/>
                  <a:gd name="T3" fmla="*/ 309 h 1027"/>
                  <a:gd name="T4" fmla="*/ 123 w 615"/>
                  <a:gd name="T5" fmla="*/ 555 h 1027"/>
                  <a:gd name="T6" fmla="*/ 205 w 615"/>
                  <a:gd name="T7" fmla="*/ 719 h 1027"/>
                  <a:gd name="T8" fmla="*/ 205 w 615"/>
                  <a:gd name="T9" fmla="*/ 922 h 1027"/>
                  <a:gd name="T10" fmla="*/ 309 w 615"/>
                  <a:gd name="T11" fmla="*/ 1026 h 1027"/>
                  <a:gd name="T12" fmla="*/ 410 w 615"/>
                  <a:gd name="T13" fmla="*/ 924 h 1027"/>
                  <a:gd name="T14" fmla="*/ 410 w 615"/>
                  <a:gd name="T15" fmla="*/ 717 h 1027"/>
                  <a:gd name="T16" fmla="*/ 492 w 615"/>
                  <a:gd name="T17" fmla="*/ 555 h 1027"/>
                  <a:gd name="T18" fmla="*/ 615 w 615"/>
                  <a:gd name="T19" fmla="*/ 309 h 1027"/>
                  <a:gd name="T20" fmla="*/ 303 w 615"/>
                  <a:gd name="T21" fmla="*/ 2 h 1027"/>
                  <a:gd name="T22" fmla="*/ 308 w 615"/>
                  <a:gd name="T23" fmla="*/ 412 h 1027"/>
                  <a:gd name="T24" fmla="*/ 205 w 615"/>
                  <a:gd name="T25" fmla="*/ 309 h 1027"/>
                  <a:gd name="T26" fmla="*/ 308 w 615"/>
                  <a:gd name="T27" fmla="*/ 207 h 1027"/>
                  <a:gd name="T28" fmla="*/ 410 w 615"/>
                  <a:gd name="T29" fmla="*/ 309 h 1027"/>
                  <a:gd name="T30" fmla="*/ 308 w 615"/>
                  <a:gd name="T31" fmla="*/ 412 h 1027"/>
                  <a:gd name="T32" fmla="*/ 308 w 615"/>
                  <a:gd name="T33" fmla="*/ 412 h 1027"/>
                  <a:gd name="T34" fmla="*/ 308 w 615"/>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5" h="1027">
                    <a:moveTo>
                      <a:pt x="303" y="2"/>
                    </a:moveTo>
                    <a:cubicBezTo>
                      <a:pt x="136" y="4"/>
                      <a:pt x="0" y="142"/>
                      <a:pt x="0" y="309"/>
                    </a:cubicBezTo>
                    <a:cubicBezTo>
                      <a:pt x="0" y="409"/>
                      <a:pt x="48" y="499"/>
                      <a:pt x="123" y="555"/>
                    </a:cubicBezTo>
                    <a:cubicBezTo>
                      <a:pt x="174" y="594"/>
                      <a:pt x="205" y="654"/>
                      <a:pt x="205" y="719"/>
                    </a:cubicBezTo>
                    <a:cubicBezTo>
                      <a:pt x="205" y="922"/>
                      <a:pt x="205" y="922"/>
                      <a:pt x="205" y="922"/>
                    </a:cubicBezTo>
                    <a:cubicBezTo>
                      <a:pt x="205" y="979"/>
                      <a:pt x="252" y="1027"/>
                      <a:pt x="309" y="1026"/>
                    </a:cubicBezTo>
                    <a:cubicBezTo>
                      <a:pt x="365" y="1025"/>
                      <a:pt x="410" y="980"/>
                      <a:pt x="410" y="924"/>
                    </a:cubicBezTo>
                    <a:cubicBezTo>
                      <a:pt x="410" y="717"/>
                      <a:pt x="410" y="717"/>
                      <a:pt x="410" y="717"/>
                    </a:cubicBezTo>
                    <a:cubicBezTo>
                      <a:pt x="410" y="653"/>
                      <a:pt x="441" y="593"/>
                      <a:pt x="492" y="555"/>
                    </a:cubicBezTo>
                    <a:cubicBezTo>
                      <a:pt x="567" y="499"/>
                      <a:pt x="615" y="409"/>
                      <a:pt x="615" y="309"/>
                    </a:cubicBezTo>
                    <a:cubicBezTo>
                      <a:pt x="615" y="138"/>
                      <a:pt x="475" y="0"/>
                      <a:pt x="303" y="2"/>
                    </a:cubicBezTo>
                    <a:close/>
                    <a:moveTo>
                      <a:pt x="308" y="412"/>
                    </a:moveTo>
                    <a:cubicBezTo>
                      <a:pt x="251" y="412"/>
                      <a:pt x="205" y="366"/>
                      <a:pt x="205" y="309"/>
                    </a:cubicBezTo>
                    <a:cubicBezTo>
                      <a:pt x="205" y="253"/>
                      <a:pt x="251" y="207"/>
                      <a:pt x="308" y="207"/>
                    </a:cubicBezTo>
                    <a:cubicBezTo>
                      <a:pt x="364" y="207"/>
                      <a:pt x="410" y="253"/>
                      <a:pt x="410" y="309"/>
                    </a:cubicBezTo>
                    <a:cubicBezTo>
                      <a:pt x="410" y="366"/>
                      <a:pt x="364" y="412"/>
                      <a:pt x="308" y="412"/>
                    </a:cubicBezTo>
                    <a:close/>
                    <a:moveTo>
                      <a:pt x="308" y="412"/>
                    </a:moveTo>
                    <a:cubicBezTo>
                      <a:pt x="308" y="412"/>
                      <a:pt x="308" y="412"/>
                      <a:pt x="308"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00" name="Freeform 9"/>
              <p:cNvSpPr>
                <a:spLocks/>
              </p:cNvSpPr>
              <p:nvPr/>
            </p:nvSpPr>
            <p:spPr bwMode="auto">
              <a:xfrm>
                <a:off x="15308940" y="4423103"/>
                <a:ext cx="301183" cy="166552"/>
              </a:xfrm>
              <a:custGeom>
                <a:avLst/>
                <a:gdLst>
                  <a:gd name="T0" fmla="*/ 1413 w 1663"/>
                  <a:gd name="T1" fmla="*/ 1229 h 1229"/>
                  <a:gd name="T2" fmla="*/ 1663 w 1663"/>
                  <a:gd name="T3" fmla="*/ 1229 h 1229"/>
                  <a:gd name="T4" fmla="*/ 1639 w 1663"/>
                  <a:gd name="T5" fmla="*/ 1203 h 1229"/>
                  <a:gd name="T6" fmla="*/ 1639 w 1663"/>
                  <a:gd name="T7" fmla="*/ 848 h 1229"/>
                  <a:gd name="T8" fmla="*/ 1642 w 1663"/>
                  <a:gd name="T9" fmla="*/ 825 h 1229"/>
                  <a:gd name="T10" fmla="*/ 1577 w 1663"/>
                  <a:gd name="T11" fmla="*/ 503 h 1229"/>
                  <a:gd name="T12" fmla="*/ 1033 w 1663"/>
                  <a:gd name="T13" fmla="*/ 26 h 1229"/>
                  <a:gd name="T14" fmla="*/ 1016 w 1663"/>
                  <a:gd name="T15" fmla="*/ 22 h 1229"/>
                  <a:gd name="T16" fmla="*/ 1015 w 1663"/>
                  <a:gd name="T17" fmla="*/ 21 h 1229"/>
                  <a:gd name="T18" fmla="*/ 838 w 1663"/>
                  <a:gd name="T19" fmla="*/ 0 h 1229"/>
                  <a:gd name="T20" fmla="*/ 833 w 1663"/>
                  <a:gd name="T21" fmla="*/ 0 h 1229"/>
                  <a:gd name="T22" fmla="*/ 831 w 1663"/>
                  <a:gd name="T23" fmla="*/ 0 h 1229"/>
                  <a:gd name="T24" fmla="*/ 830 w 1663"/>
                  <a:gd name="T25" fmla="*/ 0 h 1229"/>
                  <a:gd name="T26" fmla="*/ 825 w 1663"/>
                  <a:gd name="T27" fmla="*/ 0 h 1229"/>
                  <a:gd name="T28" fmla="*/ 630 w 1663"/>
                  <a:gd name="T29" fmla="*/ 26 h 1229"/>
                  <a:gd name="T30" fmla="*/ 87 w 1663"/>
                  <a:gd name="T31" fmla="*/ 502 h 1229"/>
                  <a:gd name="T32" fmla="*/ 21 w 1663"/>
                  <a:gd name="T33" fmla="*/ 825 h 1229"/>
                  <a:gd name="T34" fmla="*/ 24 w 1663"/>
                  <a:gd name="T35" fmla="*/ 849 h 1229"/>
                  <a:gd name="T36" fmla="*/ 24 w 1663"/>
                  <a:gd name="T37" fmla="*/ 1203 h 1229"/>
                  <a:gd name="T38" fmla="*/ 0 w 1663"/>
                  <a:gd name="T39" fmla="*/ 1229 h 1229"/>
                  <a:gd name="T40" fmla="*/ 250 w 1663"/>
                  <a:gd name="T41" fmla="*/ 1229 h 1229"/>
                  <a:gd name="T42" fmla="*/ 226 w 1663"/>
                  <a:gd name="T43" fmla="*/ 1203 h 1229"/>
                  <a:gd name="T44" fmla="*/ 226 w 1663"/>
                  <a:gd name="T45" fmla="*/ 819 h 1229"/>
                  <a:gd name="T46" fmla="*/ 404 w 1663"/>
                  <a:gd name="T47" fmla="*/ 385 h 1229"/>
                  <a:gd name="T48" fmla="*/ 831 w 1663"/>
                  <a:gd name="T49" fmla="*/ 205 h 1229"/>
                  <a:gd name="T50" fmla="*/ 1259 w 1663"/>
                  <a:gd name="T51" fmla="*/ 385 h 1229"/>
                  <a:gd name="T52" fmla="*/ 1437 w 1663"/>
                  <a:gd name="T53" fmla="*/ 819 h 1229"/>
                  <a:gd name="T54" fmla="*/ 1437 w 1663"/>
                  <a:gd name="T55" fmla="*/ 1203 h 1229"/>
                  <a:gd name="T56" fmla="*/ 1413 w 1663"/>
                  <a:gd name="T57" fmla="*/ 1229 h 1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63" h="1229">
                    <a:moveTo>
                      <a:pt x="1413" y="1229"/>
                    </a:moveTo>
                    <a:cubicBezTo>
                      <a:pt x="1663" y="1229"/>
                      <a:pt x="1663" y="1229"/>
                      <a:pt x="1663" y="1229"/>
                    </a:cubicBezTo>
                    <a:cubicBezTo>
                      <a:pt x="1649" y="1228"/>
                      <a:pt x="1639" y="1217"/>
                      <a:pt x="1639" y="1203"/>
                    </a:cubicBezTo>
                    <a:cubicBezTo>
                      <a:pt x="1639" y="848"/>
                      <a:pt x="1639" y="848"/>
                      <a:pt x="1639" y="848"/>
                    </a:cubicBezTo>
                    <a:cubicBezTo>
                      <a:pt x="1641" y="841"/>
                      <a:pt x="1642" y="833"/>
                      <a:pt x="1642" y="825"/>
                    </a:cubicBezTo>
                    <a:cubicBezTo>
                      <a:pt x="1642" y="712"/>
                      <a:pt x="1618" y="603"/>
                      <a:pt x="1577" y="503"/>
                    </a:cubicBezTo>
                    <a:cubicBezTo>
                      <a:pt x="1480" y="269"/>
                      <a:pt x="1279" y="90"/>
                      <a:pt x="1033" y="26"/>
                    </a:cubicBezTo>
                    <a:cubicBezTo>
                      <a:pt x="1027" y="24"/>
                      <a:pt x="1022" y="23"/>
                      <a:pt x="1016" y="22"/>
                    </a:cubicBezTo>
                    <a:cubicBezTo>
                      <a:pt x="1016" y="22"/>
                      <a:pt x="1016" y="21"/>
                      <a:pt x="1015" y="21"/>
                    </a:cubicBezTo>
                    <a:cubicBezTo>
                      <a:pt x="958" y="8"/>
                      <a:pt x="899" y="0"/>
                      <a:pt x="838" y="0"/>
                    </a:cubicBezTo>
                    <a:cubicBezTo>
                      <a:pt x="837" y="0"/>
                      <a:pt x="835" y="0"/>
                      <a:pt x="833" y="0"/>
                    </a:cubicBezTo>
                    <a:cubicBezTo>
                      <a:pt x="833" y="0"/>
                      <a:pt x="832" y="0"/>
                      <a:pt x="831" y="0"/>
                    </a:cubicBezTo>
                    <a:cubicBezTo>
                      <a:pt x="831" y="0"/>
                      <a:pt x="830" y="0"/>
                      <a:pt x="830" y="0"/>
                    </a:cubicBezTo>
                    <a:cubicBezTo>
                      <a:pt x="828" y="0"/>
                      <a:pt x="826" y="0"/>
                      <a:pt x="825" y="0"/>
                    </a:cubicBezTo>
                    <a:cubicBezTo>
                      <a:pt x="757" y="0"/>
                      <a:pt x="692" y="9"/>
                      <a:pt x="630" y="26"/>
                    </a:cubicBezTo>
                    <a:cubicBezTo>
                      <a:pt x="384" y="90"/>
                      <a:pt x="184" y="268"/>
                      <a:pt x="87" y="502"/>
                    </a:cubicBezTo>
                    <a:cubicBezTo>
                      <a:pt x="45" y="602"/>
                      <a:pt x="21" y="711"/>
                      <a:pt x="21" y="825"/>
                    </a:cubicBezTo>
                    <a:cubicBezTo>
                      <a:pt x="21" y="833"/>
                      <a:pt x="22" y="841"/>
                      <a:pt x="24" y="849"/>
                    </a:cubicBezTo>
                    <a:cubicBezTo>
                      <a:pt x="24" y="1203"/>
                      <a:pt x="24" y="1203"/>
                      <a:pt x="24" y="1203"/>
                    </a:cubicBezTo>
                    <a:cubicBezTo>
                      <a:pt x="24" y="1217"/>
                      <a:pt x="13" y="1228"/>
                      <a:pt x="0" y="1229"/>
                    </a:cubicBezTo>
                    <a:cubicBezTo>
                      <a:pt x="250" y="1229"/>
                      <a:pt x="250" y="1229"/>
                      <a:pt x="250" y="1229"/>
                    </a:cubicBezTo>
                    <a:cubicBezTo>
                      <a:pt x="237" y="1228"/>
                      <a:pt x="226" y="1217"/>
                      <a:pt x="226" y="1203"/>
                    </a:cubicBezTo>
                    <a:cubicBezTo>
                      <a:pt x="226" y="819"/>
                      <a:pt x="226" y="819"/>
                      <a:pt x="226" y="819"/>
                    </a:cubicBezTo>
                    <a:cubicBezTo>
                      <a:pt x="226" y="655"/>
                      <a:pt x="289" y="501"/>
                      <a:pt x="404" y="385"/>
                    </a:cubicBezTo>
                    <a:cubicBezTo>
                      <a:pt x="518" y="269"/>
                      <a:pt x="670" y="205"/>
                      <a:pt x="831" y="205"/>
                    </a:cubicBezTo>
                    <a:cubicBezTo>
                      <a:pt x="993" y="205"/>
                      <a:pt x="1145" y="269"/>
                      <a:pt x="1259" y="385"/>
                    </a:cubicBezTo>
                    <a:cubicBezTo>
                      <a:pt x="1373" y="501"/>
                      <a:pt x="1437" y="655"/>
                      <a:pt x="1437" y="819"/>
                    </a:cubicBezTo>
                    <a:cubicBezTo>
                      <a:pt x="1437" y="1203"/>
                      <a:pt x="1437" y="1203"/>
                      <a:pt x="1437" y="1203"/>
                    </a:cubicBezTo>
                    <a:cubicBezTo>
                      <a:pt x="1437" y="1217"/>
                      <a:pt x="1426" y="1228"/>
                      <a:pt x="1413" y="1229"/>
                    </a:cubicBez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01" name="Freeform 10"/>
              <p:cNvSpPr>
                <a:spLocks noEditPoints="1"/>
              </p:cNvSpPr>
              <p:nvPr/>
            </p:nvSpPr>
            <p:spPr bwMode="auto">
              <a:xfrm>
                <a:off x="15234202" y="4589655"/>
                <a:ext cx="445082" cy="277309"/>
              </a:xfrm>
              <a:custGeom>
                <a:avLst/>
                <a:gdLst>
                  <a:gd name="T0" fmla="*/ 2160 w 2457"/>
                  <a:gd name="T1" fmla="*/ 0 h 2048"/>
                  <a:gd name="T2" fmla="*/ 297 w 2457"/>
                  <a:gd name="T3" fmla="*/ 0 h 2048"/>
                  <a:gd name="T4" fmla="*/ 0 w 2457"/>
                  <a:gd name="T5" fmla="*/ 307 h 2048"/>
                  <a:gd name="T6" fmla="*/ 0 w 2457"/>
                  <a:gd name="T7" fmla="*/ 1740 h 2048"/>
                  <a:gd name="T8" fmla="*/ 307 w 2457"/>
                  <a:gd name="T9" fmla="*/ 2048 h 2048"/>
                  <a:gd name="T10" fmla="*/ 2150 w 2457"/>
                  <a:gd name="T11" fmla="*/ 2048 h 2048"/>
                  <a:gd name="T12" fmla="*/ 2457 w 2457"/>
                  <a:gd name="T13" fmla="*/ 1740 h 2048"/>
                  <a:gd name="T14" fmla="*/ 2457 w 2457"/>
                  <a:gd name="T15" fmla="*/ 307 h 2048"/>
                  <a:gd name="T16" fmla="*/ 2160 w 2457"/>
                  <a:gd name="T17" fmla="*/ 0 h 2048"/>
                  <a:gd name="T18" fmla="*/ 2253 w 2457"/>
                  <a:gd name="T19" fmla="*/ 1740 h 2048"/>
                  <a:gd name="T20" fmla="*/ 2150 w 2457"/>
                  <a:gd name="T21" fmla="*/ 1843 h 2048"/>
                  <a:gd name="T22" fmla="*/ 307 w 2457"/>
                  <a:gd name="T23" fmla="*/ 1843 h 2048"/>
                  <a:gd name="T24" fmla="*/ 205 w 2457"/>
                  <a:gd name="T25" fmla="*/ 1740 h 2048"/>
                  <a:gd name="T26" fmla="*/ 205 w 2457"/>
                  <a:gd name="T27" fmla="*/ 307 h 2048"/>
                  <a:gd name="T28" fmla="*/ 307 w 2457"/>
                  <a:gd name="T29" fmla="*/ 204 h 2048"/>
                  <a:gd name="T30" fmla="*/ 2150 w 2457"/>
                  <a:gd name="T31" fmla="*/ 204 h 2048"/>
                  <a:gd name="T32" fmla="*/ 2253 w 2457"/>
                  <a:gd name="T33" fmla="*/ 307 h 2048"/>
                  <a:gd name="T34" fmla="*/ 2253 w 2457"/>
                  <a:gd name="T35" fmla="*/ 174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57" h="2048">
                    <a:moveTo>
                      <a:pt x="2160" y="0"/>
                    </a:moveTo>
                    <a:cubicBezTo>
                      <a:pt x="297" y="0"/>
                      <a:pt x="297" y="0"/>
                      <a:pt x="297" y="0"/>
                    </a:cubicBezTo>
                    <a:cubicBezTo>
                      <a:pt x="132" y="5"/>
                      <a:pt x="0" y="141"/>
                      <a:pt x="0" y="307"/>
                    </a:cubicBezTo>
                    <a:cubicBezTo>
                      <a:pt x="0" y="1740"/>
                      <a:pt x="0" y="1740"/>
                      <a:pt x="0" y="1740"/>
                    </a:cubicBezTo>
                    <a:cubicBezTo>
                      <a:pt x="0" y="1910"/>
                      <a:pt x="137" y="2048"/>
                      <a:pt x="307" y="2048"/>
                    </a:cubicBezTo>
                    <a:cubicBezTo>
                      <a:pt x="2150" y="2048"/>
                      <a:pt x="2150" y="2048"/>
                      <a:pt x="2150" y="2048"/>
                    </a:cubicBezTo>
                    <a:cubicBezTo>
                      <a:pt x="2320" y="2048"/>
                      <a:pt x="2457" y="1910"/>
                      <a:pt x="2457" y="1740"/>
                    </a:cubicBezTo>
                    <a:cubicBezTo>
                      <a:pt x="2457" y="307"/>
                      <a:pt x="2457" y="307"/>
                      <a:pt x="2457" y="307"/>
                    </a:cubicBezTo>
                    <a:cubicBezTo>
                      <a:pt x="2457" y="141"/>
                      <a:pt x="2325" y="5"/>
                      <a:pt x="2160" y="0"/>
                    </a:cubicBezTo>
                    <a:close/>
                    <a:moveTo>
                      <a:pt x="2253" y="1740"/>
                    </a:moveTo>
                    <a:cubicBezTo>
                      <a:pt x="2253" y="1797"/>
                      <a:pt x="2207" y="1843"/>
                      <a:pt x="2150" y="1843"/>
                    </a:cubicBezTo>
                    <a:cubicBezTo>
                      <a:pt x="307" y="1843"/>
                      <a:pt x="307" y="1843"/>
                      <a:pt x="307" y="1843"/>
                    </a:cubicBezTo>
                    <a:cubicBezTo>
                      <a:pt x="250" y="1843"/>
                      <a:pt x="205" y="1797"/>
                      <a:pt x="205" y="1740"/>
                    </a:cubicBezTo>
                    <a:cubicBezTo>
                      <a:pt x="205" y="307"/>
                      <a:pt x="205" y="307"/>
                      <a:pt x="205" y="307"/>
                    </a:cubicBezTo>
                    <a:cubicBezTo>
                      <a:pt x="205" y="250"/>
                      <a:pt x="250" y="204"/>
                      <a:pt x="307" y="204"/>
                    </a:cubicBezTo>
                    <a:cubicBezTo>
                      <a:pt x="2150" y="204"/>
                      <a:pt x="2150" y="204"/>
                      <a:pt x="2150" y="204"/>
                    </a:cubicBezTo>
                    <a:cubicBezTo>
                      <a:pt x="2207" y="204"/>
                      <a:pt x="2253" y="250"/>
                      <a:pt x="2253" y="307"/>
                    </a:cubicBezTo>
                    <a:lnTo>
                      <a:pt x="2253" y="1740"/>
                    </a:ln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sp>
        <p:nvSpPr>
          <p:cNvPr id="203" name="矩形 202"/>
          <p:cNvSpPr/>
          <p:nvPr/>
        </p:nvSpPr>
        <p:spPr>
          <a:xfrm>
            <a:off x="4480708" y="4187088"/>
            <a:ext cx="470922" cy="172897"/>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399">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11" name="矩形 210"/>
          <p:cNvSpPr/>
          <p:nvPr/>
        </p:nvSpPr>
        <p:spPr>
          <a:xfrm>
            <a:off x="3320744" y="4339934"/>
            <a:ext cx="470922" cy="172897"/>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399">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24" name="矩形 223"/>
          <p:cNvSpPr/>
          <p:nvPr/>
        </p:nvSpPr>
        <p:spPr>
          <a:xfrm>
            <a:off x="4183050" y="4339934"/>
            <a:ext cx="470922" cy="172897"/>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432" eaLnBrk="1" fontAlgn="auto" hangingPunct="1">
              <a:spcBef>
                <a:spcPts val="0"/>
              </a:spcBef>
              <a:spcAft>
                <a:spcPts val="0"/>
              </a:spcAft>
            </a:pPr>
            <a:endParaRPr lang="zh-CN" altLang="en-US" sz="1399">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nvGrpSpPr>
          <p:cNvPr id="149" name="组合 148"/>
          <p:cNvGrpSpPr/>
          <p:nvPr/>
        </p:nvGrpSpPr>
        <p:grpSpPr>
          <a:xfrm>
            <a:off x="3109123" y="4214848"/>
            <a:ext cx="298852" cy="117377"/>
            <a:chOff x="15288965" y="4423103"/>
            <a:chExt cx="1130112" cy="443861"/>
          </a:xfrm>
        </p:grpSpPr>
        <p:grpSp>
          <p:nvGrpSpPr>
            <p:cNvPr id="150" name="组合 149"/>
            <p:cNvGrpSpPr/>
            <p:nvPr/>
          </p:nvGrpSpPr>
          <p:grpSpPr>
            <a:xfrm>
              <a:off x="16059077" y="4423103"/>
              <a:ext cx="360000" cy="443861"/>
              <a:chOff x="16059077" y="4423103"/>
              <a:chExt cx="446196" cy="443861"/>
            </a:xfrm>
          </p:grpSpPr>
          <p:sp>
            <p:nvSpPr>
              <p:cNvPr id="155" name="Freeform 7"/>
              <p:cNvSpPr>
                <a:spLocks noEditPoints="1"/>
              </p:cNvSpPr>
              <p:nvPr/>
            </p:nvSpPr>
            <p:spPr bwMode="auto">
              <a:xfrm>
                <a:off x="16226400" y="4672098"/>
                <a:ext cx="111549" cy="139071"/>
              </a:xfrm>
              <a:custGeom>
                <a:avLst/>
                <a:gdLst>
                  <a:gd name="T0" fmla="*/ 303 w 614"/>
                  <a:gd name="T1" fmla="*/ 2 h 1027"/>
                  <a:gd name="T2" fmla="*/ 0 w 614"/>
                  <a:gd name="T3" fmla="*/ 309 h 1027"/>
                  <a:gd name="T4" fmla="*/ 122 w 614"/>
                  <a:gd name="T5" fmla="*/ 555 h 1027"/>
                  <a:gd name="T6" fmla="*/ 205 w 614"/>
                  <a:gd name="T7" fmla="*/ 719 h 1027"/>
                  <a:gd name="T8" fmla="*/ 205 w 614"/>
                  <a:gd name="T9" fmla="*/ 922 h 1027"/>
                  <a:gd name="T10" fmla="*/ 308 w 614"/>
                  <a:gd name="T11" fmla="*/ 1026 h 1027"/>
                  <a:gd name="T12" fmla="*/ 410 w 614"/>
                  <a:gd name="T13" fmla="*/ 924 h 1027"/>
                  <a:gd name="T14" fmla="*/ 410 w 614"/>
                  <a:gd name="T15" fmla="*/ 717 h 1027"/>
                  <a:gd name="T16" fmla="*/ 492 w 614"/>
                  <a:gd name="T17" fmla="*/ 555 h 1027"/>
                  <a:gd name="T18" fmla="*/ 614 w 614"/>
                  <a:gd name="T19" fmla="*/ 309 h 1027"/>
                  <a:gd name="T20" fmla="*/ 303 w 614"/>
                  <a:gd name="T21" fmla="*/ 2 h 1027"/>
                  <a:gd name="T22" fmla="*/ 307 w 614"/>
                  <a:gd name="T23" fmla="*/ 412 h 1027"/>
                  <a:gd name="T24" fmla="*/ 205 w 614"/>
                  <a:gd name="T25" fmla="*/ 309 h 1027"/>
                  <a:gd name="T26" fmla="*/ 307 w 614"/>
                  <a:gd name="T27" fmla="*/ 207 h 1027"/>
                  <a:gd name="T28" fmla="*/ 410 w 614"/>
                  <a:gd name="T29" fmla="*/ 309 h 1027"/>
                  <a:gd name="T30" fmla="*/ 307 w 614"/>
                  <a:gd name="T31" fmla="*/ 412 h 1027"/>
                  <a:gd name="T32" fmla="*/ 307 w 614"/>
                  <a:gd name="T33" fmla="*/ 412 h 1027"/>
                  <a:gd name="T34" fmla="*/ 307 w 614"/>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4" h="1027">
                    <a:moveTo>
                      <a:pt x="303" y="2"/>
                    </a:moveTo>
                    <a:cubicBezTo>
                      <a:pt x="136" y="4"/>
                      <a:pt x="0" y="142"/>
                      <a:pt x="0" y="309"/>
                    </a:cubicBezTo>
                    <a:cubicBezTo>
                      <a:pt x="0" y="409"/>
                      <a:pt x="48" y="499"/>
                      <a:pt x="122" y="555"/>
                    </a:cubicBezTo>
                    <a:cubicBezTo>
                      <a:pt x="174" y="594"/>
                      <a:pt x="205" y="654"/>
                      <a:pt x="205" y="719"/>
                    </a:cubicBezTo>
                    <a:cubicBezTo>
                      <a:pt x="205" y="922"/>
                      <a:pt x="205" y="922"/>
                      <a:pt x="205" y="922"/>
                    </a:cubicBezTo>
                    <a:cubicBezTo>
                      <a:pt x="205" y="979"/>
                      <a:pt x="252" y="1027"/>
                      <a:pt x="308" y="1026"/>
                    </a:cubicBezTo>
                    <a:cubicBezTo>
                      <a:pt x="364" y="1025"/>
                      <a:pt x="410" y="980"/>
                      <a:pt x="410" y="924"/>
                    </a:cubicBezTo>
                    <a:cubicBezTo>
                      <a:pt x="410" y="717"/>
                      <a:pt x="410" y="717"/>
                      <a:pt x="410" y="717"/>
                    </a:cubicBezTo>
                    <a:cubicBezTo>
                      <a:pt x="410" y="653"/>
                      <a:pt x="441" y="593"/>
                      <a:pt x="492" y="555"/>
                    </a:cubicBezTo>
                    <a:cubicBezTo>
                      <a:pt x="566" y="499"/>
                      <a:pt x="614" y="409"/>
                      <a:pt x="614" y="309"/>
                    </a:cubicBezTo>
                    <a:cubicBezTo>
                      <a:pt x="614" y="138"/>
                      <a:pt x="475" y="0"/>
                      <a:pt x="303" y="2"/>
                    </a:cubicBezTo>
                    <a:close/>
                    <a:moveTo>
                      <a:pt x="307" y="412"/>
                    </a:moveTo>
                    <a:cubicBezTo>
                      <a:pt x="251" y="412"/>
                      <a:pt x="205" y="366"/>
                      <a:pt x="205" y="309"/>
                    </a:cubicBezTo>
                    <a:cubicBezTo>
                      <a:pt x="205" y="253"/>
                      <a:pt x="251" y="207"/>
                      <a:pt x="307" y="207"/>
                    </a:cubicBezTo>
                    <a:cubicBezTo>
                      <a:pt x="364" y="207"/>
                      <a:pt x="410" y="253"/>
                      <a:pt x="410" y="309"/>
                    </a:cubicBezTo>
                    <a:cubicBezTo>
                      <a:pt x="410" y="366"/>
                      <a:pt x="364" y="412"/>
                      <a:pt x="307" y="412"/>
                    </a:cubicBezTo>
                    <a:close/>
                    <a:moveTo>
                      <a:pt x="307" y="412"/>
                    </a:moveTo>
                    <a:cubicBezTo>
                      <a:pt x="307" y="412"/>
                      <a:pt x="307" y="412"/>
                      <a:pt x="307"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56" name="Freeform 8"/>
              <p:cNvSpPr>
                <a:spLocks noEditPoints="1"/>
              </p:cNvSpPr>
              <p:nvPr/>
            </p:nvSpPr>
            <p:spPr bwMode="auto">
              <a:xfrm>
                <a:off x="16059077" y="4423103"/>
                <a:ext cx="446196" cy="443861"/>
              </a:xfrm>
              <a:custGeom>
                <a:avLst/>
                <a:gdLst>
                  <a:gd name="T0" fmla="*/ 640 w 2458"/>
                  <a:gd name="T1" fmla="*/ 1231 h 3279"/>
                  <a:gd name="T2" fmla="*/ 615 w 2458"/>
                  <a:gd name="T3" fmla="*/ 1205 h 3279"/>
                  <a:gd name="T4" fmla="*/ 615 w 2458"/>
                  <a:gd name="T5" fmla="*/ 821 h 3279"/>
                  <a:gd name="T6" fmla="*/ 795 w 2458"/>
                  <a:gd name="T7" fmla="*/ 387 h 3279"/>
                  <a:gd name="T8" fmla="*/ 1229 w 2458"/>
                  <a:gd name="T9" fmla="*/ 207 h 3279"/>
                  <a:gd name="T10" fmla="*/ 1664 w 2458"/>
                  <a:gd name="T11" fmla="*/ 387 h 3279"/>
                  <a:gd name="T12" fmla="*/ 1844 w 2458"/>
                  <a:gd name="T13" fmla="*/ 821 h 3279"/>
                  <a:gd name="T14" fmla="*/ 1844 w 2458"/>
                  <a:gd name="T15" fmla="*/ 827 h 3279"/>
                  <a:gd name="T16" fmla="*/ 1940 w 2458"/>
                  <a:gd name="T17" fmla="*/ 923 h 3279"/>
                  <a:gd name="T18" fmla="*/ 1952 w 2458"/>
                  <a:gd name="T19" fmla="*/ 923 h 3279"/>
                  <a:gd name="T20" fmla="*/ 2048 w 2458"/>
                  <a:gd name="T21" fmla="*/ 827 h 3279"/>
                  <a:gd name="T22" fmla="*/ 1226 w 2458"/>
                  <a:gd name="T23" fmla="*/ 2 h 3279"/>
                  <a:gd name="T24" fmla="*/ 410 w 2458"/>
                  <a:gd name="T25" fmla="*/ 821 h 3279"/>
                  <a:gd name="T26" fmla="*/ 410 w 2458"/>
                  <a:gd name="T27" fmla="*/ 1205 h 3279"/>
                  <a:gd name="T28" fmla="*/ 384 w 2458"/>
                  <a:gd name="T29" fmla="*/ 1231 h 3279"/>
                  <a:gd name="T30" fmla="*/ 308 w 2458"/>
                  <a:gd name="T31" fmla="*/ 1231 h 3279"/>
                  <a:gd name="T32" fmla="*/ 0 w 2458"/>
                  <a:gd name="T33" fmla="*/ 1538 h 3279"/>
                  <a:gd name="T34" fmla="*/ 0 w 2458"/>
                  <a:gd name="T35" fmla="*/ 2971 h 3279"/>
                  <a:gd name="T36" fmla="*/ 308 w 2458"/>
                  <a:gd name="T37" fmla="*/ 3279 h 3279"/>
                  <a:gd name="T38" fmla="*/ 2151 w 2458"/>
                  <a:gd name="T39" fmla="*/ 3279 h 3279"/>
                  <a:gd name="T40" fmla="*/ 2458 w 2458"/>
                  <a:gd name="T41" fmla="*/ 2971 h 3279"/>
                  <a:gd name="T42" fmla="*/ 2458 w 2458"/>
                  <a:gd name="T43" fmla="*/ 1538 h 3279"/>
                  <a:gd name="T44" fmla="*/ 2151 w 2458"/>
                  <a:gd name="T45" fmla="*/ 1231 h 3279"/>
                  <a:gd name="T46" fmla="*/ 640 w 2458"/>
                  <a:gd name="T47" fmla="*/ 1231 h 3279"/>
                  <a:gd name="T48" fmla="*/ 2151 w 2458"/>
                  <a:gd name="T49" fmla="*/ 3074 h 3279"/>
                  <a:gd name="T50" fmla="*/ 308 w 2458"/>
                  <a:gd name="T51" fmla="*/ 3074 h 3279"/>
                  <a:gd name="T52" fmla="*/ 205 w 2458"/>
                  <a:gd name="T53" fmla="*/ 2971 h 3279"/>
                  <a:gd name="T54" fmla="*/ 205 w 2458"/>
                  <a:gd name="T55" fmla="*/ 1538 h 3279"/>
                  <a:gd name="T56" fmla="*/ 308 w 2458"/>
                  <a:gd name="T57" fmla="*/ 1435 h 3279"/>
                  <a:gd name="T58" fmla="*/ 2151 w 2458"/>
                  <a:gd name="T59" fmla="*/ 1435 h 3279"/>
                  <a:gd name="T60" fmla="*/ 2253 w 2458"/>
                  <a:gd name="T61" fmla="*/ 1538 h 3279"/>
                  <a:gd name="T62" fmla="*/ 2253 w 2458"/>
                  <a:gd name="T63" fmla="*/ 2971 h 3279"/>
                  <a:gd name="T64" fmla="*/ 2151 w 2458"/>
                  <a:gd name="T65" fmla="*/ 3074 h 3279"/>
                  <a:gd name="T66" fmla="*/ 2151 w 2458"/>
                  <a:gd name="T67" fmla="*/ 3074 h 3279"/>
                  <a:gd name="T68" fmla="*/ 2151 w 2458"/>
                  <a:gd name="T69" fmla="*/ 3074 h 3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58" h="3279">
                    <a:moveTo>
                      <a:pt x="640" y="1231"/>
                    </a:moveTo>
                    <a:cubicBezTo>
                      <a:pt x="626" y="1231"/>
                      <a:pt x="615" y="1219"/>
                      <a:pt x="615" y="1205"/>
                    </a:cubicBezTo>
                    <a:cubicBezTo>
                      <a:pt x="615" y="821"/>
                      <a:pt x="615" y="821"/>
                      <a:pt x="615" y="821"/>
                    </a:cubicBezTo>
                    <a:cubicBezTo>
                      <a:pt x="615" y="657"/>
                      <a:pt x="679" y="503"/>
                      <a:pt x="795" y="387"/>
                    </a:cubicBezTo>
                    <a:cubicBezTo>
                      <a:pt x="911" y="271"/>
                      <a:pt x="1065" y="207"/>
                      <a:pt x="1229" y="207"/>
                    </a:cubicBezTo>
                    <a:cubicBezTo>
                      <a:pt x="1393" y="207"/>
                      <a:pt x="1548" y="271"/>
                      <a:pt x="1664" y="387"/>
                    </a:cubicBezTo>
                    <a:cubicBezTo>
                      <a:pt x="1780" y="503"/>
                      <a:pt x="1844" y="657"/>
                      <a:pt x="1844" y="821"/>
                    </a:cubicBezTo>
                    <a:cubicBezTo>
                      <a:pt x="1844" y="827"/>
                      <a:pt x="1844" y="827"/>
                      <a:pt x="1844" y="827"/>
                    </a:cubicBezTo>
                    <a:cubicBezTo>
                      <a:pt x="1844" y="881"/>
                      <a:pt x="1886" y="923"/>
                      <a:pt x="1940" y="923"/>
                    </a:cubicBezTo>
                    <a:cubicBezTo>
                      <a:pt x="1952" y="923"/>
                      <a:pt x="1952" y="923"/>
                      <a:pt x="1952" y="923"/>
                    </a:cubicBezTo>
                    <a:cubicBezTo>
                      <a:pt x="2005" y="923"/>
                      <a:pt x="2048" y="881"/>
                      <a:pt x="2048" y="827"/>
                    </a:cubicBezTo>
                    <a:cubicBezTo>
                      <a:pt x="2048" y="375"/>
                      <a:pt x="1678" y="0"/>
                      <a:pt x="1226" y="2"/>
                    </a:cubicBezTo>
                    <a:cubicBezTo>
                      <a:pt x="775" y="3"/>
                      <a:pt x="410" y="370"/>
                      <a:pt x="410" y="821"/>
                    </a:cubicBezTo>
                    <a:cubicBezTo>
                      <a:pt x="410" y="1205"/>
                      <a:pt x="410" y="1205"/>
                      <a:pt x="410" y="1205"/>
                    </a:cubicBezTo>
                    <a:cubicBezTo>
                      <a:pt x="410" y="1219"/>
                      <a:pt x="398" y="1231"/>
                      <a:pt x="384" y="1231"/>
                    </a:cubicBezTo>
                    <a:cubicBezTo>
                      <a:pt x="308" y="1231"/>
                      <a:pt x="308" y="1231"/>
                      <a:pt x="308" y="1231"/>
                    </a:cubicBezTo>
                    <a:cubicBezTo>
                      <a:pt x="138" y="1231"/>
                      <a:pt x="0" y="1368"/>
                      <a:pt x="0" y="1538"/>
                    </a:cubicBezTo>
                    <a:cubicBezTo>
                      <a:pt x="0" y="2971"/>
                      <a:pt x="0" y="2971"/>
                      <a:pt x="0" y="2971"/>
                    </a:cubicBezTo>
                    <a:cubicBezTo>
                      <a:pt x="0" y="3141"/>
                      <a:pt x="138" y="3279"/>
                      <a:pt x="308" y="3279"/>
                    </a:cubicBezTo>
                    <a:cubicBezTo>
                      <a:pt x="2151" y="3279"/>
                      <a:pt x="2151" y="3279"/>
                      <a:pt x="2151" y="3279"/>
                    </a:cubicBezTo>
                    <a:cubicBezTo>
                      <a:pt x="2320" y="3279"/>
                      <a:pt x="2458" y="3141"/>
                      <a:pt x="2458" y="2971"/>
                    </a:cubicBezTo>
                    <a:cubicBezTo>
                      <a:pt x="2458" y="1538"/>
                      <a:pt x="2458" y="1538"/>
                      <a:pt x="2458" y="1538"/>
                    </a:cubicBezTo>
                    <a:cubicBezTo>
                      <a:pt x="2458" y="1368"/>
                      <a:pt x="2320" y="1231"/>
                      <a:pt x="2151" y="1231"/>
                    </a:cubicBezTo>
                    <a:lnTo>
                      <a:pt x="640" y="1231"/>
                    </a:lnTo>
                    <a:close/>
                    <a:moveTo>
                      <a:pt x="2151" y="3074"/>
                    </a:moveTo>
                    <a:cubicBezTo>
                      <a:pt x="308" y="3074"/>
                      <a:pt x="308" y="3074"/>
                      <a:pt x="308" y="3074"/>
                    </a:cubicBezTo>
                    <a:cubicBezTo>
                      <a:pt x="251" y="3074"/>
                      <a:pt x="205" y="3028"/>
                      <a:pt x="205" y="2971"/>
                    </a:cubicBezTo>
                    <a:cubicBezTo>
                      <a:pt x="205" y="1538"/>
                      <a:pt x="205" y="1538"/>
                      <a:pt x="205" y="1538"/>
                    </a:cubicBezTo>
                    <a:cubicBezTo>
                      <a:pt x="205" y="1481"/>
                      <a:pt x="251" y="1435"/>
                      <a:pt x="308" y="1435"/>
                    </a:cubicBezTo>
                    <a:cubicBezTo>
                      <a:pt x="2151" y="1435"/>
                      <a:pt x="2151" y="1435"/>
                      <a:pt x="2151" y="1435"/>
                    </a:cubicBezTo>
                    <a:cubicBezTo>
                      <a:pt x="2207" y="1435"/>
                      <a:pt x="2253" y="1481"/>
                      <a:pt x="2253" y="1538"/>
                    </a:cubicBezTo>
                    <a:cubicBezTo>
                      <a:pt x="2253" y="2971"/>
                      <a:pt x="2253" y="2971"/>
                      <a:pt x="2253" y="2971"/>
                    </a:cubicBezTo>
                    <a:cubicBezTo>
                      <a:pt x="2253" y="3028"/>
                      <a:pt x="2207" y="3074"/>
                      <a:pt x="2151" y="3074"/>
                    </a:cubicBezTo>
                    <a:close/>
                    <a:moveTo>
                      <a:pt x="2151" y="3074"/>
                    </a:moveTo>
                    <a:cubicBezTo>
                      <a:pt x="2151" y="3074"/>
                      <a:pt x="2151" y="3074"/>
                      <a:pt x="2151" y="3074"/>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nvGrpSpPr>
            <p:cNvPr id="151" name="组合 150"/>
            <p:cNvGrpSpPr/>
            <p:nvPr/>
          </p:nvGrpSpPr>
          <p:grpSpPr>
            <a:xfrm>
              <a:off x="15288965" y="4423103"/>
              <a:ext cx="360000" cy="443861"/>
              <a:chOff x="15234202" y="4423103"/>
              <a:chExt cx="445082" cy="443861"/>
            </a:xfrm>
          </p:grpSpPr>
          <p:sp>
            <p:nvSpPr>
              <p:cNvPr id="152" name="Freeform 6"/>
              <p:cNvSpPr>
                <a:spLocks noEditPoints="1"/>
              </p:cNvSpPr>
              <p:nvPr/>
            </p:nvSpPr>
            <p:spPr bwMode="auto">
              <a:xfrm>
                <a:off x="15401526" y="4672098"/>
                <a:ext cx="111549" cy="139071"/>
              </a:xfrm>
              <a:custGeom>
                <a:avLst/>
                <a:gdLst>
                  <a:gd name="T0" fmla="*/ 303 w 615"/>
                  <a:gd name="T1" fmla="*/ 2 h 1027"/>
                  <a:gd name="T2" fmla="*/ 0 w 615"/>
                  <a:gd name="T3" fmla="*/ 309 h 1027"/>
                  <a:gd name="T4" fmla="*/ 123 w 615"/>
                  <a:gd name="T5" fmla="*/ 555 h 1027"/>
                  <a:gd name="T6" fmla="*/ 205 w 615"/>
                  <a:gd name="T7" fmla="*/ 719 h 1027"/>
                  <a:gd name="T8" fmla="*/ 205 w 615"/>
                  <a:gd name="T9" fmla="*/ 922 h 1027"/>
                  <a:gd name="T10" fmla="*/ 309 w 615"/>
                  <a:gd name="T11" fmla="*/ 1026 h 1027"/>
                  <a:gd name="T12" fmla="*/ 410 w 615"/>
                  <a:gd name="T13" fmla="*/ 924 h 1027"/>
                  <a:gd name="T14" fmla="*/ 410 w 615"/>
                  <a:gd name="T15" fmla="*/ 717 h 1027"/>
                  <a:gd name="T16" fmla="*/ 492 w 615"/>
                  <a:gd name="T17" fmla="*/ 555 h 1027"/>
                  <a:gd name="T18" fmla="*/ 615 w 615"/>
                  <a:gd name="T19" fmla="*/ 309 h 1027"/>
                  <a:gd name="T20" fmla="*/ 303 w 615"/>
                  <a:gd name="T21" fmla="*/ 2 h 1027"/>
                  <a:gd name="T22" fmla="*/ 308 w 615"/>
                  <a:gd name="T23" fmla="*/ 412 h 1027"/>
                  <a:gd name="T24" fmla="*/ 205 w 615"/>
                  <a:gd name="T25" fmla="*/ 309 h 1027"/>
                  <a:gd name="T26" fmla="*/ 308 w 615"/>
                  <a:gd name="T27" fmla="*/ 207 h 1027"/>
                  <a:gd name="T28" fmla="*/ 410 w 615"/>
                  <a:gd name="T29" fmla="*/ 309 h 1027"/>
                  <a:gd name="T30" fmla="*/ 308 w 615"/>
                  <a:gd name="T31" fmla="*/ 412 h 1027"/>
                  <a:gd name="T32" fmla="*/ 308 w 615"/>
                  <a:gd name="T33" fmla="*/ 412 h 1027"/>
                  <a:gd name="T34" fmla="*/ 308 w 615"/>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5" h="1027">
                    <a:moveTo>
                      <a:pt x="303" y="2"/>
                    </a:moveTo>
                    <a:cubicBezTo>
                      <a:pt x="136" y="4"/>
                      <a:pt x="0" y="142"/>
                      <a:pt x="0" y="309"/>
                    </a:cubicBezTo>
                    <a:cubicBezTo>
                      <a:pt x="0" y="409"/>
                      <a:pt x="48" y="499"/>
                      <a:pt x="123" y="555"/>
                    </a:cubicBezTo>
                    <a:cubicBezTo>
                      <a:pt x="174" y="594"/>
                      <a:pt x="205" y="654"/>
                      <a:pt x="205" y="719"/>
                    </a:cubicBezTo>
                    <a:cubicBezTo>
                      <a:pt x="205" y="922"/>
                      <a:pt x="205" y="922"/>
                      <a:pt x="205" y="922"/>
                    </a:cubicBezTo>
                    <a:cubicBezTo>
                      <a:pt x="205" y="979"/>
                      <a:pt x="252" y="1027"/>
                      <a:pt x="309" y="1026"/>
                    </a:cubicBezTo>
                    <a:cubicBezTo>
                      <a:pt x="365" y="1025"/>
                      <a:pt x="410" y="980"/>
                      <a:pt x="410" y="924"/>
                    </a:cubicBezTo>
                    <a:cubicBezTo>
                      <a:pt x="410" y="717"/>
                      <a:pt x="410" y="717"/>
                      <a:pt x="410" y="717"/>
                    </a:cubicBezTo>
                    <a:cubicBezTo>
                      <a:pt x="410" y="653"/>
                      <a:pt x="441" y="593"/>
                      <a:pt x="492" y="555"/>
                    </a:cubicBezTo>
                    <a:cubicBezTo>
                      <a:pt x="567" y="499"/>
                      <a:pt x="615" y="409"/>
                      <a:pt x="615" y="309"/>
                    </a:cubicBezTo>
                    <a:cubicBezTo>
                      <a:pt x="615" y="138"/>
                      <a:pt x="475" y="0"/>
                      <a:pt x="303" y="2"/>
                    </a:cubicBezTo>
                    <a:close/>
                    <a:moveTo>
                      <a:pt x="308" y="412"/>
                    </a:moveTo>
                    <a:cubicBezTo>
                      <a:pt x="251" y="412"/>
                      <a:pt x="205" y="366"/>
                      <a:pt x="205" y="309"/>
                    </a:cubicBezTo>
                    <a:cubicBezTo>
                      <a:pt x="205" y="253"/>
                      <a:pt x="251" y="207"/>
                      <a:pt x="308" y="207"/>
                    </a:cubicBezTo>
                    <a:cubicBezTo>
                      <a:pt x="364" y="207"/>
                      <a:pt x="410" y="253"/>
                      <a:pt x="410" y="309"/>
                    </a:cubicBezTo>
                    <a:cubicBezTo>
                      <a:pt x="410" y="366"/>
                      <a:pt x="364" y="412"/>
                      <a:pt x="308" y="412"/>
                    </a:cubicBezTo>
                    <a:close/>
                    <a:moveTo>
                      <a:pt x="308" y="412"/>
                    </a:moveTo>
                    <a:cubicBezTo>
                      <a:pt x="308" y="412"/>
                      <a:pt x="308" y="412"/>
                      <a:pt x="308"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53" name="Freeform 9"/>
              <p:cNvSpPr>
                <a:spLocks/>
              </p:cNvSpPr>
              <p:nvPr/>
            </p:nvSpPr>
            <p:spPr bwMode="auto">
              <a:xfrm>
                <a:off x="15308940" y="4423103"/>
                <a:ext cx="301183" cy="166552"/>
              </a:xfrm>
              <a:custGeom>
                <a:avLst/>
                <a:gdLst>
                  <a:gd name="T0" fmla="*/ 1413 w 1663"/>
                  <a:gd name="T1" fmla="*/ 1229 h 1229"/>
                  <a:gd name="T2" fmla="*/ 1663 w 1663"/>
                  <a:gd name="T3" fmla="*/ 1229 h 1229"/>
                  <a:gd name="T4" fmla="*/ 1639 w 1663"/>
                  <a:gd name="T5" fmla="*/ 1203 h 1229"/>
                  <a:gd name="T6" fmla="*/ 1639 w 1663"/>
                  <a:gd name="T7" fmla="*/ 848 h 1229"/>
                  <a:gd name="T8" fmla="*/ 1642 w 1663"/>
                  <a:gd name="T9" fmla="*/ 825 h 1229"/>
                  <a:gd name="T10" fmla="*/ 1577 w 1663"/>
                  <a:gd name="T11" fmla="*/ 503 h 1229"/>
                  <a:gd name="T12" fmla="*/ 1033 w 1663"/>
                  <a:gd name="T13" fmla="*/ 26 h 1229"/>
                  <a:gd name="T14" fmla="*/ 1016 w 1663"/>
                  <a:gd name="T15" fmla="*/ 22 h 1229"/>
                  <a:gd name="T16" fmla="*/ 1015 w 1663"/>
                  <a:gd name="T17" fmla="*/ 21 h 1229"/>
                  <a:gd name="T18" fmla="*/ 838 w 1663"/>
                  <a:gd name="T19" fmla="*/ 0 h 1229"/>
                  <a:gd name="T20" fmla="*/ 833 w 1663"/>
                  <a:gd name="T21" fmla="*/ 0 h 1229"/>
                  <a:gd name="T22" fmla="*/ 831 w 1663"/>
                  <a:gd name="T23" fmla="*/ 0 h 1229"/>
                  <a:gd name="T24" fmla="*/ 830 w 1663"/>
                  <a:gd name="T25" fmla="*/ 0 h 1229"/>
                  <a:gd name="T26" fmla="*/ 825 w 1663"/>
                  <a:gd name="T27" fmla="*/ 0 h 1229"/>
                  <a:gd name="T28" fmla="*/ 630 w 1663"/>
                  <a:gd name="T29" fmla="*/ 26 h 1229"/>
                  <a:gd name="T30" fmla="*/ 87 w 1663"/>
                  <a:gd name="T31" fmla="*/ 502 h 1229"/>
                  <a:gd name="T32" fmla="*/ 21 w 1663"/>
                  <a:gd name="T33" fmla="*/ 825 h 1229"/>
                  <a:gd name="T34" fmla="*/ 24 w 1663"/>
                  <a:gd name="T35" fmla="*/ 849 h 1229"/>
                  <a:gd name="T36" fmla="*/ 24 w 1663"/>
                  <a:gd name="T37" fmla="*/ 1203 h 1229"/>
                  <a:gd name="T38" fmla="*/ 0 w 1663"/>
                  <a:gd name="T39" fmla="*/ 1229 h 1229"/>
                  <a:gd name="T40" fmla="*/ 250 w 1663"/>
                  <a:gd name="T41" fmla="*/ 1229 h 1229"/>
                  <a:gd name="T42" fmla="*/ 226 w 1663"/>
                  <a:gd name="T43" fmla="*/ 1203 h 1229"/>
                  <a:gd name="T44" fmla="*/ 226 w 1663"/>
                  <a:gd name="T45" fmla="*/ 819 h 1229"/>
                  <a:gd name="T46" fmla="*/ 404 w 1663"/>
                  <a:gd name="T47" fmla="*/ 385 h 1229"/>
                  <a:gd name="T48" fmla="*/ 831 w 1663"/>
                  <a:gd name="T49" fmla="*/ 205 h 1229"/>
                  <a:gd name="T50" fmla="*/ 1259 w 1663"/>
                  <a:gd name="T51" fmla="*/ 385 h 1229"/>
                  <a:gd name="T52" fmla="*/ 1437 w 1663"/>
                  <a:gd name="T53" fmla="*/ 819 h 1229"/>
                  <a:gd name="T54" fmla="*/ 1437 w 1663"/>
                  <a:gd name="T55" fmla="*/ 1203 h 1229"/>
                  <a:gd name="T56" fmla="*/ 1413 w 1663"/>
                  <a:gd name="T57" fmla="*/ 1229 h 1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63" h="1229">
                    <a:moveTo>
                      <a:pt x="1413" y="1229"/>
                    </a:moveTo>
                    <a:cubicBezTo>
                      <a:pt x="1663" y="1229"/>
                      <a:pt x="1663" y="1229"/>
                      <a:pt x="1663" y="1229"/>
                    </a:cubicBezTo>
                    <a:cubicBezTo>
                      <a:pt x="1649" y="1228"/>
                      <a:pt x="1639" y="1217"/>
                      <a:pt x="1639" y="1203"/>
                    </a:cubicBezTo>
                    <a:cubicBezTo>
                      <a:pt x="1639" y="848"/>
                      <a:pt x="1639" y="848"/>
                      <a:pt x="1639" y="848"/>
                    </a:cubicBezTo>
                    <a:cubicBezTo>
                      <a:pt x="1641" y="841"/>
                      <a:pt x="1642" y="833"/>
                      <a:pt x="1642" y="825"/>
                    </a:cubicBezTo>
                    <a:cubicBezTo>
                      <a:pt x="1642" y="712"/>
                      <a:pt x="1618" y="603"/>
                      <a:pt x="1577" y="503"/>
                    </a:cubicBezTo>
                    <a:cubicBezTo>
                      <a:pt x="1480" y="269"/>
                      <a:pt x="1279" y="90"/>
                      <a:pt x="1033" y="26"/>
                    </a:cubicBezTo>
                    <a:cubicBezTo>
                      <a:pt x="1027" y="24"/>
                      <a:pt x="1022" y="23"/>
                      <a:pt x="1016" y="22"/>
                    </a:cubicBezTo>
                    <a:cubicBezTo>
                      <a:pt x="1016" y="22"/>
                      <a:pt x="1016" y="21"/>
                      <a:pt x="1015" y="21"/>
                    </a:cubicBezTo>
                    <a:cubicBezTo>
                      <a:pt x="958" y="8"/>
                      <a:pt x="899" y="0"/>
                      <a:pt x="838" y="0"/>
                    </a:cubicBezTo>
                    <a:cubicBezTo>
                      <a:pt x="837" y="0"/>
                      <a:pt x="835" y="0"/>
                      <a:pt x="833" y="0"/>
                    </a:cubicBezTo>
                    <a:cubicBezTo>
                      <a:pt x="833" y="0"/>
                      <a:pt x="832" y="0"/>
                      <a:pt x="831" y="0"/>
                    </a:cubicBezTo>
                    <a:cubicBezTo>
                      <a:pt x="831" y="0"/>
                      <a:pt x="830" y="0"/>
                      <a:pt x="830" y="0"/>
                    </a:cubicBezTo>
                    <a:cubicBezTo>
                      <a:pt x="828" y="0"/>
                      <a:pt x="826" y="0"/>
                      <a:pt x="825" y="0"/>
                    </a:cubicBezTo>
                    <a:cubicBezTo>
                      <a:pt x="757" y="0"/>
                      <a:pt x="692" y="9"/>
                      <a:pt x="630" y="26"/>
                    </a:cubicBezTo>
                    <a:cubicBezTo>
                      <a:pt x="384" y="90"/>
                      <a:pt x="184" y="268"/>
                      <a:pt x="87" y="502"/>
                    </a:cubicBezTo>
                    <a:cubicBezTo>
                      <a:pt x="45" y="602"/>
                      <a:pt x="21" y="711"/>
                      <a:pt x="21" y="825"/>
                    </a:cubicBezTo>
                    <a:cubicBezTo>
                      <a:pt x="21" y="833"/>
                      <a:pt x="22" y="841"/>
                      <a:pt x="24" y="849"/>
                    </a:cubicBezTo>
                    <a:cubicBezTo>
                      <a:pt x="24" y="1203"/>
                      <a:pt x="24" y="1203"/>
                      <a:pt x="24" y="1203"/>
                    </a:cubicBezTo>
                    <a:cubicBezTo>
                      <a:pt x="24" y="1217"/>
                      <a:pt x="13" y="1228"/>
                      <a:pt x="0" y="1229"/>
                    </a:cubicBezTo>
                    <a:cubicBezTo>
                      <a:pt x="250" y="1229"/>
                      <a:pt x="250" y="1229"/>
                      <a:pt x="250" y="1229"/>
                    </a:cubicBezTo>
                    <a:cubicBezTo>
                      <a:pt x="237" y="1228"/>
                      <a:pt x="226" y="1217"/>
                      <a:pt x="226" y="1203"/>
                    </a:cubicBezTo>
                    <a:cubicBezTo>
                      <a:pt x="226" y="819"/>
                      <a:pt x="226" y="819"/>
                      <a:pt x="226" y="819"/>
                    </a:cubicBezTo>
                    <a:cubicBezTo>
                      <a:pt x="226" y="655"/>
                      <a:pt x="289" y="501"/>
                      <a:pt x="404" y="385"/>
                    </a:cubicBezTo>
                    <a:cubicBezTo>
                      <a:pt x="518" y="269"/>
                      <a:pt x="670" y="205"/>
                      <a:pt x="831" y="205"/>
                    </a:cubicBezTo>
                    <a:cubicBezTo>
                      <a:pt x="993" y="205"/>
                      <a:pt x="1145" y="269"/>
                      <a:pt x="1259" y="385"/>
                    </a:cubicBezTo>
                    <a:cubicBezTo>
                      <a:pt x="1373" y="501"/>
                      <a:pt x="1437" y="655"/>
                      <a:pt x="1437" y="819"/>
                    </a:cubicBezTo>
                    <a:cubicBezTo>
                      <a:pt x="1437" y="1203"/>
                      <a:pt x="1437" y="1203"/>
                      <a:pt x="1437" y="1203"/>
                    </a:cubicBezTo>
                    <a:cubicBezTo>
                      <a:pt x="1437" y="1217"/>
                      <a:pt x="1426" y="1228"/>
                      <a:pt x="1413" y="1229"/>
                    </a:cubicBez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54" name="Freeform 10"/>
              <p:cNvSpPr>
                <a:spLocks noEditPoints="1"/>
              </p:cNvSpPr>
              <p:nvPr/>
            </p:nvSpPr>
            <p:spPr bwMode="auto">
              <a:xfrm>
                <a:off x="15234202" y="4589655"/>
                <a:ext cx="445082" cy="277309"/>
              </a:xfrm>
              <a:custGeom>
                <a:avLst/>
                <a:gdLst>
                  <a:gd name="T0" fmla="*/ 2160 w 2457"/>
                  <a:gd name="T1" fmla="*/ 0 h 2048"/>
                  <a:gd name="T2" fmla="*/ 297 w 2457"/>
                  <a:gd name="T3" fmla="*/ 0 h 2048"/>
                  <a:gd name="T4" fmla="*/ 0 w 2457"/>
                  <a:gd name="T5" fmla="*/ 307 h 2048"/>
                  <a:gd name="T6" fmla="*/ 0 w 2457"/>
                  <a:gd name="T7" fmla="*/ 1740 h 2048"/>
                  <a:gd name="T8" fmla="*/ 307 w 2457"/>
                  <a:gd name="T9" fmla="*/ 2048 h 2048"/>
                  <a:gd name="T10" fmla="*/ 2150 w 2457"/>
                  <a:gd name="T11" fmla="*/ 2048 h 2048"/>
                  <a:gd name="T12" fmla="*/ 2457 w 2457"/>
                  <a:gd name="T13" fmla="*/ 1740 h 2048"/>
                  <a:gd name="T14" fmla="*/ 2457 w 2457"/>
                  <a:gd name="T15" fmla="*/ 307 h 2048"/>
                  <a:gd name="T16" fmla="*/ 2160 w 2457"/>
                  <a:gd name="T17" fmla="*/ 0 h 2048"/>
                  <a:gd name="T18" fmla="*/ 2253 w 2457"/>
                  <a:gd name="T19" fmla="*/ 1740 h 2048"/>
                  <a:gd name="T20" fmla="*/ 2150 w 2457"/>
                  <a:gd name="T21" fmla="*/ 1843 h 2048"/>
                  <a:gd name="T22" fmla="*/ 307 w 2457"/>
                  <a:gd name="T23" fmla="*/ 1843 h 2048"/>
                  <a:gd name="T24" fmla="*/ 205 w 2457"/>
                  <a:gd name="T25" fmla="*/ 1740 h 2048"/>
                  <a:gd name="T26" fmla="*/ 205 w 2457"/>
                  <a:gd name="T27" fmla="*/ 307 h 2048"/>
                  <a:gd name="T28" fmla="*/ 307 w 2457"/>
                  <a:gd name="T29" fmla="*/ 204 h 2048"/>
                  <a:gd name="T30" fmla="*/ 2150 w 2457"/>
                  <a:gd name="T31" fmla="*/ 204 h 2048"/>
                  <a:gd name="T32" fmla="*/ 2253 w 2457"/>
                  <a:gd name="T33" fmla="*/ 307 h 2048"/>
                  <a:gd name="T34" fmla="*/ 2253 w 2457"/>
                  <a:gd name="T35" fmla="*/ 174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57" h="2048">
                    <a:moveTo>
                      <a:pt x="2160" y="0"/>
                    </a:moveTo>
                    <a:cubicBezTo>
                      <a:pt x="297" y="0"/>
                      <a:pt x="297" y="0"/>
                      <a:pt x="297" y="0"/>
                    </a:cubicBezTo>
                    <a:cubicBezTo>
                      <a:pt x="132" y="5"/>
                      <a:pt x="0" y="141"/>
                      <a:pt x="0" y="307"/>
                    </a:cubicBezTo>
                    <a:cubicBezTo>
                      <a:pt x="0" y="1740"/>
                      <a:pt x="0" y="1740"/>
                      <a:pt x="0" y="1740"/>
                    </a:cubicBezTo>
                    <a:cubicBezTo>
                      <a:pt x="0" y="1910"/>
                      <a:pt x="137" y="2048"/>
                      <a:pt x="307" y="2048"/>
                    </a:cubicBezTo>
                    <a:cubicBezTo>
                      <a:pt x="2150" y="2048"/>
                      <a:pt x="2150" y="2048"/>
                      <a:pt x="2150" y="2048"/>
                    </a:cubicBezTo>
                    <a:cubicBezTo>
                      <a:pt x="2320" y="2048"/>
                      <a:pt x="2457" y="1910"/>
                      <a:pt x="2457" y="1740"/>
                    </a:cubicBezTo>
                    <a:cubicBezTo>
                      <a:pt x="2457" y="307"/>
                      <a:pt x="2457" y="307"/>
                      <a:pt x="2457" y="307"/>
                    </a:cubicBezTo>
                    <a:cubicBezTo>
                      <a:pt x="2457" y="141"/>
                      <a:pt x="2325" y="5"/>
                      <a:pt x="2160" y="0"/>
                    </a:cubicBezTo>
                    <a:close/>
                    <a:moveTo>
                      <a:pt x="2253" y="1740"/>
                    </a:moveTo>
                    <a:cubicBezTo>
                      <a:pt x="2253" y="1797"/>
                      <a:pt x="2207" y="1843"/>
                      <a:pt x="2150" y="1843"/>
                    </a:cubicBezTo>
                    <a:cubicBezTo>
                      <a:pt x="307" y="1843"/>
                      <a:pt x="307" y="1843"/>
                      <a:pt x="307" y="1843"/>
                    </a:cubicBezTo>
                    <a:cubicBezTo>
                      <a:pt x="250" y="1843"/>
                      <a:pt x="205" y="1797"/>
                      <a:pt x="205" y="1740"/>
                    </a:cubicBezTo>
                    <a:cubicBezTo>
                      <a:pt x="205" y="307"/>
                      <a:pt x="205" y="307"/>
                      <a:pt x="205" y="307"/>
                    </a:cubicBezTo>
                    <a:cubicBezTo>
                      <a:pt x="205" y="250"/>
                      <a:pt x="250" y="204"/>
                      <a:pt x="307" y="204"/>
                    </a:cubicBezTo>
                    <a:cubicBezTo>
                      <a:pt x="2150" y="204"/>
                      <a:pt x="2150" y="204"/>
                      <a:pt x="2150" y="204"/>
                    </a:cubicBezTo>
                    <a:cubicBezTo>
                      <a:pt x="2207" y="204"/>
                      <a:pt x="2253" y="250"/>
                      <a:pt x="2253" y="307"/>
                    </a:cubicBezTo>
                    <a:lnTo>
                      <a:pt x="2253" y="1740"/>
                    </a:ln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nvGrpSpPr>
          <p:cNvPr id="157" name="组合 156"/>
          <p:cNvGrpSpPr/>
          <p:nvPr/>
        </p:nvGrpSpPr>
        <p:grpSpPr>
          <a:xfrm>
            <a:off x="4566743" y="4214848"/>
            <a:ext cx="298852" cy="117377"/>
            <a:chOff x="15288965" y="4423103"/>
            <a:chExt cx="1130112" cy="443861"/>
          </a:xfrm>
        </p:grpSpPr>
        <p:grpSp>
          <p:nvGrpSpPr>
            <p:cNvPr id="158" name="组合 157"/>
            <p:cNvGrpSpPr/>
            <p:nvPr/>
          </p:nvGrpSpPr>
          <p:grpSpPr>
            <a:xfrm>
              <a:off x="16059077" y="4423103"/>
              <a:ext cx="360000" cy="443861"/>
              <a:chOff x="16059077" y="4423103"/>
              <a:chExt cx="446196" cy="443861"/>
            </a:xfrm>
          </p:grpSpPr>
          <p:sp>
            <p:nvSpPr>
              <p:cNvPr id="168" name="Freeform 7"/>
              <p:cNvSpPr>
                <a:spLocks noEditPoints="1"/>
              </p:cNvSpPr>
              <p:nvPr/>
            </p:nvSpPr>
            <p:spPr bwMode="auto">
              <a:xfrm>
                <a:off x="16226400" y="4672098"/>
                <a:ext cx="111549" cy="139071"/>
              </a:xfrm>
              <a:custGeom>
                <a:avLst/>
                <a:gdLst>
                  <a:gd name="T0" fmla="*/ 303 w 614"/>
                  <a:gd name="T1" fmla="*/ 2 h 1027"/>
                  <a:gd name="T2" fmla="*/ 0 w 614"/>
                  <a:gd name="T3" fmla="*/ 309 h 1027"/>
                  <a:gd name="T4" fmla="*/ 122 w 614"/>
                  <a:gd name="T5" fmla="*/ 555 h 1027"/>
                  <a:gd name="T6" fmla="*/ 205 w 614"/>
                  <a:gd name="T7" fmla="*/ 719 h 1027"/>
                  <a:gd name="T8" fmla="*/ 205 w 614"/>
                  <a:gd name="T9" fmla="*/ 922 h 1027"/>
                  <a:gd name="T10" fmla="*/ 308 w 614"/>
                  <a:gd name="T11" fmla="*/ 1026 h 1027"/>
                  <a:gd name="T12" fmla="*/ 410 w 614"/>
                  <a:gd name="T13" fmla="*/ 924 h 1027"/>
                  <a:gd name="T14" fmla="*/ 410 w 614"/>
                  <a:gd name="T15" fmla="*/ 717 h 1027"/>
                  <a:gd name="T16" fmla="*/ 492 w 614"/>
                  <a:gd name="T17" fmla="*/ 555 h 1027"/>
                  <a:gd name="T18" fmla="*/ 614 w 614"/>
                  <a:gd name="T19" fmla="*/ 309 h 1027"/>
                  <a:gd name="T20" fmla="*/ 303 w 614"/>
                  <a:gd name="T21" fmla="*/ 2 h 1027"/>
                  <a:gd name="T22" fmla="*/ 307 w 614"/>
                  <a:gd name="T23" fmla="*/ 412 h 1027"/>
                  <a:gd name="T24" fmla="*/ 205 w 614"/>
                  <a:gd name="T25" fmla="*/ 309 h 1027"/>
                  <a:gd name="T26" fmla="*/ 307 w 614"/>
                  <a:gd name="T27" fmla="*/ 207 h 1027"/>
                  <a:gd name="T28" fmla="*/ 410 w 614"/>
                  <a:gd name="T29" fmla="*/ 309 h 1027"/>
                  <a:gd name="T30" fmla="*/ 307 w 614"/>
                  <a:gd name="T31" fmla="*/ 412 h 1027"/>
                  <a:gd name="T32" fmla="*/ 307 w 614"/>
                  <a:gd name="T33" fmla="*/ 412 h 1027"/>
                  <a:gd name="T34" fmla="*/ 307 w 614"/>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4" h="1027">
                    <a:moveTo>
                      <a:pt x="303" y="2"/>
                    </a:moveTo>
                    <a:cubicBezTo>
                      <a:pt x="136" y="4"/>
                      <a:pt x="0" y="142"/>
                      <a:pt x="0" y="309"/>
                    </a:cubicBezTo>
                    <a:cubicBezTo>
                      <a:pt x="0" y="409"/>
                      <a:pt x="48" y="499"/>
                      <a:pt x="122" y="555"/>
                    </a:cubicBezTo>
                    <a:cubicBezTo>
                      <a:pt x="174" y="594"/>
                      <a:pt x="205" y="654"/>
                      <a:pt x="205" y="719"/>
                    </a:cubicBezTo>
                    <a:cubicBezTo>
                      <a:pt x="205" y="922"/>
                      <a:pt x="205" y="922"/>
                      <a:pt x="205" y="922"/>
                    </a:cubicBezTo>
                    <a:cubicBezTo>
                      <a:pt x="205" y="979"/>
                      <a:pt x="252" y="1027"/>
                      <a:pt x="308" y="1026"/>
                    </a:cubicBezTo>
                    <a:cubicBezTo>
                      <a:pt x="364" y="1025"/>
                      <a:pt x="410" y="980"/>
                      <a:pt x="410" y="924"/>
                    </a:cubicBezTo>
                    <a:cubicBezTo>
                      <a:pt x="410" y="717"/>
                      <a:pt x="410" y="717"/>
                      <a:pt x="410" y="717"/>
                    </a:cubicBezTo>
                    <a:cubicBezTo>
                      <a:pt x="410" y="653"/>
                      <a:pt x="441" y="593"/>
                      <a:pt x="492" y="555"/>
                    </a:cubicBezTo>
                    <a:cubicBezTo>
                      <a:pt x="566" y="499"/>
                      <a:pt x="614" y="409"/>
                      <a:pt x="614" y="309"/>
                    </a:cubicBezTo>
                    <a:cubicBezTo>
                      <a:pt x="614" y="138"/>
                      <a:pt x="475" y="0"/>
                      <a:pt x="303" y="2"/>
                    </a:cubicBezTo>
                    <a:close/>
                    <a:moveTo>
                      <a:pt x="307" y="412"/>
                    </a:moveTo>
                    <a:cubicBezTo>
                      <a:pt x="251" y="412"/>
                      <a:pt x="205" y="366"/>
                      <a:pt x="205" y="309"/>
                    </a:cubicBezTo>
                    <a:cubicBezTo>
                      <a:pt x="205" y="253"/>
                      <a:pt x="251" y="207"/>
                      <a:pt x="307" y="207"/>
                    </a:cubicBezTo>
                    <a:cubicBezTo>
                      <a:pt x="364" y="207"/>
                      <a:pt x="410" y="253"/>
                      <a:pt x="410" y="309"/>
                    </a:cubicBezTo>
                    <a:cubicBezTo>
                      <a:pt x="410" y="366"/>
                      <a:pt x="364" y="412"/>
                      <a:pt x="307" y="412"/>
                    </a:cubicBezTo>
                    <a:close/>
                    <a:moveTo>
                      <a:pt x="307" y="412"/>
                    </a:moveTo>
                    <a:cubicBezTo>
                      <a:pt x="307" y="412"/>
                      <a:pt x="307" y="412"/>
                      <a:pt x="307"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69" name="Freeform 8"/>
              <p:cNvSpPr>
                <a:spLocks noEditPoints="1"/>
              </p:cNvSpPr>
              <p:nvPr/>
            </p:nvSpPr>
            <p:spPr bwMode="auto">
              <a:xfrm>
                <a:off x="16059077" y="4423103"/>
                <a:ext cx="446196" cy="443861"/>
              </a:xfrm>
              <a:custGeom>
                <a:avLst/>
                <a:gdLst>
                  <a:gd name="T0" fmla="*/ 640 w 2458"/>
                  <a:gd name="T1" fmla="*/ 1231 h 3279"/>
                  <a:gd name="T2" fmla="*/ 615 w 2458"/>
                  <a:gd name="T3" fmla="*/ 1205 h 3279"/>
                  <a:gd name="T4" fmla="*/ 615 w 2458"/>
                  <a:gd name="T5" fmla="*/ 821 h 3279"/>
                  <a:gd name="T6" fmla="*/ 795 w 2458"/>
                  <a:gd name="T7" fmla="*/ 387 h 3279"/>
                  <a:gd name="T8" fmla="*/ 1229 w 2458"/>
                  <a:gd name="T9" fmla="*/ 207 h 3279"/>
                  <a:gd name="T10" fmla="*/ 1664 w 2458"/>
                  <a:gd name="T11" fmla="*/ 387 h 3279"/>
                  <a:gd name="T12" fmla="*/ 1844 w 2458"/>
                  <a:gd name="T13" fmla="*/ 821 h 3279"/>
                  <a:gd name="T14" fmla="*/ 1844 w 2458"/>
                  <a:gd name="T15" fmla="*/ 827 h 3279"/>
                  <a:gd name="T16" fmla="*/ 1940 w 2458"/>
                  <a:gd name="T17" fmla="*/ 923 h 3279"/>
                  <a:gd name="T18" fmla="*/ 1952 w 2458"/>
                  <a:gd name="T19" fmla="*/ 923 h 3279"/>
                  <a:gd name="T20" fmla="*/ 2048 w 2458"/>
                  <a:gd name="T21" fmla="*/ 827 h 3279"/>
                  <a:gd name="T22" fmla="*/ 1226 w 2458"/>
                  <a:gd name="T23" fmla="*/ 2 h 3279"/>
                  <a:gd name="T24" fmla="*/ 410 w 2458"/>
                  <a:gd name="T25" fmla="*/ 821 h 3279"/>
                  <a:gd name="T26" fmla="*/ 410 w 2458"/>
                  <a:gd name="T27" fmla="*/ 1205 h 3279"/>
                  <a:gd name="T28" fmla="*/ 384 w 2458"/>
                  <a:gd name="T29" fmla="*/ 1231 h 3279"/>
                  <a:gd name="T30" fmla="*/ 308 w 2458"/>
                  <a:gd name="T31" fmla="*/ 1231 h 3279"/>
                  <a:gd name="T32" fmla="*/ 0 w 2458"/>
                  <a:gd name="T33" fmla="*/ 1538 h 3279"/>
                  <a:gd name="T34" fmla="*/ 0 w 2458"/>
                  <a:gd name="T35" fmla="*/ 2971 h 3279"/>
                  <a:gd name="T36" fmla="*/ 308 w 2458"/>
                  <a:gd name="T37" fmla="*/ 3279 h 3279"/>
                  <a:gd name="T38" fmla="*/ 2151 w 2458"/>
                  <a:gd name="T39" fmla="*/ 3279 h 3279"/>
                  <a:gd name="T40" fmla="*/ 2458 w 2458"/>
                  <a:gd name="T41" fmla="*/ 2971 h 3279"/>
                  <a:gd name="T42" fmla="*/ 2458 w 2458"/>
                  <a:gd name="T43" fmla="*/ 1538 h 3279"/>
                  <a:gd name="T44" fmla="*/ 2151 w 2458"/>
                  <a:gd name="T45" fmla="*/ 1231 h 3279"/>
                  <a:gd name="T46" fmla="*/ 640 w 2458"/>
                  <a:gd name="T47" fmla="*/ 1231 h 3279"/>
                  <a:gd name="T48" fmla="*/ 2151 w 2458"/>
                  <a:gd name="T49" fmla="*/ 3074 h 3279"/>
                  <a:gd name="T50" fmla="*/ 308 w 2458"/>
                  <a:gd name="T51" fmla="*/ 3074 h 3279"/>
                  <a:gd name="T52" fmla="*/ 205 w 2458"/>
                  <a:gd name="T53" fmla="*/ 2971 h 3279"/>
                  <a:gd name="T54" fmla="*/ 205 w 2458"/>
                  <a:gd name="T55" fmla="*/ 1538 h 3279"/>
                  <a:gd name="T56" fmla="*/ 308 w 2458"/>
                  <a:gd name="T57" fmla="*/ 1435 h 3279"/>
                  <a:gd name="T58" fmla="*/ 2151 w 2458"/>
                  <a:gd name="T59" fmla="*/ 1435 h 3279"/>
                  <a:gd name="T60" fmla="*/ 2253 w 2458"/>
                  <a:gd name="T61" fmla="*/ 1538 h 3279"/>
                  <a:gd name="T62" fmla="*/ 2253 w 2458"/>
                  <a:gd name="T63" fmla="*/ 2971 h 3279"/>
                  <a:gd name="T64" fmla="*/ 2151 w 2458"/>
                  <a:gd name="T65" fmla="*/ 3074 h 3279"/>
                  <a:gd name="T66" fmla="*/ 2151 w 2458"/>
                  <a:gd name="T67" fmla="*/ 3074 h 3279"/>
                  <a:gd name="T68" fmla="*/ 2151 w 2458"/>
                  <a:gd name="T69" fmla="*/ 3074 h 3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58" h="3279">
                    <a:moveTo>
                      <a:pt x="640" y="1231"/>
                    </a:moveTo>
                    <a:cubicBezTo>
                      <a:pt x="626" y="1231"/>
                      <a:pt x="615" y="1219"/>
                      <a:pt x="615" y="1205"/>
                    </a:cubicBezTo>
                    <a:cubicBezTo>
                      <a:pt x="615" y="821"/>
                      <a:pt x="615" y="821"/>
                      <a:pt x="615" y="821"/>
                    </a:cubicBezTo>
                    <a:cubicBezTo>
                      <a:pt x="615" y="657"/>
                      <a:pt x="679" y="503"/>
                      <a:pt x="795" y="387"/>
                    </a:cubicBezTo>
                    <a:cubicBezTo>
                      <a:pt x="911" y="271"/>
                      <a:pt x="1065" y="207"/>
                      <a:pt x="1229" y="207"/>
                    </a:cubicBezTo>
                    <a:cubicBezTo>
                      <a:pt x="1393" y="207"/>
                      <a:pt x="1548" y="271"/>
                      <a:pt x="1664" y="387"/>
                    </a:cubicBezTo>
                    <a:cubicBezTo>
                      <a:pt x="1780" y="503"/>
                      <a:pt x="1844" y="657"/>
                      <a:pt x="1844" y="821"/>
                    </a:cubicBezTo>
                    <a:cubicBezTo>
                      <a:pt x="1844" y="827"/>
                      <a:pt x="1844" y="827"/>
                      <a:pt x="1844" y="827"/>
                    </a:cubicBezTo>
                    <a:cubicBezTo>
                      <a:pt x="1844" y="881"/>
                      <a:pt x="1886" y="923"/>
                      <a:pt x="1940" y="923"/>
                    </a:cubicBezTo>
                    <a:cubicBezTo>
                      <a:pt x="1952" y="923"/>
                      <a:pt x="1952" y="923"/>
                      <a:pt x="1952" y="923"/>
                    </a:cubicBezTo>
                    <a:cubicBezTo>
                      <a:pt x="2005" y="923"/>
                      <a:pt x="2048" y="881"/>
                      <a:pt x="2048" y="827"/>
                    </a:cubicBezTo>
                    <a:cubicBezTo>
                      <a:pt x="2048" y="375"/>
                      <a:pt x="1678" y="0"/>
                      <a:pt x="1226" y="2"/>
                    </a:cubicBezTo>
                    <a:cubicBezTo>
                      <a:pt x="775" y="3"/>
                      <a:pt x="410" y="370"/>
                      <a:pt x="410" y="821"/>
                    </a:cubicBezTo>
                    <a:cubicBezTo>
                      <a:pt x="410" y="1205"/>
                      <a:pt x="410" y="1205"/>
                      <a:pt x="410" y="1205"/>
                    </a:cubicBezTo>
                    <a:cubicBezTo>
                      <a:pt x="410" y="1219"/>
                      <a:pt x="398" y="1231"/>
                      <a:pt x="384" y="1231"/>
                    </a:cubicBezTo>
                    <a:cubicBezTo>
                      <a:pt x="308" y="1231"/>
                      <a:pt x="308" y="1231"/>
                      <a:pt x="308" y="1231"/>
                    </a:cubicBezTo>
                    <a:cubicBezTo>
                      <a:pt x="138" y="1231"/>
                      <a:pt x="0" y="1368"/>
                      <a:pt x="0" y="1538"/>
                    </a:cubicBezTo>
                    <a:cubicBezTo>
                      <a:pt x="0" y="2971"/>
                      <a:pt x="0" y="2971"/>
                      <a:pt x="0" y="2971"/>
                    </a:cubicBezTo>
                    <a:cubicBezTo>
                      <a:pt x="0" y="3141"/>
                      <a:pt x="138" y="3279"/>
                      <a:pt x="308" y="3279"/>
                    </a:cubicBezTo>
                    <a:cubicBezTo>
                      <a:pt x="2151" y="3279"/>
                      <a:pt x="2151" y="3279"/>
                      <a:pt x="2151" y="3279"/>
                    </a:cubicBezTo>
                    <a:cubicBezTo>
                      <a:pt x="2320" y="3279"/>
                      <a:pt x="2458" y="3141"/>
                      <a:pt x="2458" y="2971"/>
                    </a:cubicBezTo>
                    <a:cubicBezTo>
                      <a:pt x="2458" y="1538"/>
                      <a:pt x="2458" y="1538"/>
                      <a:pt x="2458" y="1538"/>
                    </a:cubicBezTo>
                    <a:cubicBezTo>
                      <a:pt x="2458" y="1368"/>
                      <a:pt x="2320" y="1231"/>
                      <a:pt x="2151" y="1231"/>
                    </a:cubicBezTo>
                    <a:lnTo>
                      <a:pt x="640" y="1231"/>
                    </a:lnTo>
                    <a:close/>
                    <a:moveTo>
                      <a:pt x="2151" y="3074"/>
                    </a:moveTo>
                    <a:cubicBezTo>
                      <a:pt x="308" y="3074"/>
                      <a:pt x="308" y="3074"/>
                      <a:pt x="308" y="3074"/>
                    </a:cubicBezTo>
                    <a:cubicBezTo>
                      <a:pt x="251" y="3074"/>
                      <a:pt x="205" y="3028"/>
                      <a:pt x="205" y="2971"/>
                    </a:cubicBezTo>
                    <a:cubicBezTo>
                      <a:pt x="205" y="1538"/>
                      <a:pt x="205" y="1538"/>
                      <a:pt x="205" y="1538"/>
                    </a:cubicBezTo>
                    <a:cubicBezTo>
                      <a:pt x="205" y="1481"/>
                      <a:pt x="251" y="1435"/>
                      <a:pt x="308" y="1435"/>
                    </a:cubicBezTo>
                    <a:cubicBezTo>
                      <a:pt x="2151" y="1435"/>
                      <a:pt x="2151" y="1435"/>
                      <a:pt x="2151" y="1435"/>
                    </a:cubicBezTo>
                    <a:cubicBezTo>
                      <a:pt x="2207" y="1435"/>
                      <a:pt x="2253" y="1481"/>
                      <a:pt x="2253" y="1538"/>
                    </a:cubicBezTo>
                    <a:cubicBezTo>
                      <a:pt x="2253" y="2971"/>
                      <a:pt x="2253" y="2971"/>
                      <a:pt x="2253" y="2971"/>
                    </a:cubicBezTo>
                    <a:cubicBezTo>
                      <a:pt x="2253" y="3028"/>
                      <a:pt x="2207" y="3074"/>
                      <a:pt x="2151" y="3074"/>
                    </a:cubicBezTo>
                    <a:close/>
                    <a:moveTo>
                      <a:pt x="2151" y="3074"/>
                    </a:moveTo>
                    <a:cubicBezTo>
                      <a:pt x="2151" y="3074"/>
                      <a:pt x="2151" y="3074"/>
                      <a:pt x="2151" y="3074"/>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nvGrpSpPr>
            <p:cNvPr id="159" name="组合 158"/>
            <p:cNvGrpSpPr/>
            <p:nvPr/>
          </p:nvGrpSpPr>
          <p:grpSpPr>
            <a:xfrm>
              <a:off x="15288965" y="4423103"/>
              <a:ext cx="360000" cy="443861"/>
              <a:chOff x="15234202" y="4423103"/>
              <a:chExt cx="445082" cy="443861"/>
            </a:xfrm>
          </p:grpSpPr>
          <p:sp>
            <p:nvSpPr>
              <p:cNvPr id="160" name="Freeform 6"/>
              <p:cNvSpPr>
                <a:spLocks noEditPoints="1"/>
              </p:cNvSpPr>
              <p:nvPr/>
            </p:nvSpPr>
            <p:spPr bwMode="auto">
              <a:xfrm>
                <a:off x="15401526" y="4672098"/>
                <a:ext cx="111549" cy="139071"/>
              </a:xfrm>
              <a:custGeom>
                <a:avLst/>
                <a:gdLst>
                  <a:gd name="T0" fmla="*/ 303 w 615"/>
                  <a:gd name="T1" fmla="*/ 2 h 1027"/>
                  <a:gd name="T2" fmla="*/ 0 w 615"/>
                  <a:gd name="T3" fmla="*/ 309 h 1027"/>
                  <a:gd name="T4" fmla="*/ 123 w 615"/>
                  <a:gd name="T5" fmla="*/ 555 h 1027"/>
                  <a:gd name="T6" fmla="*/ 205 w 615"/>
                  <a:gd name="T7" fmla="*/ 719 h 1027"/>
                  <a:gd name="T8" fmla="*/ 205 w 615"/>
                  <a:gd name="T9" fmla="*/ 922 h 1027"/>
                  <a:gd name="T10" fmla="*/ 309 w 615"/>
                  <a:gd name="T11" fmla="*/ 1026 h 1027"/>
                  <a:gd name="T12" fmla="*/ 410 w 615"/>
                  <a:gd name="T13" fmla="*/ 924 h 1027"/>
                  <a:gd name="T14" fmla="*/ 410 w 615"/>
                  <a:gd name="T15" fmla="*/ 717 h 1027"/>
                  <a:gd name="T16" fmla="*/ 492 w 615"/>
                  <a:gd name="T17" fmla="*/ 555 h 1027"/>
                  <a:gd name="T18" fmla="*/ 615 w 615"/>
                  <a:gd name="T19" fmla="*/ 309 h 1027"/>
                  <a:gd name="T20" fmla="*/ 303 w 615"/>
                  <a:gd name="T21" fmla="*/ 2 h 1027"/>
                  <a:gd name="T22" fmla="*/ 308 w 615"/>
                  <a:gd name="T23" fmla="*/ 412 h 1027"/>
                  <a:gd name="T24" fmla="*/ 205 w 615"/>
                  <a:gd name="T25" fmla="*/ 309 h 1027"/>
                  <a:gd name="T26" fmla="*/ 308 w 615"/>
                  <a:gd name="T27" fmla="*/ 207 h 1027"/>
                  <a:gd name="T28" fmla="*/ 410 w 615"/>
                  <a:gd name="T29" fmla="*/ 309 h 1027"/>
                  <a:gd name="T30" fmla="*/ 308 w 615"/>
                  <a:gd name="T31" fmla="*/ 412 h 1027"/>
                  <a:gd name="T32" fmla="*/ 308 w 615"/>
                  <a:gd name="T33" fmla="*/ 412 h 1027"/>
                  <a:gd name="T34" fmla="*/ 308 w 615"/>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5" h="1027">
                    <a:moveTo>
                      <a:pt x="303" y="2"/>
                    </a:moveTo>
                    <a:cubicBezTo>
                      <a:pt x="136" y="4"/>
                      <a:pt x="0" y="142"/>
                      <a:pt x="0" y="309"/>
                    </a:cubicBezTo>
                    <a:cubicBezTo>
                      <a:pt x="0" y="409"/>
                      <a:pt x="48" y="499"/>
                      <a:pt x="123" y="555"/>
                    </a:cubicBezTo>
                    <a:cubicBezTo>
                      <a:pt x="174" y="594"/>
                      <a:pt x="205" y="654"/>
                      <a:pt x="205" y="719"/>
                    </a:cubicBezTo>
                    <a:cubicBezTo>
                      <a:pt x="205" y="922"/>
                      <a:pt x="205" y="922"/>
                      <a:pt x="205" y="922"/>
                    </a:cubicBezTo>
                    <a:cubicBezTo>
                      <a:pt x="205" y="979"/>
                      <a:pt x="252" y="1027"/>
                      <a:pt x="309" y="1026"/>
                    </a:cubicBezTo>
                    <a:cubicBezTo>
                      <a:pt x="365" y="1025"/>
                      <a:pt x="410" y="980"/>
                      <a:pt x="410" y="924"/>
                    </a:cubicBezTo>
                    <a:cubicBezTo>
                      <a:pt x="410" y="717"/>
                      <a:pt x="410" y="717"/>
                      <a:pt x="410" y="717"/>
                    </a:cubicBezTo>
                    <a:cubicBezTo>
                      <a:pt x="410" y="653"/>
                      <a:pt x="441" y="593"/>
                      <a:pt x="492" y="555"/>
                    </a:cubicBezTo>
                    <a:cubicBezTo>
                      <a:pt x="567" y="499"/>
                      <a:pt x="615" y="409"/>
                      <a:pt x="615" y="309"/>
                    </a:cubicBezTo>
                    <a:cubicBezTo>
                      <a:pt x="615" y="138"/>
                      <a:pt x="475" y="0"/>
                      <a:pt x="303" y="2"/>
                    </a:cubicBezTo>
                    <a:close/>
                    <a:moveTo>
                      <a:pt x="308" y="412"/>
                    </a:moveTo>
                    <a:cubicBezTo>
                      <a:pt x="251" y="412"/>
                      <a:pt x="205" y="366"/>
                      <a:pt x="205" y="309"/>
                    </a:cubicBezTo>
                    <a:cubicBezTo>
                      <a:pt x="205" y="253"/>
                      <a:pt x="251" y="207"/>
                      <a:pt x="308" y="207"/>
                    </a:cubicBezTo>
                    <a:cubicBezTo>
                      <a:pt x="364" y="207"/>
                      <a:pt x="410" y="253"/>
                      <a:pt x="410" y="309"/>
                    </a:cubicBezTo>
                    <a:cubicBezTo>
                      <a:pt x="410" y="366"/>
                      <a:pt x="364" y="412"/>
                      <a:pt x="308" y="412"/>
                    </a:cubicBezTo>
                    <a:close/>
                    <a:moveTo>
                      <a:pt x="308" y="412"/>
                    </a:moveTo>
                    <a:cubicBezTo>
                      <a:pt x="308" y="412"/>
                      <a:pt x="308" y="412"/>
                      <a:pt x="308"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61" name="Freeform 9"/>
              <p:cNvSpPr>
                <a:spLocks/>
              </p:cNvSpPr>
              <p:nvPr/>
            </p:nvSpPr>
            <p:spPr bwMode="auto">
              <a:xfrm>
                <a:off x="15308940" y="4423103"/>
                <a:ext cx="301183" cy="166552"/>
              </a:xfrm>
              <a:custGeom>
                <a:avLst/>
                <a:gdLst>
                  <a:gd name="T0" fmla="*/ 1413 w 1663"/>
                  <a:gd name="T1" fmla="*/ 1229 h 1229"/>
                  <a:gd name="T2" fmla="*/ 1663 w 1663"/>
                  <a:gd name="T3" fmla="*/ 1229 h 1229"/>
                  <a:gd name="T4" fmla="*/ 1639 w 1663"/>
                  <a:gd name="T5" fmla="*/ 1203 h 1229"/>
                  <a:gd name="T6" fmla="*/ 1639 w 1663"/>
                  <a:gd name="T7" fmla="*/ 848 h 1229"/>
                  <a:gd name="T8" fmla="*/ 1642 w 1663"/>
                  <a:gd name="T9" fmla="*/ 825 h 1229"/>
                  <a:gd name="T10" fmla="*/ 1577 w 1663"/>
                  <a:gd name="T11" fmla="*/ 503 h 1229"/>
                  <a:gd name="T12" fmla="*/ 1033 w 1663"/>
                  <a:gd name="T13" fmla="*/ 26 h 1229"/>
                  <a:gd name="T14" fmla="*/ 1016 w 1663"/>
                  <a:gd name="T15" fmla="*/ 22 h 1229"/>
                  <a:gd name="T16" fmla="*/ 1015 w 1663"/>
                  <a:gd name="T17" fmla="*/ 21 h 1229"/>
                  <a:gd name="T18" fmla="*/ 838 w 1663"/>
                  <a:gd name="T19" fmla="*/ 0 h 1229"/>
                  <a:gd name="T20" fmla="*/ 833 w 1663"/>
                  <a:gd name="T21" fmla="*/ 0 h 1229"/>
                  <a:gd name="T22" fmla="*/ 831 w 1663"/>
                  <a:gd name="T23" fmla="*/ 0 h 1229"/>
                  <a:gd name="T24" fmla="*/ 830 w 1663"/>
                  <a:gd name="T25" fmla="*/ 0 h 1229"/>
                  <a:gd name="T26" fmla="*/ 825 w 1663"/>
                  <a:gd name="T27" fmla="*/ 0 h 1229"/>
                  <a:gd name="T28" fmla="*/ 630 w 1663"/>
                  <a:gd name="T29" fmla="*/ 26 h 1229"/>
                  <a:gd name="T30" fmla="*/ 87 w 1663"/>
                  <a:gd name="T31" fmla="*/ 502 h 1229"/>
                  <a:gd name="T32" fmla="*/ 21 w 1663"/>
                  <a:gd name="T33" fmla="*/ 825 h 1229"/>
                  <a:gd name="T34" fmla="*/ 24 w 1663"/>
                  <a:gd name="T35" fmla="*/ 849 h 1229"/>
                  <a:gd name="T36" fmla="*/ 24 w 1663"/>
                  <a:gd name="T37" fmla="*/ 1203 h 1229"/>
                  <a:gd name="T38" fmla="*/ 0 w 1663"/>
                  <a:gd name="T39" fmla="*/ 1229 h 1229"/>
                  <a:gd name="T40" fmla="*/ 250 w 1663"/>
                  <a:gd name="T41" fmla="*/ 1229 h 1229"/>
                  <a:gd name="T42" fmla="*/ 226 w 1663"/>
                  <a:gd name="T43" fmla="*/ 1203 h 1229"/>
                  <a:gd name="T44" fmla="*/ 226 w 1663"/>
                  <a:gd name="T45" fmla="*/ 819 h 1229"/>
                  <a:gd name="T46" fmla="*/ 404 w 1663"/>
                  <a:gd name="T47" fmla="*/ 385 h 1229"/>
                  <a:gd name="T48" fmla="*/ 831 w 1663"/>
                  <a:gd name="T49" fmla="*/ 205 h 1229"/>
                  <a:gd name="T50" fmla="*/ 1259 w 1663"/>
                  <a:gd name="T51" fmla="*/ 385 h 1229"/>
                  <a:gd name="T52" fmla="*/ 1437 w 1663"/>
                  <a:gd name="T53" fmla="*/ 819 h 1229"/>
                  <a:gd name="T54" fmla="*/ 1437 w 1663"/>
                  <a:gd name="T55" fmla="*/ 1203 h 1229"/>
                  <a:gd name="T56" fmla="*/ 1413 w 1663"/>
                  <a:gd name="T57" fmla="*/ 1229 h 1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63" h="1229">
                    <a:moveTo>
                      <a:pt x="1413" y="1229"/>
                    </a:moveTo>
                    <a:cubicBezTo>
                      <a:pt x="1663" y="1229"/>
                      <a:pt x="1663" y="1229"/>
                      <a:pt x="1663" y="1229"/>
                    </a:cubicBezTo>
                    <a:cubicBezTo>
                      <a:pt x="1649" y="1228"/>
                      <a:pt x="1639" y="1217"/>
                      <a:pt x="1639" y="1203"/>
                    </a:cubicBezTo>
                    <a:cubicBezTo>
                      <a:pt x="1639" y="848"/>
                      <a:pt x="1639" y="848"/>
                      <a:pt x="1639" y="848"/>
                    </a:cubicBezTo>
                    <a:cubicBezTo>
                      <a:pt x="1641" y="841"/>
                      <a:pt x="1642" y="833"/>
                      <a:pt x="1642" y="825"/>
                    </a:cubicBezTo>
                    <a:cubicBezTo>
                      <a:pt x="1642" y="712"/>
                      <a:pt x="1618" y="603"/>
                      <a:pt x="1577" y="503"/>
                    </a:cubicBezTo>
                    <a:cubicBezTo>
                      <a:pt x="1480" y="269"/>
                      <a:pt x="1279" y="90"/>
                      <a:pt x="1033" y="26"/>
                    </a:cubicBezTo>
                    <a:cubicBezTo>
                      <a:pt x="1027" y="24"/>
                      <a:pt x="1022" y="23"/>
                      <a:pt x="1016" y="22"/>
                    </a:cubicBezTo>
                    <a:cubicBezTo>
                      <a:pt x="1016" y="22"/>
                      <a:pt x="1016" y="21"/>
                      <a:pt x="1015" y="21"/>
                    </a:cubicBezTo>
                    <a:cubicBezTo>
                      <a:pt x="958" y="8"/>
                      <a:pt x="899" y="0"/>
                      <a:pt x="838" y="0"/>
                    </a:cubicBezTo>
                    <a:cubicBezTo>
                      <a:pt x="837" y="0"/>
                      <a:pt x="835" y="0"/>
                      <a:pt x="833" y="0"/>
                    </a:cubicBezTo>
                    <a:cubicBezTo>
                      <a:pt x="833" y="0"/>
                      <a:pt x="832" y="0"/>
                      <a:pt x="831" y="0"/>
                    </a:cubicBezTo>
                    <a:cubicBezTo>
                      <a:pt x="831" y="0"/>
                      <a:pt x="830" y="0"/>
                      <a:pt x="830" y="0"/>
                    </a:cubicBezTo>
                    <a:cubicBezTo>
                      <a:pt x="828" y="0"/>
                      <a:pt x="826" y="0"/>
                      <a:pt x="825" y="0"/>
                    </a:cubicBezTo>
                    <a:cubicBezTo>
                      <a:pt x="757" y="0"/>
                      <a:pt x="692" y="9"/>
                      <a:pt x="630" y="26"/>
                    </a:cubicBezTo>
                    <a:cubicBezTo>
                      <a:pt x="384" y="90"/>
                      <a:pt x="184" y="268"/>
                      <a:pt x="87" y="502"/>
                    </a:cubicBezTo>
                    <a:cubicBezTo>
                      <a:pt x="45" y="602"/>
                      <a:pt x="21" y="711"/>
                      <a:pt x="21" y="825"/>
                    </a:cubicBezTo>
                    <a:cubicBezTo>
                      <a:pt x="21" y="833"/>
                      <a:pt x="22" y="841"/>
                      <a:pt x="24" y="849"/>
                    </a:cubicBezTo>
                    <a:cubicBezTo>
                      <a:pt x="24" y="1203"/>
                      <a:pt x="24" y="1203"/>
                      <a:pt x="24" y="1203"/>
                    </a:cubicBezTo>
                    <a:cubicBezTo>
                      <a:pt x="24" y="1217"/>
                      <a:pt x="13" y="1228"/>
                      <a:pt x="0" y="1229"/>
                    </a:cubicBezTo>
                    <a:cubicBezTo>
                      <a:pt x="250" y="1229"/>
                      <a:pt x="250" y="1229"/>
                      <a:pt x="250" y="1229"/>
                    </a:cubicBezTo>
                    <a:cubicBezTo>
                      <a:pt x="237" y="1228"/>
                      <a:pt x="226" y="1217"/>
                      <a:pt x="226" y="1203"/>
                    </a:cubicBezTo>
                    <a:cubicBezTo>
                      <a:pt x="226" y="819"/>
                      <a:pt x="226" y="819"/>
                      <a:pt x="226" y="819"/>
                    </a:cubicBezTo>
                    <a:cubicBezTo>
                      <a:pt x="226" y="655"/>
                      <a:pt x="289" y="501"/>
                      <a:pt x="404" y="385"/>
                    </a:cubicBezTo>
                    <a:cubicBezTo>
                      <a:pt x="518" y="269"/>
                      <a:pt x="670" y="205"/>
                      <a:pt x="831" y="205"/>
                    </a:cubicBezTo>
                    <a:cubicBezTo>
                      <a:pt x="993" y="205"/>
                      <a:pt x="1145" y="269"/>
                      <a:pt x="1259" y="385"/>
                    </a:cubicBezTo>
                    <a:cubicBezTo>
                      <a:pt x="1373" y="501"/>
                      <a:pt x="1437" y="655"/>
                      <a:pt x="1437" y="819"/>
                    </a:cubicBezTo>
                    <a:cubicBezTo>
                      <a:pt x="1437" y="1203"/>
                      <a:pt x="1437" y="1203"/>
                      <a:pt x="1437" y="1203"/>
                    </a:cubicBezTo>
                    <a:cubicBezTo>
                      <a:pt x="1437" y="1217"/>
                      <a:pt x="1426" y="1228"/>
                      <a:pt x="1413" y="1229"/>
                    </a:cubicBez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67" name="Freeform 10"/>
              <p:cNvSpPr>
                <a:spLocks noEditPoints="1"/>
              </p:cNvSpPr>
              <p:nvPr/>
            </p:nvSpPr>
            <p:spPr bwMode="auto">
              <a:xfrm>
                <a:off x="15234202" y="4589655"/>
                <a:ext cx="445082" cy="277309"/>
              </a:xfrm>
              <a:custGeom>
                <a:avLst/>
                <a:gdLst>
                  <a:gd name="T0" fmla="*/ 2160 w 2457"/>
                  <a:gd name="T1" fmla="*/ 0 h 2048"/>
                  <a:gd name="T2" fmla="*/ 297 w 2457"/>
                  <a:gd name="T3" fmla="*/ 0 h 2048"/>
                  <a:gd name="T4" fmla="*/ 0 w 2457"/>
                  <a:gd name="T5" fmla="*/ 307 h 2048"/>
                  <a:gd name="T6" fmla="*/ 0 w 2457"/>
                  <a:gd name="T7" fmla="*/ 1740 h 2048"/>
                  <a:gd name="T8" fmla="*/ 307 w 2457"/>
                  <a:gd name="T9" fmla="*/ 2048 h 2048"/>
                  <a:gd name="T10" fmla="*/ 2150 w 2457"/>
                  <a:gd name="T11" fmla="*/ 2048 h 2048"/>
                  <a:gd name="T12" fmla="*/ 2457 w 2457"/>
                  <a:gd name="T13" fmla="*/ 1740 h 2048"/>
                  <a:gd name="T14" fmla="*/ 2457 w 2457"/>
                  <a:gd name="T15" fmla="*/ 307 h 2048"/>
                  <a:gd name="T16" fmla="*/ 2160 w 2457"/>
                  <a:gd name="T17" fmla="*/ 0 h 2048"/>
                  <a:gd name="T18" fmla="*/ 2253 w 2457"/>
                  <a:gd name="T19" fmla="*/ 1740 h 2048"/>
                  <a:gd name="T20" fmla="*/ 2150 w 2457"/>
                  <a:gd name="T21" fmla="*/ 1843 h 2048"/>
                  <a:gd name="T22" fmla="*/ 307 w 2457"/>
                  <a:gd name="T23" fmla="*/ 1843 h 2048"/>
                  <a:gd name="T24" fmla="*/ 205 w 2457"/>
                  <a:gd name="T25" fmla="*/ 1740 h 2048"/>
                  <a:gd name="T26" fmla="*/ 205 w 2457"/>
                  <a:gd name="T27" fmla="*/ 307 h 2048"/>
                  <a:gd name="T28" fmla="*/ 307 w 2457"/>
                  <a:gd name="T29" fmla="*/ 204 h 2048"/>
                  <a:gd name="T30" fmla="*/ 2150 w 2457"/>
                  <a:gd name="T31" fmla="*/ 204 h 2048"/>
                  <a:gd name="T32" fmla="*/ 2253 w 2457"/>
                  <a:gd name="T33" fmla="*/ 307 h 2048"/>
                  <a:gd name="T34" fmla="*/ 2253 w 2457"/>
                  <a:gd name="T35" fmla="*/ 174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57" h="2048">
                    <a:moveTo>
                      <a:pt x="2160" y="0"/>
                    </a:moveTo>
                    <a:cubicBezTo>
                      <a:pt x="297" y="0"/>
                      <a:pt x="297" y="0"/>
                      <a:pt x="297" y="0"/>
                    </a:cubicBezTo>
                    <a:cubicBezTo>
                      <a:pt x="132" y="5"/>
                      <a:pt x="0" y="141"/>
                      <a:pt x="0" y="307"/>
                    </a:cubicBezTo>
                    <a:cubicBezTo>
                      <a:pt x="0" y="1740"/>
                      <a:pt x="0" y="1740"/>
                      <a:pt x="0" y="1740"/>
                    </a:cubicBezTo>
                    <a:cubicBezTo>
                      <a:pt x="0" y="1910"/>
                      <a:pt x="137" y="2048"/>
                      <a:pt x="307" y="2048"/>
                    </a:cubicBezTo>
                    <a:cubicBezTo>
                      <a:pt x="2150" y="2048"/>
                      <a:pt x="2150" y="2048"/>
                      <a:pt x="2150" y="2048"/>
                    </a:cubicBezTo>
                    <a:cubicBezTo>
                      <a:pt x="2320" y="2048"/>
                      <a:pt x="2457" y="1910"/>
                      <a:pt x="2457" y="1740"/>
                    </a:cubicBezTo>
                    <a:cubicBezTo>
                      <a:pt x="2457" y="307"/>
                      <a:pt x="2457" y="307"/>
                      <a:pt x="2457" y="307"/>
                    </a:cubicBezTo>
                    <a:cubicBezTo>
                      <a:pt x="2457" y="141"/>
                      <a:pt x="2325" y="5"/>
                      <a:pt x="2160" y="0"/>
                    </a:cubicBezTo>
                    <a:close/>
                    <a:moveTo>
                      <a:pt x="2253" y="1740"/>
                    </a:moveTo>
                    <a:cubicBezTo>
                      <a:pt x="2253" y="1797"/>
                      <a:pt x="2207" y="1843"/>
                      <a:pt x="2150" y="1843"/>
                    </a:cubicBezTo>
                    <a:cubicBezTo>
                      <a:pt x="307" y="1843"/>
                      <a:pt x="307" y="1843"/>
                      <a:pt x="307" y="1843"/>
                    </a:cubicBezTo>
                    <a:cubicBezTo>
                      <a:pt x="250" y="1843"/>
                      <a:pt x="205" y="1797"/>
                      <a:pt x="205" y="1740"/>
                    </a:cubicBezTo>
                    <a:cubicBezTo>
                      <a:pt x="205" y="307"/>
                      <a:pt x="205" y="307"/>
                      <a:pt x="205" y="307"/>
                    </a:cubicBezTo>
                    <a:cubicBezTo>
                      <a:pt x="205" y="250"/>
                      <a:pt x="250" y="204"/>
                      <a:pt x="307" y="204"/>
                    </a:cubicBezTo>
                    <a:cubicBezTo>
                      <a:pt x="2150" y="204"/>
                      <a:pt x="2150" y="204"/>
                      <a:pt x="2150" y="204"/>
                    </a:cubicBezTo>
                    <a:cubicBezTo>
                      <a:pt x="2207" y="204"/>
                      <a:pt x="2253" y="250"/>
                      <a:pt x="2253" y="307"/>
                    </a:cubicBezTo>
                    <a:lnTo>
                      <a:pt x="2253" y="1740"/>
                    </a:ln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nvGrpSpPr>
          <p:cNvPr id="170" name="组合 169"/>
          <p:cNvGrpSpPr/>
          <p:nvPr/>
        </p:nvGrpSpPr>
        <p:grpSpPr>
          <a:xfrm>
            <a:off x="3406779" y="4436491"/>
            <a:ext cx="298852" cy="117377"/>
            <a:chOff x="15288965" y="4423103"/>
            <a:chExt cx="1130112" cy="443861"/>
          </a:xfrm>
        </p:grpSpPr>
        <p:grpSp>
          <p:nvGrpSpPr>
            <p:cNvPr id="171" name="组合 170"/>
            <p:cNvGrpSpPr/>
            <p:nvPr/>
          </p:nvGrpSpPr>
          <p:grpSpPr>
            <a:xfrm>
              <a:off x="16059077" y="4423103"/>
              <a:ext cx="360000" cy="443861"/>
              <a:chOff x="16059077" y="4423103"/>
              <a:chExt cx="446196" cy="443861"/>
            </a:xfrm>
          </p:grpSpPr>
          <p:sp>
            <p:nvSpPr>
              <p:cNvPr id="176" name="Freeform 7"/>
              <p:cNvSpPr>
                <a:spLocks noEditPoints="1"/>
              </p:cNvSpPr>
              <p:nvPr/>
            </p:nvSpPr>
            <p:spPr bwMode="auto">
              <a:xfrm>
                <a:off x="16226400" y="4672098"/>
                <a:ext cx="111549" cy="139071"/>
              </a:xfrm>
              <a:custGeom>
                <a:avLst/>
                <a:gdLst>
                  <a:gd name="T0" fmla="*/ 303 w 614"/>
                  <a:gd name="T1" fmla="*/ 2 h 1027"/>
                  <a:gd name="T2" fmla="*/ 0 w 614"/>
                  <a:gd name="T3" fmla="*/ 309 h 1027"/>
                  <a:gd name="T4" fmla="*/ 122 w 614"/>
                  <a:gd name="T5" fmla="*/ 555 h 1027"/>
                  <a:gd name="T6" fmla="*/ 205 w 614"/>
                  <a:gd name="T7" fmla="*/ 719 h 1027"/>
                  <a:gd name="T8" fmla="*/ 205 w 614"/>
                  <a:gd name="T9" fmla="*/ 922 h 1027"/>
                  <a:gd name="T10" fmla="*/ 308 w 614"/>
                  <a:gd name="T11" fmla="*/ 1026 h 1027"/>
                  <a:gd name="T12" fmla="*/ 410 w 614"/>
                  <a:gd name="T13" fmla="*/ 924 h 1027"/>
                  <a:gd name="T14" fmla="*/ 410 w 614"/>
                  <a:gd name="T15" fmla="*/ 717 h 1027"/>
                  <a:gd name="T16" fmla="*/ 492 w 614"/>
                  <a:gd name="T17" fmla="*/ 555 h 1027"/>
                  <a:gd name="T18" fmla="*/ 614 w 614"/>
                  <a:gd name="T19" fmla="*/ 309 h 1027"/>
                  <a:gd name="T20" fmla="*/ 303 w 614"/>
                  <a:gd name="T21" fmla="*/ 2 h 1027"/>
                  <a:gd name="T22" fmla="*/ 307 w 614"/>
                  <a:gd name="T23" fmla="*/ 412 h 1027"/>
                  <a:gd name="T24" fmla="*/ 205 w 614"/>
                  <a:gd name="T25" fmla="*/ 309 h 1027"/>
                  <a:gd name="T26" fmla="*/ 307 w 614"/>
                  <a:gd name="T27" fmla="*/ 207 h 1027"/>
                  <a:gd name="T28" fmla="*/ 410 w 614"/>
                  <a:gd name="T29" fmla="*/ 309 h 1027"/>
                  <a:gd name="T30" fmla="*/ 307 w 614"/>
                  <a:gd name="T31" fmla="*/ 412 h 1027"/>
                  <a:gd name="T32" fmla="*/ 307 w 614"/>
                  <a:gd name="T33" fmla="*/ 412 h 1027"/>
                  <a:gd name="T34" fmla="*/ 307 w 614"/>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4" h="1027">
                    <a:moveTo>
                      <a:pt x="303" y="2"/>
                    </a:moveTo>
                    <a:cubicBezTo>
                      <a:pt x="136" y="4"/>
                      <a:pt x="0" y="142"/>
                      <a:pt x="0" y="309"/>
                    </a:cubicBezTo>
                    <a:cubicBezTo>
                      <a:pt x="0" y="409"/>
                      <a:pt x="48" y="499"/>
                      <a:pt x="122" y="555"/>
                    </a:cubicBezTo>
                    <a:cubicBezTo>
                      <a:pt x="174" y="594"/>
                      <a:pt x="205" y="654"/>
                      <a:pt x="205" y="719"/>
                    </a:cubicBezTo>
                    <a:cubicBezTo>
                      <a:pt x="205" y="922"/>
                      <a:pt x="205" y="922"/>
                      <a:pt x="205" y="922"/>
                    </a:cubicBezTo>
                    <a:cubicBezTo>
                      <a:pt x="205" y="979"/>
                      <a:pt x="252" y="1027"/>
                      <a:pt x="308" y="1026"/>
                    </a:cubicBezTo>
                    <a:cubicBezTo>
                      <a:pt x="364" y="1025"/>
                      <a:pt x="410" y="980"/>
                      <a:pt x="410" y="924"/>
                    </a:cubicBezTo>
                    <a:cubicBezTo>
                      <a:pt x="410" y="717"/>
                      <a:pt x="410" y="717"/>
                      <a:pt x="410" y="717"/>
                    </a:cubicBezTo>
                    <a:cubicBezTo>
                      <a:pt x="410" y="653"/>
                      <a:pt x="441" y="593"/>
                      <a:pt x="492" y="555"/>
                    </a:cubicBezTo>
                    <a:cubicBezTo>
                      <a:pt x="566" y="499"/>
                      <a:pt x="614" y="409"/>
                      <a:pt x="614" y="309"/>
                    </a:cubicBezTo>
                    <a:cubicBezTo>
                      <a:pt x="614" y="138"/>
                      <a:pt x="475" y="0"/>
                      <a:pt x="303" y="2"/>
                    </a:cubicBezTo>
                    <a:close/>
                    <a:moveTo>
                      <a:pt x="307" y="412"/>
                    </a:moveTo>
                    <a:cubicBezTo>
                      <a:pt x="251" y="412"/>
                      <a:pt x="205" y="366"/>
                      <a:pt x="205" y="309"/>
                    </a:cubicBezTo>
                    <a:cubicBezTo>
                      <a:pt x="205" y="253"/>
                      <a:pt x="251" y="207"/>
                      <a:pt x="307" y="207"/>
                    </a:cubicBezTo>
                    <a:cubicBezTo>
                      <a:pt x="364" y="207"/>
                      <a:pt x="410" y="253"/>
                      <a:pt x="410" y="309"/>
                    </a:cubicBezTo>
                    <a:cubicBezTo>
                      <a:pt x="410" y="366"/>
                      <a:pt x="364" y="412"/>
                      <a:pt x="307" y="412"/>
                    </a:cubicBezTo>
                    <a:close/>
                    <a:moveTo>
                      <a:pt x="307" y="412"/>
                    </a:moveTo>
                    <a:cubicBezTo>
                      <a:pt x="307" y="412"/>
                      <a:pt x="307" y="412"/>
                      <a:pt x="307"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77" name="Freeform 8"/>
              <p:cNvSpPr>
                <a:spLocks noEditPoints="1"/>
              </p:cNvSpPr>
              <p:nvPr/>
            </p:nvSpPr>
            <p:spPr bwMode="auto">
              <a:xfrm>
                <a:off x="16059077" y="4423103"/>
                <a:ext cx="446196" cy="443861"/>
              </a:xfrm>
              <a:custGeom>
                <a:avLst/>
                <a:gdLst>
                  <a:gd name="T0" fmla="*/ 640 w 2458"/>
                  <a:gd name="T1" fmla="*/ 1231 h 3279"/>
                  <a:gd name="T2" fmla="*/ 615 w 2458"/>
                  <a:gd name="T3" fmla="*/ 1205 h 3279"/>
                  <a:gd name="T4" fmla="*/ 615 w 2458"/>
                  <a:gd name="T5" fmla="*/ 821 h 3279"/>
                  <a:gd name="T6" fmla="*/ 795 w 2458"/>
                  <a:gd name="T7" fmla="*/ 387 h 3279"/>
                  <a:gd name="T8" fmla="*/ 1229 w 2458"/>
                  <a:gd name="T9" fmla="*/ 207 h 3279"/>
                  <a:gd name="T10" fmla="*/ 1664 w 2458"/>
                  <a:gd name="T11" fmla="*/ 387 h 3279"/>
                  <a:gd name="T12" fmla="*/ 1844 w 2458"/>
                  <a:gd name="T13" fmla="*/ 821 h 3279"/>
                  <a:gd name="T14" fmla="*/ 1844 w 2458"/>
                  <a:gd name="T15" fmla="*/ 827 h 3279"/>
                  <a:gd name="T16" fmla="*/ 1940 w 2458"/>
                  <a:gd name="T17" fmla="*/ 923 h 3279"/>
                  <a:gd name="T18" fmla="*/ 1952 w 2458"/>
                  <a:gd name="T19" fmla="*/ 923 h 3279"/>
                  <a:gd name="T20" fmla="*/ 2048 w 2458"/>
                  <a:gd name="T21" fmla="*/ 827 h 3279"/>
                  <a:gd name="T22" fmla="*/ 1226 w 2458"/>
                  <a:gd name="T23" fmla="*/ 2 h 3279"/>
                  <a:gd name="T24" fmla="*/ 410 w 2458"/>
                  <a:gd name="T25" fmla="*/ 821 h 3279"/>
                  <a:gd name="T26" fmla="*/ 410 w 2458"/>
                  <a:gd name="T27" fmla="*/ 1205 h 3279"/>
                  <a:gd name="T28" fmla="*/ 384 w 2458"/>
                  <a:gd name="T29" fmla="*/ 1231 h 3279"/>
                  <a:gd name="T30" fmla="*/ 308 w 2458"/>
                  <a:gd name="T31" fmla="*/ 1231 h 3279"/>
                  <a:gd name="T32" fmla="*/ 0 w 2458"/>
                  <a:gd name="T33" fmla="*/ 1538 h 3279"/>
                  <a:gd name="T34" fmla="*/ 0 w 2458"/>
                  <a:gd name="T35" fmla="*/ 2971 h 3279"/>
                  <a:gd name="T36" fmla="*/ 308 w 2458"/>
                  <a:gd name="T37" fmla="*/ 3279 h 3279"/>
                  <a:gd name="T38" fmla="*/ 2151 w 2458"/>
                  <a:gd name="T39" fmla="*/ 3279 h 3279"/>
                  <a:gd name="T40" fmla="*/ 2458 w 2458"/>
                  <a:gd name="T41" fmla="*/ 2971 h 3279"/>
                  <a:gd name="T42" fmla="*/ 2458 w 2458"/>
                  <a:gd name="T43" fmla="*/ 1538 h 3279"/>
                  <a:gd name="T44" fmla="*/ 2151 w 2458"/>
                  <a:gd name="T45" fmla="*/ 1231 h 3279"/>
                  <a:gd name="T46" fmla="*/ 640 w 2458"/>
                  <a:gd name="T47" fmla="*/ 1231 h 3279"/>
                  <a:gd name="T48" fmla="*/ 2151 w 2458"/>
                  <a:gd name="T49" fmla="*/ 3074 h 3279"/>
                  <a:gd name="T50" fmla="*/ 308 w 2458"/>
                  <a:gd name="T51" fmla="*/ 3074 h 3279"/>
                  <a:gd name="T52" fmla="*/ 205 w 2458"/>
                  <a:gd name="T53" fmla="*/ 2971 h 3279"/>
                  <a:gd name="T54" fmla="*/ 205 w 2458"/>
                  <a:gd name="T55" fmla="*/ 1538 h 3279"/>
                  <a:gd name="T56" fmla="*/ 308 w 2458"/>
                  <a:gd name="T57" fmla="*/ 1435 h 3279"/>
                  <a:gd name="T58" fmla="*/ 2151 w 2458"/>
                  <a:gd name="T59" fmla="*/ 1435 h 3279"/>
                  <a:gd name="T60" fmla="*/ 2253 w 2458"/>
                  <a:gd name="T61" fmla="*/ 1538 h 3279"/>
                  <a:gd name="T62" fmla="*/ 2253 w 2458"/>
                  <a:gd name="T63" fmla="*/ 2971 h 3279"/>
                  <a:gd name="T64" fmla="*/ 2151 w 2458"/>
                  <a:gd name="T65" fmla="*/ 3074 h 3279"/>
                  <a:gd name="T66" fmla="*/ 2151 w 2458"/>
                  <a:gd name="T67" fmla="*/ 3074 h 3279"/>
                  <a:gd name="T68" fmla="*/ 2151 w 2458"/>
                  <a:gd name="T69" fmla="*/ 3074 h 3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58" h="3279">
                    <a:moveTo>
                      <a:pt x="640" y="1231"/>
                    </a:moveTo>
                    <a:cubicBezTo>
                      <a:pt x="626" y="1231"/>
                      <a:pt x="615" y="1219"/>
                      <a:pt x="615" y="1205"/>
                    </a:cubicBezTo>
                    <a:cubicBezTo>
                      <a:pt x="615" y="821"/>
                      <a:pt x="615" y="821"/>
                      <a:pt x="615" y="821"/>
                    </a:cubicBezTo>
                    <a:cubicBezTo>
                      <a:pt x="615" y="657"/>
                      <a:pt x="679" y="503"/>
                      <a:pt x="795" y="387"/>
                    </a:cubicBezTo>
                    <a:cubicBezTo>
                      <a:pt x="911" y="271"/>
                      <a:pt x="1065" y="207"/>
                      <a:pt x="1229" y="207"/>
                    </a:cubicBezTo>
                    <a:cubicBezTo>
                      <a:pt x="1393" y="207"/>
                      <a:pt x="1548" y="271"/>
                      <a:pt x="1664" y="387"/>
                    </a:cubicBezTo>
                    <a:cubicBezTo>
                      <a:pt x="1780" y="503"/>
                      <a:pt x="1844" y="657"/>
                      <a:pt x="1844" y="821"/>
                    </a:cubicBezTo>
                    <a:cubicBezTo>
                      <a:pt x="1844" y="827"/>
                      <a:pt x="1844" y="827"/>
                      <a:pt x="1844" y="827"/>
                    </a:cubicBezTo>
                    <a:cubicBezTo>
                      <a:pt x="1844" y="881"/>
                      <a:pt x="1886" y="923"/>
                      <a:pt x="1940" y="923"/>
                    </a:cubicBezTo>
                    <a:cubicBezTo>
                      <a:pt x="1952" y="923"/>
                      <a:pt x="1952" y="923"/>
                      <a:pt x="1952" y="923"/>
                    </a:cubicBezTo>
                    <a:cubicBezTo>
                      <a:pt x="2005" y="923"/>
                      <a:pt x="2048" y="881"/>
                      <a:pt x="2048" y="827"/>
                    </a:cubicBezTo>
                    <a:cubicBezTo>
                      <a:pt x="2048" y="375"/>
                      <a:pt x="1678" y="0"/>
                      <a:pt x="1226" y="2"/>
                    </a:cubicBezTo>
                    <a:cubicBezTo>
                      <a:pt x="775" y="3"/>
                      <a:pt x="410" y="370"/>
                      <a:pt x="410" y="821"/>
                    </a:cubicBezTo>
                    <a:cubicBezTo>
                      <a:pt x="410" y="1205"/>
                      <a:pt x="410" y="1205"/>
                      <a:pt x="410" y="1205"/>
                    </a:cubicBezTo>
                    <a:cubicBezTo>
                      <a:pt x="410" y="1219"/>
                      <a:pt x="398" y="1231"/>
                      <a:pt x="384" y="1231"/>
                    </a:cubicBezTo>
                    <a:cubicBezTo>
                      <a:pt x="308" y="1231"/>
                      <a:pt x="308" y="1231"/>
                      <a:pt x="308" y="1231"/>
                    </a:cubicBezTo>
                    <a:cubicBezTo>
                      <a:pt x="138" y="1231"/>
                      <a:pt x="0" y="1368"/>
                      <a:pt x="0" y="1538"/>
                    </a:cubicBezTo>
                    <a:cubicBezTo>
                      <a:pt x="0" y="2971"/>
                      <a:pt x="0" y="2971"/>
                      <a:pt x="0" y="2971"/>
                    </a:cubicBezTo>
                    <a:cubicBezTo>
                      <a:pt x="0" y="3141"/>
                      <a:pt x="138" y="3279"/>
                      <a:pt x="308" y="3279"/>
                    </a:cubicBezTo>
                    <a:cubicBezTo>
                      <a:pt x="2151" y="3279"/>
                      <a:pt x="2151" y="3279"/>
                      <a:pt x="2151" y="3279"/>
                    </a:cubicBezTo>
                    <a:cubicBezTo>
                      <a:pt x="2320" y="3279"/>
                      <a:pt x="2458" y="3141"/>
                      <a:pt x="2458" y="2971"/>
                    </a:cubicBezTo>
                    <a:cubicBezTo>
                      <a:pt x="2458" y="1538"/>
                      <a:pt x="2458" y="1538"/>
                      <a:pt x="2458" y="1538"/>
                    </a:cubicBezTo>
                    <a:cubicBezTo>
                      <a:pt x="2458" y="1368"/>
                      <a:pt x="2320" y="1231"/>
                      <a:pt x="2151" y="1231"/>
                    </a:cubicBezTo>
                    <a:lnTo>
                      <a:pt x="640" y="1231"/>
                    </a:lnTo>
                    <a:close/>
                    <a:moveTo>
                      <a:pt x="2151" y="3074"/>
                    </a:moveTo>
                    <a:cubicBezTo>
                      <a:pt x="308" y="3074"/>
                      <a:pt x="308" y="3074"/>
                      <a:pt x="308" y="3074"/>
                    </a:cubicBezTo>
                    <a:cubicBezTo>
                      <a:pt x="251" y="3074"/>
                      <a:pt x="205" y="3028"/>
                      <a:pt x="205" y="2971"/>
                    </a:cubicBezTo>
                    <a:cubicBezTo>
                      <a:pt x="205" y="1538"/>
                      <a:pt x="205" y="1538"/>
                      <a:pt x="205" y="1538"/>
                    </a:cubicBezTo>
                    <a:cubicBezTo>
                      <a:pt x="205" y="1481"/>
                      <a:pt x="251" y="1435"/>
                      <a:pt x="308" y="1435"/>
                    </a:cubicBezTo>
                    <a:cubicBezTo>
                      <a:pt x="2151" y="1435"/>
                      <a:pt x="2151" y="1435"/>
                      <a:pt x="2151" y="1435"/>
                    </a:cubicBezTo>
                    <a:cubicBezTo>
                      <a:pt x="2207" y="1435"/>
                      <a:pt x="2253" y="1481"/>
                      <a:pt x="2253" y="1538"/>
                    </a:cubicBezTo>
                    <a:cubicBezTo>
                      <a:pt x="2253" y="2971"/>
                      <a:pt x="2253" y="2971"/>
                      <a:pt x="2253" y="2971"/>
                    </a:cubicBezTo>
                    <a:cubicBezTo>
                      <a:pt x="2253" y="3028"/>
                      <a:pt x="2207" y="3074"/>
                      <a:pt x="2151" y="3074"/>
                    </a:cubicBezTo>
                    <a:close/>
                    <a:moveTo>
                      <a:pt x="2151" y="3074"/>
                    </a:moveTo>
                    <a:cubicBezTo>
                      <a:pt x="2151" y="3074"/>
                      <a:pt x="2151" y="3074"/>
                      <a:pt x="2151" y="3074"/>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nvGrpSpPr>
            <p:cNvPr id="172" name="组合 171"/>
            <p:cNvGrpSpPr/>
            <p:nvPr/>
          </p:nvGrpSpPr>
          <p:grpSpPr>
            <a:xfrm>
              <a:off x="15288965" y="4423103"/>
              <a:ext cx="360000" cy="443861"/>
              <a:chOff x="15234202" y="4423103"/>
              <a:chExt cx="445082" cy="443861"/>
            </a:xfrm>
          </p:grpSpPr>
          <p:sp>
            <p:nvSpPr>
              <p:cNvPr id="173" name="Freeform 6"/>
              <p:cNvSpPr>
                <a:spLocks noEditPoints="1"/>
              </p:cNvSpPr>
              <p:nvPr/>
            </p:nvSpPr>
            <p:spPr bwMode="auto">
              <a:xfrm>
                <a:off x="15401526" y="4672098"/>
                <a:ext cx="111549" cy="139071"/>
              </a:xfrm>
              <a:custGeom>
                <a:avLst/>
                <a:gdLst>
                  <a:gd name="T0" fmla="*/ 303 w 615"/>
                  <a:gd name="T1" fmla="*/ 2 h 1027"/>
                  <a:gd name="T2" fmla="*/ 0 w 615"/>
                  <a:gd name="T3" fmla="*/ 309 h 1027"/>
                  <a:gd name="T4" fmla="*/ 123 w 615"/>
                  <a:gd name="T5" fmla="*/ 555 h 1027"/>
                  <a:gd name="T6" fmla="*/ 205 w 615"/>
                  <a:gd name="T7" fmla="*/ 719 h 1027"/>
                  <a:gd name="T8" fmla="*/ 205 w 615"/>
                  <a:gd name="T9" fmla="*/ 922 h 1027"/>
                  <a:gd name="T10" fmla="*/ 309 w 615"/>
                  <a:gd name="T11" fmla="*/ 1026 h 1027"/>
                  <a:gd name="T12" fmla="*/ 410 w 615"/>
                  <a:gd name="T13" fmla="*/ 924 h 1027"/>
                  <a:gd name="T14" fmla="*/ 410 w 615"/>
                  <a:gd name="T15" fmla="*/ 717 h 1027"/>
                  <a:gd name="T16" fmla="*/ 492 w 615"/>
                  <a:gd name="T17" fmla="*/ 555 h 1027"/>
                  <a:gd name="T18" fmla="*/ 615 w 615"/>
                  <a:gd name="T19" fmla="*/ 309 h 1027"/>
                  <a:gd name="T20" fmla="*/ 303 w 615"/>
                  <a:gd name="T21" fmla="*/ 2 h 1027"/>
                  <a:gd name="T22" fmla="*/ 308 w 615"/>
                  <a:gd name="T23" fmla="*/ 412 h 1027"/>
                  <a:gd name="T24" fmla="*/ 205 w 615"/>
                  <a:gd name="T25" fmla="*/ 309 h 1027"/>
                  <a:gd name="T26" fmla="*/ 308 w 615"/>
                  <a:gd name="T27" fmla="*/ 207 h 1027"/>
                  <a:gd name="T28" fmla="*/ 410 w 615"/>
                  <a:gd name="T29" fmla="*/ 309 h 1027"/>
                  <a:gd name="T30" fmla="*/ 308 w 615"/>
                  <a:gd name="T31" fmla="*/ 412 h 1027"/>
                  <a:gd name="T32" fmla="*/ 308 w 615"/>
                  <a:gd name="T33" fmla="*/ 412 h 1027"/>
                  <a:gd name="T34" fmla="*/ 308 w 615"/>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5" h="1027">
                    <a:moveTo>
                      <a:pt x="303" y="2"/>
                    </a:moveTo>
                    <a:cubicBezTo>
                      <a:pt x="136" y="4"/>
                      <a:pt x="0" y="142"/>
                      <a:pt x="0" y="309"/>
                    </a:cubicBezTo>
                    <a:cubicBezTo>
                      <a:pt x="0" y="409"/>
                      <a:pt x="48" y="499"/>
                      <a:pt x="123" y="555"/>
                    </a:cubicBezTo>
                    <a:cubicBezTo>
                      <a:pt x="174" y="594"/>
                      <a:pt x="205" y="654"/>
                      <a:pt x="205" y="719"/>
                    </a:cubicBezTo>
                    <a:cubicBezTo>
                      <a:pt x="205" y="922"/>
                      <a:pt x="205" y="922"/>
                      <a:pt x="205" y="922"/>
                    </a:cubicBezTo>
                    <a:cubicBezTo>
                      <a:pt x="205" y="979"/>
                      <a:pt x="252" y="1027"/>
                      <a:pt x="309" y="1026"/>
                    </a:cubicBezTo>
                    <a:cubicBezTo>
                      <a:pt x="365" y="1025"/>
                      <a:pt x="410" y="980"/>
                      <a:pt x="410" y="924"/>
                    </a:cubicBezTo>
                    <a:cubicBezTo>
                      <a:pt x="410" y="717"/>
                      <a:pt x="410" y="717"/>
                      <a:pt x="410" y="717"/>
                    </a:cubicBezTo>
                    <a:cubicBezTo>
                      <a:pt x="410" y="653"/>
                      <a:pt x="441" y="593"/>
                      <a:pt x="492" y="555"/>
                    </a:cubicBezTo>
                    <a:cubicBezTo>
                      <a:pt x="567" y="499"/>
                      <a:pt x="615" y="409"/>
                      <a:pt x="615" y="309"/>
                    </a:cubicBezTo>
                    <a:cubicBezTo>
                      <a:pt x="615" y="138"/>
                      <a:pt x="475" y="0"/>
                      <a:pt x="303" y="2"/>
                    </a:cubicBezTo>
                    <a:close/>
                    <a:moveTo>
                      <a:pt x="308" y="412"/>
                    </a:moveTo>
                    <a:cubicBezTo>
                      <a:pt x="251" y="412"/>
                      <a:pt x="205" y="366"/>
                      <a:pt x="205" y="309"/>
                    </a:cubicBezTo>
                    <a:cubicBezTo>
                      <a:pt x="205" y="253"/>
                      <a:pt x="251" y="207"/>
                      <a:pt x="308" y="207"/>
                    </a:cubicBezTo>
                    <a:cubicBezTo>
                      <a:pt x="364" y="207"/>
                      <a:pt x="410" y="253"/>
                      <a:pt x="410" y="309"/>
                    </a:cubicBezTo>
                    <a:cubicBezTo>
                      <a:pt x="410" y="366"/>
                      <a:pt x="364" y="412"/>
                      <a:pt x="308" y="412"/>
                    </a:cubicBezTo>
                    <a:close/>
                    <a:moveTo>
                      <a:pt x="308" y="412"/>
                    </a:moveTo>
                    <a:cubicBezTo>
                      <a:pt x="308" y="412"/>
                      <a:pt x="308" y="412"/>
                      <a:pt x="308"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74" name="Freeform 9"/>
              <p:cNvSpPr>
                <a:spLocks/>
              </p:cNvSpPr>
              <p:nvPr/>
            </p:nvSpPr>
            <p:spPr bwMode="auto">
              <a:xfrm>
                <a:off x="15308940" y="4423103"/>
                <a:ext cx="301183" cy="166552"/>
              </a:xfrm>
              <a:custGeom>
                <a:avLst/>
                <a:gdLst>
                  <a:gd name="T0" fmla="*/ 1413 w 1663"/>
                  <a:gd name="T1" fmla="*/ 1229 h 1229"/>
                  <a:gd name="T2" fmla="*/ 1663 w 1663"/>
                  <a:gd name="T3" fmla="*/ 1229 h 1229"/>
                  <a:gd name="T4" fmla="*/ 1639 w 1663"/>
                  <a:gd name="T5" fmla="*/ 1203 h 1229"/>
                  <a:gd name="T6" fmla="*/ 1639 w 1663"/>
                  <a:gd name="T7" fmla="*/ 848 h 1229"/>
                  <a:gd name="T8" fmla="*/ 1642 w 1663"/>
                  <a:gd name="T9" fmla="*/ 825 h 1229"/>
                  <a:gd name="T10" fmla="*/ 1577 w 1663"/>
                  <a:gd name="T11" fmla="*/ 503 h 1229"/>
                  <a:gd name="T12" fmla="*/ 1033 w 1663"/>
                  <a:gd name="T13" fmla="*/ 26 h 1229"/>
                  <a:gd name="T14" fmla="*/ 1016 w 1663"/>
                  <a:gd name="T15" fmla="*/ 22 h 1229"/>
                  <a:gd name="T16" fmla="*/ 1015 w 1663"/>
                  <a:gd name="T17" fmla="*/ 21 h 1229"/>
                  <a:gd name="T18" fmla="*/ 838 w 1663"/>
                  <a:gd name="T19" fmla="*/ 0 h 1229"/>
                  <a:gd name="T20" fmla="*/ 833 w 1663"/>
                  <a:gd name="T21" fmla="*/ 0 h 1229"/>
                  <a:gd name="T22" fmla="*/ 831 w 1663"/>
                  <a:gd name="T23" fmla="*/ 0 h 1229"/>
                  <a:gd name="T24" fmla="*/ 830 w 1663"/>
                  <a:gd name="T25" fmla="*/ 0 h 1229"/>
                  <a:gd name="T26" fmla="*/ 825 w 1663"/>
                  <a:gd name="T27" fmla="*/ 0 h 1229"/>
                  <a:gd name="T28" fmla="*/ 630 w 1663"/>
                  <a:gd name="T29" fmla="*/ 26 h 1229"/>
                  <a:gd name="T30" fmla="*/ 87 w 1663"/>
                  <a:gd name="T31" fmla="*/ 502 h 1229"/>
                  <a:gd name="T32" fmla="*/ 21 w 1663"/>
                  <a:gd name="T33" fmla="*/ 825 h 1229"/>
                  <a:gd name="T34" fmla="*/ 24 w 1663"/>
                  <a:gd name="T35" fmla="*/ 849 h 1229"/>
                  <a:gd name="T36" fmla="*/ 24 w 1663"/>
                  <a:gd name="T37" fmla="*/ 1203 h 1229"/>
                  <a:gd name="T38" fmla="*/ 0 w 1663"/>
                  <a:gd name="T39" fmla="*/ 1229 h 1229"/>
                  <a:gd name="T40" fmla="*/ 250 w 1663"/>
                  <a:gd name="T41" fmla="*/ 1229 h 1229"/>
                  <a:gd name="T42" fmla="*/ 226 w 1663"/>
                  <a:gd name="T43" fmla="*/ 1203 h 1229"/>
                  <a:gd name="T44" fmla="*/ 226 w 1663"/>
                  <a:gd name="T45" fmla="*/ 819 h 1229"/>
                  <a:gd name="T46" fmla="*/ 404 w 1663"/>
                  <a:gd name="T47" fmla="*/ 385 h 1229"/>
                  <a:gd name="T48" fmla="*/ 831 w 1663"/>
                  <a:gd name="T49" fmla="*/ 205 h 1229"/>
                  <a:gd name="T50" fmla="*/ 1259 w 1663"/>
                  <a:gd name="T51" fmla="*/ 385 h 1229"/>
                  <a:gd name="T52" fmla="*/ 1437 w 1663"/>
                  <a:gd name="T53" fmla="*/ 819 h 1229"/>
                  <a:gd name="T54" fmla="*/ 1437 w 1663"/>
                  <a:gd name="T55" fmla="*/ 1203 h 1229"/>
                  <a:gd name="T56" fmla="*/ 1413 w 1663"/>
                  <a:gd name="T57" fmla="*/ 1229 h 1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63" h="1229">
                    <a:moveTo>
                      <a:pt x="1413" y="1229"/>
                    </a:moveTo>
                    <a:cubicBezTo>
                      <a:pt x="1663" y="1229"/>
                      <a:pt x="1663" y="1229"/>
                      <a:pt x="1663" y="1229"/>
                    </a:cubicBezTo>
                    <a:cubicBezTo>
                      <a:pt x="1649" y="1228"/>
                      <a:pt x="1639" y="1217"/>
                      <a:pt x="1639" y="1203"/>
                    </a:cubicBezTo>
                    <a:cubicBezTo>
                      <a:pt x="1639" y="848"/>
                      <a:pt x="1639" y="848"/>
                      <a:pt x="1639" y="848"/>
                    </a:cubicBezTo>
                    <a:cubicBezTo>
                      <a:pt x="1641" y="841"/>
                      <a:pt x="1642" y="833"/>
                      <a:pt x="1642" y="825"/>
                    </a:cubicBezTo>
                    <a:cubicBezTo>
                      <a:pt x="1642" y="712"/>
                      <a:pt x="1618" y="603"/>
                      <a:pt x="1577" y="503"/>
                    </a:cubicBezTo>
                    <a:cubicBezTo>
                      <a:pt x="1480" y="269"/>
                      <a:pt x="1279" y="90"/>
                      <a:pt x="1033" y="26"/>
                    </a:cubicBezTo>
                    <a:cubicBezTo>
                      <a:pt x="1027" y="24"/>
                      <a:pt x="1022" y="23"/>
                      <a:pt x="1016" y="22"/>
                    </a:cubicBezTo>
                    <a:cubicBezTo>
                      <a:pt x="1016" y="22"/>
                      <a:pt x="1016" y="21"/>
                      <a:pt x="1015" y="21"/>
                    </a:cubicBezTo>
                    <a:cubicBezTo>
                      <a:pt x="958" y="8"/>
                      <a:pt x="899" y="0"/>
                      <a:pt x="838" y="0"/>
                    </a:cubicBezTo>
                    <a:cubicBezTo>
                      <a:pt x="837" y="0"/>
                      <a:pt x="835" y="0"/>
                      <a:pt x="833" y="0"/>
                    </a:cubicBezTo>
                    <a:cubicBezTo>
                      <a:pt x="833" y="0"/>
                      <a:pt x="832" y="0"/>
                      <a:pt x="831" y="0"/>
                    </a:cubicBezTo>
                    <a:cubicBezTo>
                      <a:pt x="831" y="0"/>
                      <a:pt x="830" y="0"/>
                      <a:pt x="830" y="0"/>
                    </a:cubicBezTo>
                    <a:cubicBezTo>
                      <a:pt x="828" y="0"/>
                      <a:pt x="826" y="0"/>
                      <a:pt x="825" y="0"/>
                    </a:cubicBezTo>
                    <a:cubicBezTo>
                      <a:pt x="757" y="0"/>
                      <a:pt x="692" y="9"/>
                      <a:pt x="630" y="26"/>
                    </a:cubicBezTo>
                    <a:cubicBezTo>
                      <a:pt x="384" y="90"/>
                      <a:pt x="184" y="268"/>
                      <a:pt x="87" y="502"/>
                    </a:cubicBezTo>
                    <a:cubicBezTo>
                      <a:pt x="45" y="602"/>
                      <a:pt x="21" y="711"/>
                      <a:pt x="21" y="825"/>
                    </a:cubicBezTo>
                    <a:cubicBezTo>
                      <a:pt x="21" y="833"/>
                      <a:pt x="22" y="841"/>
                      <a:pt x="24" y="849"/>
                    </a:cubicBezTo>
                    <a:cubicBezTo>
                      <a:pt x="24" y="1203"/>
                      <a:pt x="24" y="1203"/>
                      <a:pt x="24" y="1203"/>
                    </a:cubicBezTo>
                    <a:cubicBezTo>
                      <a:pt x="24" y="1217"/>
                      <a:pt x="13" y="1228"/>
                      <a:pt x="0" y="1229"/>
                    </a:cubicBezTo>
                    <a:cubicBezTo>
                      <a:pt x="250" y="1229"/>
                      <a:pt x="250" y="1229"/>
                      <a:pt x="250" y="1229"/>
                    </a:cubicBezTo>
                    <a:cubicBezTo>
                      <a:pt x="237" y="1228"/>
                      <a:pt x="226" y="1217"/>
                      <a:pt x="226" y="1203"/>
                    </a:cubicBezTo>
                    <a:cubicBezTo>
                      <a:pt x="226" y="819"/>
                      <a:pt x="226" y="819"/>
                      <a:pt x="226" y="819"/>
                    </a:cubicBezTo>
                    <a:cubicBezTo>
                      <a:pt x="226" y="655"/>
                      <a:pt x="289" y="501"/>
                      <a:pt x="404" y="385"/>
                    </a:cubicBezTo>
                    <a:cubicBezTo>
                      <a:pt x="518" y="269"/>
                      <a:pt x="670" y="205"/>
                      <a:pt x="831" y="205"/>
                    </a:cubicBezTo>
                    <a:cubicBezTo>
                      <a:pt x="993" y="205"/>
                      <a:pt x="1145" y="269"/>
                      <a:pt x="1259" y="385"/>
                    </a:cubicBezTo>
                    <a:cubicBezTo>
                      <a:pt x="1373" y="501"/>
                      <a:pt x="1437" y="655"/>
                      <a:pt x="1437" y="819"/>
                    </a:cubicBezTo>
                    <a:cubicBezTo>
                      <a:pt x="1437" y="1203"/>
                      <a:pt x="1437" y="1203"/>
                      <a:pt x="1437" y="1203"/>
                    </a:cubicBezTo>
                    <a:cubicBezTo>
                      <a:pt x="1437" y="1217"/>
                      <a:pt x="1426" y="1228"/>
                      <a:pt x="1413" y="1229"/>
                    </a:cubicBez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75" name="Freeform 10"/>
              <p:cNvSpPr>
                <a:spLocks noEditPoints="1"/>
              </p:cNvSpPr>
              <p:nvPr/>
            </p:nvSpPr>
            <p:spPr bwMode="auto">
              <a:xfrm>
                <a:off x="15234202" y="4589655"/>
                <a:ext cx="445082" cy="277309"/>
              </a:xfrm>
              <a:custGeom>
                <a:avLst/>
                <a:gdLst>
                  <a:gd name="T0" fmla="*/ 2160 w 2457"/>
                  <a:gd name="T1" fmla="*/ 0 h 2048"/>
                  <a:gd name="T2" fmla="*/ 297 w 2457"/>
                  <a:gd name="T3" fmla="*/ 0 h 2048"/>
                  <a:gd name="T4" fmla="*/ 0 w 2457"/>
                  <a:gd name="T5" fmla="*/ 307 h 2048"/>
                  <a:gd name="T6" fmla="*/ 0 w 2457"/>
                  <a:gd name="T7" fmla="*/ 1740 h 2048"/>
                  <a:gd name="T8" fmla="*/ 307 w 2457"/>
                  <a:gd name="T9" fmla="*/ 2048 h 2048"/>
                  <a:gd name="T10" fmla="*/ 2150 w 2457"/>
                  <a:gd name="T11" fmla="*/ 2048 h 2048"/>
                  <a:gd name="T12" fmla="*/ 2457 w 2457"/>
                  <a:gd name="T13" fmla="*/ 1740 h 2048"/>
                  <a:gd name="T14" fmla="*/ 2457 w 2457"/>
                  <a:gd name="T15" fmla="*/ 307 h 2048"/>
                  <a:gd name="T16" fmla="*/ 2160 w 2457"/>
                  <a:gd name="T17" fmla="*/ 0 h 2048"/>
                  <a:gd name="T18" fmla="*/ 2253 w 2457"/>
                  <a:gd name="T19" fmla="*/ 1740 h 2048"/>
                  <a:gd name="T20" fmla="*/ 2150 w 2457"/>
                  <a:gd name="T21" fmla="*/ 1843 h 2048"/>
                  <a:gd name="T22" fmla="*/ 307 w 2457"/>
                  <a:gd name="T23" fmla="*/ 1843 h 2048"/>
                  <a:gd name="T24" fmla="*/ 205 w 2457"/>
                  <a:gd name="T25" fmla="*/ 1740 h 2048"/>
                  <a:gd name="T26" fmla="*/ 205 w 2457"/>
                  <a:gd name="T27" fmla="*/ 307 h 2048"/>
                  <a:gd name="T28" fmla="*/ 307 w 2457"/>
                  <a:gd name="T29" fmla="*/ 204 h 2048"/>
                  <a:gd name="T30" fmla="*/ 2150 w 2457"/>
                  <a:gd name="T31" fmla="*/ 204 h 2048"/>
                  <a:gd name="T32" fmla="*/ 2253 w 2457"/>
                  <a:gd name="T33" fmla="*/ 307 h 2048"/>
                  <a:gd name="T34" fmla="*/ 2253 w 2457"/>
                  <a:gd name="T35" fmla="*/ 174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57" h="2048">
                    <a:moveTo>
                      <a:pt x="2160" y="0"/>
                    </a:moveTo>
                    <a:cubicBezTo>
                      <a:pt x="297" y="0"/>
                      <a:pt x="297" y="0"/>
                      <a:pt x="297" y="0"/>
                    </a:cubicBezTo>
                    <a:cubicBezTo>
                      <a:pt x="132" y="5"/>
                      <a:pt x="0" y="141"/>
                      <a:pt x="0" y="307"/>
                    </a:cubicBezTo>
                    <a:cubicBezTo>
                      <a:pt x="0" y="1740"/>
                      <a:pt x="0" y="1740"/>
                      <a:pt x="0" y="1740"/>
                    </a:cubicBezTo>
                    <a:cubicBezTo>
                      <a:pt x="0" y="1910"/>
                      <a:pt x="137" y="2048"/>
                      <a:pt x="307" y="2048"/>
                    </a:cubicBezTo>
                    <a:cubicBezTo>
                      <a:pt x="2150" y="2048"/>
                      <a:pt x="2150" y="2048"/>
                      <a:pt x="2150" y="2048"/>
                    </a:cubicBezTo>
                    <a:cubicBezTo>
                      <a:pt x="2320" y="2048"/>
                      <a:pt x="2457" y="1910"/>
                      <a:pt x="2457" y="1740"/>
                    </a:cubicBezTo>
                    <a:cubicBezTo>
                      <a:pt x="2457" y="307"/>
                      <a:pt x="2457" y="307"/>
                      <a:pt x="2457" y="307"/>
                    </a:cubicBezTo>
                    <a:cubicBezTo>
                      <a:pt x="2457" y="141"/>
                      <a:pt x="2325" y="5"/>
                      <a:pt x="2160" y="0"/>
                    </a:cubicBezTo>
                    <a:close/>
                    <a:moveTo>
                      <a:pt x="2253" y="1740"/>
                    </a:moveTo>
                    <a:cubicBezTo>
                      <a:pt x="2253" y="1797"/>
                      <a:pt x="2207" y="1843"/>
                      <a:pt x="2150" y="1843"/>
                    </a:cubicBezTo>
                    <a:cubicBezTo>
                      <a:pt x="307" y="1843"/>
                      <a:pt x="307" y="1843"/>
                      <a:pt x="307" y="1843"/>
                    </a:cubicBezTo>
                    <a:cubicBezTo>
                      <a:pt x="250" y="1843"/>
                      <a:pt x="205" y="1797"/>
                      <a:pt x="205" y="1740"/>
                    </a:cubicBezTo>
                    <a:cubicBezTo>
                      <a:pt x="205" y="307"/>
                      <a:pt x="205" y="307"/>
                      <a:pt x="205" y="307"/>
                    </a:cubicBezTo>
                    <a:cubicBezTo>
                      <a:pt x="205" y="250"/>
                      <a:pt x="250" y="204"/>
                      <a:pt x="307" y="204"/>
                    </a:cubicBezTo>
                    <a:cubicBezTo>
                      <a:pt x="2150" y="204"/>
                      <a:pt x="2150" y="204"/>
                      <a:pt x="2150" y="204"/>
                    </a:cubicBezTo>
                    <a:cubicBezTo>
                      <a:pt x="2207" y="204"/>
                      <a:pt x="2253" y="250"/>
                      <a:pt x="2253" y="307"/>
                    </a:cubicBezTo>
                    <a:lnTo>
                      <a:pt x="2253" y="1740"/>
                    </a:ln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nvGrpSpPr>
          <p:cNvPr id="178" name="组合 177"/>
          <p:cNvGrpSpPr/>
          <p:nvPr/>
        </p:nvGrpSpPr>
        <p:grpSpPr>
          <a:xfrm>
            <a:off x="4269086" y="4436491"/>
            <a:ext cx="298852" cy="117377"/>
            <a:chOff x="15288965" y="4423103"/>
            <a:chExt cx="1130112" cy="443861"/>
          </a:xfrm>
        </p:grpSpPr>
        <p:grpSp>
          <p:nvGrpSpPr>
            <p:cNvPr id="179" name="组合 178"/>
            <p:cNvGrpSpPr/>
            <p:nvPr/>
          </p:nvGrpSpPr>
          <p:grpSpPr>
            <a:xfrm>
              <a:off x="16059077" y="4423103"/>
              <a:ext cx="360000" cy="443861"/>
              <a:chOff x="16059077" y="4423103"/>
              <a:chExt cx="446196" cy="443861"/>
            </a:xfrm>
          </p:grpSpPr>
          <p:sp>
            <p:nvSpPr>
              <p:cNvPr id="204" name="Freeform 7"/>
              <p:cNvSpPr>
                <a:spLocks noEditPoints="1"/>
              </p:cNvSpPr>
              <p:nvPr/>
            </p:nvSpPr>
            <p:spPr bwMode="auto">
              <a:xfrm>
                <a:off x="16226400" y="4672098"/>
                <a:ext cx="111549" cy="139071"/>
              </a:xfrm>
              <a:custGeom>
                <a:avLst/>
                <a:gdLst>
                  <a:gd name="T0" fmla="*/ 303 w 614"/>
                  <a:gd name="T1" fmla="*/ 2 h 1027"/>
                  <a:gd name="T2" fmla="*/ 0 w 614"/>
                  <a:gd name="T3" fmla="*/ 309 h 1027"/>
                  <a:gd name="T4" fmla="*/ 122 w 614"/>
                  <a:gd name="T5" fmla="*/ 555 h 1027"/>
                  <a:gd name="T6" fmla="*/ 205 w 614"/>
                  <a:gd name="T7" fmla="*/ 719 h 1027"/>
                  <a:gd name="T8" fmla="*/ 205 w 614"/>
                  <a:gd name="T9" fmla="*/ 922 h 1027"/>
                  <a:gd name="T10" fmla="*/ 308 w 614"/>
                  <a:gd name="T11" fmla="*/ 1026 h 1027"/>
                  <a:gd name="T12" fmla="*/ 410 w 614"/>
                  <a:gd name="T13" fmla="*/ 924 h 1027"/>
                  <a:gd name="T14" fmla="*/ 410 w 614"/>
                  <a:gd name="T15" fmla="*/ 717 h 1027"/>
                  <a:gd name="T16" fmla="*/ 492 w 614"/>
                  <a:gd name="T17" fmla="*/ 555 h 1027"/>
                  <a:gd name="T18" fmla="*/ 614 w 614"/>
                  <a:gd name="T19" fmla="*/ 309 h 1027"/>
                  <a:gd name="T20" fmla="*/ 303 w 614"/>
                  <a:gd name="T21" fmla="*/ 2 h 1027"/>
                  <a:gd name="T22" fmla="*/ 307 w 614"/>
                  <a:gd name="T23" fmla="*/ 412 h 1027"/>
                  <a:gd name="T24" fmla="*/ 205 w 614"/>
                  <a:gd name="T25" fmla="*/ 309 h 1027"/>
                  <a:gd name="T26" fmla="*/ 307 w 614"/>
                  <a:gd name="T27" fmla="*/ 207 h 1027"/>
                  <a:gd name="T28" fmla="*/ 410 w 614"/>
                  <a:gd name="T29" fmla="*/ 309 h 1027"/>
                  <a:gd name="T30" fmla="*/ 307 w 614"/>
                  <a:gd name="T31" fmla="*/ 412 h 1027"/>
                  <a:gd name="T32" fmla="*/ 307 w 614"/>
                  <a:gd name="T33" fmla="*/ 412 h 1027"/>
                  <a:gd name="T34" fmla="*/ 307 w 614"/>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4" h="1027">
                    <a:moveTo>
                      <a:pt x="303" y="2"/>
                    </a:moveTo>
                    <a:cubicBezTo>
                      <a:pt x="136" y="4"/>
                      <a:pt x="0" y="142"/>
                      <a:pt x="0" y="309"/>
                    </a:cubicBezTo>
                    <a:cubicBezTo>
                      <a:pt x="0" y="409"/>
                      <a:pt x="48" y="499"/>
                      <a:pt x="122" y="555"/>
                    </a:cubicBezTo>
                    <a:cubicBezTo>
                      <a:pt x="174" y="594"/>
                      <a:pt x="205" y="654"/>
                      <a:pt x="205" y="719"/>
                    </a:cubicBezTo>
                    <a:cubicBezTo>
                      <a:pt x="205" y="922"/>
                      <a:pt x="205" y="922"/>
                      <a:pt x="205" y="922"/>
                    </a:cubicBezTo>
                    <a:cubicBezTo>
                      <a:pt x="205" y="979"/>
                      <a:pt x="252" y="1027"/>
                      <a:pt x="308" y="1026"/>
                    </a:cubicBezTo>
                    <a:cubicBezTo>
                      <a:pt x="364" y="1025"/>
                      <a:pt x="410" y="980"/>
                      <a:pt x="410" y="924"/>
                    </a:cubicBezTo>
                    <a:cubicBezTo>
                      <a:pt x="410" y="717"/>
                      <a:pt x="410" y="717"/>
                      <a:pt x="410" y="717"/>
                    </a:cubicBezTo>
                    <a:cubicBezTo>
                      <a:pt x="410" y="653"/>
                      <a:pt x="441" y="593"/>
                      <a:pt x="492" y="555"/>
                    </a:cubicBezTo>
                    <a:cubicBezTo>
                      <a:pt x="566" y="499"/>
                      <a:pt x="614" y="409"/>
                      <a:pt x="614" y="309"/>
                    </a:cubicBezTo>
                    <a:cubicBezTo>
                      <a:pt x="614" y="138"/>
                      <a:pt x="475" y="0"/>
                      <a:pt x="303" y="2"/>
                    </a:cubicBezTo>
                    <a:close/>
                    <a:moveTo>
                      <a:pt x="307" y="412"/>
                    </a:moveTo>
                    <a:cubicBezTo>
                      <a:pt x="251" y="412"/>
                      <a:pt x="205" y="366"/>
                      <a:pt x="205" y="309"/>
                    </a:cubicBezTo>
                    <a:cubicBezTo>
                      <a:pt x="205" y="253"/>
                      <a:pt x="251" y="207"/>
                      <a:pt x="307" y="207"/>
                    </a:cubicBezTo>
                    <a:cubicBezTo>
                      <a:pt x="364" y="207"/>
                      <a:pt x="410" y="253"/>
                      <a:pt x="410" y="309"/>
                    </a:cubicBezTo>
                    <a:cubicBezTo>
                      <a:pt x="410" y="366"/>
                      <a:pt x="364" y="412"/>
                      <a:pt x="307" y="412"/>
                    </a:cubicBezTo>
                    <a:close/>
                    <a:moveTo>
                      <a:pt x="307" y="412"/>
                    </a:moveTo>
                    <a:cubicBezTo>
                      <a:pt x="307" y="412"/>
                      <a:pt x="307" y="412"/>
                      <a:pt x="307"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10" name="Freeform 8"/>
              <p:cNvSpPr>
                <a:spLocks noEditPoints="1"/>
              </p:cNvSpPr>
              <p:nvPr/>
            </p:nvSpPr>
            <p:spPr bwMode="auto">
              <a:xfrm>
                <a:off x="16059077" y="4423103"/>
                <a:ext cx="446196" cy="443861"/>
              </a:xfrm>
              <a:custGeom>
                <a:avLst/>
                <a:gdLst>
                  <a:gd name="T0" fmla="*/ 640 w 2458"/>
                  <a:gd name="T1" fmla="*/ 1231 h 3279"/>
                  <a:gd name="T2" fmla="*/ 615 w 2458"/>
                  <a:gd name="T3" fmla="*/ 1205 h 3279"/>
                  <a:gd name="T4" fmla="*/ 615 w 2458"/>
                  <a:gd name="T5" fmla="*/ 821 h 3279"/>
                  <a:gd name="T6" fmla="*/ 795 w 2458"/>
                  <a:gd name="T7" fmla="*/ 387 h 3279"/>
                  <a:gd name="T8" fmla="*/ 1229 w 2458"/>
                  <a:gd name="T9" fmla="*/ 207 h 3279"/>
                  <a:gd name="T10" fmla="*/ 1664 w 2458"/>
                  <a:gd name="T11" fmla="*/ 387 h 3279"/>
                  <a:gd name="T12" fmla="*/ 1844 w 2458"/>
                  <a:gd name="T13" fmla="*/ 821 h 3279"/>
                  <a:gd name="T14" fmla="*/ 1844 w 2458"/>
                  <a:gd name="T15" fmla="*/ 827 h 3279"/>
                  <a:gd name="T16" fmla="*/ 1940 w 2458"/>
                  <a:gd name="T17" fmla="*/ 923 h 3279"/>
                  <a:gd name="T18" fmla="*/ 1952 w 2458"/>
                  <a:gd name="T19" fmla="*/ 923 h 3279"/>
                  <a:gd name="T20" fmla="*/ 2048 w 2458"/>
                  <a:gd name="T21" fmla="*/ 827 h 3279"/>
                  <a:gd name="T22" fmla="*/ 1226 w 2458"/>
                  <a:gd name="T23" fmla="*/ 2 h 3279"/>
                  <a:gd name="T24" fmla="*/ 410 w 2458"/>
                  <a:gd name="T25" fmla="*/ 821 h 3279"/>
                  <a:gd name="T26" fmla="*/ 410 w 2458"/>
                  <a:gd name="T27" fmla="*/ 1205 h 3279"/>
                  <a:gd name="T28" fmla="*/ 384 w 2458"/>
                  <a:gd name="T29" fmla="*/ 1231 h 3279"/>
                  <a:gd name="T30" fmla="*/ 308 w 2458"/>
                  <a:gd name="T31" fmla="*/ 1231 h 3279"/>
                  <a:gd name="T32" fmla="*/ 0 w 2458"/>
                  <a:gd name="T33" fmla="*/ 1538 h 3279"/>
                  <a:gd name="T34" fmla="*/ 0 w 2458"/>
                  <a:gd name="T35" fmla="*/ 2971 h 3279"/>
                  <a:gd name="T36" fmla="*/ 308 w 2458"/>
                  <a:gd name="T37" fmla="*/ 3279 h 3279"/>
                  <a:gd name="T38" fmla="*/ 2151 w 2458"/>
                  <a:gd name="T39" fmla="*/ 3279 h 3279"/>
                  <a:gd name="T40" fmla="*/ 2458 w 2458"/>
                  <a:gd name="T41" fmla="*/ 2971 h 3279"/>
                  <a:gd name="T42" fmla="*/ 2458 w 2458"/>
                  <a:gd name="T43" fmla="*/ 1538 h 3279"/>
                  <a:gd name="T44" fmla="*/ 2151 w 2458"/>
                  <a:gd name="T45" fmla="*/ 1231 h 3279"/>
                  <a:gd name="T46" fmla="*/ 640 w 2458"/>
                  <a:gd name="T47" fmla="*/ 1231 h 3279"/>
                  <a:gd name="T48" fmla="*/ 2151 w 2458"/>
                  <a:gd name="T49" fmla="*/ 3074 h 3279"/>
                  <a:gd name="T50" fmla="*/ 308 w 2458"/>
                  <a:gd name="T51" fmla="*/ 3074 h 3279"/>
                  <a:gd name="T52" fmla="*/ 205 w 2458"/>
                  <a:gd name="T53" fmla="*/ 2971 h 3279"/>
                  <a:gd name="T54" fmla="*/ 205 w 2458"/>
                  <a:gd name="T55" fmla="*/ 1538 h 3279"/>
                  <a:gd name="T56" fmla="*/ 308 w 2458"/>
                  <a:gd name="T57" fmla="*/ 1435 h 3279"/>
                  <a:gd name="T58" fmla="*/ 2151 w 2458"/>
                  <a:gd name="T59" fmla="*/ 1435 h 3279"/>
                  <a:gd name="T60" fmla="*/ 2253 w 2458"/>
                  <a:gd name="T61" fmla="*/ 1538 h 3279"/>
                  <a:gd name="T62" fmla="*/ 2253 w 2458"/>
                  <a:gd name="T63" fmla="*/ 2971 h 3279"/>
                  <a:gd name="T64" fmla="*/ 2151 w 2458"/>
                  <a:gd name="T65" fmla="*/ 3074 h 3279"/>
                  <a:gd name="T66" fmla="*/ 2151 w 2458"/>
                  <a:gd name="T67" fmla="*/ 3074 h 3279"/>
                  <a:gd name="T68" fmla="*/ 2151 w 2458"/>
                  <a:gd name="T69" fmla="*/ 3074 h 3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58" h="3279">
                    <a:moveTo>
                      <a:pt x="640" y="1231"/>
                    </a:moveTo>
                    <a:cubicBezTo>
                      <a:pt x="626" y="1231"/>
                      <a:pt x="615" y="1219"/>
                      <a:pt x="615" y="1205"/>
                    </a:cubicBezTo>
                    <a:cubicBezTo>
                      <a:pt x="615" y="821"/>
                      <a:pt x="615" y="821"/>
                      <a:pt x="615" y="821"/>
                    </a:cubicBezTo>
                    <a:cubicBezTo>
                      <a:pt x="615" y="657"/>
                      <a:pt x="679" y="503"/>
                      <a:pt x="795" y="387"/>
                    </a:cubicBezTo>
                    <a:cubicBezTo>
                      <a:pt x="911" y="271"/>
                      <a:pt x="1065" y="207"/>
                      <a:pt x="1229" y="207"/>
                    </a:cubicBezTo>
                    <a:cubicBezTo>
                      <a:pt x="1393" y="207"/>
                      <a:pt x="1548" y="271"/>
                      <a:pt x="1664" y="387"/>
                    </a:cubicBezTo>
                    <a:cubicBezTo>
                      <a:pt x="1780" y="503"/>
                      <a:pt x="1844" y="657"/>
                      <a:pt x="1844" y="821"/>
                    </a:cubicBezTo>
                    <a:cubicBezTo>
                      <a:pt x="1844" y="827"/>
                      <a:pt x="1844" y="827"/>
                      <a:pt x="1844" y="827"/>
                    </a:cubicBezTo>
                    <a:cubicBezTo>
                      <a:pt x="1844" y="881"/>
                      <a:pt x="1886" y="923"/>
                      <a:pt x="1940" y="923"/>
                    </a:cubicBezTo>
                    <a:cubicBezTo>
                      <a:pt x="1952" y="923"/>
                      <a:pt x="1952" y="923"/>
                      <a:pt x="1952" y="923"/>
                    </a:cubicBezTo>
                    <a:cubicBezTo>
                      <a:pt x="2005" y="923"/>
                      <a:pt x="2048" y="881"/>
                      <a:pt x="2048" y="827"/>
                    </a:cubicBezTo>
                    <a:cubicBezTo>
                      <a:pt x="2048" y="375"/>
                      <a:pt x="1678" y="0"/>
                      <a:pt x="1226" y="2"/>
                    </a:cubicBezTo>
                    <a:cubicBezTo>
                      <a:pt x="775" y="3"/>
                      <a:pt x="410" y="370"/>
                      <a:pt x="410" y="821"/>
                    </a:cubicBezTo>
                    <a:cubicBezTo>
                      <a:pt x="410" y="1205"/>
                      <a:pt x="410" y="1205"/>
                      <a:pt x="410" y="1205"/>
                    </a:cubicBezTo>
                    <a:cubicBezTo>
                      <a:pt x="410" y="1219"/>
                      <a:pt x="398" y="1231"/>
                      <a:pt x="384" y="1231"/>
                    </a:cubicBezTo>
                    <a:cubicBezTo>
                      <a:pt x="308" y="1231"/>
                      <a:pt x="308" y="1231"/>
                      <a:pt x="308" y="1231"/>
                    </a:cubicBezTo>
                    <a:cubicBezTo>
                      <a:pt x="138" y="1231"/>
                      <a:pt x="0" y="1368"/>
                      <a:pt x="0" y="1538"/>
                    </a:cubicBezTo>
                    <a:cubicBezTo>
                      <a:pt x="0" y="2971"/>
                      <a:pt x="0" y="2971"/>
                      <a:pt x="0" y="2971"/>
                    </a:cubicBezTo>
                    <a:cubicBezTo>
                      <a:pt x="0" y="3141"/>
                      <a:pt x="138" y="3279"/>
                      <a:pt x="308" y="3279"/>
                    </a:cubicBezTo>
                    <a:cubicBezTo>
                      <a:pt x="2151" y="3279"/>
                      <a:pt x="2151" y="3279"/>
                      <a:pt x="2151" y="3279"/>
                    </a:cubicBezTo>
                    <a:cubicBezTo>
                      <a:pt x="2320" y="3279"/>
                      <a:pt x="2458" y="3141"/>
                      <a:pt x="2458" y="2971"/>
                    </a:cubicBezTo>
                    <a:cubicBezTo>
                      <a:pt x="2458" y="1538"/>
                      <a:pt x="2458" y="1538"/>
                      <a:pt x="2458" y="1538"/>
                    </a:cubicBezTo>
                    <a:cubicBezTo>
                      <a:pt x="2458" y="1368"/>
                      <a:pt x="2320" y="1231"/>
                      <a:pt x="2151" y="1231"/>
                    </a:cubicBezTo>
                    <a:lnTo>
                      <a:pt x="640" y="1231"/>
                    </a:lnTo>
                    <a:close/>
                    <a:moveTo>
                      <a:pt x="2151" y="3074"/>
                    </a:moveTo>
                    <a:cubicBezTo>
                      <a:pt x="308" y="3074"/>
                      <a:pt x="308" y="3074"/>
                      <a:pt x="308" y="3074"/>
                    </a:cubicBezTo>
                    <a:cubicBezTo>
                      <a:pt x="251" y="3074"/>
                      <a:pt x="205" y="3028"/>
                      <a:pt x="205" y="2971"/>
                    </a:cubicBezTo>
                    <a:cubicBezTo>
                      <a:pt x="205" y="1538"/>
                      <a:pt x="205" y="1538"/>
                      <a:pt x="205" y="1538"/>
                    </a:cubicBezTo>
                    <a:cubicBezTo>
                      <a:pt x="205" y="1481"/>
                      <a:pt x="251" y="1435"/>
                      <a:pt x="308" y="1435"/>
                    </a:cubicBezTo>
                    <a:cubicBezTo>
                      <a:pt x="2151" y="1435"/>
                      <a:pt x="2151" y="1435"/>
                      <a:pt x="2151" y="1435"/>
                    </a:cubicBezTo>
                    <a:cubicBezTo>
                      <a:pt x="2207" y="1435"/>
                      <a:pt x="2253" y="1481"/>
                      <a:pt x="2253" y="1538"/>
                    </a:cubicBezTo>
                    <a:cubicBezTo>
                      <a:pt x="2253" y="2971"/>
                      <a:pt x="2253" y="2971"/>
                      <a:pt x="2253" y="2971"/>
                    </a:cubicBezTo>
                    <a:cubicBezTo>
                      <a:pt x="2253" y="3028"/>
                      <a:pt x="2207" y="3074"/>
                      <a:pt x="2151" y="3074"/>
                    </a:cubicBezTo>
                    <a:close/>
                    <a:moveTo>
                      <a:pt x="2151" y="3074"/>
                    </a:moveTo>
                    <a:cubicBezTo>
                      <a:pt x="2151" y="3074"/>
                      <a:pt x="2151" y="3074"/>
                      <a:pt x="2151" y="3074"/>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nvGrpSpPr>
            <p:cNvPr id="193" name="组合 192"/>
            <p:cNvGrpSpPr/>
            <p:nvPr/>
          </p:nvGrpSpPr>
          <p:grpSpPr>
            <a:xfrm>
              <a:off x="15288965" y="4423103"/>
              <a:ext cx="360000" cy="443861"/>
              <a:chOff x="15234202" y="4423103"/>
              <a:chExt cx="445082" cy="443861"/>
            </a:xfrm>
          </p:grpSpPr>
          <p:sp>
            <p:nvSpPr>
              <p:cNvPr id="194" name="Freeform 6"/>
              <p:cNvSpPr>
                <a:spLocks noEditPoints="1"/>
              </p:cNvSpPr>
              <p:nvPr/>
            </p:nvSpPr>
            <p:spPr bwMode="auto">
              <a:xfrm>
                <a:off x="15401526" y="4672098"/>
                <a:ext cx="111549" cy="139071"/>
              </a:xfrm>
              <a:custGeom>
                <a:avLst/>
                <a:gdLst>
                  <a:gd name="T0" fmla="*/ 303 w 615"/>
                  <a:gd name="T1" fmla="*/ 2 h 1027"/>
                  <a:gd name="T2" fmla="*/ 0 w 615"/>
                  <a:gd name="T3" fmla="*/ 309 h 1027"/>
                  <a:gd name="T4" fmla="*/ 123 w 615"/>
                  <a:gd name="T5" fmla="*/ 555 h 1027"/>
                  <a:gd name="T6" fmla="*/ 205 w 615"/>
                  <a:gd name="T7" fmla="*/ 719 h 1027"/>
                  <a:gd name="T8" fmla="*/ 205 w 615"/>
                  <a:gd name="T9" fmla="*/ 922 h 1027"/>
                  <a:gd name="T10" fmla="*/ 309 w 615"/>
                  <a:gd name="T11" fmla="*/ 1026 h 1027"/>
                  <a:gd name="T12" fmla="*/ 410 w 615"/>
                  <a:gd name="T13" fmla="*/ 924 h 1027"/>
                  <a:gd name="T14" fmla="*/ 410 w 615"/>
                  <a:gd name="T15" fmla="*/ 717 h 1027"/>
                  <a:gd name="T16" fmla="*/ 492 w 615"/>
                  <a:gd name="T17" fmla="*/ 555 h 1027"/>
                  <a:gd name="T18" fmla="*/ 615 w 615"/>
                  <a:gd name="T19" fmla="*/ 309 h 1027"/>
                  <a:gd name="T20" fmla="*/ 303 w 615"/>
                  <a:gd name="T21" fmla="*/ 2 h 1027"/>
                  <a:gd name="T22" fmla="*/ 308 w 615"/>
                  <a:gd name="T23" fmla="*/ 412 h 1027"/>
                  <a:gd name="T24" fmla="*/ 205 w 615"/>
                  <a:gd name="T25" fmla="*/ 309 h 1027"/>
                  <a:gd name="T26" fmla="*/ 308 w 615"/>
                  <a:gd name="T27" fmla="*/ 207 h 1027"/>
                  <a:gd name="T28" fmla="*/ 410 w 615"/>
                  <a:gd name="T29" fmla="*/ 309 h 1027"/>
                  <a:gd name="T30" fmla="*/ 308 w 615"/>
                  <a:gd name="T31" fmla="*/ 412 h 1027"/>
                  <a:gd name="T32" fmla="*/ 308 w 615"/>
                  <a:gd name="T33" fmla="*/ 412 h 1027"/>
                  <a:gd name="T34" fmla="*/ 308 w 615"/>
                  <a:gd name="T35" fmla="*/ 412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5" h="1027">
                    <a:moveTo>
                      <a:pt x="303" y="2"/>
                    </a:moveTo>
                    <a:cubicBezTo>
                      <a:pt x="136" y="4"/>
                      <a:pt x="0" y="142"/>
                      <a:pt x="0" y="309"/>
                    </a:cubicBezTo>
                    <a:cubicBezTo>
                      <a:pt x="0" y="409"/>
                      <a:pt x="48" y="499"/>
                      <a:pt x="123" y="555"/>
                    </a:cubicBezTo>
                    <a:cubicBezTo>
                      <a:pt x="174" y="594"/>
                      <a:pt x="205" y="654"/>
                      <a:pt x="205" y="719"/>
                    </a:cubicBezTo>
                    <a:cubicBezTo>
                      <a:pt x="205" y="922"/>
                      <a:pt x="205" y="922"/>
                      <a:pt x="205" y="922"/>
                    </a:cubicBezTo>
                    <a:cubicBezTo>
                      <a:pt x="205" y="979"/>
                      <a:pt x="252" y="1027"/>
                      <a:pt x="309" y="1026"/>
                    </a:cubicBezTo>
                    <a:cubicBezTo>
                      <a:pt x="365" y="1025"/>
                      <a:pt x="410" y="980"/>
                      <a:pt x="410" y="924"/>
                    </a:cubicBezTo>
                    <a:cubicBezTo>
                      <a:pt x="410" y="717"/>
                      <a:pt x="410" y="717"/>
                      <a:pt x="410" y="717"/>
                    </a:cubicBezTo>
                    <a:cubicBezTo>
                      <a:pt x="410" y="653"/>
                      <a:pt x="441" y="593"/>
                      <a:pt x="492" y="555"/>
                    </a:cubicBezTo>
                    <a:cubicBezTo>
                      <a:pt x="567" y="499"/>
                      <a:pt x="615" y="409"/>
                      <a:pt x="615" y="309"/>
                    </a:cubicBezTo>
                    <a:cubicBezTo>
                      <a:pt x="615" y="138"/>
                      <a:pt x="475" y="0"/>
                      <a:pt x="303" y="2"/>
                    </a:cubicBezTo>
                    <a:close/>
                    <a:moveTo>
                      <a:pt x="308" y="412"/>
                    </a:moveTo>
                    <a:cubicBezTo>
                      <a:pt x="251" y="412"/>
                      <a:pt x="205" y="366"/>
                      <a:pt x="205" y="309"/>
                    </a:cubicBezTo>
                    <a:cubicBezTo>
                      <a:pt x="205" y="253"/>
                      <a:pt x="251" y="207"/>
                      <a:pt x="308" y="207"/>
                    </a:cubicBezTo>
                    <a:cubicBezTo>
                      <a:pt x="364" y="207"/>
                      <a:pt x="410" y="253"/>
                      <a:pt x="410" y="309"/>
                    </a:cubicBezTo>
                    <a:cubicBezTo>
                      <a:pt x="410" y="366"/>
                      <a:pt x="364" y="412"/>
                      <a:pt x="308" y="412"/>
                    </a:cubicBezTo>
                    <a:close/>
                    <a:moveTo>
                      <a:pt x="308" y="412"/>
                    </a:moveTo>
                    <a:cubicBezTo>
                      <a:pt x="308" y="412"/>
                      <a:pt x="308" y="412"/>
                      <a:pt x="308" y="412"/>
                    </a:cubicBezTo>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196" name="Freeform 9"/>
              <p:cNvSpPr>
                <a:spLocks/>
              </p:cNvSpPr>
              <p:nvPr/>
            </p:nvSpPr>
            <p:spPr bwMode="auto">
              <a:xfrm>
                <a:off x="15308940" y="4423103"/>
                <a:ext cx="301183" cy="166552"/>
              </a:xfrm>
              <a:custGeom>
                <a:avLst/>
                <a:gdLst>
                  <a:gd name="T0" fmla="*/ 1413 w 1663"/>
                  <a:gd name="T1" fmla="*/ 1229 h 1229"/>
                  <a:gd name="T2" fmla="*/ 1663 w 1663"/>
                  <a:gd name="T3" fmla="*/ 1229 h 1229"/>
                  <a:gd name="T4" fmla="*/ 1639 w 1663"/>
                  <a:gd name="T5" fmla="*/ 1203 h 1229"/>
                  <a:gd name="T6" fmla="*/ 1639 w 1663"/>
                  <a:gd name="T7" fmla="*/ 848 h 1229"/>
                  <a:gd name="T8" fmla="*/ 1642 w 1663"/>
                  <a:gd name="T9" fmla="*/ 825 h 1229"/>
                  <a:gd name="T10" fmla="*/ 1577 w 1663"/>
                  <a:gd name="T11" fmla="*/ 503 h 1229"/>
                  <a:gd name="T12" fmla="*/ 1033 w 1663"/>
                  <a:gd name="T13" fmla="*/ 26 h 1229"/>
                  <a:gd name="T14" fmla="*/ 1016 w 1663"/>
                  <a:gd name="T15" fmla="*/ 22 h 1229"/>
                  <a:gd name="T16" fmla="*/ 1015 w 1663"/>
                  <a:gd name="T17" fmla="*/ 21 h 1229"/>
                  <a:gd name="T18" fmla="*/ 838 w 1663"/>
                  <a:gd name="T19" fmla="*/ 0 h 1229"/>
                  <a:gd name="T20" fmla="*/ 833 w 1663"/>
                  <a:gd name="T21" fmla="*/ 0 h 1229"/>
                  <a:gd name="T22" fmla="*/ 831 w 1663"/>
                  <a:gd name="T23" fmla="*/ 0 h 1229"/>
                  <a:gd name="T24" fmla="*/ 830 w 1663"/>
                  <a:gd name="T25" fmla="*/ 0 h 1229"/>
                  <a:gd name="T26" fmla="*/ 825 w 1663"/>
                  <a:gd name="T27" fmla="*/ 0 h 1229"/>
                  <a:gd name="T28" fmla="*/ 630 w 1663"/>
                  <a:gd name="T29" fmla="*/ 26 h 1229"/>
                  <a:gd name="T30" fmla="*/ 87 w 1663"/>
                  <a:gd name="T31" fmla="*/ 502 h 1229"/>
                  <a:gd name="T32" fmla="*/ 21 w 1663"/>
                  <a:gd name="T33" fmla="*/ 825 h 1229"/>
                  <a:gd name="T34" fmla="*/ 24 w 1663"/>
                  <a:gd name="T35" fmla="*/ 849 h 1229"/>
                  <a:gd name="T36" fmla="*/ 24 w 1663"/>
                  <a:gd name="T37" fmla="*/ 1203 h 1229"/>
                  <a:gd name="T38" fmla="*/ 0 w 1663"/>
                  <a:gd name="T39" fmla="*/ 1229 h 1229"/>
                  <a:gd name="T40" fmla="*/ 250 w 1663"/>
                  <a:gd name="T41" fmla="*/ 1229 h 1229"/>
                  <a:gd name="T42" fmla="*/ 226 w 1663"/>
                  <a:gd name="T43" fmla="*/ 1203 h 1229"/>
                  <a:gd name="T44" fmla="*/ 226 w 1663"/>
                  <a:gd name="T45" fmla="*/ 819 h 1229"/>
                  <a:gd name="T46" fmla="*/ 404 w 1663"/>
                  <a:gd name="T47" fmla="*/ 385 h 1229"/>
                  <a:gd name="T48" fmla="*/ 831 w 1663"/>
                  <a:gd name="T49" fmla="*/ 205 h 1229"/>
                  <a:gd name="T50" fmla="*/ 1259 w 1663"/>
                  <a:gd name="T51" fmla="*/ 385 h 1229"/>
                  <a:gd name="T52" fmla="*/ 1437 w 1663"/>
                  <a:gd name="T53" fmla="*/ 819 h 1229"/>
                  <a:gd name="T54" fmla="*/ 1437 w 1663"/>
                  <a:gd name="T55" fmla="*/ 1203 h 1229"/>
                  <a:gd name="T56" fmla="*/ 1413 w 1663"/>
                  <a:gd name="T57" fmla="*/ 1229 h 1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63" h="1229">
                    <a:moveTo>
                      <a:pt x="1413" y="1229"/>
                    </a:moveTo>
                    <a:cubicBezTo>
                      <a:pt x="1663" y="1229"/>
                      <a:pt x="1663" y="1229"/>
                      <a:pt x="1663" y="1229"/>
                    </a:cubicBezTo>
                    <a:cubicBezTo>
                      <a:pt x="1649" y="1228"/>
                      <a:pt x="1639" y="1217"/>
                      <a:pt x="1639" y="1203"/>
                    </a:cubicBezTo>
                    <a:cubicBezTo>
                      <a:pt x="1639" y="848"/>
                      <a:pt x="1639" y="848"/>
                      <a:pt x="1639" y="848"/>
                    </a:cubicBezTo>
                    <a:cubicBezTo>
                      <a:pt x="1641" y="841"/>
                      <a:pt x="1642" y="833"/>
                      <a:pt x="1642" y="825"/>
                    </a:cubicBezTo>
                    <a:cubicBezTo>
                      <a:pt x="1642" y="712"/>
                      <a:pt x="1618" y="603"/>
                      <a:pt x="1577" y="503"/>
                    </a:cubicBezTo>
                    <a:cubicBezTo>
                      <a:pt x="1480" y="269"/>
                      <a:pt x="1279" y="90"/>
                      <a:pt x="1033" y="26"/>
                    </a:cubicBezTo>
                    <a:cubicBezTo>
                      <a:pt x="1027" y="24"/>
                      <a:pt x="1022" y="23"/>
                      <a:pt x="1016" y="22"/>
                    </a:cubicBezTo>
                    <a:cubicBezTo>
                      <a:pt x="1016" y="22"/>
                      <a:pt x="1016" y="21"/>
                      <a:pt x="1015" y="21"/>
                    </a:cubicBezTo>
                    <a:cubicBezTo>
                      <a:pt x="958" y="8"/>
                      <a:pt x="899" y="0"/>
                      <a:pt x="838" y="0"/>
                    </a:cubicBezTo>
                    <a:cubicBezTo>
                      <a:pt x="837" y="0"/>
                      <a:pt x="835" y="0"/>
                      <a:pt x="833" y="0"/>
                    </a:cubicBezTo>
                    <a:cubicBezTo>
                      <a:pt x="833" y="0"/>
                      <a:pt x="832" y="0"/>
                      <a:pt x="831" y="0"/>
                    </a:cubicBezTo>
                    <a:cubicBezTo>
                      <a:pt x="831" y="0"/>
                      <a:pt x="830" y="0"/>
                      <a:pt x="830" y="0"/>
                    </a:cubicBezTo>
                    <a:cubicBezTo>
                      <a:pt x="828" y="0"/>
                      <a:pt x="826" y="0"/>
                      <a:pt x="825" y="0"/>
                    </a:cubicBezTo>
                    <a:cubicBezTo>
                      <a:pt x="757" y="0"/>
                      <a:pt x="692" y="9"/>
                      <a:pt x="630" y="26"/>
                    </a:cubicBezTo>
                    <a:cubicBezTo>
                      <a:pt x="384" y="90"/>
                      <a:pt x="184" y="268"/>
                      <a:pt x="87" y="502"/>
                    </a:cubicBezTo>
                    <a:cubicBezTo>
                      <a:pt x="45" y="602"/>
                      <a:pt x="21" y="711"/>
                      <a:pt x="21" y="825"/>
                    </a:cubicBezTo>
                    <a:cubicBezTo>
                      <a:pt x="21" y="833"/>
                      <a:pt x="22" y="841"/>
                      <a:pt x="24" y="849"/>
                    </a:cubicBezTo>
                    <a:cubicBezTo>
                      <a:pt x="24" y="1203"/>
                      <a:pt x="24" y="1203"/>
                      <a:pt x="24" y="1203"/>
                    </a:cubicBezTo>
                    <a:cubicBezTo>
                      <a:pt x="24" y="1217"/>
                      <a:pt x="13" y="1228"/>
                      <a:pt x="0" y="1229"/>
                    </a:cubicBezTo>
                    <a:cubicBezTo>
                      <a:pt x="250" y="1229"/>
                      <a:pt x="250" y="1229"/>
                      <a:pt x="250" y="1229"/>
                    </a:cubicBezTo>
                    <a:cubicBezTo>
                      <a:pt x="237" y="1228"/>
                      <a:pt x="226" y="1217"/>
                      <a:pt x="226" y="1203"/>
                    </a:cubicBezTo>
                    <a:cubicBezTo>
                      <a:pt x="226" y="819"/>
                      <a:pt x="226" y="819"/>
                      <a:pt x="226" y="819"/>
                    </a:cubicBezTo>
                    <a:cubicBezTo>
                      <a:pt x="226" y="655"/>
                      <a:pt x="289" y="501"/>
                      <a:pt x="404" y="385"/>
                    </a:cubicBezTo>
                    <a:cubicBezTo>
                      <a:pt x="518" y="269"/>
                      <a:pt x="670" y="205"/>
                      <a:pt x="831" y="205"/>
                    </a:cubicBezTo>
                    <a:cubicBezTo>
                      <a:pt x="993" y="205"/>
                      <a:pt x="1145" y="269"/>
                      <a:pt x="1259" y="385"/>
                    </a:cubicBezTo>
                    <a:cubicBezTo>
                      <a:pt x="1373" y="501"/>
                      <a:pt x="1437" y="655"/>
                      <a:pt x="1437" y="819"/>
                    </a:cubicBezTo>
                    <a:cubicBezTo>
                      <a:pt x="1437" y="1203"/>
                      <a:pt x="1437" y="1203"/>
                      <a:pt x="1437" y="1203"/>
                    </a:cubicBezTo>
                    <a:cubicBezTo>
                      <a:pt x="1437" y="1217"/>
                      <a:pt x="1426" y="1228"/>
                      <a:pt x="1413" y="1229"/>
                    </a:cubicBez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02" name="Freeform 10"/>
              <p:cNvSpPr>
                <a:spLocks noEditPoints="1"/>
              </p:cNvSpPr>
              <p:nvPr/>
            </p:nvSpPr>
            <p:spPr bwMode="auto">
              <a:xfrm>
                <a:off x="15234202" y="4589655"/>
                <a:ext cx="445082" cy="277309"/>
              </a:xfrm>
              <a:custGeom>
                <a:avLst/>
                <a:gdLst>
                  <a:gd name="T0" fmla="*/ 2160 w 2457"/>
                  <a:gd name="T1" fmla="*/ 0 h 2048"/>
                  <a:gd name="T2" fmla="*/ 297 w 2457"/>
                  <a:gd name="T3" fmla="*/ 0 h 2048"/>
                  <a:gd name="T4" fmla="*/ 0 w 2457"/>
                  <a:gd name="T5" fmla="*/ 307 h 2048"/>
                  <a:gd name="T6" fmla="*/ 0 w 2457"/>
                  <a:gd name="T7" fmla="*/ 1740 h 2048"/>
                  <a:gd name="T8" fmla="*/ 307 w 2457"/>
                  <a:gd name="T9" fmla="*/ 2048 h 2048"/>
                  <a:gd name="T10" fmla="*/ 2150 w 2457"/>
                  <a:gd name="T11" fmla="*/ 2048 h 2048"/>
                  <a:gd name="T12" fmla="*/ 2457 w 2457"/>
                  <a:gd name="T13" fmla="*/ 1740 h 2048"/>
                  <a:gd name="T14" fmla="*/ 2457 w 2457"/>
                  <a:gd name="T15" fmla="*/ 307 h 2048"/>
                  <a:gd name="T16" fmla="*/ 2160 w 2457"/>
                  <a:gd name="T17" fmla="*/ 0 h 2048"/>
                  <a:gd name="T18" fmla="*/ 2253 w 2457"/>
                  <a:gd name="T19" fmla="*/ 1740 h 2048"/>
                  <a:gd name="T20" fmla="*/ 2150 w 2457"/>
                  <a:gd name="T21" fmla="*/ 1843 h 2048"/>
                  <a:gd name="T22" fmla="*/ 307 w 2457"/>
                  <a:gd name="T23" fmla="*/ 1843 h 2048"/>
                  <a:gd name="T24" fmla="*/ 205 w 2457"/>
                  <a:gd name="T25" fmla="*/ 1740 h 2048"/>
                  <a:gd name="T26" fmla="*/ 205 w 2457"/>
                  <a:gd name="T27" fmla="*/ 307 h 2048"/>
                  <a:gd name="T28" fmla="*/ 307 w 2457"/>
                  <a:gd name="T29" fmla="*/ 204 h 2048"/>
                  <a:gd name="T30" fmla="*/ 2150 w 2457"/>
                  <a:gd name="T31" fmla="*/ 204 h 2048"/>
                  <a:gd name="T32" fmla="*/ 2253 w 2457"/>
                  <a:gd name="T33" fmla="*/ 307 h 2048"/>
                  <a:gd name="T34" fmla="*/ 2253 w 2457"/>
                  <a:gd name="T35" fmla="*/ 174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57" h="2048">
                    <a:moveTo>
                      <a:pt x="2160" y="0"/>
                    </a:moveTo>
                    <a:cubicBezTo>
                      <a:pt x="297" y="0"/>
                      <a:pt x="297" y="0"/>
                      <a:pt x="297" y="0"/>
                    </a:cubicBezTo>
                    <a:cubicBezTo>
                      <a:pt x="132" y="5"/>
                      <a:pt x="0" y="141"/>
                      <a:pt x="0" y="307"/>
                    </a:cubicBezTo>
                    <a:cubicBezTo>
                      <a:pt x="0" y="1740"/>
                      <a:pt x="0" y="1740"/>
                      <a:pt x="0" y="1740"/>
                    </a:cubicBezTo>
                    <a:cubicBezTo>
                      <a:pt x="0" y="1910"/>
                      <a:pt x="137" y="2048"/>
                      <a:pt x="307" y="2048"/>
                    </a:cubicBezTo>
                    <a:cubicBezTo>
                      <a:pt x="2150" y="2048"/>
                      <a:pt x="2150" y="2048"/>
                      <a:pt x="2150" y="2048"/>
                    </a:cubicBezTo>
                    <a:cubicBezTo>
                      <a:pt x="2320" y="2048"/>
                      <a:pt x="2457" y="1910"/>
                      <a:pt x="2457" y="1740"/>
                    </a:cubicBezTo>
                    <a:cubicBezTo>
                      <a:pt x="2457" y="307"/>
                      <a:pt x="2457" y="307"/>
                      <a:pt x="2457" y="307"/>
                    </a:cubicBezTo>
                    <a:cubicBezTo>
                      <a:pt x="2457" y="141"/>
                      <a:pt x="2325" y="5"/>
                      <a:pt x="2160" y="0"/>
                    </a:cubicBezTo>
                    <a:close/>
                    <a:moveTo>
                      <a:pt x="2253" y="1740"/>
                    </a:moveTo>
                    <a:cubicBezTo>
                      <a:pt x="2253" y="1797"/>
                      <a:pt x="2207" y="1843"/>
                      <a:pt x="2150" y="1843"/>
                    </a:cubicBezTo>
                    <a:cubicBezTo>
                      <a:pt x="307" y="1843"/>
                      <a:pt x="307" y="1843"/>
                      <a:pt x="307" y="1843"/>
                    </a:cubicBezTo>
                    <a:cubicBezTo>
                      <a:pt x="250" y="1843"/>
                      <a:pt x="205" y="1797"/>
                      <a:pt x="205" y="1740"/>
                    </a:cubicBezTo>
                    <a:cubicBezTo>
                      <a:pt x="205" y="307"/>
                      <a:pt x="205" y="307"/>
                      <a:pt x="205" y="307"/>
                    </a:cubicBezTo>
                    <a:cubicBezTo>
                      <a:pt x="205" y="250"/>
                      <a:pt x="250" y="204"/>
                      <a:pt x="307" y="204"/>
                    </a:cubicBezTo>
                    <a:cubicBezTo>
                      <a:pt x="2150" y="204"/>
                      <a:pt x="2150" y="204"/>
                      <a:pt x="2150" y="204"/>
                    </a:cubicBezTo>
                    <a:cubicBezTo>
                      <a:pt x="2207" y="204"/>
                      <a:pt x="2253" y="250"/>
                      <a:pt x="2253" y="307"/>
                    </a:cubicBezTo>
                    <a:lnTo>
                      <a:pt x="2253" y="1740"/>
                    </a:lnTo>
                    <a:close/>
                  </a:path>
                </a:pathLst>
              </a:custGeom>
              <a:solidFill>
                <a:srgbClr val="969696"/>
              </a:solidFill>
              <a:ln>
                <a:noFill/>
              </a:ln>
            </p:spPr>
            <p:txBody>
              <a:bodyPr vert="horz" wrap="square" lIns="24181" tIns="12090" rIns="24181" bIns="12090" numCol="1" anchor="t" anchorCtr="0" compatLnSpc="1">
                <a:prstTxWarp prst="textNoShape">
                  <a:avLst/>
                </a:prstTxWarp>
              </a:bodyPr>
              <a:lstStyle/>
              <a:p>
                <a:pPr defTabSz="609432" eaLnBrk="1" fontAlgn="auto" hangingPunct="1">
                  <a:spcBef>
                    <a:spcPts val="0"/>
                  </a:spcBef>
                  <a:spcAft>
                    <a:spcPts val="0"/>
                  </a:spcAft>
                </a:pPr>
                <a:endParaRPr lang="zh-CN" altLang="en-US" sz="1399">
                  <a:solidFill>
                    <a:prstClr val="black"/>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grpSp>
      <p:grpSp>
        <p:nvGrpSpPr>
          <p:cNvPr id="248" name="组合 247"/>
          <p:cNvGrpSpPr/>
          <p:nvPr/>
        </p:nvGrpSpPr>
        <p:grpSpPr>
          <a:xfrm>
            <a:off x="3173653" y="4222618"/>
            <a:ext cx="1627412" cy="189703"/>
            <a:chOff x="25084072" y="93233"/>
            <a:chExt cx="6154077" cy="717364"/>
          </a:xfrm>
        </p:grpSpPr>
        <p:sp>
          <p:nvSpPr>
            <p:cNvPr id="249" name="椭圆 248"/>
            <p:cNvSpPr/>
            <p:nvPr/>
          </p:nvSpPr>
          <p:spPr>
            <a:xfrm>
              <a:off x="25084072" y="201099"/>
              <a:ext cx="292243" cy="291600"/>
            </a:xfrm>
            <a:prstGeom prst="ellipse">
              <a:avLst/>
            </a:prstGeom>
            <a:solidFill>
              <a:srgbClr val="CAA150">
                <a:alpha val="2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50" name="椭圆 249"/>
            <p:cNvSpPr/>
            <p:nvPr/>
          </p:nvSpPr>
          <p:spPr>
            <a:xfrm>
              <a:off x="25830188" y="93233"/>
              <a:ext cx="292243" cy="291600"/>
            </a:xfrm>
            <a:prstGeom prst="ellipse">
              <a:avLst/>
            </a:prstGeom>
            <a:solidFill>
              <a:schemeClr val="bg1">
                <a:alpha val="5000"/>
              </a:scheme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51" name="椭圆 250"/>
            <p:cNvSpPr/>
            <p:nvPr/>
          </p:nvSpPr>
          <p:spPr>
            <a:xfrm>
              <a:off x="26576310" y="201099"/>
              <a:ext cx="292243" cy="291600"/>
            </a:xfrm>
            <a:prstGeom prst="ellipse">
              <a:avLst/>
            </a:prstGeom>
            <a:solidFill>
              <a:sysClr val="window" lastClr="FFFFFF">
                <a:alpha val="10000"/>
              </a:sys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52" name="椭圆 251"/>
            <p:cNvSpPr/>
            <p:nvPr/>
          </p:nvSpPr>
          <p:spPr>
            <a:xfrm>
              <a:off x="27322428" y="201099"/>
              <a:ext cx="292243" cy="291600"/>
            </a:xfrm>
            <a:prstGeom prst="ellipse">
              <a:avLst/>
            </a:prstGeom>
            <a:solidFill>
              <a:srgbClr val="CAA150">
                <a:alpha val="1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53" name="椭圆 252"/>
            <p:cNvSpPr/>
            <p:nvPr/>
          </p:nvSpPr>
          <p:spPr>
            <a:xfrm>
              <a:off x="28707555" y="201099"/>
              <a:ext cx="292243" cy="291600"/>
            </a:xfrm>
            <a:prstGeom prst="ellipse">
              <a:avLst/>
            </a:prstGeom>
            <a:solidFill>
              <a:srgbClr val="CAA150">
                <a:alpha val="2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54" name="椭圆 253"/>
            <p:cNvSpPr/>
            <p:nvPr/>
          </p:nvSpPr>
          <p:spPr>
            <a:xfrm>
              <a:off x="29453672" y="201099"/>
              <a:ext cx="292243" cy="291600"/>
            </a:xfrm>
            <a:prstGeom prst="ellipse">
              <a:avLst/>
            </a:prstGeom>
            <a:solidFill>
              <a:schemeClr val="bg1">
                <a:alpha val="5000"/>
              </a:scheme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55" name="椭圆 254"/>
            <p:cNvSpPr/>
            <p:nvPr/>
          </p:nvSpPr>
          <p:spPr>
            <a:xfrm>
              <a:off x="30199793" y="201099"/>
              <a:ext cx="292243" cy="291600"/>
            </a:xfrm>
            <a:prstGeom prst="ellipse">
              <a:avLst/>
            </a:prstGeom>
            <a:solidFill>
              <a:sysClr val="window" lastClr="FFFFFF">
                <a:alpha val="10000"/>
              </a:sys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56" name="椭圆 255"/>
            <p:cNvSpPr/>
            <p:nvPr/>
          </p:nvSpPr>
          <p:spPr>
            <a:xfrm>
              <a:off x="30945906" y="201099"/>
              <a:ext cx="292243" cy="291600"/>
            </a:xfrm>
            <a:prstGeom prst="ellipse">
              <a:avLst/>
            </a:prstGeom>
            <a:solidFill>
              <a:srgbClr val="CAA150">
                <a:alpha val="1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57" name="椭圆 256"/>
            <p:cNvSpPr/>
            <p:nvPr/>
          </p:nvSpPr>
          <p:spPr>
            <a:xfrm>
              <a:off x="26238505" y="403289"/>
              <a:ext cx="292243" cy="291600"/>
            </a:xfrm>
            <a:prstGeom prst="ellipse">
              <a:avLst/>
            </a:prstGeom>
            <a:solidFill>
              <a:srgbClr val="CAA150">
                <a:alpha val="2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60" name="椭圆 259"/>
            <p:cNvSpPr/>
            <p:nvPr/>
          </p:nvSpPr>
          <p:spPr>
            <a:xfrm>
              <a:off x="27178719" y="476711"/>
              <a:ext cx="292243" cy="291600"/>
            </a:xfrm>
            <a:prstGeom prst="ellipse">
              <a:avLst/>
            </a:prstGeom>
            <a:solidFill>
              <a:schemeClr val="bg1">
                <a:alpha val="5000"/>
              </a:scheme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61" name="椭圆 260"/>
            <p:cNvSpPr/>
            <p:nvPr/>
          </p:nvSpPr>
          <p:spPr>
            <a:xfrm>
              <a:off x="25274298" y="476711"/>
              <a:ext cx="292243" cy="291600"/>
            </a:xfrm>
            <a:prstGeom prst="ellipse">
              <a:avLst/>
            </a:prstGeom>
            <a:solidFill>
              <a:srgbClr val="CAA150">
                <a:alpha val="1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65" name="椭圆 264"/>
            <p:cNvSpPr/>
            <p:nvPr/>
          </p:nvSpPr>
          <p:spPr>
            <a:xfrm>
              <a:off x="28014988" y="403289"/>
              <a:ext cx="292243" cy="291600"/>
            </a:xfrm>
            <a:prstGeom prst="ellipse">
              <a:avLst/>
            </a:prstGeom>
            <a:solidFill>
              <a:srgbClr val="CAA150">
                <a:alpha val="2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83" name="椭圆 282"/>
            <p:cNvSpPr/>
            <p:nvPr/>
          </p:nvSpPr>
          <p:spPr>
            <a:xfrm>
              <a:off x="29152467" y="457220"/>
              <a:ext cx="292243" cy="291600"/>
            </a:xfrm>
            <a:prstGeom prst="ellipse">
              <a:avLst/>
            </a:prstGeom>
            <a:solidFill>
              <a:schemeClr val="bg1">
                <a:alpha val="5000"/>
              </a:scheme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sp>
          <p:nvSpPr>
            <p:cNvPr id="284" name="椭圆 283"/>
            <p:cNvSpPr/>
            <p:nvPr/>
          </p:nvSpPr>
          <p:spPr>
            <a:xfrm>
              <a:off x="30500999" y="518997"/>
              <a:ext cx="292243" cy="291600"/>
            </a:xfrm>
            <a:prstGeom prst="ellipse">
              <a:avLst/>
            </a:prstGeom>
            <a:solidFill>
              <a:srgbClr val="CAA150">
                <a:alpha val="10000"/>
              </a:srgbClr>
            </a:solidFill>
            <a:ln w="12700" cap="flat" cmpd="sng" algn="ctr">
              <a:noFill/>
              <a:prstDash val="solid"/>
              <a:miter lim="800000"/>
            </a:ln>
            <a:effectLst/>
          </p:spPr>
          <p:txBody>
            <a:bodyPr rtlCol="0" anchor="ctr"/>
            <a:lstStyle/>
            <a:p>
              <a:pPr algn="ctr" defTabSz="181350" eaLnBrk="1" fontAlgn="auto" hangingPunct="1">
                <a:spcBef>
                  <a:spcPts val="0"/>
                </a:spcBef>
                <a:spcAft>
                  <a:spcPts val="0"/>
                </a:spcAft>
                <a:defRPr/>
              </a:pPr>
              <a:endParaRPr lang="zh-CN" altLang="en-US" sz="1399" kern="0">
                <a:solidFill>
                  <a:prstClr val="white"/>
                </a:solidFill>
                <a:latin typeface="方正兰亭黑简体" panose="02000000000000000000" pitchFamily="2" charset="-122"/>
                <a:ea typeface="方正兰亭黑简体" panose="02000000000000000000" pitchFamily="2" charset="-122"/>
                <a:sym typeface="方正兰亭黑简体" panose="02000000000000000000" pitchFamily="2" charset="-122"/>
              </a:endParaRPr>
            </a:p>
          </p:txBody>
        </p:sp>
      </p:grpSp>
      <p:sp>
        <p:nvSpPr>
          <p:cNvPr id="188" name="标题 2">
            <a:extLst>
              <a:ext uri="{FF2B5EF4-FFF2-40B4-BE49-F238E27FC236}">
                <a16:creationId xmlns:a16="http://schemas.microsoft.com/office/drawing/2014/main" id="{E712FD4D-EBA9-44E0-B868-C572CCD68E08}"/>
              </a:ext>
            </a:extLst>
          </p:cNvPr>
          <p:cNvSpPr txBox="1">
            <a:spLocks/>
          </p:cNvSpPr>
          <p:nvPr/>
        </p:nvSpPr>
        <p:spPr>
          <a:xfrm>
            <a:off x="1907250" y="679293"/>
            <a:ext cx="8626423" cy="493456"/>
          </a:xfrm>
          <a:prstGeom prst="rect">
            <a:avLst/>
          </a:prstGeom>
        </p:spPr>
        <p:txBody>
          <a:bodyPr vert="horz" lIns="32245" tIns="16123" rIns="32245" bIns="16123" rtlCol="0" anchor="ctr">
            <a:noAutofit/>
          </a:bodyPr>
          <a:lstStyle>
            <a:lvl1pPr algn="l" defTabSz="960240" rtl="0" eaLnBrk="1" latinLnBrk="0" hangingPunct="1">
              <a:lnSpc>
                <a:spcPct val="90000"/>
              </a:lnSpc>
              <a:spcBef>
                <a:spcPct val="0"/>
              </a:spcBef>
              <a:buNone/>
              <a:defRPr sz="4000" kern="1200">
                <a:solidFill>
                  <a:schemeClr val="tx1"/>
                </a:solidFill>
                <a:latin typeface="思源黑体 CN" panose="020B0600000000000000" charset="-122"/>
                <a:ea typeface="思源黑体 CN" panose="020B0600000000000000" charset="-122"/>
                <a:cs typeface="思源黑体 CN" panose="020B0600000000000000" charset="-122"/>
              </a:defRPr>
            </a:lvl1pPr>
          </a:lstStyle>
          <a:p>
            <a:pPr algn="ctr" defTabSz="959856" fontAlgn="auto">
              <a:lnSpc>
                <a:spcPct val="110000"/>
              </a:lnSpc>
              <a:spcAft>
                <a:spcPts val="0"/>
              </a:spcAft>
            </a:pPr>
            <a:r>
              <a:rPr kumimoji="1" lang="zh-CN" altLang="en-US" sz="3199" dirty="0">
                <a:solidFill>
                  <a:prstClr val="white"/>
                </a:solidFill>
                <a:latin typeface="方正兰亭黑简体" panose="02000000000000000000" pitchFamily="2" charset="-122"/>
                <a:ea typeface="方正兰亭黑简体" panose="02000000000000000000" pitchFamily="2" charset="-122"/>
                <a:cs typeface="Source Han Sans CN Medium" panose="020B0600000000000000" charset="-122"/>
                <a:sym typeface="方正兰亭黑简体" panose="02000000000000000000" pitchFamily="2" charset="-122"/>
              </a:rPr>
              <a:t>异构鸿蒙并发：各行其道、按需并发</a:t>
            </a:r>
          </a:p>
        </p:txBody>
      </p:sp>
    </p:spTree>
    <p:extLst>
      <p:ext uri="{BB962C8B-B14F-4D97-AF65-F5344CB8AC3E}">
        <p14:creationId xmlns:p14="http://schemas.microsoft.com/office/powerpoint/2010/main" val="186177945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6" name="灯片编号占位符 5"/>
          <p:cNvSpPr>
            <a:spLocks noGrp="1"/>
          </p:cNvSpPr>
          <p:nvPr>
            <p:ph type="sldNum" sz="quarter" idx="12"/>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spcBef>
                <a:spcPct val="0"/>
              </a:spcBef>
              <a:buClrTx/>
              <a:buSzTx/>
              <a:buFontTx/>
              <a:buNone/>
            </a:pPr>
            <a:fld id="{865519BF-A620-483B-B46A-700B43256B0A}" type="slidenum">
              <a:rPr lang="en-US" altLang="ko-KR" sz="1200">
                <a:solidFill>
                  <a:schemeClr val="bg1"/>
                </a:solidFill>
              </a:rPr>
              <a:pPr>
                <a:spcBef>
                  <a:spcPct val="0"/>
                </a:spcBef>
                <a:buClrTx/>
                <a:buSzTx/>
                <a:buFontTx/>
                <a:buNone/>
              </a:pPr>
              <a:t>98</a:t>
            </a:fld>
            <a:endParaRPr lang="en-US" altLang="ko-KR" sz="1200">
              <a:solidFill>
                <a:schemeClr val="bg1"/>
              </a:solidFill>
            </a:endParaRPr>
          </a:p>
        </p:txBody>
      </p:sp>
      <p:sp>
        <p:nvSpPr>
          <p:cNvPr id="207877" name="Rectangle 2"/>
          <p:cNvSpPr>
            <a:spLocks noGrp="1" noChangeArrowheads="1"/>
          </p:cNvSpPr>
          <p:nvPr>
            <p:ph type="title"/>
          </p:nvPr>
        </p:nvSpPr>
        <p:spPr>
          <a:xfrm>
            <a:off x="674833" y="2422306"/>
            <a:ext cx="10801200" cy="1837065"/>
          </a:xfrm>
          <a:prstGeom prst="rect">
            <a:avLst/>
          </a:prstGeom>
        </p:spPr>
        <p:txBody>
          <a:bodyPr>
            <a:normAutofit/>
          </a:bodyPr>
          <a:lstStyle/>
          <a:p>
            <a:pPr algn="ctr" eaLnBrk="1" hangingPunct="1"/>
            <a:r>
              <a:rPr lang="en-US" altLang="zh-CN" sz="5400" i="1" dirty="0">
                <a:solidFill>
                  <a:srgbClr val="993300"/>
                </a:solidFill>
                <a:ea typeface="宋体" panose="02010600030101010101" pitchFamily="2" charset="-122"/>
              </a:rPr>
              <a:t>Thanks for your time!</a:t>
            </a:r>
            <a:br>
              <a:rPr lang="en-US" altLang="zh-CN" sz="5400" i="1" dirty="0">
                <a:solidFill>
                  <a:srgbClr val="993300"/>
                </a:solidFill>
                <a:ea typeface="宋体" panose="02010600030101010101" pitchFamily="2" charset="-122"/>
              </a:rPr>
            </a:br>
            <a:r>
              <a:rPr lang="en-US" altLang="zh-CN" sz="5400" i="1" dirty="0">
                <a:solidFill>
                  <a:srgbClr val="993300"/>
                </a:solidFill>
                <a:ea typeface="宋体" panose="02010600030101010101" pitchFamily="2" charset="-122"/>
              </a:rPr>
              <a:t>Questions &amp; Answers</a:t>
            </a:r>
            <a:endParaRPr lang="en-US" altLang="ko-KR" sz="5400" i="1" dirty="0">
              <a:solidFill>
                <a:srgbClr val="993300"/>
              </a:solidFill>
              <a:ea typeface="굴림" pitchFamily="34" charset="-127"/>
            </a:endParaRPr>
          </a:p>
        </p:txBody>
      </p:sp>
    </p:spTree>
  </p:cSld>
  <p:clrMapOvr>
    <a:masterClrMapping/>
  </p:clrMapOvr>
</p:sld>
</file>

<file path=ppt/theme/theme1.xml><?xml version="1.0" encoding="utf-8"?>
<a:theme xmlns:a="http://schemas.openxmlformats.org/drawingml/2006/main" name="psh3_Print">
  <a:themeElements>
    <a:clrScheme name="psh3_Print 2">
      <a:dk1>
        <a:srgbClr val="000000"/>
      </a:dk1>
      <a:lt1>
        <a:srgbClr val="FFFFFF"/>
      </a:lt1>
      <a:dk2>
        <a:srgbClr val="003366"/>
      </a:dk2>
      <a:lt2>
        <a:srgbClr val="CCCCCC"/>
      </a:lt2>
      <a:accent1>
        <a:srgbClr val="C0C9F6"/>
      </a:accent1>
      <a:accent2>
        <a:srgbClr val="A1B67A"/>
      </a:accent2>
      <a:accent3>
        <a:srgbClr val="FFFFFF"/>
      </a:accent3>
      <a:accent4>
        <a:srgbClr val="000000"/>
      </a:accent4>
      <a:accent5>
        <a:srgbClr val="DCE1FA"/>
      </a:accent5>
      <a:accent6>
        <a:srgbClr val="91A56E"/>
      </a:accent6>
      <a:hlink>
        <a:srgbClr val="789ED0"/>
      </a:hlink>
      <a:folHlink>
        <a:srgbClr val="B2B2B2"/>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psh3_Print 1">
        <a:dk1>
          <a:srgbClr val="5F5F5F"/>
        </a:dk1>
        <a:lt1>
          <a:srgbClr val="FFFFFF"/>
        </a:lt1>
        <a:dk2>
          <a:srgbClr val="000000"/>
        </a:dk2>
        <a:lt2>
          <a:srgbClr val="DDDDDD"/>
        </a:lt2>
        <a:accent1>
          <a:srgbClr val="C0C0C0"/>
        </a:accent1>
        <a:accent2>
          <a:srgbClr val="EAEAEA"/>
        </a:accent2>
        <a:accent3>
          <a:srgbClr val="FFFFFF"/>
        </a:accent3>
        <a:accent4>
          <a:srgbClr val="505050"/>
        </a:accent4>
        <a:accent5>
          <a:srgbClr val="DCDCDC"/>
        </a:accent5>
        <a:accent6>
          <a:srgbClr val="D4D4D4"/>
        </a:accent6>
        <a:hlink>
          <a:srgbClr val="4D4D4D"/>
        </a:hlink>
        <a:folHlink>
          <a:srgbClr val="B2B2B2"/>
        </a:folHlink>
      </a:clrScheme>
      <a:clrMap bg1="lt1" tx1="dk1" bg2="lt2" tx2="dk2" accent1="accent1" accent2="accent2" accent3="accent3" accent4="accent4" accent5="accent5" accent6="accent6" hlink="hlink" folHlink="folHlink"/>
    </a:extraClrScheme>
    <a:extraClrScheme>
      <a:clrScheme name="psh3_Print 2">
        <a:dk1>
          <a:srgbClr val="000000"/>
        </a:dk1>
        <a:lt1>
          <a:srgbClr val="FFFFFF"/>
        </a:lt1>
        <a:dk2>
          <a:srgbClr val="003366"/>
        </a:dk2>
        <a:lt2>
          <a:srgbClr val="CCCCCC"/>
        </a:lt2>
        <a:accent1>
          <a:srgbClr val="C0C9F6"/>
        </a:accent1>
        <a:accent2>
          <a:srgbClr val="A1B67A"/>
        </a:accent2>
        <a:accent3>
          <a:srgbClr val="FFFFFF"/>
        </a:accent3>
        <a:accent4>
          <a:srgbClr val="000000"/>
        </a:accent4>
        <a:accent5>
          <a:srgbClr val="DCE1FA"/>
        </a:accent5>
        <a:accent6>
          <a:srgbClr val="91A56E"/>
        </a:accent6>
        <a:hlink>
          <a:srgbClr val="789ED0"/>
        </a:hlink>
        <a:folHlink>
          <a:srgbClr val="B2B2B2"/>
        </a:folHlink>
      </a:clrScheme>
      <a:clrMap bg1="lt1" tx1="dk1" bg2="lt2" tx2="dk2" accent1="accent1" accent2="accent2" accent3="accent3" accent4="accent4" accent5="accent5" accent6="accent6" hlink="hlink" folHlink="folHlink"/>
    </a:extraClrScheme>
    <a:extraClrScheme>
      <a:clrScheme name="psh3_Print 3">
        <a:dk1>
          <a:srgbClr val="384868"/>
        </a:dk1>
        <a:lt1>
          <a:srgbClr val="FFFFFF"/>
        </a:lt1>
        <a:dk2>
          <a:srgbClr val="000000"/>
        </a:dk2>
        <a:lt2>
          <a:srgbClr val="CCCCCC"/>
        </a:lt2>
        <a:accent1>
          <a:srgbClr val="C0C9F6"/>
        </a:accent1>
        <a:accent2>
          <a:srgbClr val="A1B67A"/>
        </a:accent2>
        <a:accent3>
          <a:srgbClr val="FFFFFF"/>
        </a:accent3>
        <a:accent4>
          <a:srgbClr val="2E3C58"/>
        </a:accent4>
        <a:accent5>
          <a:srgbClr val="DCE1FA"/>
        </a:accent5>
        <a:accent6>
          <a:srgbClr val="91A56E"/>
        </a:accent6>
        <a:hlink>
          <a:srgbClr val="789ED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3">
      <a:majorFont>
        <a:latin typeface="HarmonyOS Sans"/>
        <a:ea typeface="HarmonyOS Sans SC"/>
        <a:cs typeface=""/>
      </a:majorFont>
      <a:minorFont>
        <a:latin typeface="HarmonyOS Sans"/>
        <a:ea typeface="HarmonyOS Sans SC"/>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psh3_Print</Template>
  <TotalTime>0</TotalTime>
  <Words>9587</Words>
  <Application>Microsoft Office PowerPoint</Application>
  <PresentationFormat>宽屏</PresentationFormat>
  <Paragraphs>1637</Paragraphs>
  <Slides>98</Slides>
  <Notes>25</Notes>
  <HiddenSlides>11</HiddenSlides>
  <MMClips>0</MMClips>
  <ScaleCrop>false</ScaleCrop>
  <HeadingPairs>
    <vt:vector size="6" baseType="variant">
      <vt:variant>
        <vt:lpstr>已用的字体</vt:lpstr>
      </vt:variant>
      <vt:variant>
        <vt:i4>26</vt:i4>
      </vt:variant>
      <vt:variant>
        <vt:lpstr>主题</vt:lpstr>
      </vt:variant>
      <vt:variant>
        <vt:i4>4</vt:i4>
      </vt:variant>
      <vt:variant>
        <vt:lpstr>幻灯片标题</vt:lpstr>
      </vt:variant>
      <vt:variant>
        <vt:i4>98</vt:i4>
      </vt:variant>
    </vt:vector>
  </HeadingPairs>
  <TitlesOfParts>
    <vt:vector size="128" baseType="lpstr">
      <vt:lpstr>Arial Unicode MS</vt:lpstr>
      <vt:lpstr>굴림</vt:lpstr>
      <vt:lpstr>HarmonyOS Sans</vt:lpstr>
      <vt:lpstr>HarmonyOS Sans SC</vt:lpstr>
      <vt:lpstr>Monotype Sorts</vt:lpstr>
      <vt:lpstr>MS PGothic</vt:lpstr>
      <vt:lpstr>Source Han Sans CN Medium</vt:lpstr>
      <vt:lpstr>等线</vt:lpstr>
      <vt:lpstr>等线 Light</vt:lpstr>
      <vt:lpstr>方正兰亭黑简体</vt:lpstr>
      <vt:lpstr>喵呜黑体</vt:lpstr>
      <vt:lpstr>思源黑体 CN</vt:lpstr>
      <vt:lpstr>思源黑体 CN Medium</vt:lpstr>
      <vt:lpstr>宋体</vt:lpstr>
      <vt:lpstr>宋体</vt:lpstr>
      <vt:lpstr>Microsoft YaHei</vt:lpstr>
      <vt:lpstr>Microsoft YaHei</vt:lpstr>
      <vt:lpstr>张海山锐谐体2.0-授权联系：Samtype@QQ.com</vt:lpstr>
      <vt:lpstr>Arial</vt:lpstr>
      <vt:lpstr>Calibri</vt:lpstr>
      <vt:lpstr>Courier New</vt:lpstr>
      <vt:lpstr>Huawei Sans</vt:lpstr>
      <vt:lpstr>Segoe UI</vt:lpstr>
      <vt:lpstr>Times New Roman</vt:lpstr>
      <vt:lpstr>Verdana</vt:lpstr>
      <vt:lpstr>Wingdings</vt:lpstr>
      <vt:lpstr>psh3_Print</vt:lpstr>
      <vt:lpstr>1_Office 主题​​</vt:lpstr>
      <vt:lpstr>3_内容页模板</vt:lpstr>
      <vt:lpstr>Office 主题​​</vt:lpstr>
      <vt:lpstr>操作系统</vt:lpstr>
      <vt:lpstr>章节5：进程间通信与并发控制</vt:lpstr>
      <vt:lpstr>经典IPC问题</vt:lpstr>
      <vt:lpstr>Problem models of IPC</vt:lpstr>
      <vt:lpstr>PowerPoint 演示文稿</vt:lpstr>
      <vt:lpstr>PowerPoint 演示文稿</vt:lpstr>
      <vt:lpstr>PowerPoint 演示文稿</vt:lpstr>
      <vt:lpstr>PowerPoint 演示文稿</vt:lpstr>
      <vt:lpstr>信号量的代码示意</vt:lpstr>
      <vt:lpstr>Monitor solution</vt:lpstr>
      <vt:lpstr>管程的组成</vt:lpstr>
      <vt:lpstr>条件变量（Condition Variable）</vt:lpstr>
      <vt:lpstr>条件变量实现</vt:lpstr>
      <vt:lpstr>条件变量实现</vt:lpstr>
      <vt:lpstr>条件变量实现</vt:lpstr>
      <vt:lpstr>条件变量实现</vt:lpstr>
      <vt:lpstr>条件变量实现</vt:lpstr>
      <vt:lpstr>条件变量实现</vt:lpstr>
      <vt:lpstr>条件变量实现</vt:lpstr>
      <vt:lpstr>条件变量实现</vt:lpstr>
      <vt:lpstr>条件变量实现</vt:lpstr>
      <vt:lpstr>PowerPoint 演示文稿</vt:lpstr>
      <vt:lpstr>用管程解决生产者-消费者问题</vt:lpstr>
      <vt:lpstr>用管程解决生产者-消费者问题</vt:lpstr>
      <vt:lpstr>用管程解决生产者-消费者问题</vt:lpstr>
      <vt:lpstr>管程条件变量的释放处理方式</vt:lpstr>
      <vt:lpstr>Hansen 管程与 Hoare 管程</vt:lpstr>
      <vt:lpstr>IPC problem: dining philosophers</vt:lpstr>
      <vt:lpstr>Analysis of “dining philosophers”</vt:lpstr>
      <vt:lpstr>常见错误解法</vt:lpstr>
      <vt:lpstr>聪明一些的解决方案</vt:lpstr>
      <vt:lpstr>聪明一些的解决方案</vt:lpstr>
      <vt:lpstr>聪明一些的解决方案</vt:lpstr>
      <vt:lpstr>聪明一些的解决方案</vt:lpstr>
      <vt:lpstr>聪明一些的解决方案</vt:lpstr>
      <vt:lpstr>聪明一些的解决方案</vt:lpstr>
      <vt:lpstr>Solution of “dining philosophers”</vt:lpstr>
      <vt:lpstr>Solution of “dining philosophers”</vt:lpstr>
      <vt:lpstr>IPC problem: Reader-Writer</vt:lpstr>
      <vt:lpstr>Analysis of “Reader-Writer”</vt:lpstr>
      <vt:lpstr>用信号量解决读者-写者问题</vt:lpstr>
      <vt:lpstr>用信号量解决读者-写者问题</vt:lpstr>
      <vt:lpstr>用信号量解决读者-写者问题</vt:lpstr>
      <vt:lpstr>用信号量解决读者-写者问题</vt:lpstr>
      <vt:lpstr>用信号量解决读者-写者问题</vt:lpstr>
      <vt:lpstr>用信号量解决读者-写者问题</vt:lpstr>
      <vt:lpstr>用信号量解决读者-写者问题</vt:lpstr>
      <vt:lpstr>用信号量解决读者-写者问题</vt:lpstr>
      <vt:lpstr>IPC problem: Sleeping Barber</vt:lpstr>
      <vt:lpstr>Analysis of “Sleeping Barber”</vt:lpstr>
      <vt:lpstr>Solution of “Sleeping barber”</vt:lpstr>
      <vt:lpstr>Message Passing</vt:lpstr>
      <vt:lpstr>Solution of “Producer-Consumer”</vt:lpstr>
      <vt:lpstr>前情提要</vt:lpstr>
      <vt:lpstr>基本同步方法</vt:lpstr>
      <vt:lpstr>你需要知道的一些事</vt:lpstr>
      <vt:lpstr>关于锁机制的实现</vt:lpstr>
      <vt:lpstr>为什么程序员倾向于锁，而不是信号量?</vt:lpstr>
      <vt:lpstr>中断、异常和系统调用的开销</vt:lpstr>
      <vt:lpstr>让我们来思考一下多核</vt:lpstr>
      <vt:lpstr>现代化处理器里的NUMA结构</vt:lpstr>
      <vt:lpstr>现代化处理器里的NUMA结构</vt:lpstr>
      <vt:lpstr>现代化处理器里的NUMA结构</vt:lpstr>
      <vt:lpstr>现代化处理器里的NUMA结构</vt:lpstr>
      <vt:lpstr>现代化处理器里的NUMA结构</vt:lpstr>
      <vt:lpstr>NUMA 感知队列自旋锁的引入</vt:lpstr>
      <vt:lpstr>Qspinlock</vt:lpstr>
      <vt:lpstr>CNA 队列</vt:lpstr>
      <vt:lpstr>NUMA-aware Qspinlock</vt:lpstr>
      <vt:lpstr>详细解释：CNA 的数据结构</vt:lpstr>
      <vt:lpstr>CNA 排队示例 (1)</vt:lpstr>
      <vt:lpstr>CNA 排队示例 (2)</vt:lpstr>
      <vt:lpstr>cna_pass_lock() 函数 (1)</vt:lpstr>
      <vt:lpstr>cna_pass_lock() 函数 (2)</vt:lpstr>
      <vt:lpstr>cna_try_find_next() 函数</vt:lpstr>
      <vt:lpstr>cna_splice_tail() 函数</vt:lpstr>
      <vt:lpstr>内存顺序模型示例</vt:lpstr>
      <vt:lpstr>SMP结构下的指令乱序执行</vt:lpstr>
      <vt:lpstr>WMM模型下数据依赖</vt:lpstr>
      <vt:lpstr>WMM模型特点</vt:lpstr>
      <vt:lpstr>WMM示例 (1)</vt:lpstr>
      <vt:lpstr>WMM示例 (2)</vt:lpstr>
      <vt:lpstr>操作系统的传统解决方案</vt:lpstr>
      <vt:lpstr>内存屏障</vt:lpstr>
      <vt:lpstr>鲲鹏处理器提供的屏障指令</vt:lpstr>
      <vt:lpstr>openEuler对内存屏障指令的封装</vt:lpstr>
      <vt:lpstr>操作系统中的无锁解决方案</vt:lpstr>
      <vt:lpstr>指令</vt:lpstr>
      <vt:lpstr>语义 (1)</vt:lpstr>
      <vt:lpstr>语义 (2)</vt:lpstr>
      <vt:lpstr>pLock：神威太湖之光上的锁机制</vt:lpstr>
      <vt:lpstr>pLock：神威太湖之光上的锁机制</vt:lpstr>
      <vt:lpstr>pLock：神威太湖之光上的锁机制</vt:lpstr>
      <vt:lpstr>pLock：神威太湖之光上的锁机制</vt:lpstr>
      <vt:lpstr>PowerPoint 演示文稿</vt:lpstr>
      <vt:lpstr>PowerPoint 演示文稿</vt:lpstr>
      <vt:lpstr>PowerPoint 演示文稿</vt:lpstr>
      <vt:lpstr>Thanks for your time! Questions &amp; Answers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2023-11-03T02:38:57Z</dcterms:created>
  <dcterms:modified xsi:type="dcterms:W3CDTF">2025-11-04T03:38:43Z</dcterms:modified>
</cp:coreProperties>
</file>